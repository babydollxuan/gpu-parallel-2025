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82"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83" r:id="rId19"/>
    <p:sldId id="284" r:id="rId20"/>
    <p:sldId id="285" r:id="rId21"/>
    <p:sldId id="337" r:id="rId22"/>
    <p:sldId id="396" r:id="rId23"/>
    <p:sldId id="338" r:id="rId24"/>
    <p:sldId id="292" r:id="rId25"/>
    <p:sldId id="293" r:id="rId26"/>
    <p:sldId id="294" r:id="rId27"/>
    <p:sldId id="295" r:id="rId28"/>
    <p:sldId id="397" r:id="rId29"/>
    <p:sldId id="344" r:id="rId30"/>
    <p:sldId id="296" r:id="rId31"/>
    <p:sldId id="339" r:id="rId32"/>
    <p:sldId id="340" r:id="rId33"/>
    <p:sldId id="347" r:id="rId34"/>
    <p:sldId id="348" r:id="rId35"/>
    <p:sldId id="341" r:id="rId36"/>
    <p:sldId id="342" r:id="rId37"/>
    <p:sldId id="351" r:id="rId38"/>
    <p:sldId id="352" r:id="rId39"/>
    <p:sldId id="353" r:id="rId40"/>
    <p:sldId id="354" r:id="rId41"/>
    <p:sldId id="343" r:id="rId42"/>
    <p:sldId id="349" r:id="rId43"/>
    <p:sldId id="297" r:id="rId44"/>
    <p:sldId id="350" r:id="rId45"/>
    <p:sldId id="398" r:id="rId46"/>
    <p:sldId id="399" r:id="rId47"/>
    <p:sldId id="401" r:id="rId48"/>
    <p:sldId id="413" r:id="rId49"/>
    <p:sldId id="414" r:id="rId50"/>
    <p:sldId id="415" r:id="rId51"/>
    <p:sldId id="416" r:id="rId52"/>
    <p:sldId id="417" r:id="rId53"/>
    <p:sldId id="400" r:id="rId54"/>
    <p:sldId id="403" r:id="rId55"/>
    <p:sldId id="404" r:id="rId56"/>
    <p:sldId id="402" r:id="rId57"/>
    <p:sldId id="405" r:id="rId58"/>
    <p:sldId id="408" r:id="rId59"/>
    <p:sldId id="411" r:id="rId60"/>
    <p:sldId id="409" r:id="rId61"/>
    <p:sldId id="303" r:id="rId62"/>
    <p:sldId id="412" r:id="rId63"/>
    <p:sldId id="304" r:id="rId64"/>
    <p:sldId id="420" r:id="rId65"/>
    <p:sldId id="421" r:id="rId66"/>
    <p:sldId id="305" r:id="rId67"/>
    <p:sldId id="307" r:id="rId68"/>
    <p:sldId id="362" r:id="rId69"/>
    <p:sldId id="359" r:id="rId70"/>
    <p:sldId id="358" r:id="rId71"/>
    <p:sldId id="360" r:id="rId72"/>
    <p:sldId id="361" r:id="rId73"/>
    <p:sldId id="363" r:id="rId74"/>
    <p:sldId id="364" r:id="rId75"/>
    <p:sldId id="369" r:id="rId76"/>
    <p:sldId id="370" r:id="rId77"/>
    <p:sldId id="368" r:id="rId78"/>
    <p:sldId id="367" r:id="rId79"/>
    <p:sldId id="366" r:id="rId80"/>
    <p:sldId id="365" r:id="rId81"/>
    <p:sldId id="374" r:id="rId82"/>
    <p:sldId id="373" r:id="rId83"/>
    <p:sldId id="438" r:id="rId84"/>
    <p:sldId id="439" r:id="rId85"/>
    <p:sldId id="440" r:id="rId86"/>
    <p:sldId id="441" r:id="rId87"/>
    <p:sldId id="442" r:id="rId88"/>
    <p:sldId id="443" r:id="rId89"/>
    <p:sldId id="444" r:id="rId90"/>
    <p:sldId id="445" r:id="rId91"/>
    <p:sldId id="446" r:id="rId92"/>
    <p:sldId id="447" r:id="rId93"/>
    <p:sldId id="448" r:id="rId94"/>
    <p:sldId id="309" r:id="rId95"/>
    <p:sldId id="310" r:id="rId96"/>
    <p:sldId id="357" r:id="rId97"/>
    <p:sldId id="313" r:id="rId98"/>
    <p:sldId id="379" r:id="rId99"/>
    <p:sldId id="380" r:id="rId100"/>
    <p:sldId id="378" r:id="rId101"/>
    <p:sldId id="377" r:id="rId102"/>
    <p:sldId id="376" r:id="rId103"/>
    <p:sldId id="381" r:id="rId104"/>
    <p:sldId id="375" r:id="rId105"/>
    <p:sldId id="382" r:id="rId106"/>
    <p:sldId id="383" r:id="rId107"/>
    <p:sldId id="384" r:id="rId108"/>
    <p:sldId id="385" r:id="rId109"/>
    <p:sldId id="386" r:id="rId110"/>
    <p:sldId id="422" r:id="rId111"/>
    <p:sldId id="423" r:id="rId112"/>
    <p:sldId id="424" r:id="rId113"/>
    <p:sldId id="425" r:id="rId114"/>
    <p:sldId id="426" r:id="rId115"/>
    <p:sldId id="428" r:id="rId116"/>
    <p:sldId id="429" r:id="rId117"/>
    <p:sldId id="430" r:id="rId118"/>
    <p:sldId id="427" r:id="rId119"/>
    <p:sldId id="387" r:id="rId120"/>
    <p:sldId id="315" r:id="rId121"/>
    <p:sldId id="392" r:id="rId122"/>
    <p:sldId id="393" r:id="rId123"/>
    <p:sldId id="391" r:id="rId124"/>
    <p:sldId id="390" r:id="rId125"/>
    <p:sldId id="389" r:id="rId126"/>
    <p:sldId id="394" r:id="rId127"/>
    <p:sldId id="395" r:id="rId128"/>
    <p:sldId id="388" r:id="rId129"/>
    <p:sldId id="317" r:id="rId130"/>
    <p:sldId id="318" r:id="rId131"/>
    <p:sldId id="319" r:id="rId132"/>
    <p:sldId id="432" r:id="rId133"/>
    <p:sldId id="320" r:id="rId134"/>
    <p:sldId id="433" r:id="rId135"/>
    <p:sldId id="322" r:id="rId136"/>
    <p:sldId id="434" r:id="rId137"/>
    <p:sldId id="435" r:id="rId138"/>
    <p:sldId id="436" r:id="rId139"/>
    <p:sldId id="437" r:id="rId140"/>
    <p:sldId id="323" r:id="rId141"/>
    <p:sldId id="449" r:id="rId142"/>
    <p:sldId id="324" r:id="rId143"/>
    <p:sldId id="450" r:id="rId144"/>
    <p:sldId id="451" r:id="rId145"/>
    <p:sldId id="452" r:id="rId146"/>
    <p:sldId id="454" r:id="rId147"/>
    <p:sldId id="453" r:id="rId148"/>
    <p:sldId id="455" r:id="rId149"/>
    <p:sldId id="457" r:id="rId150"/>
    <p:sldId id="458" r:id="rId151"/>
    <p:sldId id="456" r:id="rId152"/>
    <p:sldId id="459" r:id="rId1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李斌" initials="李斌"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A247A"/>
    <a:srgbClr val="2D0AC2"/>
    <a:srgbClr val="2E4C2A"/>
    <a:srgbClr val="4878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55" d="100"/>
          <a:sy n="55" d="100"/>
        </p:scale>
        <p:origin x="61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7" Type="http://schemas.openxmlformats.org/officeDocument/2006/relationships/commentAuthors" Target="commentAuthors.xml"/><Relationship Id="rId156" Type="http://schemas.openxmlformats.org/officeDocument/2006/relationships/tableStyles" Target="tableStyles.xml"/><Relationship Id="rId155" Type="http://schemas.openxmlformats.org/officeDocument/2006/relationships/viewProps" Target="viewProps.xml"/><Relationship Id="rId154" Type="http://schemas.openxmlformats.org/officeDocument/2006/relationships/presProps" Target="presProps.xml"/><Relationship Id="rId153" Type="http://schemas.openxmlformats.org/officeDocument/2006/relationships/slide" Target="slides/slide151.xml"/><Relationship Id="rId152" Type="http://schemas.openxmlformats.org/officeDocument/2006/relationships/slide" Target="slides/slide150.xml"/><Relationship Id="rId151" Type="http://schemas.openxmlformats.org/officeDocument/2006/relationships/slide" Target="slides/slide149.xml"/><Relationship Id="rId150" Type="http://schemas.openxmlformats.org/officeDocument/2006/relationships/slide" Target="slides/slide148.xml"/><Relationship Id="rId15" Type="http://schemas.openxmlformats.org/officeDocument/2006/relationships/slide" Target="slides/slide13.xml"/><Relationship Id="rId149" Type="http://schemas.openxmlformats.org/officeDocument/2006/relationships/slide" Target="slides/slide147.xml"/><Relationship Id="rId148" Type="http://schemas.openxmlformats.org/officeDocument/2006/relationships/slide" Target="slides/slide146.xml"/><Relationship Id="rId147" Type="http://schemas.openxmlformats.org/officeDocument/2006/relationships/slide" Target="slides/slide145.xml"/><Relationship Id="rId146" Type="http://schemas.openxmlformats.org/officeDocument/2006/relationships/slide" Target="slides/slide144.xml"/><Relationship Id="rId145" Type="http://schemas.openxmlformats.org/officeDocument/2006/relationships/slide" Target="slides/slide143.xml"/><Relationship Id="rId144" Type="http://schemas.openxmlformats.org/officeDocument/2006/relationships/slide" Target="slides/slide142.xml"/><Relationship Id="rId143" Type="http://schemas.openxmlformats.org/officeDocument/2006/relationships/slide" Target="slides/slide141.xml"/><Relationship Id="rId142" Type="http://schemas.openxmlformats.org/officeDocument/2006/relationships/slide" Target="slides/slide140.xml"/><Relationship Id="rId141" Type="http://schemas.openxmlformats.org/officeDocument/2006/relationships/slide" Target="slides/slide139.xml"/><Relationship Id="rId140" Type="http://schemas.openxmlformats.org/officeDocument/2006/relationships/slide" Target="slides/slide138.xml"/><Relationship Id="rId14" Type="http://schemas.openxmlformats.org/officeDocument/2006/relationships/slide" Target="slides/slide12.xml"/><Relationship Id="rId139" Type="http://schemas.openxmlformats.org/officeDocument/2006/relationships/slide" Target="slides/slide137.xml"/><Relationship Id="rId138" Type="http://schemas.openxmlformats.org/officeDocument/2006/relationships/slide" Target="slides/slide136.xml"/><Relationship Id="rId137" Type="http://schemas.openxmlformats.org/officeDocument/2006/relationships/slide" Target="slides/slide135.xml"/><Relationship Id="rId136" Type="http://schemas.openxmlformats.org/officeDocument/2006/relationships/slide" Target="slides/slide134.xml"/><Relationship Id="rId135" Type="http://schemas.openxmlformats.org/officeDocument/2006/relationships/slide" Target="slides/slide133.xml"/><Relationship Id="rId134" Type="http://schemas.openxmlformats.org/officeDocument/2006/relationships/slide" Target="slides/slide132.xml"/><Relationship Id="rId133" Type="http://schemas.openxmlformats.org/officeDocument/2006/relationships/slide" Target="slides/slide131.xml"/><Relationship Id="rId132" Type="http://schemas.openxmlformats.org/officeDocument/2006/relationships/slide" Target="slides/slide130.xml"/><Relationship Id="rId131" Type="http://schemas.openxmlformats.org/officeDocument/2006/relationships/slide" Target="slides/slide129.xml"/><Relationship Id="rId130" Type="http://schemas.openxmlformats.org/officeDocument/2006/relationships/slide" Target="slides/slide128.xml"/><Relationship Id="rId13" Type="http://schemas.openxmlformats.org/officeDocument/2006/relationships/slide" Target="slides/slide11.xml"/><Relationship Id="rId129" Type="http://schemas.openxmlformats.org/officeDocument/2006/relationships/slide" Target="slides/slide127.xml"/><Relationship Id="rId128" Type="http://schemas.openxmlformats.org/officeDocument/2006/relationships/slide" Target="slides/slide126.xml"/><Relationship Id="rId127" Type="http://schemas.openxmlformats.org/officeDocument/2006/relationships/slide" Target="slides/slide125.xml"/><Relationship Id="rId126" Type="http://schemas.openxmlformats.org/officeDocument/2006/relationships/slide" Target="slides/slide124.xml"/><Relationship Id="rId125" Type="http://schemas.openxmlformats.org/officeDocument/2006/relationships/slide" Target="slides/slide123.xml"/><Relationship Id="rId124" Type="http://schemas.openxmlformats.org/officeDocument/2006/relationships/slide" Target="slides/slide122.xml"/><Relationship Id="rId123" Type="http://schemas.openxmlformats.org/officeDocument/2006/relationships/slide" Target="slides/slide121.xml"/><Relationship Id="rId122" Type="http://schemas.openxmlformats.org/officeDocument/2006/relationships/slide" Target="slides/slide120.xml"/><Relationship Id="rId121" Type="http://schemas.openxmlformats.org/officeDocument/2006/relationships/slide" Target="slides/slide119.xml"/><Relationship Id="rId120" Type="http://schemas.openxmlformats.org/officeDocument/2006/relationships/slide" Target="slides/slide118.xml"/><Relationship Id="rId12" Type="http://schemas.openxmlformats.org/officeDocument/2006/relationships/slide" Target="slides/slide10.xml"/><Relationship Id="rId119" Type="http://schemas.openxmlformats.org/officeDocument/2006/relationships/slide" Target="slides/slide117.xml"/><Relationship Id="rId118" Type="http://schemas.openxmlformats.org/officeDocument/2006/relationships/slide" Target="slides/slide116.xml"/><Relationship Id="rId117" Type="http://schemas.openxmlformats.org/officeDocument/2006/relationships/slide" Target="slides/slide115.xml"/><Relationship Id="rId116" Type="http://schemas.openxmlformats.org/officeDocument/2006/relationships/slide" Target="slides/slide114.xml"/><Relationship Id="rId115" Type="http://schemas.openxmlformats.org/officeDocument/2006/relationships/slide" Target="slides/slide113.xml"/><Relationship Id="rId114" Type="http://schemas.openxmlformats.org/officeDocument/2006/relationships/slide" Target="slides/slide112.xml"/><Relationship Id="rId113" Type="http://schemas.openxmlformats.org/officeDocument/2006/relationships/slide" Target="slides/slide111.xml"/><Relationship Id="rId112" Type="http://schemas.openxmlformats.org/officeDocument/2006/relationships/slide" Target="slides/slide110.xml"/><Relationship Id="rId111" Type="http://schemas.openxmlformats.org/officeDocument/2006/relationships/slide" Target="slides/slide109.xml"/><Relationship Id="rId110" Type="http://schemas.openxmlformats.org/officeDocument/2006/relationships/slide" Target="slides/slide108.xml"/><Relationship Id="rId11" Type="http://schemas.openxmlformats.org/officeDocument/2006/relationships/slide" Target="slides/slide9.xml"/><Relationship Id="rId109" Type="http://schemas.openxmlformats.org/officeDocument/2006/relationships/slide" Target="slides/slide107.xml"/><Relationship Id="rId108" Type="http://schemas.openxmlformats.org/officeDocument/2006/relationships/slide" Target="slides/slide106.xml"/><Relationship Id="rId107" Type="http://schemas.openxmlformats.org/officeDocument/2006/relationships/slide" Target="slides/slide105.xml"/><Relationship Id="rId106" Type="http://schemas.openxmlformats.org/officeDocument/2006/relationships/slide" Target="slides/slide104.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9-03-18T18:54:51.273" idx="1">
    <p:pos x="6856" y="3107"/>
    <p:tex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noProof="1" smtClean="0"/>
              <a:t>单击此处编辑母版标题样式</a:t>
            </a:r>
            <a:endParaRPr lang="en-US" noProof="1"/>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en-US" noProof="1"/>
          </a:p>
        </p:txBody>
      </p:sp>
      <p:sp>
        <p:nvSpPr>
          <p:cNvPr id="4" name="日期占位符 3"/>
          <p:cNvSpPr>
            <a:spLocks noGrp="1"/>
          </p:cNvSpPr>
          <p:nvPr>
            <p:ph type="dt" sz="half" idx="10"/>
          </p:nvPr>
        </p:nvSpPr>
        <p:spPr/>
        <p:txBody>
          <a:bodyPr/>
          <a:lstStyle>
            <a:lvl1pPr>
              <a:defRPr/>
            </a:lvl1pPr>
          </a:lstStyle>
          <a:p>
            <a:pPr>
              <a:defRPr/>
            </a:pPr>
            <a:endParaRPr lang="zh-CN" altLang="en-US">
              <a:solidFill>
                <a:srgbClr val="000000">
                  <a:tint val="75000"/>
                </a:srgbClr>
              </a:solidFill>
            </a:endParaRPr>
          </a:p>
        </p:txBody>
      </p:sp>
      <p:sp>
        <p:nvSpPr>
          <p:cNvPr id="5" name="页脚占位符 4"/>
          <p:cNvSpPr>
            <a:spLocks noGrp="1"/>
          </p:cNvSpPr>
          <p:nvPr>
            <p:ph type="ftr" sz="quarter" idx="11"/>
          </p:nvPr>
        </p:nvSpPr>
        <p:spPr/>
        <p:txBody>
          <a:bodyPr/>
          <a:lstStyle>
            <a:lvl1pPr>
              <a:defRPr/>
            </a:lvl1pPr>
          </a:lstStyle>
          <a:p>
            <a:pPr>
              <a:defRPr/>
            </a:pPr>
            <a:endParaRPr lang="zh-CN" altLang="en-US">
              <a:solidFill>
                <a:srgbClr val="000000">
                  <a:tint val="75000"/>
                </a:srgbClr>
              </a:solidFill>
            </a:endParaRPr>
          </a:p>
        </p:txBody>
      </p:sp>
      <p:sp>
        <p:nvSpPr>
          <p:cNvPr id="6" name="灯片编号占位符 5"/>
          <p:cNvSpPr>
            <a:spLocks noGrp="1"/>
          </p:cNvSpPr>
          <p:nvPr>
            <p:ph type="sldNum" sz="quarter" idx="12"/>
          </p:nvPr>
        </p:nvSpPr>
        <p:spPr/>
        <p:txBody>
          <a:bodyPr/>
          <a:lstStyle>
            <a:lvl1pPr>
              <a:defRPr/>
            </a:lvl1pPr>
          </a:lstStyle>
          <a:p>
            <a:pPr>
              <a:defRPr/>
            </a:pPr>
            <a:fld id="{0A6BB44F-F957-4AD1-83E7-77696D5E8728}" type="slidenum">
              <a:rPr lang="zh-CN" altLang="en-US"/>
            </a:fld>
            <a:endParaRPr lang="en-US" altLang="zh-CN"/>
          </a:p>
        </p:txBody>
      </p:sp>
    </p:spTree>
  </p:cSld>
  <p:clrMapOvr>
    <a:masterClrMapping/>
  </p:clrMapOvr>
  <p:transition spd="med" advTm="3025">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4" name="日期占位符 3"/>
          <p:cNvSpPr>
            <a:spLocks noGrp="1"/>
          </p:cNvSpPr>
          <p:nvPr>
            <p:ph type="dt" sz="half" idx="10"/>
          </p:nvPr>
        </p:nvSpPr>
        <p:spPr/>
        <p:txBody>
          <a:bodyPr/>
          <a:lstStyle>
            <a:lvl1pPr>
              <a:defRPr/>
            </a:lvl1pPr>
          </a:lstStyle>
          <a:p>
            <a:pPr>
              <a:defRPr/>
            </a:pPr>
            <a:endParaRPr lang="zh-CN" altLang="en-US">
              <a:solidFill>
                <a:srgbClr val="000000">
                  <a:tint val="75000"/>
                </a:srgbClr>
              </a:solidFill>
            </a:endParaRPr>
          </a:p>
        </p:txBody>
      </p:sp>
      <p:sp>
        <p:nvSpPr>
          <p:cNvPr id="5" name="页脚占位符 4"/>
          <p:cNvSpPr>
            <a:spLocks noGrp="1"/>
          </p:cNvSpPr>
          <p:nvPr>
            <p:ph type="ftr" sz="quarter" idx="11"/>
          </p:nvPr>
        </p:nvSpPr>
        <p:spPr/>
        <p:txBody>
          <a:bodyPr/>
          <a:lstStyle>
            <a:lvl1pPr>
              <a:defRPr/>
            </a:lvl1pPr>
          </a:lstStyle>
          <a:p>
            <a:pPr>
              <a:defRPr/>
            </a:pPr>
            <a:endParaRPr lang="zh-CN" altLang="en-US">
              <a:solidFill>
                <a:srgbClr val="000000">
                  <a:tint val="75000"/>
                </a:srgbClr>
              </a:solidFill>
            </a:endParaRPr>
          </a:p>
        </p:txBody>
      </p:sp>
      <p:sp>
        <p:nvSpPr>
          <p:cNvPr id="6" name="灯片编号占位符 5"/>
          <p:cNvSpPr>
            <a:spLocks noGrp="1"/>
          </p:cNvSpPr>
          <p:nvPr>
            <p:ph type="sldNum" sz="quarter" idx="12"/>
          </p:nvPr>
        </p:nvSpPr>
        <p:spPr/>
        <p:txBody>
          <a:bodyPr/>
          <a:lstStyle>
            <a:lvl1pPr>
              <a:defRPr/>
            </a:lvl1pPr>
          </a:lstStyle>
          <a:p>
            <a:pPr>
              <a:defRPr/>
            </a:pPr>
            <a:fld id="{0137E862-9AA1-48E2-98A2-2FC6705F0CCB}" type="slidenum">
              <a:rPr lang="zh-CN" altLang="en-US"/>
            </a:fld>
            <a:endParaRPr lang="en-US" altLang="zh-CN"/>
          </a:p>
        </p:txBody>
      </p:sp>
    </p:spTree>
  </p:cSld>
  <p:clrMapOvr>
    <a:masterClrMapping/>
  </p:clrMapOvr>
  <p:transition spd="med" advTm="3025">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nchor="b"/>
          <a:lstStyle>
            <a:lvl1pPr>
              <a:defRPr sz="6000"/>
            </a:lvl1pPr>
          </a:lstStyle>
          <a:p>
            <a:r>
              <a:rPr lang="zh-CN" altLang="en-US" noProof="1" smtClean="0"/>
              <a:t>单击此处编辑母版标题样式</a:t>
            </a:r>
            <a:endParaRPr lang="en-US" noProof="1"/>
          </a:p>
        </p:txBody>
      </p:sp>
      <p:sp>
        <p:nvSpPr>
          <p:cNvPr id="3" name="文本占位符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smtClean="0"/>
              <a:t>单击此处编辑母版文本样式</a:t>
            </a:r>
            <a:endParaRPr lang="zh-CN" altLang="en-US" noProof="1" smtClean="0"/>
          </a:p>
        </p:txBody>
      </p:sp>
      <p:sp>
        <p:nvSpPr>
          <p:cNvPr id="4" name="日期占位符 3"/>
          <p:cNvSpPr>
            <a:spLocks noGrp="1"/>
          </p:cNvSpPr>
          <p:nvPr>
            <p:ph type="dt" sz="half" idx="10"/>
          </p:nvPr>
        </p:nvSpPr>
        <p:spPr/>
        <p:txBody>
          <a:bodyPr/>
          <a:lstStyle>
            <a:lvl1pPr>
              <a:defRPr/>
            </a:lvl1pPr>
          </a:lstStyle>
          <a:p>
            <a:pPr>
              <a:defRPr/>
            </a:pPr>
            <a:endParaRPr lang="zh-CN" altLang="en-US">
              <a:solidFill>
                <a:srgbClr val="000000">
                  <a:tint val="75000"/>
                </a:srgbClr>
              </a:solidFill>
            </a:endParaRPr>
          </a:p>
        </p:txBody>
      </p:sp>
      <p:sp>
        <p:nvSpPr>
          <p:cNvPr id="5" name="页脚占位符 4"/>
          <p:cNvSpPr>
            <a:spLocks noGrp="1"/>
          </p:cNvSpPr>
          <p:nvPr>
            <p:ph type="ftr" sz="quarter" idx="11"/>
          </p:nvPr>
        </p:nvSpPr>
        <p:spPr/>
        <p:txBody>
          <a:bodyPr/>
          <a:lstStyle>
            <a:lvl1pPr>
              <a:defRPr/>
            </a:lvl1pPr>
          </a:lstStyle>
          <a:p>
            <a:pPr>
              <a:defRPr/>
            </a:pPr>
            <a:endParaRPr lang="zh-CN" altLang="en-US">
              <a:solidFill>
                <a:srgbClr val="000000">
                  <a:tint val="75000"/>
                </a:srgbClr>
              </a:solidFill>
            </a:endParaRPr>
          </a:p>
        </p:txBody>
      </p:sp>
      <p:sp>
        <p:nvSpPr>
          <p:cNvPr id="6" name="灯片编号占位符 5"/>
          <p:cNvSpPr>
            <a:spLocks noGrp="1"/>
          </p:cNvSpPr>
          <p:nvPr>
            <p:ph type="sldNum" sz="quarter" idx="12"/>
          </p:nvPr>
        </p:nvSpPr>
        <p:spPr/>
        <p:txBody>
          <a:bodyPr/>
          <a:lstStyle>
            <a:lvl1pPr>
              <a:defRPr/>
            </a:lvl1pPr>
          </a:lstStyle>
          <a:p>
            <a:pPr>
              <a:defRPr/>
            </a:pPr>
            <a:fld id="{CE6217AE-CCFF-48B6-BC2C-E9095F89B476}" type="slidenum">
              <a:rPr lang="zh-CN" altLang="en-US"/>
            </a:fld>
            <a:endParaRPr lang="en-US" altLang="zh-CN"/>
          </a:p>
        </p:txBody>
      </p:sp>
    </p:spTree>
  </p:cSld>
  <p:clrMapOvr>
    <a:masterClrMapping/>
  </p:clrMapOvr>
  <p:transition spd="med" advTm="3025">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en-US" noProof="1"/>
          </a:p>
        </p:txBody>
      </p:sp>
      <p:sp>
        <p:nvSpPr>
          <p:cNvPr id="3" name="内容占位符 2"/>
          <p:cNvSpPr>
            <a:spLocks noGrp="1"/>
          </p:cNvSpPr>
          <p:nvPr>
            <p:ph sz="half" idx="1"/>
          </p:nvPr>
        </p:nvSpPr>
        <p:spPr>
          <a:xfrm>
            <a:off x="609600" y="1600201"/>
            <a:ext cx="5384800" cy="4525963"/>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4" name="内容占位符 3"/>
          <p:cNvSpPr>
            <a:spLocks noGrp="1"/>
          </p:cNvSpPr>
          <p:nvPr>
            <p:ph sz="half" idx="2"/>
          </p:nvPr>
        </p:nvSpPr>
        <p:spPr>
          <a:xfrm>
            <a:off x="6197600" y="1600201"/>
            <a:ext cx="5384800" cy="4525963"/>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5" name="日期占位符 3"/>
          <p:cNvSpPr>
            <a:spLocks noGrp="1"/>
          </p:cNvSpPr>
          <p:nvPr>
            <p:ph type="dt" sz="half" idx="10"/>
          </p:nvPr>
        </p:nvSpPr>
        <p:spPr/>
        <p:txBody>
          <a:bodyPr/>
          <a:lstStyle>
            <a:lvl1pPr>
              <a:defRPr/>
            </a:lvl1pPr>
          </a:lstStyle>
          <a:p>
            <a:pPr>
              <a:defRPr/>
            </a:pPr>
            <a:endParaRPr lang="zh-CN" altLang="en-US">
              <a:solidFill>
                <a:srgbClr val="000000">
                  <a:tint val="75000"/>
                </a:srgbClr>
              </a:solidFill>
            </a:endParaRPr>
          </a:p>
        </p:txBody>
      </p:sp>
      <p:sp>
        <p:nvSpPr>
          <p:cNvPr id="6" name="页脚占位符 4"/>
          <p:cNvSpPr>
            <a:spLocks noGrp="1"/>
          </p:cNvSpPr>
          <p:nvPr>
            <p:ph type="ftr" sz="quarter" idx="11"/>
          </p:nvPr>
        </p:nvSpPr>
        <p:spPr/>
        <p:txBody>
          <a:bodyPr/>
          <a:lstStyle>
            <a:lvl1pPr>
              <a:defRPr/>
            </a:lvl1pPr>
          </a:lstStyle>
          <a:p>
            <a:pPr>
              <a:defRPr/>
            </a:pPr>
            <a:endParaRPr lang="zh-CN" altLang="en-US">
              <a:solidFill>
                <a:srgbClr val="000000">
                  <a:tint val="75000"/>
                </a:srgbClr>
              </a:solidFill>
            </a:endParaRPr>
          </a:p>
        </p:txBody>
      </p:sp>
      <p:sp>
        <p:nvSpPr>
          <p:cNvPr id="7" name="灯片编号占位符 5"/>
          <p:cNvSpPr>
            <a:spLocks noGrp="1"/>
          </p:cNvSpPr>
          <p:nvPr>
            <p:ph type="sldNum" sz="quarter" idx="12"/>
          </p:nvPr>
        </p:nvSpPr>
        <p:spPr/>
        <p:txBody>
          <a:bodyPr/>
          <a:lstStyle>
            <a:lvl1pPr>
              <a:defRPr/>
            </a:lvl1pPr>
          </a:lstStyle>
          <a:p>
            <a:pPr>
              <a:defRPr/>
            </a:pPr>
            <a:fld id="{78F41CC7-891D-4EFA-8581-63585D339E50}" type="slidenum">
              <a:rPr lang="zh-CN" altLang="en-US"/>
            </a:fld>
            <a:endParaRPr lang="en-US" altLang="zh-CN"/>
          </a:p>
        </p:txBody>
      </p:sp>
    </p:spTree>
  </p:cSld>
  <p:clrMapOvr>
    <a:masterClrMapping/>
  </p:clrMapOvr>
  <p:transition spd="med" advTm="3025">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p:spPr>
        <p:txBody>
          <a:bodyPr/>
          <a:lstStyle/>
          <a:p>
            <a:r>
              <a:rPr lang="zh-CN" altLang="en-US" noProof="1" smtClean="0"/>
              <a:t>单击此处编辑母版标题样式</a:t>
            </a:r>
            <a:endParaRPr lang="en-US" noProof="1"/>
          </a:p>
        </p:txBody>
      </p:sp>
      <p:sp>
        <p:nvSpPr>
          <p:cNvPr id="3" name="文本占位符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840318" y="2505075"/>
            <a:ext cx="5158316" cy="368458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5" name="文本占位符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6172200" y="2505075"/>
            <a:ext cx="5183717" cy="368458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7" name="日期占位符 3"/>
          <p:cNvSpPr>
            <a:spLocks noGrp="1"/>
          </p:cNvSpPr>
          <p:nvPr>
            <p:ph type="dt" sz="half" idx="10"/>
          </p:nvPr>
        </p:nvSpPr>
        <p:spPr/>
        <p:txBody>
          <a:bodyPr/>
          <a:lstStyle>
            <a:lvl1pPr>
              <a:defRPr/>
            </a:lvl1pPr>
          </a:lstStyle>
          <a:p>
            <a:pPr>
              <a:defRPr/>
            </a:pPr>
            <a:endParaRPr lang="zh-CN" altLang="en-US">
              <a:solidFill>
                <a:srgbClr val="000000">
                  <a:tint val="75000"/>
                </a:srgbClr>
              </a:solidFill>
            </a:endParaRPr>
          </a:p>
        </p:txBody>
      </p:sp>
      <p:sp>
        <p:nvSpPr>
          <p:cNvPr id="8" name="页脚占位符 4"/>
          <p:cNvSpPr>
            <a:spLocks noGrp="1"/>
          </p:cNvSpPr>
          <p:nvPr>
            <p:ph type="ftr" sz="quarter" idx="11"/>
          </p:nvPr>
        </p:nvSpPr>
        <p:spPr/>
        <p:txBody>
          <a:bodyPr/>
          <a:lstStyle>
            <a:lvl1pPr>
              <a:defRPr/>
            </a:lvl1pPr>
          </a:lstStyle>
          <a:p>
            <a:pPr>
              <a:defRPr/>
            </a:pPr>
            <a:endParaRPr lang="zh-CN" altLang="en-US">
              <a:solidFill>
                <a:srgbClr val="000000">
                  <a:tint val="75000"/>
                </a:srgbClr>
              </a:solidFill>
            </a:endParaRPr>
          </a:p>
        </p:txBody>
      </p:sp>
      <p:sp>
        <p:nvSpPr>
          <p:cNvPr id="9" name="灯片编号占位符 5"/>
          <p:cNvSpPr>
            <a:spLocks noGrp="1"/>
          </p:cNvSpPr>
          <p:nvPr>
            <p:ph type="sldNum" sz="quarter" idx="12"/>
          </p:nvPr>
        </p:nvSpPr>
        <p:spPr/>
        <p:txBody>
          <a:bodyPr/>
          <a:lstStyle>
            <a:lvl1pPr>
              <a:defRPr/>
            </a:lvl1pPr>
          </a:lstStyle>
          <a:p>
            <a:pPr>
              <a:defRPr/>
            </a:pPr>
            <a:fld id="{2606DBC4-A13D-49A6-A52F-B1E6371C85C7}" type="slidenum">
              <a:rPr lang="zh-CN" altLang="en-US"/>
            </a:fld>
            <a:endParaRPr lang="en-US" altLang="zh-CN"/>
          </a:p>
        </p:txBody>
      </p:sp>
    </p:spTree>
  </p:cSld>
  <p:clrMapOvr>
    <a:masterClrMapping/>
  </p:clrMapOvr>
  <p:transition spd="med" advTm="3025">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en-US" noProof="1"/>
          </a:p>
        </p:txBody>
      </p:sp>
      <p:sp>
        <p:nvSpPr>
          <p:cNvPr id="3" name="日期占位符 3"/>
          <p:cNvSpPr>
            <a:spLocks noGrp="1"/>
          </p:cNvSpPr>
          <p:nvPr>
            <p:ph type="dt" sz="half" idx="10"/>
          </p:nvPr>
        </p:nvSpPr>
        <p:spPr/>
        <p:txBody>
          <a:bodyPr/>
          <a:lstStyle>
            <a:lvl1pPr>
              <a:defRPr/>
            </a:lvl1pPr>
          </a:lstStyle>
          <a:p>
            <a:pPr>
              <a:defRPr/>
            </a:pPr>
            <a:endParaRPr lang="zh-CN" altLang="en-US">
              <a:solidFill>
                <a:srgbClr val="000000">
                  <a:tint val="75000"/>
                </a:srgbClr>
              </a:solidFill>
            </a:endParaRPr>
          </a:p>
        </p:txBody>
      </p:sp>
      <p:sp>
        <p:nvSpPr>
          <p:cNvPr id="4" name="页脚占位符 4"/>
          <p:cNvSpPr>
            <a:spLocks noGrp="1"/>
          </p:cNvSpPr>
          <p:nvPr>
            <p:ph type="ftr" sz="quarter" idx="11"/>
          </p:nvPr>
        </p:nvSpPr>
        <p:spPr/>
        <p:txBody>
          <a:bodyPr/>
          <a:lstStyle>
            <a:lvl1pPr>
              <a:defRPr/>
            </a:lvl1pPr>
          </a:lstStyle>
          <a:p>
            <a:pPr>
              <a:defRPr/>
            </a:pPr>
            <a:endParaRPr lang="zh-CN" altLang="en-US">
              <a:solidFill>
                <a:srgbClr val="000000">
                  <a:tint val="75000"/>
                </a:srgbClr>
              </a:solidFill>
            </a:endParaRPr>
          </a:p>
        </p:txBody>
      </p:sp>
      <p:sp>
        <p:nvSpPr>
          <p:cNvPr id="5" name="灯片编号占位符 5"/>
          <p:cNvSpPr>
            <a:spLocks noGrp="1"/>
          </p:cNvSpPr>
          <p:nvPr>
            <p:ph type="sldNum" sz="quarter" idx="12"/>
          </p:nvPr>
        </p:nvSpPr>
        <p:spPr/>
        <p:txBody>
          <a:bodyPr/>
          <a:lstStyle>
            <a:lvl1pPr>
              <a:defRPr/>
            </a:lvl1pPr>
          </a:lstStyle>
          <a:p>
            <a:pPr>
              <a:defRPr/>
            </a:pPr>
            <a:fld id="{C5CB44C5-68C1-4FA3-B16A-3C801CE065B4}" type="slidenum">
              <a:rPr lang="zh-CN" altLang="en-US"/>
            </a:fld>
            <a:endParaRPr lang="en-US" altLang="zh-CN"/>
          </a:p>
        </p:txBody>
      </p:sp>
    </p:spTree>
  </p:cSld>
  <p:clrMapOvr>
    <a:masterClrMapping/>
  </p:clrMapOvr>
  <p:transition spd="med" advTm="3025">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endParaRPr lang="zh-CN" altLang="en-US">
              <a:solidFill>
                <a:srgbClr val="000000">
                  <a:tint val="75000"/>
                </a:srgbClr>
              </a:solidFill>
            </a:endParaRPr>
          </a:p>
        </p:txBody>
      </p:sp>
      <p:sp>
        <p:nvSpPr>
          <p:cNvPr id="3" name="页脚占位符 4"/>
          <p:cNvSpPr>
            <a:spLocks noGrp="1"/>
          </p:cNvSpPr>
          <p:nvPr>
            <p:ph type="ftr" sz="quarter" idx="11"/>
          </p:nvPr>
        </p:nvSpPr>
        <p:spPr/>
        <p:txBody>
          <a:bodyPr/>
          <a:lstStyle>
            <a:lvl1pPr>
              <a:defRPr/>
            </a:lvl1pPr>
          </a:lstStyle>
          <a:p>
            <a:pPr>
              <a:defRPr/>
            </a:pPr>
            <a:endParaRPr lang="zh-CN" altLang="en-US">
              <a:solidFill>
                <a:srgbClr val="000000">
                  <a:tint val="75000"/>
                </a:srgbClr>
              </a:solidFill>
            </a:endParaRPr>
          </a:p>
        </p:txBody>
      </p:sp>
      <p:sp>
        <p:nvSpPr>
          <p:cNvPr id="4" name="灯片编号占位符 5"/>
          <p:cNvSpPr>
            <a:spLocks noGrp="1"/>
          </p:cNvSpPr>
          <p:nvPr>
            <p:ph type="sldNum" sz="quarter" idx="12"/>
          </p:nvPr>
        </p:nvSpPr>
        <p:spPr/>
        <p:txBody>
          <a:bodyPr/>
          <a:lstStyle>
            <a:lvl1pPr>
              <a:defRPr/>
            </a:lvl1pPr>
          </a:lstStyle>
          <a:p>
            <a:pPr>
              <a:defRPr/>
            </a:pPr>
            <a:fld id="{DF3C5DC0-3C46-4573-A135-BEA6C967ADBB}" type="slidenum">
              <a:rPr lang="zh-CN" altLang="en-US"/>
            </a:fld>
            <a:endParaRPr lang="en-US" altLang="zh-CN"/>
          </a:p>
        </p:txBody>
      </p:sp>
    </p:spTree>
  </p:cSld>
  <p:clrMapOvr>
    <a:masterClrMapping/>
  </p:clrMapOvr>
  <p:transition spd="med" advTm="3025">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nchor="b"/>
          <a:lstStyle>
            <a:lvl1pPr>
              <a:defRPr sz="3200"/>
            </a:lvl1pPr>
          </a:lstStyle>
          <a:p>
            <a:r>
              <a:rPr lang="zh-CN" altLang="en-US" noProof="1" smtClean="0"/>
              <a:t>单击此处编辑母版标题样式</a:t>
            </a:r>
            <a:endParaRPr lang="en-US" noProof="1"/>
          </a:p>
        </p:txBody>
      </p:sp>
      <p:sp>
        <p:nvSpPr>
          <p:cNvPr id="3" name="内容占位符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smtClean="0"/>
              <a:t>单击此处编辑母版文本样式</a:t>
            </a:r>
            <a:endParaRPr lang="zh-CN" altLang="en-US" noProof="1" smtClean="0"/>
          </a:p>
        </p:txBody>
      </p:sp>
      <p:sp>
        <p:nvSpPr>
          <p:cNvPr id="5" name="日期占位符 3"/>
          <p:cNvSpPr>
            <a:spLocks noGrp="1"/>
          </p:cNvSpPr>
          <p:nvPr>
            <p:ph type="dt" sz="half" idx="10"/>
          </p:nvPr>
        </p:nvSpPr>
        <p:spPr/>
        <p:txBody>
          <a:bodyPr/>
          <a:lstStyle>
            <a:lvl1pPr>
              <a:defRPr/>
            </a:lvl1pPr>
          </a:lstStyle>
          <a:p>
            <a:pPr>
              <a:defRPr/>
            </a:pPr>
            <a:endParaRPr lang="zh-CN" altLang="en-US">
              <a:solidFill>
                <a:srgbClr val="000000">
                  <a:tint val="75000"/>
                </a:srgbClr>
              </a:solidFill>
            </a:endParaRPr>
          </a:p>
        </p:txBody>
      </p:sp>
      <p:sp>
        <p:nvSpPr>
          <p:cNvPr id="6" name="页脚占位符 4"/>
          <p:cNvSpPr>
            <a:spLocks noGrp="1"/>
          </p:cNvSpPr>
          <p:nvPr>
            <p:ph type="ftr" sz="quarter" idx="11"/>
          </p:nvPr>
        </p:nvSpPr>
        <p:spPr/>
        <p:txBody>
          <a:bodyPr/>
          <a:lstStyle>
            <a:lvl1pPr>
              <a:defRPr/>
            </a:lvl1pPr>
          </a:lstStyle>
          <a:p>
            <a:pPr>
              <a:defRPr/>
            </a:pPr>
            <a:endParaRPr lang="zh-CN" altLang="en-US">
              <a:solidFill>
                <a:srgbClr val="000000">
                  <a:tint val="75000"/>
                </a:srgbClr>
              </a:solidFill>
            </a:endParaRPr>
          </a:p>
        </p:txBody>
      </p:sp>
      <p:sp>
        <p:nvSpPr>
          <p:cNvPr id="7" name="灯片编号占位符 5"/>
          <p:cNvSpPr>
            <a:spLocks noGrp="1"/>
          </p:cNvSpPr>
          <p:nvPr>
            <p:ph type="sldNum" sz="quarter" idx="12"/>
          </p:nvPr>
        </p:nvSpPr>
        <p:spPr/>
        <p:txBody>
          <a:bodyPr/>
          <a:lstStyle>
            <a:lvl1pPr>
              <a:defRPr/>
            </a:lvl1pPr>
          </a:lstStyle>
          <a:p>
            <a:pPr>
              <a:defRPr/>
            </a:pPr>
            <a:fld id="{B72D619D-A74B-4BFF-B835-43DFCAAE2B61}" type="slidenum">
              <a:rPr lang="zh-CN" altLang="en-US"/>
            </a:fld>
            <a:endParaRPr lang="en-US" altLang="zh-CN"/>
          </a:p>
        </p:txBody>
      </p:sp>
    </p:spTree>
  </p:cSld>
  <p:clrMapOvr>
    <a:masterClrMapping/>
  </p:clrMapOvr>
  <p:transition spd="med" advTm="3025">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nchor="b"/>
          <a:lstStyle>
            <a:lvl1pPr>
              <a:defRPr sz="3200"/>
            </a:lvl1pPr>
          </a:lstStyle>
          <a:p>
            <a:r>
              <a:rPr lang="zh-CN" altLang="en-US" noProof="1" smtClean="0"/>
              <a:t>单击此处编辑母版标题样式</a:t>
            </a:r>
            <a:endParaRPr lang="en-US" noProof="1"/>
          </a:p>
        </p:txBody>
      </p:sp>
      <p:sp>
        <p:nvSpPr>
          <p:cNvPr id="3" name="图片占位符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smtClean="0"/>
              <a:t>单击此处编辑母版文本样式</a:t>
            </a:r>
            <a:endParaRPr lang="zh-CN" altLang="en-US" noProof="1" smtClean="0"/>
          </a:p>
        </p:txBody>
      </p:sp>
      <p:sp>
        <p:nvSpPr>
          <p:cNvPr id="5" name="日期占位符 3"/>
          <p:cNvSpPr>
            <a:spLocks noGrp="1"/>
          </p:cNvSpPr>
          <p:nvPr>
            <p:ph type="dt" sz="half" idx="10"/>
          </p:nvPr>
        </p:nvSpPr>
        <p:spPr/>
        <p:txBody>
          <a:bodyPr/>
          <a:lstStyle>
            <a:lvl1pPr>
              <a:defRPr/>
            </a:lvl1pPr>
          </a:lstStyle>
          <a:p>
            <a:pPr>
              <a:defRPr/>
            </a:pPr>
            <a:endParaRPr lang="zh-CN" altLang="en-US">
              <a:solidFill>
                <a:srgbClr val="000000">
                  <a:tint val="75000"/>
                </a:srgbClr>
              </a:solidFill>
            </a:endParaRPr>
          </a:p>
        </p:txBody>
      </p:sp>
      <p:sp>
        <p:nvSpPr>
          <p:cNvPr id="6" name="页脚占位符 4"/>
          <p:cNvSpPr>
            <a:spLocks noGrp="1"/>
          </p:cNvSpPr>
          <p:nvPr>
            <p:ph type="ftr" sz="quarter" idx="11"/>
          </p:nvPr>
        </p:nvSpPr>
        <p:spPr/>
        <p:txBody>
          <a:bodyPr/>
          <a:lstStyle>
            <a:lvl1pPr>
              <a:defRPr/>
            </a:lvl1pPr>
          </a:lstStyle>
          <a:p>
            <a:pPr>
              <a:defRPr/>
            </a:pPr>
            <a:endParaRPr lang="zh-CN" altLang="en-US">
              <a:solidFill>
                <a:srgbClr val="000000">
                  <a:tint val="75000"/>
                </a:srgbClr>
              </a:solidFill>
            </a:endParaRPr>
          </a:p>
        </p:txBody>
      </p:sp>
      <p:sp>
        <p:nvSpPr>
          <p:cNvPr id="7" name="灯片编号占位符 5"/>
          <p:cNvSpPr>
            <a:spLocks noGrp="1"/>
          </p:cNvSpPr>
          <p:nvPr>
            <p:ph type="sldNum" sz="quarter" idx="12"/>
          </p:nvPr>
        </p:nvSpPr>
        <p:spPr/>
        <p:txBody>
          <a:bodyPr/>
          <a:lstStyle>
            <a:lvl1pPr>
              <a:defRPr/>
            </a:lvl1pPr>
          </a:lstStyle>
          <a:p>
            <a:pPr>
              <a:defRPr/>
            </a:pPr>
            <a:fld id="{95AA9BF9-4E0B-45F6-A3B7-B4CEB6C0008F}" type="slidenum">
              <a:rPr lang="zh-CN" altLang="en-US"/>
            </a:fld>
            <a:endParaRPr lang="en-US" altLang="zh-CN"/>
          </a:p>
        </p:txBody>
      </p:sp>
    </p:spTree>
  </p:cSld>
  <p:clrMapOvr>
    <a:masterClrMapping/>
  </p:clrMapOvr>
  <p:transition spd="med" advTm="3025">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4" name="日期占位符 3"/>
          <p:cNvSpPr>
            <a:spLocks noGrp="1"/>
          </p:cNvSpPr>
          <p:nvPr>
            <p:ph type="dt" sz="half" idx="10"/>
          </p:nvPr>
        </p:nvSpPr>
        <p:spPr/>
        <p:txBody>
          <a:bodyPr/>
          <a:lstStyle>
            <a:lvl1pPr>
              <a:defRPr/>
            </a:lvl1pPr>
          </a:lstStyle>
          <a:p>
            <a:pPr>
              <a:defRPr/>
            </a:pPr>
            <a:endParaRPr lang="zh-CN" altLang="en-US">
              <a:solidFill>
                <a:srgbClr val="000000">
                  <a:tint val="75000"/>
                </a:srgbClr>
              </a:solidFill>
            </a:endParaRPr>
          </a:p>
        </p:txBody>
      </p:sp>
      <p:sp>
        <p:nvSpPr>
          <p:cNvPr id="5" name="页脚占位符 4"/>
          <p:cNvSpPr>
            <a:spLocks noGrp="1"/>
          </p:cNvSpPr>
          <p:nvPr>
            <p:ph type="ftr" sz="quarter" idx="11"/>
          </p:nvPr>
        </p:nvSpPr>
        <p:spPr/>
        <p:txBody>
          <a:bodyPr/>
          <a:lstStyle>
            <a:lvl1pPr>
              <a:defRPr/>
            </a:lvl1pPr>
          </a:lstStyle>
          <a:p>
            <a:pPr>
              <a:defRPr/>
            </a:pPr>
            <a:endParaRPr lang="zh-CN" altLang="en-US">
              <a:solidFill>
                <a:srgbClr val="000000">
                  <a:tint val="75000"/>
                </a:srgbClr>
              </a:solidFill>
            </a:endParaRPr>
          </a:p>
        </p:txBody>
      </p:sp>
      <p:sp>
        <p:nvSpPr>
          <p:cNvPr id="6" name="灯片编号占位符 5"/>
          <p:cNvSpPr>
            <a:spLocks noGrp="1"/>
          </p:cNvSpPr>
          <p:nvPr>
            <p:ph type="sldNum" sz="quarter" idx="12"/>
          </p:nvPr>
        </p:nvSpPr>
        <p:spPr/>
        <p:txBody>
          <a:bodyPr/>
          <a:lstStyle>
            <a:lvl1pPr>
              <a:defRPr/>
            </a:lvl1pPr>
          </a:lstStyle>
          <a:p>
            <a:pPr>
              <a:defRPr/>
            </a:pPr>
            <a:fld id="{36E5976D-68C2-40CB-9FA6-5D6851EAACDF}" type="slidenum">
              <a:rPr lang="zh-CN" altLang="en-US"/>
            </a:fld>
            <a:endParaRPr lang="en-US" altLang="zh-CN"/>
          </a:p>
        </p:txBody>
      </p:sp>
    </p:spTree>
  </p:cSld>
  <p:clrMapOvr>
    <a:masterClrMapping/>
  </p:clrMapOvr>
  <p:transition spd="med" advTm="3025">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noProof="1" smtClean="0"/>
              <a:t>单击此处编辑母版标题样式</a:t>
            </a:r>
            <a:endParaRPr lang="en-US" noProof="1"/>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4" name="日期占位符 3"/>
          <p:cNvSpPr>
            <a:spLocks noGrp="1"/>
          </p:cNvSpPr>
          <p:nvPr>
            <p:ph type="dt" sz="half" idx="10"/>
          </p:nvPr>
        </p:nvSpPr>
        <p:spPr/>
        <p:txBody>
          <a:bodyPr/>
          <a:lstStyle>
            <a:lvl1pPr>
              <a:defRPr/>
            </a:lvl1pPr>
          </a:lstStyle>
          <a:p>
            <a:pPr>
              <a:defRPr/>
            </a:pPr>
            <a:endParaRPr lang="zh-CN" altLang="en-US">
              <a:solidFill>
                <a:srgbClr val="000000">
                  <a:tint val="75000"/>
                </a:srgbClr>
              </a:solidFill>
            </a:endParaRPr>
          </a:p>
        </p:txBody>
      </p:sp>
      <p:sp>
        <p:nvSpPr>
          <p:cNvPr id="5" name="页脚占位符 4"/>
          <p:cNvSpPr>
            <a:spLocks noGrp="1"/>
          </p:cNvSpPr>
          <p:nvPr>
            <p:ph type="ftr" sz="quarter" idx="11"/>
          </p:nvPr>
        </p:nvSpPr>
        <p:spPr/>
        <p:txBody>
          <a:bodyPr/>
          <a:lstStyle>
            <a:lvl1pPr>
              <a:defRPr/>
            </a:lvl1pPr>
          </a:lstStyle>
          <a:p>
            <a:pPr>
              <a:defRPr/>
            </a:pPr>
            <a:endParaRPr lang="zh-CN" altLang="en-US">
              <a:solidFill>
                <a:srgbClr val="000000">
                  <a:tint val="75000"/>
                </a:srgbClr>
              </a:solidFill>
            </a:endParaRPr>
          </a:p>
        </p:txBody>
      </p:sp>
      <p:sp>
        <p:nvSpPr>
          <p:cNvPr id="6" name="灯片编号占位符 5"/>
          <p:cNvSpPr>
            <a:spLocks noGrp="1"/>
          </p:cNvSpPr>
          <p:nvPr>
            <p:ph type="sldNum" sz="quarter" idx="12"/>
          </p:nvPr>
        </p:nvSpPr>
        <p:spPr/>
        <p:txBody>
          <a:bodyPr/>
          <a:lstStyle>
            <a:lvl1pPr>
              <a:defRPr/>
            </a:lvl1pPr>
          </a:lstStyle>
          <a:p>
            <a:pPr>
              <a:defRPr/>
            </a:pPr>
            <a:fld id="{04C25830-DC75-4031-ACB2-74C0C22F4EFE}" type="slidenum">
              <a:rPr lang="zh-CN" altLang="en-US"/>
            </a:fld>
            <a:endParaRPr lang="en-US" altLang="zh-CN"/>
          </a:p>
        </p:txBody>
      </p:sp>
    </p:spTree>
  </p:cSld>
  <p:clrMapOvr>
    <a:masterClrMapping/>
  </p:clrMapOvr>
  <p:transition spd="med" advTm="3025">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noProof="1" smtClean="0"/>
              <a:t>单击此处编辑母版标题样式</a:t>
            </a:r>
            <a:endParaRPr lang="en-US" noProof="1"/>
          </a:p>
        </p:txBody>
      </p:sp>
      <p:sp>
        <p:nvSpPr>
          <p:cNvPr id="3" name="图表占位符 2"/>
          <p:cNvSpPr>
            <a:spLocks noGrp="1"/>
          </p:cNvSpPr>
          <p:nvPr>
            <p:ph type="chart" idx="1"/>
          </p:nvPr>
        </p:nvSpPr>
        <p:spPr>
          <a:xfrm>
            <a:off x="609600" y="1600201"/>
            <a:ext cx="10972800" cy="4525963"/>
          </a:xfrm>
        </p:spPr>
        <p:txBody>
          <a:bodyPr/>
          <a:lstStyle/>
          <a:p>
            <a:pPr lvl="0"/>
            <a:endParaRPr lang="en-US" noProof="0" smtClean="0"/>
          </a:p>
        </p:txBody>
      </p:sp>
      <p:sp>
        <p:nvSpPr>
          <p:cNvPr id="4" name="日期占位符 3"/>
          <p:cNvSpPr>
            <a:spLocks noGrp="1"/>
          </p:cNvSpPr>
          <p:nvPr>
            <p:ph type="dt" sz="half" idx="10"/>
          </p:nvPr>
        </p:nvSpPr>
        <p:spPr/>
        <p:txBody>
          <a:bodyPr/>
          <a:lstStyle>
            <a:lvl1pPr>
              <a:defRPr/>
            </a:lvl1pPr>
          </a:lstStyle>
          <a:p>
            <a:pPr>
              <a:defRPr/>
            </a:pPr>
            <a:endParaRPr lang="zh-CN" altLang="en-US">
              <a:solidFill>
                <a:srgbClr val="000000">
                  <a:tint val="75000"/>
                </a:srgbClr>
              </a:solidFill>
            </a:endParaRPr>
          </a:p>
        </p:txBody>
      </p:sp>
      <p:sp>
        <p:nvSpPr>
          <p:cNvPr id="5" name="页脚占位符 4"/>
          <p:cNvSpPr>
            <a:spLocks noGrp="1"/>
          </p:cNvSpPr>
          <p:nvPr>
            <p:ph type="ftr" sz="quarter" idx="11"/>
          </p:nvPr>
        </p:nvSpPr>
        <p:spPr/>
        <p:txBody>
          <a:bodyPr/>
          <a:lstStyle>
            <a:lvl1pPr>
              <a:defRPr/>
            </a:lvl1pPr>
          </a:lstStyle>
          <a:p>
            <a:pPr>
              <a:defRPr/>
            </a:pPr>
            <a:endParaRPr lang="zh-CN" altLang="en-US">
              <a:solidFill>
                <a:srgbClr val="000000">
                  <a:tint val="75000"/>
                </a:srgbClr>
              </a:solidFill>
            </a:endParaRPr>
          </a:p>
        </p:txBody>
      </p:sp>
      <p:sp>
        <p:nvSpPr>
          <p:cNvPr id="6" name="灯片编号占位符 5"/>
          <p:cNvSpPr>
            <a:spLocks noGrp="1"/>
          </p:cNvSpPr>
          <p:nvPr>
            <p:ph type="sldNum" sz="quarter" idx="12"/>
          </p:nvPr>
        </p:nvSpPr>
        <p:spPr/>
        <p:txBody>
          <a:bodyPr/>
          <a:lstStyle>
            <a:lvl1pPr>
              <a:defRPr/>
            </a:lvl1pPr>
          </a:lstStyle>
          <a:p>
            <a:pPr>
              <a:defRPr/>
            </a:pPr>
            <a:fld id="{CA8F3CD3-2F9E-47FF-84EC-040396C7EF57}" type="slidenum">
              <a:rPr lang="zh-CN" altLang="en-US"/>
            </a:fld>
            <a:endParaRPr lang="en-US" altLang="zh-CN"/>
          </a:p>
        </p:txBody>
      </p:sp>
    </p:spTree>
  </p:cSld>
  <p:clrMapOvr>
    <a:masterClrMapping/>
  </p:clrMapOvr>
  <p:transition spd="med" advTm="3025">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noProof="1" smtClean="0"/>
              <a:t>单击此处编辑母版标题样式</a:t>
            </a:r>
            <a:endParaRPr lang="en-US" noProof="1"/>
          </a:p>
        </p:txBody>
      </p:sp>
      <p:sp>
        <p:nvSpPr>
          <p:cNvPr id="3" name="表格占位符 2"/>
          <p:cNvSpPr>
            <a:spLocks noGrp="1"/>
          </p:cNvSpPr>
          <p:nvPr>
            <p:ph type="tbl" idx="1"/>
          </p:nvPr>
        </p:nvSpPr>
        <p:spPr>
          <a:xfrm>
            <a:off x="609600" y="1600201"/>
            <a:ext cx="10972800" cy="4525963"/>
          </a:xfrm>
        </p:spPr>
        <p:txBody>
          <a:bodyPr/>
          <a:lstStyle/>
          <a:p>
            <a:pPr lvl="0"/>
            <a:endParaRPr lang="en-US" noProof="0" smtClean="0"/>
          </a:p>
        </p:txBody>
      </p:sp>
      <p:sp>
        <p:nvSpPr>
          <p:cNvPr id="4" name="日期占位符 3"/>
          <p:cNvSpPr>
            <a:spLocks noGrp="1"/>
          </p:cNvSpPr>
          <p:nvPr>
            <p:ph type="dt" sz="half" idx="10"/>
          </p:nvPr>
        </p:nvSpPr>
        <p:spPr/>
        <p:txBody>
          <a:bodyPr/>
          <a:lstStyle>
            <a:lvl1pPr>
              <a:defRPr/>
            </a:lvl1pPr>
          </a:lstStyle>
          <a:p>
            <a:pPr>
              <a:defRPr/>
            </a:pPr>
            <a:endParaRPr lang="zh-CN" altLang="en-US">
              <a:solidFill>
                <a:srgbClr val="000000">
                  <a:tint val="75000"/>
                </a:srgbClr>
              </a:solidFill>
            </a:endParaRPr>
          </a:p>
        </p:txBody>
      </p:sp>
      <p:sp>
        <p:nvSpPr>
          <p:cNvPr id="5" name="页脚占位符 4"/>
          <p:cNvSpPr>
            <a:spLocks noGrp="1"/>
          </p:cNvSpPr>
          <p:nvPr>
            <p:ph type="ftr" sz="quarter" idx="11"/>
          </p:nvPr>
        </p:nvSpPr>
        <p:spPr/>
        <p:txBody>
          <a:bodyPr/>
          <a:lstStyle>
            <a:lvl1pPr>
              <a:defRPr/>
            </a:lvl1pPr>
          </a:lstStyle>
          <a:p>
            <a:pPr>
              <a:defRPr/>
            </a:pPr>
            <a:endParaRPr lang="zh-CN" altLang="en-US">
              <a:solidFill>
                <a:srgbClr val="000000">
                  <a:tint val="75000"/>
                </a:srgbClr>
              </a:solidFill>
            </a:endParaRPr>
          </a:p>
        </p:txBody>
      </p:sp>
      <p:sp>
        <p:nvSpPr>
          <p:cNvPr id="6" name="灯片编号占位符 5"/>
          <p:cNvSpPr>
            <a:spLocks noGrp="1"/>
          </p:cNvSpPr>
          <p:nvPr>
            <p:ph type="sldNum" sz="quarter" idx="12"/>
          </p:nvPr>
        </p:nvSpPr>
        <p:spPr/>
        <p:txBody>
          <a:bodyPr/>
          <a:lstStyle>
            <a:lvl1pPr>
              <a:defRPr/>
            </a:lvl1pPr>
          </a:lstStyle>
          <a:p>
            <a:pPr>
              <a:defRPr/>
            </a:pPr>
            <a:fld id="{CE354C90-BBDA-454F-8E29-EF6B0518553D}" type="slidenum">
              <a:rPr lang="zh-CN" altLang="en-US"/>
            </a:fld>
            <a:endParaRPr lang="en-US" altLang="zh-CN"/>
          </a:p>
        </p:txBody>
      </p:sp>
    </p:spTree>
  </p:cSld>
  <p:clrMapOvr>
    <a:masterClrMapping/>
  </p:clrMapOvr>
  <p:transition spd="med" advTm="3025">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78518" y="835025"/>
            <a:ext cx="9505949" cy="914400"/>
          </a:xfrm>
        </p:spPr>
        <p:txBody>
          <a:bodyPr/>
          <a:lstStyle/>
          <a:p>
            <a:r>
              <a:rPr lang="en-US" noProof="1" smtClean="0"/>
              <a:t>Click to edit Master title style</a:t>
            </a:r>
            <a:endParaRPr lang="en-US" noProof="1"/>
          </a:p>
        </p:txBody>
      </p:sp>
      <p:sp>
        <p:nvSpPr>
          <p:cNvPr id="3" name="Text Placeholder 2"/>
          <p:cNvSpPr>
            <a:spLocks noGrp="1"/>
          </p:cNvSpPr>
          <p:nvPr>
            <p:ph type="body" sz="half" idx="1"/>
          </p:nvPr>
        </p:nvSpPr>
        <p:spPr>
          <a:xfrm>
            <a:off x="2639484" y="1825625"/>
            <a:ext cx="3869267" cy="4267200"/>
          </a:xfrm>
        </p:spPr>
        <p:txBody>
          <a:bodyPr/>
          <a:lstStyle/>
          <a:p>
            <a:pPr lvl="0"/>
            <a:r>
              <a:rPr lang="en-US" noProof="1" smtClean="0"/>
              <a:t>Click to edit Master text styles</a:t>
            </a:r>
            <a:endParaRPr lang="en-US" noProof="1" smtClean="0"/>
          </a:p>
          <a:p>
            <a:pPr lvl="1"/>
            <a:r>
              <a:rPr lang="en-US" noProof="1" smtClean="0"/>
              <a:t>Second level</a:t>
            </a:r>
            <a:endParaRPr lang="en-US" noProof="1" smtClean="0"/>
          </a:p>
          <a:p>
            <a:pPr lvl="2"/>
            <a:r>
              <a:rPr lang="en-US" noProof="1" smtClean="0"/>
              <a:t>Third level</a:t>
            </a:r>
            <a:endParaRPr lang="en-US" noProof="1" smtClean="0"/>
          </a:p>
          <a:p>
            <a:pPr lvl="3"/>
            <a:r>
              <a:rPr lang="en-US" noProof="1" smtClean="0"/>
              <a:t>Fourth level</a:t>
            </a:r>
            <a:endParaRPr lang="en-US" noProof="1" smtClean="0"/>
          </a:p>
          <a:p>
            <a:pPr lvl="4"/>
            <a:r>
              <a:rPr lang="en-US" noProof="1" smtClean="0"/>
              <a:t>Fifth level</a:t>
            </a:r>
            <a:endParaRPr lang="en-US" noProof="1"/>
          </a:p>
        </p:txBody>
      </p:sp>
      <p:sp>
        <p:nvSpPr>
          <p:cNvPr id="4" name="Content Placeholder 3"/>
          <p:cNvSpPr>
            <a:spLocks noGrp="1"/>
          </p:cNvSpPr>
          <p:nvPr>
            <p:ph sz="half" idx="2"/>
          </p:nvPr>
        </p:nvSpPr>
        <p:spPr>
          <a:xfrm>
            <a:off x="6711951" y="1825625"/>
            <a:ext cx="3871383" cy="4267200"/>
          </a:xfrm>
        </p:spPr>
        <p:txBody>
          <a:bodyPr/>
          <a:lstStyle/>
          <a:p>
            <a:pPr lvl="0"/>
            <a:r>
              <a:rPr lang="en-US" noProof="1" smtClean="0"/>
              <a:t>Click to edit Master text styles</a:t>
            </a:r>
            <a:endParaRPr lang="en-US" noProof="1" smtClean="0"/>
          </a:p>
          <a:p>
            <a:pPr lvl="1"/>
            <a:r>
              <a:rPr lang="en-US" noProof="1" smtClean="0"/>
              <a:t>Second level</a:t>
            </a:r>
            <a:endParaRPr lang="en-US" noProof="1" smtClean="0"/>
          </a:p>
          <a:p>
            <a:pPr lvl="2"/>
            <a:r>
              <a:rPr lang="en-US" noProof="1" smtClean="0"/>
              <a:t>Third level</a:t>
            </a:r>
            <a:endParaRPr lang="en-US" noProof="1" smtClean="0"/>
          </a:p>
          <a:p>
            <a:pPr lvl="3"/>
            <a:r>
              <a:rPr lang="en-US" noProof="1" smtClean="0"/>
              <a:t>Fourth level</a:t>
            </a:r>
            <a:endParaRPr lang="en-US" noProof="1" smtClean="0"/>
          </a:p>
          <a:p>
            <a:pPr lvl="4"/>
            <a:r>
              <a:rPr lang="en-US" noProof="1" smtClean="0"/>
              <a:t>Fifth level</a:t>
            </a:r>
            <a:endParaRPr lang="en-US" noProof="1"/>
          </a:p>
        </p:txBody>
      </p:sp>
      <p:sp>
        <p:nvSpPr>
          <p:cNvPr id="5" name="日期占位符 3"/>
          <p:cNvSpPr>
            <a:spLocks noGrp="1"/>
          </p:cNvSpPr>
          <p:nvPr>
            <p:ph type="dt" sz="half" idx="10"/>
          </p:nvPr>
        </p:nvSpPr>
        <p:spPr/>
        <p:txBody>
          <a:bodyPr/>
          <a:lstStyle>
            <a:lvl1pPr>
              <a:defRPr/>
            </a:lvl1pPr>
          </a:lstStyle>
          <a:p>
            <a:pPr>
              <a:defRPr/>
            </a:pPr>
            <a:endParaRPr lang="zh-CN" altLang="en-US">
              <a:solidFill>
                <a:srgbClr val="000000">
                  <a:tint val="75000"/>
                </a:srgbClr>
              </a:solidFill>
            </a:endParaRPr>
          </a:p>
        </p:txBody>
      </p:sp>
      <p:sp>
        <p:nvSpPr>
          <p:cNvPr id="6" name="页脚占位符 4"/>
          <p:cNvSpPr>
            <a:spLocks noGrp="1"/>
          </p:cNvSpPr>
          <p:nvPr>
            <p:ph type="ftr" sz="quarter" idx="11"/>
          </p:nvPr>
        </p:nvSpPr>
        <p:spPr/>
        <p:txBody>
          <a:bodyPr/>
          <a:lstStyle>
            <a:lvl1pPr>
              <a:defRPr/>
            </a:lvl1pPr>
          </a:lstStyle>
          <a:p>
            <a:pPr>
              <a:defRPr/>
            </a:pPr>
            <a:endParaRPr lang="zh-CN" altLang="en-US">
              <a:solidFill>
                <a:srgbClr val="000000">
                  <a:tint val="75000"/>
                </a:srgbClr>
              </a:solidFill>
            </a:endParaRPr>
          </a:p>
        </p:txBody>
      </p:sp>
      <p:sp>
        <p:nvSpPr>
          <p:cNvPr id="7" name="灯片编号占位符 5"/>
          <p:cNvSpPr>
            <a:spLocks noGrp="1"/>
          </p:cNvSpPr>
          <p:nvPr>
            <p:ph type="sldNum" sz="quarter" idx="12"/>
          </p:nvPr>
        </p:nvSpPr>
        <p:spPr/>
        <p:txBody>
          <a:bodyPr/>
          <a:lstStyle>
            <a:lvl1pPr>
              <a:defRPr/>
            </a:lvl1pPr>
          </a:lstStyle>
          <a:p>
            <a:pPr>
              <a:defRPr/>
            </a:pPr>
            <a:fld id="{0FF63208-A3C5-4CEB-8453-17BD30D7427B}" type="slidenum">
              <a:rPr lang="zh-CN" altLang="en-US"/>
            </a:fld>
            <a:endParaRPr lang="en-US" altLang="zh-CN"/>
          </a:p>
        </p:txBody>
      </p:sp>
    </p:spTree>
  </p:cSld>
  <p:clrMapOvr>
    <a:masterClrMapping/>
  </p:clrMapOvr>
  <p:transition spd="med" advTm="3025">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jpe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2" tIns="45710" rIns="91422" bIns="45710" numCol="1" anchor="ctr" anchorCtr="0" compatLnSpc="1"/>
          <a:lstStyle/>
          <a:p>
            <a:pPr lvl="0"/>
            <a:r>
              <a:rPr lang="zh-CN" altLang="en-US" smtClean="0"/>
              <a:t>单击此处编辑母版标题样式</a:t>
            </a:r>
            <a:endParaRPr lang="zh-CN" altLang="en-US" smtClean="0"/>
          </a:p>
        </p:txBody>
      </p:sp>
      <p:sp>
        <p:nvSpPr>
          <p:cNvPr id="1027" name="文本占位符 2"/>
          <p:cNvSpPr>
            <a:spLocks noGrp="1" noChangeArrowheads="1"/>
          </p:cNvSpPr>
          <p:nvPr>
            <p:ph type="body" idx="9"/>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2" tIns="45710" rIns="91422" bIns="4571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4" name="日期占位符 3"/>
          <p:cNvSpPr>
            <a:spLocks noGrp="1"/>
          </p:cNvSpPr>
          <p:nvPr>
            <p:ph type="dt" sz="half" idx="2"/>
          </p:nvPr>
        </p:nvSpPr>
        <p:spPr bwMode="auto">
          <a:xfrm>
            <a:off x="609600" y="6356351"/>
            <a:ext cx="284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2" tIns="45710" rIns="91422" bIns="45710" numCol="1" anchor="ctr" anchorCtr="0" compatLnSpc="1"/>
          <a:lstStyle>
            <a:lvl1pPr algn="l" eaLnBrk="1" fontAlgn="auto" hangingPunct="1">
              <a:spcBef>
                <a:spcPts val="0"/>
              </a:spcBef>
              <a:spcAft>
                <a:spcPts val="0"/>
              </a:spcAft>
              <a:buFontTx/>
              <a:buNone/>
              <a:defRPr sz="1200">
                <a:solidFill>
                  <a:schemeClr val="tx1">
                    <a:tint val="75000"/>
                  </a:schemeClr>
                </a:solidFill>
                <a:latin typeface="+mn-lt"/>
                <a:ea typeface="+mn-ea"/>
              </a:defRPr>
            </a:lvl1pPr>
          </a:lstStyle>
          <a:p>
            <a:pPr>
              <a:defRPr/>
            </a:pPr>
            <a:endParaRPr lang="zh-CN" altLang="en-US">
              <a:solidFill>
                <a:srgbClr val="000000">
                  <a:tint val="75000"/>
                </a:srgbClr>
              </a:solidFill>
            </a:endParaRPr>
          </a:p>
        </p:txBody>
      </p:sp>
      <p:sp>
        <p:nvSpPr>
          <p:cNvPr id="5" name="页脚占位符 4"/>
          <p:cNvSpPr>
            <a:spLocks noGrp="1"/>
          </p:cNvSpPr>
          <p:nvPr>
            <p:ph type="ftr" sz="quarter" idx="3"/>
          </p:nvPr>
        </p:nvSpPr>
        <p:spPr bwMode="auto">
          <a:xfrm>
            <a:off x="4165600" y="6356351"/>
            <a:ext cx="3860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2" tIns="45710" rIns="91422" bIns="45710" numCol="1" anchor="ctr" anchorCtr="0" compatLnSpc="1"/>
          <a:lstStyle>
            <a:lvl1pPr algn="ctr" eaLnBrk="1" fontAlgn="auto" hangingPunct="1">
              <a:spcBef>
                <a:spcPts val="0"/>
              </a:spcBef>
              <a:spcAft>
                <a:spcPts val="0"/>
              </a:spcAft>
              <a:buFontTx/>
              <a:buNone/>
              <a:defRPr sz="1200">
                <a:solidFill>
                  <a:schemeClr val="tx1">
                    <a:tint val="75000"/>
                  </a:schemeClr>
                </a:solidFill>
                <a:latin typeface="+mn-lt"/>
                <a:ea typeface="+mn-ea"/>
              </a:defRPr>
            </a:lvl1pPr>
          </a:lstStyle>
          <a:p>
            <a:pPr>
              <a:defRPr/>
            </a:pPr>
            <a:endParaRPr lang="zh-CN" altLang="en-US">
              <a:solidFill>
                <a:srgbClr val="000000">
                  <a:tint val="75000"/>
                </a:srgbClr>
              </a:solidFill>
            </a:endParaRPr>
          </a:p>
        </p:txBody>
      </p:sp>
      <p:sp>
        <p:nvSpPr>
          <p:cNvPr id="6" name="灯片编号占位符 5"/>
          <p:cNvSpPr>
            <a:spLocks noGrp="1"/>
          </p:cNvSpPr>
          <p:nvPr>
            <p:ph type="sldNum" sz="quarter" idx="4"/>
          </p:nvPr>
        </p:nvSpPr>
        <p:spPr bwMode="auto">
          <a:xfrm>
            <a:off x="8737600" y="6356351"/>
            <a:ext cx="284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2" tIns="45710" rIns="91422" bIns="45710" numCol="1" anchor="ctr" anchorCtr="0" compatLnSpc="1"/>
          <a:lstStyle>
            <a:lvl1pPr algn="r" eaLnBrk="1" hangingPunct="1">
              <a:buFontTx/>
              <a:buNone/>
              <a:defRPr sz="1200">
                <a:solidFill>
                  <a:srgbClr val="898989"/>
                </a:solidFill>
                <a:latin typeface="+mn-lt"/>
                <a:ea typeface="+mn-ea"/>
              </a:defRPr>
            </a:lvl1pPr>
          </a:lstStyle>
          <a:p>
            <a:pPr fontAlgn="base">
              <a:spcBef>
                <a:spcPct val="0"/>
              </a:spcBef>
              <a:spcAft>
                <a:spcPct val="0"/>
              </a:spcAft>
              <a:defRPr/>
            </a:pPr>
            <a:fld id="{D3E5EB11-67A9-4EE5-9708-39E1D8DE6299}" type="slidenum">
              <a:rPr lang="zh-CN" altLang="en-US"/>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med" advTm="3025">
    <p:fade/>
  </p:transition>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39725" indent="-339725"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emf"/></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emf"/></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emf"/></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4.png"/><Relationship Id="rId1"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1.jpeg"/><Relationship Id="rId1" Type="http://schemas.openxmlformats.org/officeDocument/2006/relationships/image" Target="../media/image1.jpe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jpeg"/><Relationship Id="rId1" Type="http://schemas.openxmlformats.org/officeDocument/2006/relationships/image" Target="../media/image22.jpe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4.emf"/></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1.jpeg"/></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5.jpe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ctrTitle"/>
          </p:nvPr>
        </p:nvSpPr>
        <p:spPr>
          <a:xfrm>
            <a:off x="1847850" y="1844675"/>
            <a:ext cx="8610600" cy="990600"/>
          </a:xfrm>
        </p:spPr>
        <p:txBody>
          <a:bodyPr anchor="ctr"/>
          <a:lstStyle/>
          <a:p>
            <a:pPr eaLnBrk="1" hangingPunct="1">
              <a:lnSpc>
                <a:spcPct val="130000"/>
              </a:lnSpc>
            </a:pPr>
            <a:br>
              <a:rPr lang="zh-CN" altLang="en-US" sz="4000" b="1">
                <a:latin typeface="仿宋_GB2312" panose="02010609030101010101" pitchFamily="49" charset="-122"/>
                <a:ea typeface="幼圆" panose="02010509060101010101" pitchFamily="49" charset="-122"/>
              </a:rPr>
            </a:br>
            <a:endParaRPr lang="zh-CN" altLang="en-US" sz="4000" b="1">
              <a:latin typeface="仿宋_GB2312" panose="02010609030101010101" pitchFamily="49" charset="-122"/>
              <a:ea typeface="幼圆" panose="02010509060101010101" pitchFamily="49" charset="-122"/>
            </a:endParaRPr>
          </a:p>
        </p:txBody>
      </p:sp>
      <p:sp>
        <p:nvSpPr>
          <p:cNvPr id="12291" name="Text Box 8"/>
          <p:cNvSpPr txBox="1">
            <a:spLocks noChangeArrowheads="1"/>
          </p:cNvSpPr>
          <p:nvPr/>
        </p:nvSpPr>
        <p:spPr bwMode="auto">
          <a:xfrm>
            <a:off x="2228850" y="814966"/>
            <a:ext cx="7848600" cy="6370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2" tIns="45710" rIns="91422" bIns="45710">
            <a:spAutoFit/>
          </a:bodyPr>
          <a:lstStyle>
            <a:lvl1pPr>
              <a:buFont typeface="Arial" panose="020B0604020202020204" pitchFamily="34" charset="0"/>
              <a:defRPr>
                <a:solidFill>
                  <a:schemeClr val="tx1"/>
                </a:solidFill>
                <a:latin typeface="Arial" panose="020B0604020202020204" pitchFamily="34" charset="0"/>
                <a:ea typeface="隶书" panose="02010509060101010101" pitchFamily="49" charset="-122"/>
              </a:defRPr>
            </a:lvl1pPr>
            <a:lvl2pPr marL="742950" indent="-285750">
              <a:buFont typeface="Arial" panose="020B0604020202020204" pitchFamily="34" charset="0"/>
              <a:defRPr>
                <a:solidFill>
                  <a:schemeClr val="tx1"/>
                </a:solidFill>
                <a:latin typeface="Arial" panose="020B0604020202020204" pitchFamily="34" charset="0"/>
                <a:ea typeface="隶书" panose="02010509060101010101" pitchFamily="49" charset="-122"/>
              </a:defRPr>
            </a:lvl2pPr>
            <a:lvl3pPr marL="1143000" indent="-228600">
              <a:buFont typeface="Arial" panose="020B0604020202020204" pitchFamily="34" charset="0"/>
              <a:defRPr>
                <a:solidFill>
                  <a:schemeClr val="tx1"/>
                </a:solidFill>
                <a:latin typeface="Arial" panose="020B0604020202020204" pitchFamily="34" charset="0"/>
                <a:ea typeface="隶书" panose="02010509060101010101" pitchFamily="49" charset="-122"/>
              </a:defRPr>
            </a:lvl3pPr>
            <a:lvl4pPr marL="1600200" indent="-228600">
              <a:buFont typeface="Arial" panose="020B0604020202020204" pitchFamily="34" charset="0"/>
              <a:defRPr>
                <a:solidFill>
                  <a:schemeClr val="tx1"/>
                </a:solidFill>
                <a:latin typeface="Arial" panose="020B0604020202020204" pitchFamily="34" charset="0"/>
                <a:ea typeface="隶书" panose="02010509060101010101" pitchFamily="49" charset="-122"/>
              </a:defRPr>
            </a:lvl4pPr>
            <a:lvl5pPr marL="2057400" indent="-228600">
              <a:buFont typeface="Arial" panose="020B0604020202020204" pitchFamily="34" charset="0"/>
              <a:defRPr>
                <a:solidFill>
                  <a:schemeClr val="tx1"/>
                </a:solidFill>
                <a:latin typeface="Arial" panose="020B0604020202020204" pitchFamily="34" charset="0"/>
                <a:ea typeface="隶书" panose="020105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隶书" panose="020105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隶书" panose="020105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隶书" panose="020105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隶书" panose="02010509060101010101" pitchFamily="49" charset="-122"/>
              </a:defRPr>
            </a:lvl9pPr>
          </a:lstStyle>
          <a:p>
            <a:pPr algn="ctr" fontAlgn="base">
              <a:spcBef>
                <a:spcPct val="50000"/>
              </a:spcBef>
              <a:spcAft>
                <a:spcPct val="0"/>
              </a:spcAft>
            </a:pPr>
            <a:endParaRPr lang="en-US" altLang="zh-CN" sz="4800" dirty="0">
              <a:solidFill>
                <a:srgbClr val="000000"/>
              </a:solidFill>
              <a:ea typeface="华文行楷" panose="02010800040101010101" pitchFamily="2" charset="-122"/>
            </a:endParaRPr>
          </a:p>
          <a:p>
            <a:pPr algn="ctr" fontAlgn="base">
              <a:spcBef>
                <a:spcPct val="50000"/>
              </a:spcBef>
              <a:spcAft>
                <a:spcPct val="0"/>
              </a:spcAft>
            </a:pPr>
            <a:r>
              <a:rPr lang="en-US" altLang="zh-CN" sz="5400" b="1" dirty="0" smtClean="0">
                <a:solidFill>
                  <a:srgbClr val="000000"/>
                </a:solidFill>
                <a:latin typeface="+mj-lt"/>
                <a:ea typeface="华文行楷" panose="02010800040101010101" pitchFamily="2" charset="-122"/>
              </a:rPr>
              <a:t>OpenMP</a:t>
            </a:r>
            <a:endParaRPr lang="en-US" altLang="zh-CN" sz="5400" b="1" dirty="0" smtClean="0">
              <a:solidFill>
                <a:srgbClr val="000000"/>
              </a:solidFill>
              <a:latin typeface="+mj-lt"/>
              <a:ea typeface="华文行楷" panose="02010800040101010101" pitchFamily="2" charset="-122"/>
            </a:endParaRPr>
          </a:p>
          <a:p>
            <a:pPr algn="ctr" fontAlgn="base">
              <a:spcBef>
                <a:spcPct val="50000"/>
              </a:spcBef>
              <a:spcAft>
                <a:spcPct val="0"/>
              </a:spcAft>
            </a:pPr>
            <a:r>
              <a:rPr lang="zh-CN" altLang="en-US" sz="6000" dirty="0" smtClean="0">
                <a:solidFill>
                  <a:srgbClr val="000000"/>
                </a:solidFill>
                <a:ea typeface="华文行楷" panose="02010800040101010101" pitchFamily="2" charset="-122"/>
              </a:rPr>
              <a:t>并行编程</a:t>
            </a:r>
            <a:endParaRPr lang="en-US" altLang="zh-CN" sz="6000" dirty="0">
              <a:solidFill>
                <a:srgbClr val="000000"/>
              </a:solidFill>
              <a:ea typeface="华文行楷" panose="02010800040101010101" pitchFamily="2" charset="-122"/>
            </a:endParaRPr>
          </a:p>
          <a:p>
            <a:pPr algn="ctr" fontAlgn="base">
              <a:spcBef>
                <a:spcPct val="50000"/>
              </a:spcBef>
              <a:spcAft>
                <a:spcPct val="0"/>
              </a:spcAft>
            </a:pPr>
            <a:endParaRPr lang="en-US" altLang="zh-CN" sz="4800" dirty="0">
              <a:solidFill>
                <a:srgbClr val="000000"/>
              </a:solidFill>
              <a:ea typeface="华文行楷" panose="02010800040101010101" pitchFamily="2" charset="-122"/>
            </a:endParaRPr>
          </a:p>
          <a:p>
            <a:pPr algn="ctr" fontAlgn="base">
              <a:spcBef>
                <a:spcPct val="50000"/>
              </a:spcBef>
              <a:spcAft>
                <a:spcPct val="0"/>
              </a:spcAft>
            </a:pPr>
            <a:endParaRPr lang="zh-CN" altLang="en-US" sz="4800" dirty="0">
              <a:solidFill>
                <a:srgbClr val="000000"/>
              </a:solidFill>
              <a:ea typeface="华文行楷" panose="02010800040101010101" pitchFamily="2" charset="-122"/>
            </a:endParaRPr>
          </a:p>
          <a:p>
            <a:pPr algn="ctr" fontAlgn="base">
              <a:spcBef>
                <a:spcPct val="50000"/>
              </a:spcBef>
              <a:spcAft>
                <a:spcPct val="0"/>
              </a:spcAft>
            </a:pPr>
            <a:endParaRPr lang="en-US" altLang="zh-CN" sz="2400" b="1" dirty="0">
              <a:solidFill>
                <a:srgbClr val="000000"/>
              </a:solidFill>
              <a:latin typeface="MV Boli" panose="02000500030200090000" pitchFamily="2" charset="0"/>
              <a:ea typeface="华文新魏" panose="02010800040101010101" pitchFamily="2" charset="-122"/>
            </a:endParaRPr>
          </a:p>
        </p:txBody>
      </p:sp>
    </p:spTree>
  </p:cSld>
  <p:clrMapOvr>
    <a:masterClrMapping/>
  </p:clrMapOvr>
  <p:transition spd="med" advTm="3025">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ctrTitle"/>
          </p:nvPr>
        </p:nvSpPr>
        <p:spPr>
          <a:xfrm>
            <a:off x="1847850" y="1844675"/>
            <a:ext cx="8610600" cy="990600"/>
          </a:xfrm>
        </p:spPr>
        <p:txBody>
          <a:bodyPr anchor="ctr"/>
          <a:lstStyle/>
          <a:p>
            <a:pPr eaLnBrk="1" hangingPunct="1">
              <a:lnSpc>
                <a:spcPct val="130000"/>
              </a:lnSpc>
            </a:pPr>
            <a:br>
              <a:rPr lang="zh-CN" altLang="en-US" sz="4000" b="1">
                <a:latin typeface="仿宋_GB2312" panose="02010609030101010101" pitchFamily="49" charset="-122"/>
                <a:ea typeface="幼圆" panose="02010509060101010101" pitchFamily="49" charset="-122"/>
              </a:rPr>
            </a:br>
            <a:endParaRPr lang="zh-CN" altLang="en-US" sz="4000" b="1">
              <a:latin typeface="仿宋_GB2312" panose="02010609030101010101" pitchFamily="49" charset="-122"/>
              <a:ea typeface="幼圆" panose="02010509060101010101" pitchFamily="49" charset="-122"/>
            </a:endParaRPr>
          </a:p>
        </p:txBody>
      </p:sp>
      <p:sp>
        <p:nvSpPr>
          <p:cNvPr id="2" name="矩形 1"/>
          <p:cNvSpPr/>
          <p:nvPr/>
        </p:nvSpPr>
        <p:spPr>
          <a:xfrm>
            <a:off x="659566" y="539645"/>
            <a:ext cx="11197653" cy="5750292"/>
          </a:xfrm>
          <a:prstGeom prst="rect">
            <a:avLst/>
          </a:prstGeom>
        </p:spPr>
        <p:txBody>
          <a:bodyPr wrap="square">
            <a:spAutoFit/>
          </a:bodyPr>
          <a:lstStyle/>
          <a:p>
            <a:pPr algn="ctr"/>
            <a:r>
              <a:rPr lang="en-US" altLang="zh-CN" sz="4400" b="1" dirty="0">
                <a:solidFill>
                  <a:srgbClr val="2D0AC2"/>
                </a:solidFill>
                <a:latin typeface="+mj-lt"/>
                <a:ea typeface="隶书" panose="02010509060101010101" pitchFamily="49" charset="-122"/>
              </a:rPr>
              <a:t>OpenMP</a:t>
            </a:r>
            <a:r>
              <a:rPr lang="zh-CN" altLang="en-US" sz="4400" b="1" dirty="0">
                <a:solidFill>
                  <a:srgbClr val="2D0AC2"/>
                </a:solidFill>
                <a:latin typeface="+mj-lt"/>
                <a:ea typeface="隶书" panose="02010509060101010101" pitchFamily="49" charset="-122"/>
              </a:rPr>
              <a:t>的历史  </a:t>
            </a:r>
            <a:endParaRPr lang="zh-CN" altLang="en-US" sz="4400" b="1" dirty="0">
              <a:solidFill>
                <a:srgbClr val="2D0AC2"/>
              </a:solidFill>
              <a:latin typeface="+mj-lt"/>
              <a:ea typeface="隶书" panose="02010509060101010101" pitchFamily="49" charset="-122"/>
            </a:endParaRPr>
          </a:p>
          <a:p>
            <a:pPr marL="457200" indent="-457200">
              <a:lnSpc>
                <a:spcPts val="5000"/>
              </a:lnSpc>
              <a:buFont typeface="Wingdings" panose="05000000000000000000" pitchFamily="2" charset="2"/>
              <a:buChar char="v"/>
            </a:pPr>
            <a:r>
              <a:rPr lang="en-US" altLang="zh-CN" sz="3200" b="1" dirty="0" smtClean="0"/>
              <a:t>1994</a:t>
            </a:r>
            <a:r>
              <a:rPr lang="zh-CN" altLang="en-US" sz="3200" b="1" dirty="0" smtClean="0"/>
              <a:t>年第一</a:t>
            </a:r>
            <a:r>
              <a:rPr lang="zh-CN" altLang="en-US" sz="3200" b="1" dirty="0"/>
              <a:t>个</a:t>
            </a:r>
            <a:r>
              <a:rPr lang="en-US" altLang="zh-CN" sz="3200" b="1" dirty="0"/>
              <a:t>ANSI X3H5</a:t>
            </a:r>
            <a:r>
              <a:rPr lang="zh-CN" altLang="en-US" sz="3200" b="1" dirty="0"/>
              <a:t>草案提出，被否决  </a:t>
            </a:r>
            <a:endParaRPr lang="zh-CN" altLang="en-US" sz="3200" b="1" dirty="0"/>
          </a:p>
          <a:p>
            <a:pPr marL="457200" indent="-457200">
              <a:lnSpc>
                <a:spcPts val="5000"/>
              </a:lnSpc>
              <a:buFont typeface="Wingdings" panose="05000000000000000000" pitchFamily="2" charset="2"/>
              <a:buChar char="v"/>
            </a:pPr>
            <a:r>
              <a:rPr lang="en-US" altLang="zh-CN" sz="3200" b="1" dirty="0" smtClean="0"/>
              <a:t>1997</a:t>
            </a:r>
            <a:r>
              <a:rPr lang="zh-CN" altLang="en-US" sz="3200" b="1" dirty="0" smtClean="0"/>
              <a:t>年</a:t>
            </a:r>
            <a:r>
              <a:rPr lang="en-US" altLang="zh-CN" sz="3200" b="1" dirty="0" smtClean="0"/>
              <a:t>OpenMP</a:t>
            </a:r>
            <a:r>
              <a:rPr lang="zh-CN" altLang="en-US" sz="3200" b="1" dirty="0"/>
              <a:t>标准规范代替原先被否决的</a:t>
            </a:r>
            <a:r>
              <a:rPr lang="en-US" altLang="zh-CN" sz="3200" b="1" dirty="0"/>
              <a:t>ANSI </a:t>
            </a:r>
            <a:r>
              <a:rPr lang="en-US" altLang="zh-CN" sz="3200" b="1" dirty="0" smtClean="0"/>
              <a:t>X3H5</a:t>
            </a:r>
            <a:r>
              <a:rPr lang="zh-CN" altLang="en-US" sz="3200" b="1" dirty="0" smtClean="0"/>
              <a:t>被</a:t>
            </a:r>
            <a:r>
              <a:rPr lang="zh-CN" altLang="en-US" sz="3200" b="1" dirty="0"/>
              <a:t>人们认可 </a:t>
            </a:r>
            <a:endParaRPr lang="zh-CN" altLang="en-US" sz="3200" b="1" dirty="0"/>
          </a:p>
          <a:p>
            <a:pPr marL="457200" indent="-457200">
              <a:lnSpc>
                <a:spcPts val="5000"/>
              </a:lnSpc>
              <a:buFont typeface="Wingdings" panose="05000000000000000000" pitchFamily="2" charset="2"/>
              <a:buChar char="v"/>
            </a:pPr>
            <a:r>
              <a:rPr lang="en-US" altLang="zh-CN" sz="3200" b="1" dirty="0" smtClean="0"/>
              <a:t>1997</a:t>
            </a:r>
            <a:r>
              <a:rPr lang="zh-CN" altLang="en-US" sz="3200" b="1" dirty="0"/>
              <a:t>年</a:t>
            </a:r>
            <a:r>
              <a:rPr lang="en-US" altLang="zh-CN" sz="3200" b="1" dirty="0"/>
              <a:t>10</a:t>
            </a:r>
            <a:r>
              <a:rPr lang="zh-CN" altLang="en-US" sz="3200" b="1" dirty="0"/>
              <a:t>月公布了与</a:t>
            </a:r>
            <a:r>
              <a:rPr lang="en-US" altLang="zh-CN" sz="3200" b="1" dirty="0"/>
              <a:t>Fortran</a:t>
            </a:r>
            <a:r>
              <a:rPr lang="zh-CN" altLang="en-US" sz="3200" b="1" dirty="0"/>
              <a:t>语言捆绑的第一个标准</a:t>
            </a:r>
            <a:r>
              <a:rPr lang="zh-CN" altLang="en-US" sz="3200" b="1" dirty="0" smtClean="0"/>
              <a:t>规范  </a:t>
            </a:r>
            <a:endParaRPr lang="en-US" altLang="zh-CN" sz="3200" b="1" dirty="0" smtClean="0"/>
          </a:p>
          <a:p>
            <a:pPr marL="457200" indent="-457200">
              <a:lnSpc>
                <a:spcPts val="5000"/>
              </a:lnSpc>
              <a:buFont typeface="Wingdings" panose="05000000000000000000" pitchFamily="2" charset="2"/>
              <a:buChar char="v"/>
            </a:pPr>
            <a:r>
              <a:rPr lang="zh-CN" altLang="en-US" sz="3200" b="1" dirty="0" smtClean="0"/>
              <a:t> </a:t>
            </a:r>
            <a:r>
              <a:rPr lang="en-US" altLang="zh-CN" sz="3200" b="1" dirty="0"/>
              <a:t>1998</a:t>
            </a:r>
            <a:r>
              <a:rPr lang="zh-CN" altLang="en-US" sz="3200" b="1" dirty="0"/>
              <a:t>年</a:t>
            </a:r>
            <a:r>
              <a:rPr lang="en-US" altLang="zh-CN" sz="3200" b="1" dirty="0"/>
              <a:t>11</a:t>
            </a:r>
            <a:r>
              <a:rPr lang="zh-CN" altLang="en-US" sz="3200" b="1" dirty="0"/>
              <a:t>月</a:t>
            </a:r>
            <a:r>
              <a:rPr lang="en-US" altLang="zh-CN" sz="3200" b="1" dirty="0"/>
              <a:t>9</a:t>
            </a:r>
            <a:r>
              <a:rPr lang="zh-CN" altLang="en-US" sz="3200" b="1" dirty="0"/>
              <a:t>日公布了支持</a:t>
            </a:r>
            <a:r>
              <a:rPr lang="en-US" altLang="zh-CN" sz="3200" b="1" dirty="0"/>
              <a:t>C</a:t>
            </a:r>
            <a:r>
              <a:rPr lang="zh-CN" altLang="en-US" sz="3200" b="1" dirty="0"/>
              <a:t>和</a:t>
            </a:r>
            <a:r>
              <a:rPr lang="en-US" altLang="zh-CN" sz="3200" b="1" dirty="0"/>
              <a:t>C++</a:t>
            </a:r>
            <a:r>
              <a:rPr lang="zh-CN" altLang="en-US" sz="3200" b="1" dirty="0"/>
              <a:t>的标准规范  </a:t>
            </a:r>
            <a:endParaRPr lang="zh-CN" altLang="en-US" sz="3200" b="1" dirty="0"/>
          </a:p>
          <a:p>
            <a:pPr marL="457200" indent="-457200">
              <a:lnSpc>
                <a:spcPts val="5000"/>
              </a:lnSpc>
              <a:buFont typeface="Wingdings" panose="05000000000000000000" pitchFamily="2" charset="2"/>
              <a:buChar char="v"/>
            </a:pPr>
            <a:r>
              <a:rPr lang="zh-CN" altLang="en-US" sz="3200" b="1" dirty="0" smtClean="0"/>
              <a:t>目前</a:t>
            </a:r>
            <a:r>
              <a:rPr lang="en-US" altLang="zh-CN" sz="3200" b="1" dirty="0" smtClean="0"/>
              <a:t>Fortran77/90</a:t>
            </a:r>
            <a:r>
              <a:rPr lang="zh-CN" altLang="en-US" sz="3200" b="1" dirty="0"/>
              <a:t>、</a:t>
            </a:r>
            <a:r>
              <a:rPr lang="en-US" altLang="zh-CN" sz="3200" b="1" dirty="0"/>
              <a:t>C</a:t>
            </a:r>
            <a:r>
              <a:rPr lang="zh-CN" altLang="en-US" sz="3200" b="1" dirty="0"/>
              <a:t>、</a:t>
            </a:r>
            <a:r>
              <a:rPr lang="en-US" altLang="zh-CN" sz="3200" b="1" dirty="0"/>
              <a:t>C++</a:t>
            </a:r>
            <a:r>
              <a:rPr lang="zh-CN" altLang="en-US" sz="3200" b="1" dirty="0"/>
              <a:t>语言的实现</a:t>
            </a:r>
            <a:r>
              <a:rPr lang="zh-CN" altLang="en-US" sz="3200" b="1" dirty="0" smtClean="0"/>
              <a:t>规范已经完成 </a:t>
            </a:r>
            <a:endParaRPr lang="zh-CN" altLang="en-US" sz="3200" b="1" dirty="0"/>
          </a:p>
          <a:p>
            <a:pPr marL="457200" indent="-457200">
              <a:lnSpc>
                <a:spcPts val="5000"/>
              </a:lnSpc>
              <a:buFont typeface="Wingdings" panose="05000000000000000000" pitchFamily="2" charset="2"/>
              <a:buChar char="v"/>
            </a:pPr>
            <a:r>
              <a:rPr lang="zh-CN" altLang="en-US" sz="3200" b="1" dirty="0" smtClean="0"/>
              <a:t> </a:t>
            </a:r>
            <a:r>
              <a:rPr lang="zh-CN" altLang="en-US" sz="3200" b="1" dirty="0"/>
              <a:t>资源网站</a:t>
            </a:r>
            <a:r>
              <a:rPr lang="zh-CN" altLang="en-US" sz="3200" b="1" dirty="0" smtClean="0"/>
              <a:t>：</a:t>
            </a:r>
            <a:endParaRPr lang="en-US" altLang="zh-CN" sz="3200" b="1" dirty="0" smtClean="0"/>
          </a:p>
          <a:p>
            <a:r>
              <a:rPr lang="en-US" altLang="zh-CN" sz="3200" b="1" dirty="0" smtClean="0"/>
              <a:t>                         </a:t>
            </a:r>
            <a:r>
              <a:rPr lang="en-US" altLang="zh-CN" sz="3200" b="1" u="sng" dirty="0" smtClean="0">
                <a:solidFill>
                  <a:srgbClr val="C00000"/>
                </a:solidFill>
              </a:rPr>
              <a:t>http</a:t>
            </a:r>
            <a:r>
              <a:rPr lang="en-US" altLang="zh-CN" sz="3200" b="1" u="sng" dirty="0">
                <a:solidFill>
                  <a:srgbClr val="C00000"/>
                </a:solidFill>
              </a:rPr>
              <a:t>://www.openmp.org </a:t>
            </a:r>
            <a:endParaRPr lang="en-US" sz="3200" b="1" u="sng" dirty="0">
              <a:solidFill>
                <a:srgbClr val="C00000"/>
              </a:solidFill>
            </a:endParaRPr>
          </a:p>
        </p:txBody>
      </p:sp>
    </p:spTree>
  </p:cSld>
  <p:clrMapOvr>
    <a:masterClrMapping/>
  </p:clrMapOvr>
  <p:transition spd="med" advTm="3025">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43345" y="450274"/>
            <a:ext cx="11388436" cy="5908963"/>
          </a:xfrm>
        </p:spPr>
        <p:txBody>
          <a:bodyPr/>
          <a:lstStyle/>
          <a:p>
            <a:pPr marL="0" indent="0">
              <a:lnSpc>
                <a:spcPts val="5000"/>
              </a:lnSpc>
              <a:buNone/>
            </a:pPr>
            <a:r>
              <a:rPr lang="en-US" b="1" dirty="0" smtClean="0"/>
              <a:t>          </a:t>
            </a:r>
            <a:r>
              <a:rPr lang="en-US" b="1" dirty="0" err="1" smtClean="0"/>
              <a:t>OpenMp</a:t>
            </a:r>
            <a:r>
              <a:rPr lang="zh-CN" altLang="en-US" b="1" dirty="0"/>
              <a:t>是由</a:t>
            </a:r>
            <a:r>
              <a:rPr lang="en-US" b="1" dirty="0" err="1"/>
              <a:t>OpenMP</a:t>
            </a:r>
            <a:r>
              <a:rPr lang="en-US" b="1" dirty="0"/>
              <a:t> Architecture Review Board</a:t>
            </a:r>
            <a:r>
              <a:rPr lang="zh-CN" altLang="en-US" b="1" dirty="0"/>
              <a:t>牵头提出的，并已被广泛接受的，用于</a:t>
            </a:r>
            <a:r>
              <a:rPr lang="zh-CN" altLang="en-US" b="1" dirty="0">
                <a:solidFill>
                  <a:srgbClr val="C00000"/>
                </a:solidFill>
                <a:latin typeface="黑体" panose="02010609060101010101" pitchFamily="49" charset="-122"/>
                <a:ea typeface="黑体" panose="02010609060101010101" pitchFamily="49" charset="-122"/>
              </a:rPr>
              <a:t>共享内存并行系统</a:t>
            </a:r>
            <a:r>
              <a:rPr lang="zh-CN" altLang="en-US" b="1" dirty="0"/>
              <a:t>的多处理器程序设计的</a:t>
            </a:r>
            <a:r>
              <a:rPr lang="zh-CN" altLang="en-US" b="1" dirty="0">
                <a:solidFill>
                  <a:srgbClr val="6A247A"/>
                </a:solidFill>
                <a:latin typeface="黑体" panose="02010609060101010101" pitchFamily="49" charset="-122"/>
                <a:ea typeface="黑体" panose="02010609060101010101" pitchFamily="49" charset="-122"/>
              </a:rPr>
              <a:t>一套指导性的编译处理方案</a:t>
            </a:r>
            <a:r>
              <a:rPr lang="en-US" altLang="zh-CN" b="1" dirty="0"/>
              <a:t>(</a:t>
            </a:r>
            <a:r>
              <a:rPr lang="en-US" b="1" dirty="0"/>
              <a:t>Compiler Directive</a:t>
            </a:r>
            <a:r>
              <a:rPr lang="en-US" b="1" dirty="0" smtClean="0"/>
              <a:t>)。</a:t>
            </a:r>
            <a:endParaRPr lang="en-US" b="1" dirty="0" smtClean="0"/>
          </a:p>
          <a:p>
            <a:pPr>
              <a:lnSpc>
                <a:spcPts val="5000"/>
              </a:lnSpc>
              <a:buFont typeface="Wingdings" panose="05000000000000000000" pitchFamily="2" charset="2"/>
              <a:buChar char="Ø"/>
            </a:pPr>
            <a:r>
              <a:rPr lang="en-US" b="1" dirty="0" smtClean="0"/>
              <a:t>OpenMP</a:t>
            </a:r>
            <a:r>
              <a:rPr lang="zh-CN" altLang="en-US" b="1" dirty="0"/>
              <a:t>支持的编程语言包括</a:t>
            </a:r>
            <a:r>
              <a:rPr lang="en-US" b="1" dirty="0"/>
              <a:t>C</a:t>
            </a:r>
            <a:r>
              <a:rPr lang="zh-CN" altLang="en-US" b="1" dirty="0"/>
              <a:t>语言、</a:t>
            </a:r>
            <a:r>
              <a:rPr lang="en-US" b="1" dirty="0"/>
              <a:t>C++</a:t>
            </a:r>
            <a:r>
              <a:rPr lang="zh-CN" altLang="en-US" b="1" dirty="0"/>
              <a:t>和</a:t>
            </a:r>
            <a:r>
              <a:rPr lang="en-US" b="1" dirty="0" smtClean="0"/>
              <a:t>Fortran</a:t>
            </a:r>
            <a:endParaRPr lang="en-US" b="1" dirty="0" smtClean="0"/>
          </a:p>
          <a:p>
            <a:pPr>
              <a:lnSpc>
                <a:spcPts val="5000"/>
              </a:lnSpc>
              <a:buFont typeface="Wingdings" panose="05000000000000000000" pitchFamily="2" charset="2"/>
              <a:buChar char="Ø"/>
            </a:pPr>
            <a:r>
              <a:rPr lang="zh-CN" altLang="en-US" b="1" dirty="0" smtClean="0"/>
              <a:t>支持</a:t>
            </a:r>
            <a:r>
              <a:rPr lang="en-US" b="1" dirty="0" err="1"/>
              <a:t>OpenMp</a:t>
            </a:r>
            <a:r>
              <a:rPr lang="zh-CN" altLang="en-US" b="1" dirty="0"/>
              <a:t>的编译器包括</a:t>
            </a:r>
            <a:r>
              <a:rPr lang="en-US" b="1" dirty="0"/>
              <a:t>Visual </a:t>
            </a:r>
            <a:r>
              <a:rPr lang="en-US" b="1" dirty="0" err="1"/>
              <a:t>studio，Sun</a:t>
            </a:r>
            <a:r>
              <a:rPr lang="en-US" b="1" dirty="0"/>
              <a:t> </a:t>
            </a:r>
            <a:r>
              <a:rPr lang="en-US" b="1" dirty="0" err="1"/>
              <a:t>Compiler，GNU</a:t>
            </a:r>
            <a:r>
              <a:rPr lang="en-US" b="1" dirty="0"/>
              <a:t> Compiler</a:t>
            </a:r>
            <a:r>
              <a:rPr lang="zh-CN" altLang="en-US" b="1" dirty="0"/>
              <a:t>和</a:t>
            </a:r>
            <a:r>
              <a:rPr lang="en-US" b="1" dirty="0"/>
              <a:t>Intel Compiler</a:t>
            </a:r>
            <a:r>
              <a:rPr lang="zh-CN" altLang="en-US" b="1" dirty="0"/>
              <a:t>等</a:t>
            </a:r>
            <a:r>
              <a:rPr lang="zh-CN" altLang="en-US" b="1" dirty="0" smtClean="0"/>
              <a:t>。</a:t>
            </a:r>
            <a:endParaRPr lang="en-US" altLang="zh-CN" b="1" dirty="0" smtClean="0"/>
          </a:p>
          <a:p>
            <a:pPr>
              <a:lnSpc>
                <a:spcPts val="5000"/>
              </a:lnSpc>
              <a:buFont typeface="Wingdings" panose="05000000000000000000" pitchFamily="2" charset="2"/>
              <a:buChar char="Ø"/>
            </a:pPr>
            <a:r>
              <a:rPr lang="en-US" b="1" dirty="0" smtClean="0"/>
              <a:t>OpenMP</a:t>
            </a:r>
            <a:r>
              <a:rPr lang="zh-CN" altLang="en-US" b="1" dirty="0" smtClean="0"/>
              <a:t>最强大的魅力是</a:t>
            </a:r>
            <a:r>
              <a:rPr lang="zh-CN" altLang="en-US" b="1" dirty="0"/>
              <a:t>：</a:t>
            </a:r>
            <a:r>
              <a:rPr lang="zh-CN" altLang="en-US" b="1" dirty="0" smtClean="0"/>
              <a:t>在串行</a:t>
            </a:r>
            <a:r>
              <a:rPr lang="zh-CN" altLang="en-US" b="1" dirty="0"/>
              <a:t>程序的</a:t>
            </a:r>
            <a:r>
              <a:rPr lang="zh-CN" altLang="en-US" b="1" dirty="0" smtClean="0"/>
              <a:t>源</a:t>
            </a:r>
            <a:r>
              <a:rPr lang="zh-CN" altLang="en-US" b="1" dirty="0"/>
              <a:t>代</a:t>
            </a:r>
            <a:r>
              <a:rPr lang="zh-CN" altLang="en-US" b="1" dirty="0" smtClean="0"/>
              <a:t>码</a:t>
            </a:r>
            <a:r>
              <a:rPr lang="zh-CN" altLang="en-US" b="1" dirty="0"/>
              <a:t>基础上，只要进行少量的改动，就可以并行化许多串行的</a:t>
            </a:r>
            <a:r>
              <a:rPr lang="en-US" b="1" dirty="0"/>
              <a:t>for</a:t>
            </a:r>
            <a:r>
              <a:rPr lang="zh-CN" altLang="en-US" b="1" dirty="0"/>
              <a:t>循环，达到明显提高性能的效果</a:t>
            </a:r>
            <a:r>
              <a:rPr lang="zh-CN" altLang="en-US" b="1" dirty="0" smtClean="0"/>
              <a:t>。</a:t>
            </a:r>
            <a:r>
              <a:rPr lang="zh-CN" altLang="en-US" b="1" dirty="0" smtClean="0">
                <a:solidFill>
                  <a:srgbClr val="C00000"/>
                </a:solidFill>
              </a:rPr>
              <a:t>（简单）</a:t>
            </a:r>
            <a:endParaRPr lang="en-US" b="1" dirty="0">
              <a:solidFill>
                <a:srgbClr val="C00000"/>
              </a:solidFill>
            </a:endParaRPr>
          </a:p>
        </p:txBody>
      </p:sp>
    </p:spTree>
  </p:cSld>
  <p:clrMapOvr>
    <a:masterClrMapping/>
  </p:clrMapOvr>
  <p:transition spd="med" advTm="3025">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ctrTitle"/>
          </p:nvPr>
        </p:nvSpPr>
        <p:spPr>
          <a:xfrm>
            <a:off x="1847850" y="1844675"/>
            <a:ext cx="8610600" cy="990600"/>
          </a:xfrm>
        </p:spPr>
        <p:txBody>
          <a:bodyPr anchor="ctr"/>
          <a:lstStyle/>
          <a:p>
            <a:pPr eaLnBrk="1" hangingPunct="1">
              <a:lnSpc>
                <a:spcPct val="130000"/>
              </a:lnSpc>
            </a:pPr>
            <a:br>
              <a:rPr lang="zh-CN" altLang="en-US" sz="4000" b="1">
                <a:latin typeface="仿宋_GB2312" panose="02010609030101010101" pitchFamily="49" charset="-122"/>
                <a:ea typeface="幼圆" panose="02010509060101010101" pitchFamily="49" charset="-122"/>
              </a:rPr>
            </a:br>
            <a:endParaRPr lang="zh-CN" altLang="en-US" sz="4000" b="1">
              <a:latin typeface="仿宋_GB2312" panose="02010609030101010101" pitchFamily="49" charset="-122"/>
              <a:ea typeface="幼圆" panose="02010509060101010101" pitchFamily="49" charset="-122"/>
            </a:endParaRPr>
          </a:p>
        </p:txBody>
      </p:sp>
      <p:pic>
        <p:nvPicPr>
          <p:cNvPr id="2" name="图片 1"/>
          <p:cNvPicPr>
            <a:picLocks noChangeAspect="1"/>
          </p:cNvPicPr>
          <p:nvPr/>
        </p:nvPicPr>
        <p:blipFill>
          <a:blip r:embed="rId1"/>
          <a:stretch>
            <a:fillRect/>
          </a:stretch>
        </p:blipFill>
        <p:spPr>
          <a:xfrm>
            <a:off x="869821" y="1219722"/>
            <a:ext cx="10334872" cy="4607492"/>
          </a:xfrm>
          <a:prstGeom prst="rect">
            <a:avLst/>
          </a:prstGeom>
          <a:effectLst>
            <a:glow rad="292100">
              <a:srgbClr val="7030A0">
                <a:alpha val="43000"/>
              </a:srgbClr>
            </a:glow>
          </a:effectLst>
          <a:scene3d>
            <a:camera prst="orthographicFront">
              <a:rot lat="0" lon="600000" rev="0"/>
            </a:camera>
            <a:lightRig rig="threePt" dir="t"/>
          </a:scene3d>
        </p:spPr>
      </p:pic>
      <p:sp>
        <p:nvSpPr>
          <p:cNvPr id="3" name="文本框 2"/>
          <p:cNvSpPr txBox="1"/>
          <p:nvPr/>
        </p:nvSpPr>
        <p:spPr>
          <a:xfrm>
            <a:off x="2350077" y="455065"/>
            <a:ext cx="7606145" cy="584775"/>
          </a:xfrm>
          <a:prstGeom prst="rect">
            <a:avLst/>
          </a:prstGeom>
          <a:noFill/>
        </p:spPr>
        <p:txBody>
          <a:bodyPr wrap="square" rtlCol="0">
            <a:spAutoFit/>
          </a:bodyPr>
          <a:lstStyle/>
          <a:p>
            <a:pPr algn="ctr"/>
            <a:r>
              <a:rPr lang="en-US" sz="3200" b="1" dirty="0" smtClean="0">
                <a:ln w="0"/>
                <a:solidFill>
                  <a:srgbClr val="6A247A"/>
                </a:solidFill>
                <a:effectLst>
                  <a:outerShdw blurRad="38100" dist="25400" dir="5400000" algn="ctr" rotWithShape="0">
                    <a:srgbClr val="6E747A">
                      <a:alpha val="43000"/>
                    </a:srgbClr>
                  </a:outerShdw>
                </a:effectLst>
                <a:latin typeface="+mj-lt"/>
                <a:ea typeface="华文隶书" panose="02010800040101010101" pitchFamily="2" charset="-122"/>
              </a:rPr>
              <a:t>OpenMP</a:t>
            </a:r>
            <a:r>
              <a:rPr lang="zh-CN" altLang="en-US" sz="3200" b="1" dirty="0" smtClean="0">
                <a:ln w="0"/>
                <a:solidFill>
                  <a:srgbClr val="6A247A"/>
                </a:solidFill>
                <a:effectLst>
                  <a:outerShdw blurRad="38100" dist="25400" dir="5400000" algn="ctr" rotWithShape="0">
                    <a:srgbClr val="6E747A">
                      <a:alpha val="43000"/>
                    </a:srgbClr>
                  </a:outerShdw>
                </a:effectLst>
                <a:latin typeface="+mj-lt"/>
                <a:ea typeface="华文隶书" panose="02010800040101010101" pitchFamily="2" charset="-122"/>
              </a:rPr>
              <a:t>解决方案</a:t>
            </a:r>
            <a:endParaRPr lang="en-US" sz="3200" b="1" dirty="0">
              <a:ln w="0"/>
              <a:solidFill>
                <a:srgbClr val="6A247A"/>
              </a:solidFill>
              <a:effectLst>
                <a:outerShdw blurRad="38100" dist="25400" dir="5400000" algn="ctr" rotWithShape="0">
                  <a:srgbClr val="6E747A">
                    <a:alpha val="43000"/>
                  </a:srgbClr>
                </a:outerShdw>
              </a:effectLst>
              <a:latin typeface="+mj-lt"/>
              <a:ea typeface="华文隶书" panose="02010800040101010101" pitchFamily="2" charset="-122"/>
            </a:endParaRPr>
          </a:p>
        </p:txBody>
      </p:sp>
    </p:spTree>
  </p:cSld>
  <p:clrMapOvr>
    <a:masterClrMapping/>
  </p:clrMapOvr>
  <p:transition spd="med" advTm="3025">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437744" y="561733"/>
            <a:ext cx="6096000" cy="5032147"/>
          </a:xfrm>
          <a:prstGeom prst="rect">
            <a:avLst/>
          </a:prstGeom>
        </p:spPr>
        <p:txBody>
          <a:bodyPr>
            <a:spAutoFit/>
          </a:bodyPr>
          <a:lstStyle/>
          <a:p>
            <a:pPr>
              <a:lnSpc>
                <a:spcPct val="150000"/>
              </a:lnSpc>
            </a:pPr>
            <a:r>
              <a:rPr lang="en-US" altLang="zh-CN" sz="5400" b="1" dirty="0">
                <a:solidFill>
                  <a:srgbClr val="2D0AC2"/>
                </a:solidFill>
              </a:rPr>
              <a:t>OpenMP</a:t>
            </a:r>
            <a:r>
              <a:rPr lang="zh-CN" altLang="en-US" sz="5400" b="1" dirty="0">
                <a:solidFill>
                  <a:srgbClr val="2D0AC2"/>
                </a:solidFill>
              </a:rPr>
              <a:t>的目标 </a:t>
            </a:r>
            <a:endParaRPr lang="en-US" altLang="zh-CN" sz="5400" b="1" dirty="0" smtClean="0">
              <a:solidFill>
                <a:srgbClr val="2D0AC2"/>
              </a:solidFill>
            </a:endParaRPr>
          </a:p>
          <a:p>
            <a:pPr marL="571500" indent="-571500">
              <a:lnSpc>
                <a:spcPct val="150000"/>
              </a:lnSpc>
              <a:buFont typeface="Wingdings" panose="05000000000000000000" pitchFamily="2" charset="2"/>
              <a:buChar char="q"/>
            </a:pPr>
            <a:r>
              <a:rPr lang="zh-CN" altLang="en-US" sz="4000" b="1" dirty="0" smtClean="0"/>
              <a:t>标准性 </a:t>
            </a:r>
            <a:endParaRPr lang="en-US" altLang="zh-CN" sz="4000" b="1" dirty="0" smtClean="0"/>
          </a:p>
          <a:p>
            <a:pPr marL="571500" indent="-571500">
              <a:lnSpc>
                <a:spcPct val="150000"/>
              </a:lnSpc>
              <a:buFont typeface="Wingdings" panose="05000000000000000000" pitchFamily="2" charset="2"/>
              <a:buChar char="q"/>
            </a:pPr>
            <a:r>
              <a:rPr lang="zh-CN" altLang="en-US" sz="4000" b="1" dirty="0" smtClean="0"/>
              <a:t>简洁</a:t>
            </a:r>
            <a:r>
              <a:rPr lang="zh-CN" altLang="en-US" sz="4000" b="1" dirty="0"/>
              <a:t>实用  </a:t>
            </a:r>
            <a:endParaRPr lang="en-US" altLang="zh-CN" sz="4000" b="1" dirty="0"/>
          </a:p>
          <a:p>
            <a:pPr marL="571500" indent="-571500">
              <a:lnSpc>
                <a:spcPct val="150000"/>
              </a:lnSpc>
              <a:buFont typeface="Wingdings" panose="05000000000000000000" pitchFamily="2" charset="2"/>
              <a:buChar char="q"/>
            </a:pPr>
            <a:r>
              <a:rPr lang="zh-CN" altLang="en-US" sz="4000" b="1" dirty="0" smtClean="0"/>
              <a:t>使用</a:t>
            </a:r>
            <a:r>
              <a:rPr lang="zh-CN" altLang="en-US" sz="4000" b="1" dirty="0"/>
              <a:t>方便  </a:t>
            </a:r>
            <a:endParaRPr lang="en-US" altLang="zh-CN" sz="4000" b="1" dirty="0" smtClean="0"/>
          </a:p>
          <a:p>
            <a:pPr marL="571500" indent="-571500">
              <a:lnSpc>
                <a:spcPct val="150000"/>
              </a:lnSpc>
              <a:buFont typeface="Wingdings" panose="05000000000000000000" pitchFamily="2" charset="2"/>
              <a:buChar char="q"/>
            </a:pPr>
            <a:r>
              <a:rPr lang="zh-CN" altLang="en-US" sz="4000" b="1" dirty="0" smtClean="0"/>
              <a:t>可移植性 </a:t>
            </a:r>
            <a:endParaRPr lang="en-US" sz="4000" b="1" dirty="0"/>
          </a:p>
        </p:txBody>
      </p:sp>
    </p:spTree>
  </p:cSld>
  <p:clrMapOvr>
    <a:masterClrMapping/>
  </p:clrMapOvr>
  <p:transition spd="med" advTm="3025">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ctrTitle"/>
          </p:nvPr>
        </p:nvSpPr>
        <p:spPr>
          <a:xfrm>
            <a:off x="1682958" y="255718"/>
            <a:ext cx="8610600" cy="990600"/>
          </a:xfrm>
        </p:spPr>
        <p:txBody>
          <a:bodyPr anchor="ctr"/>
          <a:lstStyle/>
          <a:p>
            <a:pPr eaLnBrk="1" hangingPunct="1">
              <a:lnSpc>
                <a:spcPct val="130000"/>
              </a:lnSpc>
            </a:pPr>
            <a:r>
              <a:rPr lang="en-US" sz="3200" b="1" dirty="0">
                <a:solidFill>
                  <a:srgbClr val="2D0AC2"/>
                </a:solidFill>
              </a:rPr>
              <a:t>OpenMP</a:t>
            </a:r>
            <a:r>
              <a:rPr lang="zh-CN" altLang="en-US" sz="3200" b="1" dirty="0">
                <a:solidFill>
                  <a:srgbClr val="2D0AC2"/>
                </a:solidFill>
              </a:rPr>
              <a:t>环境</a:t>
            </a:r>
            <a:r>
              <a:rPr lang="zh-CN" altLang="en-US" sz="3200" b="1" dirty="0" smtClean="0">
                <a:solidFill>
                  <a:srgbClr val="2D0AC2"/>
                </a:solidFill>
              </a:rPr>
              <a:t>配置</a:t>
            </a:r>
            <a:r>
              <a:rPr lang="en-US" altLang="zh-CN" sz="3200" b="1" dirty="0" smtClean="0">
                <a:solidFill>
                  <a:srgbClr val="2D0AC2"/>
                </a:solidFill>
              </a:rPr>
              <a:t>——Visual Studio</a:t>
            </a:r>
            <a:endParaRPr lang="zh-CN" altLang="en-US" sz="3200" b="1" dirty="0">
              <a:solidFill>
                <a:srgbClr val="2D0AC2"/>
              </a:solidFill>
              <a:latin typeface="仿宋_GB2312" panose="02010609030101010101" pitchFamily="49" charset="-122"/>
              <a:ea typeface="幼圆" panose="02010509060101010101" pitchFamily="49" charset="-122"/>
            </a:endParaRPr>
          </a:p>
        </p:txBody>
      </p:sp>
      <p:pic>
        <p:nvPicPr>
          <p:cNvPr id="3" name="图片 2"/>
          <p:cNvPicPr>
            <a:picLocks noChangeAspect="1"/>
          </p:cNvPicPr>
          <p:nvPr/>
        </p:nvPicPr>
        <p:blipFill>
          <a:blip r:embed="rId1"/>
          <a:stretch>
            <a:fillRect/>
          </a:stretch>
        </p:blipFill>
        <p:spPr>
          <a:xfrm>
            <a:off x="1440070" y="1076950"/>
            <a:ext cx="9096375" cy="5543550"/>
          </a:xfrm>
          <a:prstGeom prst="rect">
            <a:avLst/>
          </a:prstGeom>
        </p:spPr>
      </p:pic>
    </p:spTree>
  </p:cSld>
  <p:clrMapOvr>
    <a:masterClrMapping/>
  </p:clrMapOvr>
  <p:transition spd="med" advTm="3025">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云形 3"/>
          <p:cNvSpPr/>
          <p:nvPr/>
        </p:nvSpPr>
        <p:spPr bwMode="auto">
          <a:xfrm>
            <a:off x="7885607" y="961292"/>
            <a:ext cx="4306393" cy="3569144"/>
          </a:xfrm>
          <a:prstGeom prst="cloud">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smtClean="0">
              <a:ln>
                <a:noFill/>
              </a:ln>
              <a:solidFill>
                <a:schemeClr val="tx1"/>
              </a:solidFill>
              <a:effectLst/>
              <a:latin typeface="Arial" panose="020B0604020202020204" pitchFamily="34" charset="0"/>
              <a:ea typeface="隶书" panose="02010509060101010101" pitchFamily="49" charset="-122"/>
            </a:endParaRPr>
          </a:p>
        </p:txBody>
      </p:sp>
      <p:sp>
        <p:nvSpPr>
          <p:cNvPr id="12290" name="Rectangle 2"/>
          <p:cNvSpPr>
            <a:spLocks noGrp="1" noChangeArrowheads="1"/>
          </p:cNvSpPr>
          <p:nvPr>
            <p:ph type="ctrTitle"/>
          </p:nvPr>
        </p:nvSpPr>
        <p:spPr>
          <a:xfrm>
            <a:off x="1847850" y="1844675"/>
            <a:ext cx="8610600" cy="990600"/>
          </a:xfrm>
        </p:spPr>
        <p:txBody>
          <a:bodyPr anchor="ctr"/>
          <a:lstStyle/>
          <a:p>
            <a:pPr eaLnBrk="1" hangingPunct="1">
              <a:lnSpc>
                <a:spcPct val="130000"/>
              </a:lnSpc>
            </a:pPr>
            <a:br>
              <a:rPr lang="zh-CN" altLang="en-US" sz="4000" b="1">
                <a:latin typeface="仿宋_GB2312" panose="02010609030101010101" pitchFamily="49" charset="-122"/>
                <a:ea typeface="幼圆" panose="02010509060101010101" pitchFamily="49" charset="-122"/>
              </a:rPr>
            </a:br>
            <a:endParaRPr lang="zh-CN" altLang="en-US" sz="4000" b="1">
              <a:latin typeface="仿宋_GB2312" panose="02010609030101010101" pitchFamily="49" charset="-122"/>
              <a:ea typeface="幼圆" panose="02010509060101010101" pitchFamily="49" charset="-122"/>
            </a:endParaRPr>
          </a:p>
        </p:txBody>
      </p:sp>
      <p:pic>
        <p:nvPicPr>
          <p:cNvPr id="2" name="图片 1"/>
          <p:cNvPicPr>
            <a:picLocks noChangeAspect="1"/>
          </p:cNvPicPr>
          <p:nvPr/>
        </p:nvPicPr>
        <p:blipFill>
          <a:blip r:embed="rId1"/>
          <a:stretch>
            <a:fillRect/>
          </a:stretch>
        </p:blipFill>
        <p:spPr>
          <a:xfrm>
            <a:off x="1008557" y="612411"/>
            <a:ext cx="6877050" cy="5753100"/>
          </a:xfrm>
          <a:prstGeom prst="rect">
            <a:avLst/>
          </a:prstGeom>
        </p:spPr>
      </p:pic>
      <p:sp>
        <p:nvSpPr>
          <p:cNvPr id="3" name="矩形 2"/>
          <p:cNvSpPr/>
          <p:nvPr/>
        </p:nvSpPr>
        <p:spPr>
          <a:xfrm>
            <a:off x="8446396" y="1407036"/>
            <a:ext cx="3184814" cy="2677656"/>
          </a:xfrm>
          <a:prstGeom prst="rect">
            <a:avLst/>
          </a:prstGeom>
        </p:spPr>
        <p:txBody>
          <a:bodyPr wrap="square">
            <a:spAutoFit/>
          </a:bodyPr>
          <a:lstStyle/>
          <a:p>
            <a:pPr marL="514350" indent="-514350">
              <a:buFont typeface="+mj-lt"/>
              <a:buAutoNum type="arabicParenR"/>
            </a:pPr>
            <a:r>
              <a:rPr lang="zh-CN" altLang="en-US" sz="2800" b="1" dirty="0">
                <a:solidFill>
                  <a:schemeClr val="bg1"/>
                </a:solidFill>
              </a:rPr>
              <a:t>在项目解决方案资源管理器上选择项目</a:t>
            </a:r>
            <a:r>
              <a:rPr lang="zh-CN" altLang="en-US" sz="2800" b="1" dirty="0" smtClean="0">
                <a:solidFill>
                  <a:schemeClr val="bg1"/>
                </a:solidFill>
              </a:rPr>
              <a:t>名称</a:t>
            </a:r>
            <a:endParaRPr lang="en-US" altLang="zh-CN" sz="2800" b="1" dirty="0" smtClean="0">
              <a:solidFill>
                <a:schemeClr val="bg1"/>
              </a:solidFill>
            </a:endParaRPr>
          </a:p>
          <a:p>
            <a:pPr marL="514350" indent="-514350">
              <a:buFont typeface="+mj-lt"/>
              <a:buAutoNum type="arabicParenR"/>
            </a:pPr>
            <a:r>
              <a:rPr lang="zh-CN" altLang="en-US" sz="2800" b="1" dirty="0" smtClean="0">
                <a:solidFill>
                  <a:schemeClr val="bg1"/>
                </a:solidFill>
              </a:rPr>
              <a:t>点击右键</a:t>
            </a:r>
            <a:endParaRPr lang="en-US" altLang="zh-CN" sz="2800" b="1" dirty="0" smtClean="0">
              <a:solidFill>
                <a:schemeClr val="bg1"/>
              </a:solidFill>
            </a:endParaRPr>
          </a:p>
          <a:p>
            <a:pPr marL="514350" indent="-514350">
              <a:buFont typeface="+mj-lt"/>
              <a:buAutoNum type="arabicParenR"/>
            </a:pPr>
            <a:r>
              <a:rPr lang="zh-CN" altLang="en-US" sz="2800" b="1" dirty="0" smtClean="0">
                <a:solidFill>
                  <a:schemeClr val="bg1"/>
                </a:solidFill>
              </a:rPr>
              <a:t>选择“属性”</a:t>
            </a:r>
            <a:endParaRPr lang="en-US" sz="2800" b="1" dirty="0">
              <a:solidFill>
                <a:schemeClr val="bg1"/>
              </a:solidFill>
            </a:endParaRPr>
          </a:p>
        </p:txBody>
      </p:sp>
    </p:spTree>
  </p:cSld>
  <p:clrMapOvr>
    <a:masterClrMapping/>
  </p:clrMapOvr>
  <p:transition spd="med" advTm="3025">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665018" y="484910"/>
            <a:ext cx="9018885" cy="6373090"/>
          </a:xfrm>
          <a:prstGeom prst="rect">
            <a:avLst/>
          </a:prstGeom>
        </p:spPr>
      </p:pic>
      <p:sp>
        <p:nvSpPr>
          <p:cNvPr id="4" name="矩形 3"/>
          <p:cNvSpPr/>
          <p:nvPr/>
        </p:nvSpPr>
        <p:spPr>
          <a:xfrm>
            <a:off x="9840632" y="1210639"/>
            <a:ext cx="2226677" cy="3416320"/>
          </a:xfrm>
          <a:prstGeom prst="rect">
            <a:avLst/>
          </a:prstGeom>
        </p:spPr>
        <p:txBody>
          <a:bodyPr wrap="square">
            <a:spAutoFit/>
          </a:bodyPr>
          <a:lstStyle/>
          <a:p>
            <a:r>
              <a:rPr lang="zh-CN" altLang="en-US" sz="2400" b="1" dirty="0"/>
              <a:t>属性页上左侧选择</a:t>
            </a:r>
            <a:r>
              <a:rPr lang="zh-CN" altLang="en-US" sz="2400" b="1" dirty="0" smtClean="0"/>
              <a:t>“配置属性”</a:t>
            </a:r>
            <a:endParaRPr lang="en-US" altLang="zh-CN" sz="2400" b="1" dirty="0" smtClean="0"/>
          </a:p>
          <a:p>
            <a:r>
              <a:rPr lang="en-US" altLang="zh-CN" sz="2400" b="1" dirty="0" smtClean="0"/>
              <a:t>——C/C++</a:t>
            </a:r>
            <a:endParaRPr lang="en-US" altLang="zh-CN" sz="2400" b="1" dirty="0" smtClean="0"/>
          </a:p>
          <a:p>
            <a:r>
              <a:rPr lang="en-US" altLang="zh-CN" sz="2400" b="1" dirty="0"/>
              <a:t> </a:t>
            </a:r>
            <a:r>
              <a:rPr lang="en-US" altLang="zh-CN" sz="2400" b="1" dirty="0" smtClean="0"/>
              <a:t>     ——</a:t>
            </a:r>
            <a:r>
              <a:rPr lang="zh-CN" altLang="en-US" sz="2400" b="1" dirty="0" smtClean="0"/>
              <a:t>语言</a:t>
            </a:r>
            <a:endParaRPr lang="en-US" altLang="zh-CN" sz="2400" b="1" dirty="0" smtClean="0"/>
          </a:p>
          <a:p>
            <a:r>
              <a:rPr lang="zh-CN" altLang="en-US" sz="2400" b="1" dirty="0" smtClean="0"/>
              <a:t>然后</a:t>
            </a:r>
            <a:r>
              <a:rPr lang="zh-CN" altLang="en-US" sz="2400" b="1" dirty="0"/>
              <a:t>在右侧“</a:t>
            </a:r>
            <a:r>
              <a:rPr lang="en-US" altLang="zh-CN" sz="2400" b="1" dirty="0"/>
              <a:t>OpenMP</a:t>
            </a:r>
            <a:r>
              <a:rPr lang="zh-CN" altLang="en-US" sz="2400" b="1" dirty="0"/>
              <a:t>支持”后</a:t>
            </a:r>
            <a:r>
              <a:rPr lang="zh-CN" altLang="en-US" sz="2400" b="1" dirty="0" smtClean="0"/>
              <a:t>选择：</a:t>
            </a:r>
            <a:endParaRPr lang="en-US" altLang="zh-CN" sz="2400" b="1" dirty="0" smtClean="0"/>
          </a:p>
          <a:p>
            <a:r>
              <a:rPr lang="zh-CN" altLang="en-US" sz="2400" b="1" dirty="0">
                <a:solidFill>
                  <a:srgbClr val="C00000"/>
                </a:solidFill>
              </a:rPr>
              <a:t>是</a:t>
            </a:r>
            <a:r>
              <a:rPr lang="zh-CN" altLang="en-US" sz="2400" b="1" dirty="0" smtClean="0">
                <a:solidFill>
                  <a:srgbClr val="C00000"/>
                </a:solidFill>
              </a:rPr>
              <a:t>（</a:t>
            </a:r>
            <a:r>
              <a:rPr lang="en-US" altLang="zh-CN" sz="2400" b="1" dirty="0">
                <a:solidFill>
                  <a:srgbClr val="C00000"/>
                </a:solidFill>
              </a:rPr>
              <a:t>/</a:t>
            </a:r>
            <a:r>
              <a:rPr lang="en-US" altLang="zh-CN" sz="2400" b="1" dirty="0" err="1">
                <a:solidFill>
                  <a:srgbClr val="C00000"/>
                </a:solidFill>
              </a:rPr>
              <a:t>openmp</a:t>
            </a:r>
            <a:r>
              <a:rPr lang="zh-CN" altLang="en-US" sz="2400" b="1" dirty="0" smtClean="0">
                <a:solidFill>
                  <a:srgbClr val="C00000"/>
                </a:solidFill>
              </a:rPr>
              <a:t>）</a:t>
            </a:r>
            <a:endParaRPr lang="en-US" sz="2400" b="1" dirty="0">
              <a:solidFill>
                <a:srgbClr val="C00000"/>
              </a:solidFill>
            </a:endParaRPr>
          </a:p>
        </p:txBody>
      </p:sp>
    </p:spTree>
  </p:cSld>
  <p:clrMapOvr>
    <a:masterClrMapping/>
  </p:clrMapOvr>
  <p:transition spd="med" advTm="3025">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ctrTitle"/>
          </p:nvPr>
        </p:nvSpPr>
        <p:spPr>
          <a:xfrm>
            <a:off x="1847850" y="1844675"/>
            <a:ext cx="8610600" cy="990600"/>
          </a:xfrm>
        </p:spPr>
        <p:txBody>
          <a:bodyPr anchor="ctr"/>
          <a:lstStyle/>
          <a:p>
            <a:pPr eaLnBrk="1" hangingPunct="1">
              <a:lnSpc>
                <a:spcPct val="130000"/>
              </a:lnSpc>
            </a:pPr>
            <a:br>
              <a:rPr lang="zh-CN" altLang="en-US" sz="4000" b="1">
                <a:latin typeface="仿宋_GB2312" panose="02010609030101010101" pitchFamily="49" charset="-122"/>
                <a:ea typeface="幼圆" panose="02010509060101010101" pitchFamily="49" charset="-122"/>
              </a:rPr>
            </a:br>
            <a:endParaRPr lang="zh-CN" altLang="en-US" sz="4000" b="1">
              <a:latin typeface="仿宋_GB2312" panose="02010609030101010101" pitchFamily="49" charset="-122"/>
              <a:ea typeface="幼圆" panose="02010509060101010101" pitchFamily="49" charset="-122"/>
            </a:endParaRPr>
          </a:p>
        </p:txBody>
      </p:sp>
      <p:sp>
        <p:nvSpPr>
          <p:cNvPr id="2" name="文本框 1"/>
          <p:cNvSpPr txBox="1"/>
          <p:nvPr/>
        </p:nvSpPr>
        <p:spPr>
          <a:xfrm>
            <a:off x="1579419" y="665019"/>
            <a:ext cx="8492836" cy="4524315"/>
          </a:xfrm>
          <a:prstGeom prst="rect">
            <a:avLst/>
          </a:prstGeom>
          <a:noFill/>
        </p:spPr>
        <p:txBody>
          <a:bodyPr wrap="square" rtlCol="0">
            <a:spAutoFit/>
          </a:bodyPr>
          <a:lstStyle/>
          <a:p>
            <a:pPr algn="ctr"/>
            <a:r>
              <a:rPr lang="zh-CN" altLang="en-US" sz="3200" b="1" dirty="0" smtClean="0">
                <a:solidFill>
                  <a:srgbClr val="C00000"/>
                </a:solidFill>
                <a:latin typeface="隶书" panose="02010509060101010101" pitchFamily="49" charset="-122"/>
                <a:ea typeface="隶书" panose="02010509060101010101" pitchFamily="49" charset="-122"/>
              </a:rPr>
              <a:t>一个简单的例子</a:t>
            </a:r>
            <a:r>
              <a:rPr lang="en-US" altLang="zh-CN" sz="3200" b="1" dirty="0" smtClean="0">
                <a:solidFill>
                  <a:srgbClr val="C00000"/>
                </a:solidFill>
                <a:latin typeface="隶书" panose="02010509060101010101" pitchFamily="49" charset="-122"/>
                <a:ea typeface="隶书" panose="02010509060101010101" pitchFamily="49" charset="-122"/>
              </a:rPr>
              <a:t>——</a:t>
            </a:r>
            <a:r>
              <a:rPr lang="zh-CN" altLang="en-US" sz="3200" b="1" dirty="0" smtClean="0">
                <a:solidFill>
                  <a:srgbClr val="C00000"/>
                </a:solidFill>
                <a:latin typeface="隶书" panose="02010509060101010101" pitchFamily="49" charset="-122"/>
                <a:ea typeface="隶书" panose="02010509060101010101" pitchFamily="49" charset="-122"/>
              </a:rPr>
              <a:t>测试累加</a:t>
            </a:r>
            <a:r>
              <a:rPr lang="zh-CN" altLang="en-US" sz="3200" b="1" dirty="0">
                <a:solidFill>
                  <a:srgbClr val="C00000"/>
                </a:solidFill>
                <a:latin typeface="隶书" panose="02010509060101010101" pitchFamily="49" charset="-122"/>
                <a:ea typeface="隶书" panose="02010509060101010101" pitchFamily="49" charset="-122"/>
              </a:rPr>
              <a:t>的</a:t>
            </a:r>
            <a:r>
              <a:rPr lang="zh-CN" altLang="en-US" sz="3200" b="1" dirty="0" smtClean="0">
                <a:solidFill>
                  <a:srgbClr val="C00000"/>
                </a:solidFill>
                <a:latin typeface="隶书" panose="02010509060101010101" pitchFamily="49" charset="-122"/>
                <a:ea typeface="隶书" panose="02010509060101010101" pitchFamily="49" charset="-122"/>
              </a:rPr>
              <a:t>计时程序</a:t>
            </a:r>
            <a:endParaRPr lang="en-US" altLang="zh-CN" sz="3200" b="1" dirty="0" smtClean="0">
              <a:solidFill>
                <a:srgbClr val="C00000"/>
              </a:solidFill>
              <a:latin typeface="隶书" panose="02010509060101010101" pitchFamily="49" charset="-122"/>
              <a:ea typeface="隶书" panose="02010509060101010101" pitchFamily="49" charset="-122"/>
            </a:endParaRPr>
          </a:p>
          <a:p>
            <a:pPr algn="ctr"/>
            <a:endParaRPr lang="en-US" altLang="zh-CN" sz="3200" b="1" dirty="0" smtClean="0">
              <a:solidFill>
                <a:srgbClr val="C00000"/>
              </a:solidFill>
              <a:latin typeface="隶书" panose="02010509060101010101" pitchFamily="49" charset="-122"/>
              <a:ea typeface="隶书" panose="02010509060101010101" pitchFamily="49" charset="-122"/>
            </a:endParaRPr>
          </a:p>
          <a:p>
            <a:r>
              <a:rPr lang="en-US" sz="3200" b="1" dirty="0">
                <a:latin typeface="隶书" panose="02010509060101010101" pitchFamily="49" charset="-122"/>
                <a:ea typeface="隶书" panose="02010509060101010101" pitchFamily="49" charset="-122"/>
              </a:rPr>
              <a:t>void blog4::</a:t>
            </a:r>
            <a:r>
              <a:rPr lang="en-US" sz="3200" b="1" dirty="0" err="1">
                <a:latin typeface="隶书" panose="02010509060101010101" pitchFamily="49" charset="-122"/>
                <a:ea typeface="隶书" panose="02010509060101010101" pitchFamily="49" charset="-122"/>
              </a:rPr>
              <a:t>SumForNumber</a:t>
            </a:r>
            <a:r>
              <a:rPr lang="en-US" sz="3200" b="1" dirty="0">
                <a:latin typeface="隶书" panose="02010509060101010101" pitchFamily="49" charset="-122"/>
                <a:ea typeface="隶书" panose="02010509060101010101" pitchFamily="49" charset="-122"/>
              </a:rPr>
              <a:t>()</a:t>
            </a:r>
            <a:endParaRPr lang="en-US" sz="3200" b="1" dirty="0">
              <a:latin typeface="隶书" panose="02010509060101010101" pitchFamily="49" charset="-122"/>
              <a:ea typeface="隶书" panose="02010509060101010101" pitchFamily="49" charset="-122"/>
            </a:endParaRPr>
          </a:p>
          <a:p>
            <a:r>
              <a:rPr lang="en-US" sz="3200" b="1" dirty="0">
                <a:latin typeface="隶书" panose="02010509060101010101" pitchFamily="49" charset="-122"/>
                <a:ea typeface="隶书" panose="02010509060101010101" pitchFamily="49" charset="-122"/>
              </a:rPr>
              <a:t>{</a:t>
            </a:r>
            <a:endParaRPr lang="en-US" sz="3200" b="1" dirty="0">
              <a:latin typeface="隶书" panose="02010509060101010101" pitchFamily="49" charset="-122"/>
              <a:ea typeface="隶书" panose="02010509060101010101" pitchFamily="49" charset="-122"/>
            </a:endParaRPr>
          </a:p>
          <a:p>
            <a:r>
              <a:rPr lang="en-US" sz="3200" b="1" dirty="0">
                <a:latin typeface="隶书" panose="02010509060101010101" pitchFamily="49" charset="-122"/>
                <a:ea typeface="隶书" panose="02010509060101010101" pitchFamily="49" charset="-122"/>
              </a:rPr>
              <a:t>    </a:t>
            </a:r>
            <a:r>
              <a:rPr lang="en-US" sz="3200" b="1" dirty="0" err="1">
                <a:latin typeface="隶书" panose="02010509060101010101" pitchFamily="49" charset="-122"/>
                <a:ea typeface="隶书" panose="02010509060101010101" pitchFamily="49" charset="-122"/>
              </a:rPr>
              <a:t>int</a:t>
            </a:r>
            <a:r>
              <a:rPr lang="en-US" sz="3200" b="1" dirty="0">
                <a:latin typeface="隶书" panose="02010509060101010101" pitchFamily="49" charset="-122"/>
                <a:ea typeface="隶书" panose="02010509060101010101" pitchFamily="49" charset="-122"/>
              </a:rPr>
              <a:t> a = 0;</a:t>
            </a:r>
            <a:endParaRPr lang="en-US" sz="3200" b="1" dirty="0">
              <a:latin typeface="隶书" panose="02010509060101010101" pitchFamily="49" charset="-122"/>
              <a:ea typeface="隶书" panose="02010509060101010101" pitchFamily="49" charset="-122"/>
            </a:endParaRPr>
          </a:p>
          <a:p>
            <a:r>
              <a:rPr lang="en-US" sz="3200" b="1" dirty="0">
                <a:latin typeface="隶书" panose="02010509060101010101" pitchFamily="49" charset="-122"/>
                <a:ea typeface="隶书" panose="02010509060101010101" pitchFamily="49" charset="-122"/>
              </a:rPr>
              <a:t>    for (</a:t>
            </a:r>
            <a:r>
              <a:rPr lang="en-US" sz="3200" b="1" dirty="0" err="1">
                <a:latin typeface="隶书" panose="02010509060101010101" pitchFamily="49" charset="-122"/>
                <a:ea typeface="隶书" panose="02010509060101010101" pitchFamily="49" charset="-122"/>
              </a:rPr>
              <a:t>int</a:t>
            </a:r>
            <a:r>
              <a:rPr lang="en-US" sz="3200" b="1" dirty="0">
                <a:latin typeface="隶书" panose="02010509060101010101" pitchFamily="49" charset="-122"/>
                <a:ea typeface="隶书" panose="02010509060101010101" pitchFamily="49" charset="-122"/>
              </a:rPr>
              <a:t> </a:t>
            </a:r>
            <a:r>
              <a:rPr lang="en-US" sz="3200" b="1" dirty="0" err="1">
                <a:latin typeface="隶书" panose="02010509060101010101" pitchFamily="49" charset="-122"/>
                <a:ea typeface="隶书" panose="02010509060101010101" pitchFamily="49" charset="-122"/>
              </a:rPr>
              <a:t>i</a:t>
            </a:r>
            <a:r>
              <a:rPr lang="en-US" sz="3200" b="1" dirty="0">
                <a:latin typeface="隶书" panose="02010509060101010101" pitchFamily="49" charset="-122"/>
                <a:ea typeface="隶书" panose="02010509060101010101" pitchFamily="49" charset="-122"/>
              </a:rPr>
              <a:t> = 0; </a:t>
            </a:r>
            <a:r>
              <a:rPr lang="en-US" sz="3200" b="1" dirty="0" err="1">
                <a:latin typeface="隶书" panose="02010509060101010101" pitchFamily="49" charset="-122"/>
                <a:ea typeface="隶书" panose="02010509060101010101" pitchFamily="49" charset="-122"/>
              </a:rPr>
              <a:t>i</a:t>
            </a:r>
            <a:r>
              <a:rPr lang="en-US" sz="3200" b="1" dirty="0">
                <a:latin typeface="隶书" panose="02010509060101010101" pitchFamily="49" charset="-122"/>
                <a:ea typeface="隶书" panose="02010509060101010101" pitchFamily="49" charset="-122"/>
              </a:rPr>
              <a:t>&lt;100000000; </a:t>
            </a:r>
            <a:r>
              <a:rPr lang="en-US" sz="3200" b="1" dirty="0" err="1">
                <a:latin typeface="隶书" panose="02010509060101010101" pitchFamily="49" charset="-122"/>
                <a:ea typeface="隶书" panose="02010509060101010101" pitchFamily="49" charset="-122"/>
              </a:rPr>
              <a:t>i</a:t>
            </a:r>
            <a:r>
              <a:rPr lang="en-US" sz="3200" b="1" dirty="0">
                <a:latin typeface="隶书" panose="02010509060101010101" pitchFamily="49" charset="-122"/>
                <a:ea typeface="隶书" panose="02010509060101010101" pitchFamily="49" charset="-122"/>
              </a:rPr>
              <a:t>++)</a:t>
            </a:r>
            <a:endParaRPr lang="en-US" sz="3200" b="1" dirty="0">
              <a:latin typeface="隶书" panose="02010509060101010101" pitchFamily="49" charset="-122"/>
              <a:ea typeface="隶书" panose="02010509060101010101" pitchFamily="49" charset="-122"/>
            </a:endParaRPr>
          </a:p>
          <a:p>
            <a:r>
              <a:rPr lang="en-US" sz="3200" b="1" dirty="0">
                <a:latin typeface="隶书" panose="02010509060101010101" pitchFamily="49" charset="-122"/>
                <a:ea typeface="隶书" panose="02010509060101010101" pitchFamily="49" charset="-122"/>
              </a:rPr>
              <a:t>        a++;</a:t>
            </a:r>
            <a:endParaRPr lang="en-US" sz="3200" b="1" dirty="0">
              <a:latin typeface="隶书" panose="02010509060101010101" pitchFamily="49" charset="-122"/>
              <a:ea typeface="隶书" panose="02010509060101010101" pitchFamily="49" charset="-122"/>
            </a:endParaRPr>
          </a:p>
          <a:p>
            <a:r>
              <a:rPr lang="en-US" sz="3200" b="1" dirty="0">
                <a:latin typeface="隶书" panose="02010509060101010101" pitchFamily="49" charset="-122"/>
                <a:ea typeface="隶书" panose="02010509060101010101" pitchFamily="49" charset="-122"/>
              </a:rPr>
              <a:t>}</a:t>
            </a:r>
            <a:endParaRPr lang="en-US" sz="3200" b="1" dirty="0">
              <a:latin typeface="隶书" panose="02010509060101010101" pitchFamily="49" charset="-122"/>
              <a:ea typeface="隶书" panose="02010509060101010101" pitchFamily="49" charset="-122"/>
            </a:endParaRPr>
          </a:p>
          <a:p>
            <a:endParaRPr lang="en-US" sz="3200" b="1" dirty="0">
              <a:solidFill>
                <a:srgbClr val="C00000"/>
              </a:solidFill>
              <a:latin typeface="隶书" panose="02010509060101010101" pitchFamily="49" charset="-122"/>
              <a:ea typeface="隶书" panose="02010509060101010101" pitchFamily="49" charset="-122"/>
            </a:endParaRPr>
          </a:p>
        </p:txBody>
      </p:sp>
    </p:spTree>
  </p:cSld>
  <p:clrMapOvr>
    <a:masterClrMapping/>
  </p:clrMapOvr>
  <p:transition spd="med" advTm="3025">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ctrTitle"/>
          </p:nvPr>
        </p:nvSpPr>
        <p:spPr>
          <a:xfrm>
            <a:off x="1847850" y="1844675"/>
            <a:ext cx="8610600" cy="990600"/>
          </a:xfrm>
        </p:spPr>
        <p:txBody>
          <a:bodyPr anchor="ctr"/>
          <a:lstStyle/>
          <a:p>
            <a:pPr eaLnBrk="1" hangingPunct="1">
              <a:lnSpc>
                <a:spcPct val="130000"/>
              </a:lnSpc>
            </a:pPr>
            <a:br>
              <a:rPr lang="zh-CN" altLang="en-US" sz="4000" b="1">
                <a:latin typeface="仿宋_GB2312" panose="02010609030101010101" pitchFamily="49" charset="-122"/>
                <a:ea typeface="幼圆" panose="02010509060101010101" pitchFamily="49" charset="-122"/>
              </a:rPr>
            </a:br>
            <a:endParaRPr lang="zh-CN" altLang="en-US" sz="4000" b="1">
              <a:latin typeface="仿宋_GB2312" panose="02010609030101010101" pitchFamily="49" charset="-122"/>
              <a:ea typeface="幼圆" panose="02010509060101010101" pitchFamily="49" charset="-122"/>
            </a:endParaRPr>
          </a:p>
        </p:txBody>
      </p:sp>
      <p:sp>
        <p:nvSpPr>
          <p:cNvPr id="2" name="矩形 1"/>
          <p:cNvSpPr/>
          <p:nvPr/>
        </p:nvSpPr>
        <p:spPr>
          <a:xfrm>
            <a:off x="1847849" y="1047313"/>
            <a:ext cx="9512877" cy="4524315"/>
          </a:xfrm>
          <a:prstGeom prst="rect">
            <a:avLst/>
          </a:prstGeom>
        </p:spPr>
        <p:txBody>
          <a:bodyPr wrap="square">
            <a:spAutoFit/>
          </a:bodyPr>
          <a:lstStyle/>
          <a:p>
            <a:r>
              <a:rPr lang="en-US" altLang="zh-CN" sz="3200" b="1" dirty="0">
                <a:solidFill>
                  <a:srgbClr val="00B050"/>
                </a:solidFill>
              </a:rPr>
              <a:t>//</a:t>
            </a:r>
            <a:r>
              <a:rPr lang="zh-CN" altLang="en-US" sz="3200" b="1" dirty="0">
                <a:solidFill>
                  <a:srgbClr val="00B050"/>
                </a:solidFill>
              </a:rPr>
              <a:t>测试串行</a:t>
            </a:r>
            <a:r>
              <a:rPr lang="zh-CN" altLang="en-US" sz="3200" b="1" dirty="0" smtClean="0">
                <a:solidFill>
                  <a:srgbClr val="00B050"/>
                </a:solidFill>
              </a:rPr>
              <a:t>程序计时</a:t>
            </a:r>
            <a:endParaRPr lang="zh-CN" altLang="en-US" sz="3200" b="1" dirty="0">
              <a:solidFill>
                <a:srgbClr val="00B050"/>
              </a:solidFill>
            </a:endParaRPr>
          </a:p>
          <a:p>
            <a:r>
              <a:rPr lang="en-US" sz="3200" b="1" dirty="0"/>
              <a:t>void blog4::Test1(</a:t>
            </a:r>
            <a:r>
              <a:rPr lang="en-US" sz="3200" b="1" dirty="0" err="1"/>
              <a:t>int</a:t>
            </a:r>
            <a:r>
              <a:rPr lang="en-US" sz="3200" b="1" dirty="0"/>
              <a:t> </a:t>
            </a:r>
            <a:r>
              <a:rPr lang="en-US" sz="3200" b="1" dirty="0" err="1"/>
              <a:t>argc</a:t>
            </a:r>
            <a:r>
              <a:rPr lang="en-US" sz="3200" b="1" dirty="0"/>
              <a:t>, char* </a:t>
            </a:r>
            <a:r>
              <a:rPr lang="en-US" sz="3200" b="1" dirty="0" err="1"/>
              <a:t>argv</a:t>
            </a:r>
            <a:r>
              <a:rPr lang="en-US" sz="3200" b="1" dirty="0"/>
              <a:t>[])</a:t>
            </a:r>
            <a:endParaRPr lang="en-US" sz="3200" b="1" dirty="0"/>
          </a:p>
          <a:p>
            <a:r>
              <a:rPr lang="en-US" sz="3200" b="1" dirty="0"/>
              <a:t>{</a:t>
            </a:r>
            <a:endParaRPr lang="en-US" sz="3200" b="1" dirty="0"/>
          </a:p>
          <a:p>
            <a:r>
              <a:rPr lang="en-US" sz="3200" b="1" dirty="0"/>
              <a:t>    </a:t>
            </a:r>
            <a:r>
              <a:rPr lang="en-US" sz="3200" b="1" dirty="0" err="1"/>
              <a:t>clock_t</a:t>
            </a:r>
            <a:r>
              <a:rPr lang="en-US" sz="3200" b="1" dirty="0"/>
              <a:t> t1 = clock();</a:t>
            </a:r>
            <a:endParaRPr lang="en-US" sz="3200" b="1" dirty="0"/>
          </a:p>
          <a:p>
            <a:r>
              <a:rPr lang="en-US" sz="3200" b="1" dirty="0"/>
              <a:t>    for (</a:t>
            </a:r>
            <a:r>
              <a:rPr lang="en-US" sz="3200" b="1" dirty="0" err="1"/>
              <a:t>int</a:t>
            </a:r>
            <a:r>
              <a:rPr lang="en-US" sz="3200" b="1" dirty="0"/>
              <a:t> </a:t>
            </a:r>
            <a:r>
              <a:rPr lang="en-US" sz="3200" b="1" dirty="0" err="1"/>
              <a:t>i</a:t>
            </a:r>
            <a:r>
              <a:rPr lang="en-US" sz="3200" b="1" dirty="0"/>
              <a:t> = 0; </a:t>
            </a:r>
            <a:r>
              <a:rPr lang="en-US" sz="3200" b="1" dirty="0" err="1"/>
              <a:t>i</a:t>
            </a:r>
            <a:r>
              <a:rPr lang="en-US" sz="3200" b="1" dirty="0"/>
              <a:t>&lt;100; </a:t>
            </a:r>
            <a:r>
              <a:rPr lang="en-US" sz="3200" b="1" dirty="0" err="1"/>
              <a:t>i</a:t>
            </a:r>
            <a:r>
              <a:rPr lang="en-US" sz="3200" b="1" dirty="0"/>
              <a:t>++)</a:t>
            </a:r>
            <a:endParaRPr lang="en-US" sz="3200" b="1" dirty="0"/>
          </a:p>
          <a:p>
            <a:r>
              <a:rPr lang="en-US" sz="3200" b="1" dirty="0"/>
              <a:t>        </a:t>
            </a:r>
            <a:r>
              <a:rPr lang="en-US" sz="3200" b="1" dirty="0" err="1"/>
              <a:t>SumForNumber</a:t>
            </a:r>
            <a:r>
              <a:rPr lang="en-US" sz="3200" b="1" dirty="0"/>
              <a:t>();</a:t>
            </a:r>
            <a:endParaRPr lang="en-US" sz="3200" b="1" dirty="0"/>
          </a:p>
          <a:p>
            <a:r>
              <a:rPr lang="en-US" sz="3200" b="1" dirty="0"/>
              <a:t>    </a:t>
            </a:r>
            <a:r>
              <a:rPr lang="en-US" sz="3200" b="1" dirty="0" err="1"/>
              <a:t>clock_t</a:t>
            </a:r>
            <a:r>
              <a:rPr lang="en-US" sz="3200" b="1" dirty="0"/>
              <a:t> t2 = clock();</a:t>
            </a:r>
            <a:endParaRPr lang="en-US" sz="3200" b="1" dirty="0"/>
          </a:p>
          <a:p>
            <a:r>
              <a:rPr lang="en-US" sz="3200" b="1" dirty="0"/>
              <a:t>    </a:t>
            </a:r>
            <a:r>
              <a:rPr lang="en-US" sz="3200" b="1" dirty="0" err="1"/>
              <a:t>std</a:t>
            </a:r>
            <a:r>
              <a:rPr lang="en-US" sz="3200" b="1" dirty="0"/>
              <a:t>::</a:t>
            </a:r>
            <a:r>
              <a:rPr lang="en-US" sz="3200" b="1" dirty="0" err="1"/>
              <a:t>cout</a:t>
            </a:r>
            <a:r>
              <a:rPr lang="en-US" sz="3200" b="1" dirty="0"/>
              <a:t> &lt;&lt; "Serial time: " &lt;&lt; t2 - t1 &lt;&lt; </a:t>
            </a:r>
            <a:r>
              <a:rPr lang="en-US" sz="3200" b="1" dirty="0" err="1"/>
              <a:t>std</a:t>
            </a:r>
            <a:r>
              <a:rPr lang="en-US" sz="3200" b="1" dirty="0"/>
              <a:t>::</a:t>
            </a:r>
            <a:r>
              <a:rPr lang="en-US" sz="3200" b="1" dirty="0" err="1"/>
              <a:t>endl</a:t>
            </a:r>
            <a:r>
              <a:rPr lang="en-US" sz="3200" b="1" dirty="0"/>
              <a:t>;</a:t>
            </a:r>
            <a:endParaRPr lang="en-US" sz="3200" b="1" dirty="0"/>
          </a:p>
          <a:p>
            <a:r>
              <a:rPr lang="en-US" sz="3200" b="1" dirty="0"/>
              <a:t>}</a:t>
            </a:r>
            <a:endParaRPr lang="en-US" sz="3200" b="1" dirty="0"/>
          </a:p>
        </p:txBody>
      </p:sp>
    </p:spTree>
  </p:cSld>
  <p:clrMapOvr>
    <a:masterClrMapping/>
  </p:clrMapOvr>
  <p:transition spd="med" advTm="3025">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ctrTitle"/>
          </p:nvPr>
        </p:nvSpPr>
        <p:spPr>
          <a:xfrm>
            <a:off x="1847850" y="1844675"/>
            <a:ext cx="8610600" cy="990600"/>
          </a:xfrm>
        </p:spPr>
        <p:txBody>
          <a:bodyPr anchor="ctr"/>
          <a:lstStyle/>
          <a:p>
            <a:pPr eaLnBrk="1" hangingPunct="1">
              <a:lnSpc>
                <a:spcPct val="130000"/>
              </a:lnSpc>
            </a:pPr>
            <a:br>
              <a:rPr lang="zh-CN" altLang="en-US" sz="4000" b="1">
                <a:latin typeface="仿宋_GB2312" panose="02010609030101010101" pitchFamily="49" charset="-122"/>
                <a:ea typeface="幼圆" panose="02010509060101010101" pitchFamily="49" charset="-122"/>
              </a:rPr>
            </a:br>
            <a:endParaRPr lang="zh-CN" altLang="en-US" sz="4000" b="1">
              <a:latin typeface="仿宋_GB2312" panose="02010609030101010101" pitchFamily="49" charset="-122"/>
              <a:ea typeface="幼圆" panose="02010509060101010101" pitchFamily="49" charset="-122"/>
            </a:endParaRPr>
          </a:p>
        </p:txBody>
      </p:sp>
      <p:sp>
        <p:nvSpPr>
          <p:cNvPr id="2" name="矩形 1"/>
          <p:cNvSpPr/>
          <p:nvPr/>
        </p:nvSpPr>
        <p:spPr>
          <a:xfrm>
            <a:off x="1052945" y="1025237"/>
            <a:ext cx="10030691" cy="4524315"/>
          </a:xfrm>
          <a:prstGeom prst="rect">
            <a:avLst/>
          </a:prstGeom>
        </p:spPr>
        <p:txBody>
          <a:bodyPr wrap="square">
            <a:spAutoFit/>
          </a:bodyPr>
          <a:lstStyle/>
          <a:p>
            <a:r>
              <a:rPr lang="en-US" sz="3200" b="1" dirty="0"/>
              <a:t>void blog4::Test2(</a:t>
            </a:r>
            <a:r>
              <a:rPr lang="en-US" sz="3200" b="1" dirty="0" err="1"/>
              <a:t>int</a:t>
            </a:r>
            <a:r>
              <a:rPr lang="en-US" sz="3200" b="1" dirty="0"/>
              <a:t> </a:t>
            </a:r>
            <a:r>
              <a:rPr lang="en-US" sz="3200" b="1" dirty="0" err="1"/>
              <a:t>argc</a:t>
            </a:r>
            <a:r>
              <a:rPr lang="en-US" sz="3200" b="1" dirty="0"/>
              <a:t>, char* </a:t>
            </a:r>
            <a:r>
              <a:rPr lang="en-US" sz="3200" b="1" dirty="0" err="1"/>
              <a:t>argv</a:t>
            </a:r>
            <a:r>
              <a:rPr lang="en-US" sz="3200" b="1" dirty="0"/>
              <a:t>[])</a:t>
            </a:r>
            <a:endParaRPr lang="en-US" sz="3200" b="1" dirty="0"/>
          </a:p>
          <a:p>
            <a:r>
              <a:rPr lang="en-US" sz="3200" b="1" dirty="0"/>
              <a:t>{</a:t>
            </a:r>
            <a:endParaRPr lang="en-US" sz="3200" b="1" dirty="0"/>
          </a:p>
          <a:p>
            <a:r>
              <a:rPr lang="en-US" sz="3200" b="1" dirty="0"/>
              <a:t>    </a:t>
            </a:r>
            <a:r>
              <a:rPr lang="en-US" sz="3200" b="1" dirty="0" err="1"/>
              <a:t>clock_t</a:t>
            </a:r>
            <a:r>
              <a:rPr lang="en-US" sz="3200" b="1" dirty="0"/>
              <a:t> t1 = clock();</a:t>
            </a:r>
            <a:endParaRPr lang="en-US" sz="3200" b="1" dirty="0"/>
          </a:p>
          <a:p>
            <a:r>
              <a:rPr lang="en-US" sz="3200" b="1" dirty="0">
                <a:solidFill>
                  <a:srgbClr val="C00000"/>
                </a:solidFill>
              </a:rPr>
              <a:t>#pragma </a:t>
            </a:r>
            <a:r>
              <a:rPr lang="en-US" sz="3200" b="1" dirty="0" err="1">
                <a:solidFill>
                  <a:srgbClr val="C00000"/>
                </a:solidFill>
              </a:rPr>
              <a:t>omp</a:t>
            </a:r>
            <a:r>
              <a:rPr lang="en-US" sz="3200" b="1" dirty="0">
                <a:solidFill>
                  <a:srgbClr val="C00000"/>
                </a:solidFill>
              </a:rPr>
              <a:t> parallel for</a:t>
            </a:r>
            <a:endParaRPr lang="en-US" sz="3200" b="1" dirty="0">
              <a:solidFill>
                <a:srgbClr val="C00000"/>
              </a:solidFill>
            </a:endParaRPr>
          </a:p>
          <a:p>
            <a:r>
              <a:rPr lang="en-US" sz="3200" b="1" dirty="0"/>
              <a:t>    for (</a:t>
            </a:r>
            <a:r>
              <a:rPr lang="en-US" sz="3200" b="1" dirty="0" err="1"/>
              <a:t>int</a:t>
            </a:r>
            <a:r>
              <a:rPr lang="en-US" sz="3200" b="1" dirty="0"/>
              <a:t> </a:t>
            </a:r>
            <a:r>
              <a:rPr lang="en-US" sz="3200" b="1" dirty="0" err="1"/>
              <a:t>i</a:t>
            </a:r>
            <a:r>
              <a:rPr lang="en-US" sz="3200" b="1" dirty="0"/>
              <a:t> = 0; </a:t>
            </a:r>
            <a:r>
              <a:rPr lang="en-US" sz="3200" b="1" dirty="0" err="1"/>
              <a:t>i</a:t>
            </a:r>
            <a:r>
              <a:rPr lang="en-US" sz="3200" b="1" dirty="0"/>
              <a:t>&lt;100; </a:t>
            </a:r>
            <a:r>
              <a:rPr lang="en-US" sz="3200" b="1" dirty="0" err="1"/>
              <a:t>i</a:t>
            </a:r>
            <a:r>
              <a:rPr lang="en-US" sz="3200" b="1" dirty="0"/>
              <a:t>++)</a:t>
            </a:r>
            <a:endParaRPr lang="en-US" sz="3200" b="1" dirty="0"/>
          </a:p>
          <a:p>
            <a:r>
              <a:rPr lang="en-US" sz="3200" b="1" dirty="0"/>
              <a:t>        </a:t>
            </a:r>
            <a:r>
              <a:rPr lang="en-US" sz="3200" b="1" dirty="0" err="1"/>
              <a:t>SumForNumber</a:t>
            </a:r>
            <a:r>
              <a:rPr lang="en-US" sz="3200" b="1" dirty="0"/>
              <a:t>();</a:t>
            </a:r>
            <a:endParaRPr lang="en-US" sz="3200" b="1" dirty="0"/>
          </a:p>
          <a:p>
            <a:r>
              <a:rPr lang="en-US" sz="3200" b="1" dirty="0"/>
              <a:t>    </a:t>
            </a:r>
            <a:r>
              <a:rPr lang="en-US" sz="3200" b="1" dirty="0" err="1"/>
              <a:t>clock_t</a:t>
            </a:r>
            <a:r>
              <a:rPr lang="en-US" sz="3200" b="1" dirty="0"/>
              <a:t> t2 = clock();</a:t>
            </a:r>
            <a:endParaRPr lang="en-US" sz="3200" b="1" dirty="0"/>
          </a:p>
          <a:p>
            <a:r>
              <a:rPr lang="en-US" sz="3200" b="1" dirty="0"/>
              <a:t>    </a:t>
            </a:r>
            <a:r>
              <a:rPr lang="en-US" sz="3200" b="1" dirty="0" err="1"/>
              <a:t>std</a:t>
            </a:r>
            <a:r>
              <a:rPr lang="en-US" sz="3200" b="1" dirty="0"/>
              <a:t>::</a:t>
            </a:r>
            <a:r>
              <a:rPr lang="en-US" sz="3200" b="1" dirty="0" err="1"/>
              <a:t>cout</a:t>
            </a:r>
            <a:r>
              <a:rPr lang="en-US" sz="3200" b="1" dirty="0"/>
              <a:t> &lt;&lt; "Parallel time: " &lt;&lt; t2 - t1 &lt;&lt; </a:t>
            </a:r>
            <a:r>
              <a:rPr lang="en-US" sz="3200" b="1" dirty="0" err="1"/>
              <a:t>std</a:t>
            </a:r>
            <a:r>
              <a:rPr lang="en-US" sz="3200" b="1" dirty="0"/>
              <a:t>::</a:t>
            </a:r>
            <a:r>
              <a:rPr lang="en-US" sz="3200" b="1" dirty="0" err="1"/>
              <a:t>endl</a:t>
            </a:r>
            <a:r>
              <a:rPr lang="en-US" sz="3200" b="1" dirty="0"/>
              <a:t>;</a:t>
            </a:r>
            <a:endParaRPr lang="en-US" sz="3200" b="1" dirty="0"/>
          </a:p>
          <a:p>
            <a:r>
              <a:rPr lang="en-US" sz="3200" b="1" dirty="0"/>
              <a:t>}</a:t>
            </a:r>
            <a:endParaRPr lang="en-US" sz="3200" b="1" dirty="0"/>
          </a:p>
        </p:txBody>
      </p:sp>
    </p:spTree>
  </p:cSld>
  <p:clrMapOvr>
    <a:masterClrMapping/>
  </p:clrMapOvr>
  <p:transition spd="med" advTm="3025">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ctrTitle"/>
          </p:nvPr>
        </p:nvSpPr>
        <p:spPr>
          <a:xfrm>
            <a:off x="1847850" y="1844675"/>
            <a:ext cx="8610600" cy="990600"/>
          </a:xfrm>
        </p:spPr>
        <p:txBody>
          <a:bodyPr anchor="ctr"/>
          <a:lstStyle/>
          <a:p>
            <a:pPr eaLnBrk="1" hangingPunct="1">
              <a:lnSpc>
                <a:spcPct val="130000"/>
              </a:lnSpc>
            </a:pPr>
            <a:br>
              <a:rPr lang="zh-CN" altLang="en-US" sz="4000" b="1">
                <a:latin typeface="仿宋_GB2312" panose="02010609030101010101" pitchFamily="49" charset="-122"/>
                <a:ea typeface="幼圆" panose="02010509060101010101" pitchFamily="49" charset="-122"/>
              </a:rPr>
            </a:br>
            <a:endParaRPr lang="zh-CN" altLang="en-US" sz="4000" b="1">
              <a:latin typeface="仿宋_GB2312" panose="02010609030101010101" pitchFamily="49" charset="-122"/>
              <a:ea typeface="幼圆" panose="02010509060101010101" pitchFamily="49" charset="-122"/>
            </a:endParaRPr>
          </a:p>
        </p:txBody>
      </p:sp>
      <p:pic>
        <p:nvPicPr>
          <p:cNvPr id="2" name="图片 1"/>
          <p:cNvPicPr>
            <a:picLocks noChangeAspect="1"/>
          </p:cNvPicPr>
          <p:nvPr/>
        </p:nvPicPr>
        <p:blipFill>
          <a:blip r:embed="rId1"/>
          <a:stretch>
            <a:fillRect/>
          </a:stretch>
        </p:blipFill>
        <p:spPr>
          <a:xfrm>
            <a:off x="1430426" y="1844675"/>
            <a:ext cx="7043737" cy="1351100"/>
          </a:xfrm>
          <a:prstGeom prst="rect">
            <a:avLst/>
          </a:prstGeom>
        </p:spPr>
      </p:pic>
      <p:sp>
        <p:nvSpPr>
          <p:cNvPr id="3" name="文本框 2"/>
          <p:cNvSpPr txBox="1"/>
          <p:nvPr/>
        </p:nvSpPr>
        <p:spPr>
          <a:xfrm>
            <a:off x="2673927" y="763820"/>
            <a:ext cx="5334000" cy="923330"/>
          </a:xfrm>
          <a:prstGeom prst="rect">
            <a:avLst/>
          </a:prstGeom>
          <a:noFill/>
        </p:spPr>
        <p:txBody>
          <a:bodyPr wrap="square" rtlCol="0">
            <a:spAutoFit/>
          </a:bodyPr>
          <a:lstStyle/>
          <a:p>
            <a:pPr algn="ctr"/>
            <a:r>
              <a:rPr lang="zh-CN" altLang="en-US" sz="5400" b="1" dirty="0" smtClean="0">
                <a:solidFill>
                  <a:srgbClr val="2D0AC2"/>
                </a:solidFill>
                <a:latin typeface="隶书" panose="02010509060101010101" pitchFamily="49" charset="-122"/>
                <a:ea typeface="隶书" panose="02010509060101010101" pitchFamily="49" charset="-122"/>
              </a:rPr>
              <a:t>运行结果</a:t>
            </a:r>
            <a:endParaRPr lang="en-US" sz="5400" b="1" dirty="0">
              <a:solidFill>
                <a:srgbClr val="2D0AC2"/>
              </a:solidFill>
              <a:latin typeface="隶书" panose="02010509060101010101" pitchFamily="49" charset="-122"/>
              <a:ea typeface="隶书" panose="02010509060101010101" pitchFamily="49" charset="-122"/>
            </a:endParaRPr>
          </a:p>
        </p:txBody>
      </p:sp>
      <p:sp>
        <p:nvSpPr>
          <p:cNvPr id="4" name="云形 3"/>
          <p:cNvSpPr/>
          <p:nvPr/>
        </p:nvSpPr>
        <p:spPr bwMode="auto">
          <a:xfrm>
            <a:off x="3577286" y="3353299"/>
            <a:ext cx="6616024" cy="2957559"/>
          </a:xfrm>
          <a:prstGeom prst="cloud">
            <a:avLst/>
          </a:prstGeom>
          <a:solidFill>
            <a:schemeClr val="accent1">
              <a:alpha val="44000"/>
            </a:schemeClr>
          </a:solidFill>
          <a:ln w="9525" cap="flat" cmpd="sng" algn="ctr">
            <a:solidFill>
              <a:srgbClr val="2D0AC2"/>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smtClean="0">
              <a:ln>
                <a:noFill/>
              </a:ln>
              <a:solidFill>
                <a:schemeClr val="tx1"/>
              </a:solidFill>
              <a:effectLst/>
              <a:latin typeface="Arial" panose="020B0604020202020204" pitchFamily="34" charset="0"/>
              <a:ea typeface="隶书" panose="02010509060101010101" pitchFamily="49" charset="-122"/>
            </a:endParaRPr>
          </a:p>
        </p:txBody>
      </p:sp>
      <p:sp>
        <p:nvSpPr>
          <p:cNvPr id="5" name="文本框 4"/>
          <p:cNvSpPr txBox="1"/>
          <p:nvPr/>
        </p:nvSpPr>
        <p:spPr>
          <a:xfrm>
            <a:off x="4613422" y="3954915"/>
            <a:ext cx="4543751" cy="1754326"/>
          </a:xfrm>
          <a:prstGeom prst="rect">
            <a:avLst/>
          </a:prstGeom>
          <a:noFill/>
        </p:spPr>
        <p:txBody>
          <a:bodyPr wrap="square" rtlCol="0">
            <a:spAutoFit/>
          </a:bodyPr>
          <a:lstStyle/>
          <a:p>
            <a:r>
              <a:rPr lang="zh-CN" altLang="en-US" sz="3600" b="1" dirty="0" smtClean="0"/>
              <a:t>        并行程序</a:t>
            </a:r>
            <a:r>
              <a:rPr lang="zh-CN" altLang="en-US" sz="3600" b="1" dirty="0"/>
              <a:t>的</a:t>
            </a:r>
            <a:r>
              <a:rPr lang="zh-CN" altLang="en-US" sz="3600" b="1" dirty="0" smtClean="0"/>
              <a:t>运行时间减少</a:t>
            </a:r>
            <a:r>
              <a:rPr lang="zh-CN" altLang="en-US" sz="3600" b="1" dirty="0"/>
              <a:t>为</a:t>
            </a:r>
            <a:r>
              <a:rPr lang="zh-CN" altLang="en-US" sz="3600" b="1" dirty="0" smtClean="0"/>
              <a:t>之前串行程序的</a:t>
            </a:r>
            <a:r>
              <a:rPr lang="en-US" altLang="zh-CN" sz="3600" b="1" dirty="0" smtClean="0"/>
              <a:t>1/3</a:t>
            </a:r>
            <a:r>
              <a:rPr lang="zh-CN" altLang="en-US" sz="3600" b="1" dirty="0" smtClean="0"/>
              <a:t>！</a:t>
            </a:r>
            <a:endParaRPr lang="en-US" sz="3600" b="1" dirty="0"/>
          </a:p>
        </p:txBody>
      </p:sp>
      <p:sp>
        <p:nvSpPr>
          <p:cNvPr id="6" name="文本框 5"/>
          <p:cNvSpPr txBox="1"/>
          <p:nvPr/>
        </p:nvSpPr>
        <p:spPr>
          <a:xfrm>
            <a:off x="9292085" y="1550068"/>
            <a:ext cx="2580125" cy="1323439"/>
          </a:xfrm>
          <a:prstGeom prst="rect">
            <a:avLst/>
          </a:prstGeom>
          <a:noFill/>
        </p:spPr>
        <p:txBody>
          <a:bodyPr wrap="square" rtlCol="0">
            <a:spAutoFit/>
          </a:bodyPr>
          <a:lstStyle/>
          <a:p>
            <a:r>
              <a:rPr lang="zh-CN" altLang="en-US" sz="4000" b="1" dirty="0" smtClean="0">
                <a:solidFill>
                  <a:srgbClr val="2D0AC2"/>
                </a:solidFill>
                <a:latin typeface="华文行楷" panose="02010800040101010101" pitchFamily="2" charset="-122"/>
                <a:ea typeface="华文行楷" panose="02010800040101010101" pitchFamily="2" charset="-122"/>
              </a:rPr>
              <a:t>简洁实用</a:t>
            </a:r>
            <a:endParaRPr lang="en-US" altLang="zh-CN" sz="4000" b="1" dirty="0" smtClean="0">
              <a:solidFill>
                <a:srgbClr val="2D0AC2"/>
              </a:solidFill>
              <a:latin typeface="华文行楷" panose="02010800040101010101" pitchFamily="2" charset="-122"/>
              <a:ea typeface="华文行楷" panose="02010800040101010101" pitchFamily="2" charset="-122"/>
            </a:endParaRPr>
          </a:p>
          <a:p>
            <a:r>
              <a:rPr lang="zh-CN" altLang="en-US" sz="4000" b="1" dirty="0" smtClean="0">
                <a:solidFill>
                  <a:srgbClr val="2D0AC2"/>
                </a:solidFill>
                <a:latin typeface="华文行楷" panose="02010800040101010101" pitchFamily="2" charset="-122"/>
                <a:ea typeface="华文行楷" panose="02010800040101010101" pitchFamily="2" charset="-122"/>
              </a:rPr>
              <a:t>使用方便</a:t>
            </a:r>
            <a:endParaRPr lang="en-US" sz="4000" b="1" dirty="0">
              <a:solidFill>
                <a:srgbClr val="2D0AC2"/>
              </a:solidFill>
              <a:latin typeface="华文行楷" panose="02010800040101010101" pitchFamily="2" charset="-122"/>
              <a:ea typeface="华文行楷" panose="02010800040101010101" pitchFamily="2" charset="-122"/>
            </a:endParaRPr>
          </a:p>
        </p:txBody>
      </p:sp>
    </p:spTree>
  </p:cSld>
  <p:clrMapOvr>
    <a:masterClrMapping/>
  </p:clrMapOvr>
  <p:transition spd="med" advTm="3025">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ctrTitle"/>
          </p:nvPr>
        </p:nvSpPr>
        <p:spPr>
          <a:xfrm>
            <a:off x="1847850" y="1844675"/>
            <a:ext cx="8610600" cy="990600"/>
          </a:xfrm>
        </p:spPr>
        <p:txBody>
          <a:bodyPr anchor="ctr"/>
          <a:lstStyle/>
          <a:p>
            <a:pPr eaLnBrk="1" hangingPunct="1">
              <a:lnSpc>
                <a:spcPct val="130000"/>
              </a:lnSpc>
            </a:pPr>
            <a:br>
              <a:rPr lang="zh-CN" altLang="en-US" sz="4000" b="1">
                <a:latin typeface="仿宋_GB2312" panose="02010609030101010101" pitchFamily="49" charset="-122"/>
                <a:ea typeface="幼圆" panose="02010509060101010101" pitchFamily="49" charset="-122"/>
              </a:rPr>
            </a:br>
            <a:endParaRPr lang="zh-CN" altLang="en-US" sz="4000" b="1">
              <a:latin typeface="仿宋_GB2312" panose="02010609030101010101" pitchFamily="49" charset="-122"/>
              <a:ea typeface="幼圆" panose="02010509060101010101" pitchFamily="49" charset="-122"/>
            </a:endParaRPr>
          </a:p>
        </p:txBody>
      </p:sp>
      <p:sp>
        <p:nvSpPr>
          <p:cNvPr id="2" name="矩形 1"/>
          <p:cNvSpPr/>
          <p:nvPr/>
        </p:nvSpPr>
        <p:spPr>
          <a:xfrm>
            <a:off x="563692" y="713550"/>
            <a:ext cx="5151621" cy="5262979"/>
          </a:xfrm>
          <a:prstGeom prst="rect">
            <a:avLst/>
          </a:prstGeom>
        </p:spPr>
        <p:txBody>
          <a:bodyPr wrap="square">
            <a:spAutoFit/>
          </a:bodyPr>
          <a:lstStyle/>
          <a:p>
            <a:r>
              <a:rPr lang="en-US" sz="2800" b="1" dirty="0" err="1"/>
              <a:t>int</a:t>
            </a:r>
            <a:r>
              <a:rPr lang="en-US" sz="2800" b="1" dirty="0"/>
              <a:t> main(</a:t>
            </a:r>
            <a:r>
              <a:rPr lang="en-US" sz="2800" b="1" dirty="0" err="1"/>
              <a:t>int</a:t>
            </a:r>
            <a:r>
              <a:rPr lang="en-US" sz="2800" b="1" dirty="0"/>
              <a:t> </a:t>
            </a:r>
            <a:r>
              <a:rPr lang="en-US" sz="2800" b="1" dirty="0" err="1"/>
              <a:t>argc</a:t>
            </a:r>
            <a:r>
              <a:rPr lang="en-US" sz="2800" b="1" dirty="0"/>
              <a:t>, char* </a:t>
            </a:r>
            <a:r>
              <a:rPr lang="en-US" sz="2800" b="1" dirty="0" err="1"/>
              <a:t>argv</a:t>
            </a:r>
            <a:r>
              <a:rPr lang="en-US" sz="2800" b="1" dirty="0"/>
              <a:t>[])</a:t>
            </a:r>
            <a:endParaRPr lang="en-US" sz="2800" b="1" dirty="0"/>
          </a:p>
          <a:p>
            <a:endParaRPr lang="en-US" sz="2800" b="1" dirty="0"/>
          </a:p>
          <a:p>
            <a:r>
              <a:rPr lang="en-US" sz="2800" b="1" dirty="0" smtClean="0"/>
              <a:t>{  </a:t>
            </a:r>
            <a:r>
              <a:rPr lang="en-US" sz="2800" b="1" dirty="0" smtClean="0">
                <a:solidFill>
                  <a:srgbClr val="C00000"/>
                </a:solidFill>
              </a:rPr>
              <a:t>#</a:t>
            </a:r>
            <a:r>
              <a:rPr lang="en-US" sz="2800" b="1" dirty="0">
                <a:solidFill>
                  <a:srgbClr val="C00000"/>
                </a:solidFill>
              </a:rPr>
              <a:t>pragma </a:t>
            </a:r>
            <a:r>
              <a:rPr lang="en-US" sz="2800" b="1" dirty="0" err="1">
                <a:solidFill>
                  <a:srgbClr val="C00000"/>
                </a:solidFill>
              </a:rPr>
              <a:t>omp</a:t>
            </a:r>
            <a:r>
              <a:rPr lang="en-US" sz="2800" b="1" dirty="0">
                <a:solidFill>
                  <a:srgbClr val="C00000"/>
                </a:solidFill>
              </a:rPr>
              <a:t> parallel for</a:t>
            </a:r>
            <a:endParaRPr lang="en-US" sz="2800" b="1" dirty="0">
              <a:solidFill>
                <a:srgbClr val="C00000"/>
              </a:solidFill>
            </a:endParaRPr>
          </a:p>
          <a:p>
            <a:endParaRPr lang="en-US" sz="2800" b="1" dirty="0"/>
          </a:p>
          <a:p>
            <a:r>
              <a:rPr lang="en-US" sz="2800" b="1" dirty="0"/>
              <a:t>     for (</a:t>
            </a:r>
            <a:r>
              <a:rPr lang="en-US" sz="2800" b="1" dirty="0" err="1"/>
              <a:t>int</a:t>
            </a:r>
            <a:r>
              <a:rPr lang="en-US" sz="2800" b="1" dirty="0"/>
              <a:t> </a:t>
            </a:r>
            <a:r>
              <a:rPr lang="en-US" sz="2800" b="1" dirty="0" err="1"/>
              <a:t>i</a:t>
            </a:r>
            <a:r>
              <a:rPr lang="en-US" sz="2800" b="1" dirty="0"/>
              <a:t> = 0; </a:t>
            </a:r>
            <a:r>
              <a:rPr lang="en-US" sz="2800" b="1" dirty="0" err="1"/>
              <a:t>i</a:t>
            </a:r>
            <a:r>
              <a:rPr lang="en-US" sz="2800" b="1" dirty="0"/>
              <a:t> &lt; 10; </a:t>
            </a:r>
            <a:r>
              <a:rPr lang="en-US" sz="2800" b="1" dirty="0" err="1"/>
              <a:t>i</a:t>
            </a:r>
            <a:r>
              <a:rPr lang="en-US" sz="2800" b="1" dirty="0"/>
              <a:t>++ )</a:t>
            </a:r>
            <a:endParaRPr lang="en-US" sz="2800" b="1" dirty="0"/>
          </a:p>
          <a:p>
            <a:endParaRPr lang="en-US" sz="2800" b="1" dirty="0"/>
          </a:p>
          <a:p>
            <a:r>
              <a:rPr lang="en-US" sz="2800" b="1" dirty="0"/>
              <a:t>     </a:t>
            </a:r>
            <a:r>
              <a:rPr lang="en-US" sz="2800" b="1" dirty="0" err="1" smtClean="0"/>
              <a:t>printf</a:t>
            </a:r>
            <a:r>
              <a:rPr lang="en-US" sz="2800" b="1" dirty="0"/>
              <a:t>("</a:t>
            </a:r>
            <a:r>
              <a:rPr lang="en-US" sz="2800" b="1" dirty="0" err="1"/>
              <a:t>i</a:t>
            </a:r>
            <a:r>
              <a:rPr lang="en-US" sz="2800" b="1" dirty="0"/>
              <a:t> = %</a:t>
            </a:r>
            <a:r>
              <a:rPr lang="en-US" sz="2800" b="1" dirty="0" smtClean="0"/>
              <a:t>d\n</a:t>
            </a:r>
            <a:r>
              <a:rPr lang="en-US" sz="2800" b="1" dirty="0"/>
              <a:t>", </a:t>
            </a:r>
            <a:r>
              <a:rPr lang="en-US" sz="2800" b="1" dirty="0" err="1"/>
              <a:t>i</a:t>
            </a:r>
            <a:r>
              <a:rPr lang="en-US" sz="2800" b="1" dirty="0" smtClean="0"/>
              <a:t>);</a:t>
            </a:r>
            <a:endParaRPr lang="en-US" sz="2800" b="1" dirty="0"/>
          </a:p>
          <a:p>
            <a:endParaRPr lang="en-US" sz="2800" b="1" dirty="0"/>
          </a:p>
          <a:p>
            <a:r>
              <a:rPr lang="en-US" sz="2800" b="1" dirty="0"/>
              <a:t>     return 0;</a:t>
            </a:r>
            <a:endParaRPr lang="en-US" sz="2800" b="1" dirty="0"/>
          </a:p>
          <a:p>
            <a:endParaRPr lang="en-US" sz="2800" b="1" dirty="0"/>
          </a:p>
          <a:p>
            <a:r>
              <a:rPr lang="en-US" sz="2800" b="1" dirty="0" smtClean="0"/>
              <a:t>}</a:t>
            </a:r>
            <a:endParaRPr lang="en-US" sz="2800" b="1" dirty="0" smtClean="0"/>
          </a:p>
          <a:p>
            <a:endParaRPr lang="en-US" sz="2800" b="1" dirty="0"/>
          </a:p>
        </p:txBody>
      </p:sp>
      <p:sp>
        <p:nvSpPr>
          <p:cNvPr id="3" name="矩形 2"/>
          <p:cNvSpPr/>
          <p:nvPr/>
        </p:nvSpPr>
        <p:spPr>
          <a:xfrm>
            <a:off x="5875521" y="498106"/>
            <a:ext cx="1044314" cy="5940088"/>
          </a:xfrm>
          <a:prstGeom prst="rect">
            <a:avLst/>
          </a:prstGeom>
        </p:spPr>
        <p:txBody>
          <a:bodyPr wrap="square">
            <a:spAutoFit/>
          </a:bodyPr>
          <a:lstStyle/>
          <a:p>
            <a:r>
              <a:rPr lang="nn-NO" sz="2000" b="1" dirty="0"/>
              <a:t>i = 0</a:t>
            </a:r>
            <a:endParaRPr lang="nn-NO" sz="2000" b="1" dirty="0"/>
          </a:p>
          <a:p>
            <a:endParaRPr lang="nn-NO" sz="2000" b="1" dirty="0"/>
          </a:p>
          <a:p>
            <a:r>
              <a:rPr lang="nn-NO" sz="2000" b="1" dirty="0"/>
              <a:t>i = 5</a:t>
            </a:r>
            <a:endParaRPr lang="nn-NO" sz="2000" b="1" dirty="0"/>
          </a:p>
          <a:p>
            <a:endParaRPr lang="nn-NO" sz="2000" b="1" dirty="0"/>
          </a:p>
          <a:p>
            <a:r>
              <a:rPr lang="nn-NO" sz="2000" b="1" dirty="0"/>
              <a:t>i = 1</a:t>
            </a:r>
            <a:endParaRPr lang="nn-NO" sz="2000" b="1" dirty="0"/>
          </a:p>
          <a:p>
            <a:endParaRPr lang="nn-NO" sz="2000" b="1" dirty="0"/>
          </a:p>
          <a:p>
            <a:r>
              <a:rPr lang="nn-NO" sz="2000" b="1" dirty="0"/>
              <a:t>i = 6</a:t>
            </a:r>
            <a:endParaRPr lang="nn-NO" sz="2000" b="1" dirty="0"/>
          </a:p>
          <a:p>
            <a:endParaRPr lang="nn-NO" sz="2000" b="1" dirty="0"/>
          </a:p>
          <a:p>
            <a:r>
              <a:rPr lang="nn-NO" sz="2000" b="1" dirty="0"/>
              <a:t>i = 2</a:t>
            </a:r>
            <a:endParaRPr lang="nn-NO" sz="2000" b="1" dirty="0"/>
          </a:p>
          <a:p>
            <a:endParaRPr lang="nn-NO" sz="2000" b="1" dirty="0"/>
          </a:p>
          <a:p>
            <a:r>
              <a:rPr lang="nn-NO" sz="2000" b="1" dirty="0"/>
              <a:t>i = 7</a:t>
            </a:r>
            <a:endParaRPr lang="nn-NO" sz="2000" b="1" dirty="0"/>
          </a:p>
          <a:p>
            <a:endParaRPr lang="nn-NO" sz="2000" b="1" dirty="0"/>
          </a:p>
          <a:p>
            <a:r>
              <a:rPr lang="nn-NO" sz="2000" b="1" dirty="0"/>
              <a:t>i = 3</a:t>
            </a:r>
            <a:endParaRPr lang="nn-NO" sz="2000" b="1" dirty="0"/>
          </a:p>
          <a:p>
            <a:endParaRPr lang="nn-NO" sz="2000" b="1" dirty="0"/>
          </a:p>
          <a:p>
            <a:r>
              <a:rPr lang="nn-NO" sz="2000" b="1" dirty="0"/>
              <a:t>i = 8</a:t>
            </a:r>
            <a:endParaRPr lang="nn-NO" sz="2000" b="1" dirty="0"/>
          </a:p>
          <a:p>
            <a:endParaRPr lang="nn-NO" sz="2000" b="1" dirty="0"/>
          </a:p>
          <a:p>
            <a:r>
              <a:rPr lang="nn-NO" sz="2000" b="1" dirty="0"/>
              <a:t>i = 4</a:t>
            </a:r>
            <a:endParaRPr lang="nn-NO" sz="2000" b="1" dirty="0"/>
          </a:p>
          <a:p>
            <a:endParaRPr lang="nn-NO" sz="2000" b="1" dirty="0"/>
          </a:p>
          <a:p>
            <a:r>
              <a:rPr lang="nn-NO" sz="2000" b="1" dirty="0"/>
              <a:t>i = 9</a:t>
            </a:r>
            <a:endParaRPr lang="en-US" sz="2000" b="1" dirty="0"/>
          </a:p>
        </p:txBody>
      </p:sp>
      <p:sp>
        <p:nvSpPr>
          <p:cNvPr id="5" name="文本框 4"/>
          <p:cNvSpPr txBox="1"/>
          <p:nvPr/>
        </p:nvSpPr>
        <p:spPr>
          <a:xfrm>
            <a:off x="7240250" y="713550"/>
            <a:ext cx="4841822" cy="5509200"/>
          </a:xfrm>
          <a:prstGeom prst="rect">
            <a:avLst/>
          </a:prstGeom>
          <a:noFill/>
        </p:spPr>
        <p:txBody>
          <a:bodyPr wrap="square" rtlCol="0">
            <a:spAutoFit/>
          </a:bodyPr>
          <a:lstStyle/>
          <a:p>
            <a:pPr marL="457200" indent="-457200">
              <a:buFont typeface="Courier New" panose="02070309020205020404" pitchFamily="49" charset="0"/>
              <a:buChar char="o"/>
            </a:pPr>
            <a:r>
              <a:rPr lang="zh-CN" altLang="en-US" sz="3200" b="1" dirty="0" smtClean="0">
                <a:solidFill>
                  <a:srgbClr val="2D0AC2"/>
                </a:solidFill>
                <a:latin typeface="华文行楷" panose="02010800040101010101" pitchFamily="2" charset="-122"/>
                <a:ea typeface="华文行楷" panose="02010800040101010101" pitchFamily="2" charset="-122"/>
              </a:rPr>
              <a:t>双核</a:t>
            </a:r>
            <a:r>
              <a:rPr lang="en-US" altLang="zh-CN" sz="3200" b="1" dirty="0" smtClean="0">
                <a:solidFill>
                  <a:srgbClr val="2D0AC2"/>
                </a:solidFill>
                <a:latin typeface="+mj-lt"/>
                <a:ea typeface="华文行楷" panose="02010800040101010101" pitchFamily="2" charset="-122"/>
              </a:rPr>
              <a:t>CPU</a:t>
            </a:r>
            <a:r>
              <a:rPr lang="zh-CN" altLang="en-US" sz="3200" b="1" dirty="0" smtClean="0">
                <a:solidFill>
                  <a:srgbClr val="2D0AC2"/>
                </a:solidFill>
                <a:latin typeface="华文行楷" panose="02010800040101010101" pitchFamily="2" charset="-122"/>
                <a:ea typeface="华文行楷" panose="02010800040101010101" pitchFamily="2" charset="-122"/>
              </a:rPr>
              <a:t>上的运行结果，每次可能不同</a:t>
            </a:r>
            <a:endParaRPr lang="en-US" altLang="zh-CN" sz="3200" b="1" dirty="0" smtClean="0">
              <a:solidFill>
                <a:srgbClr val="2D0AC2"/>
              </a:solidFill>
              <a:latin typeface="华文行楷" panose="02010800040101010101" pitchFamily="2" charset="-122"/>
              <a:ea typeface="华文行楷" panose="02010800040101010101" pitchFamily="2" charset="-122"/>
            </a:endParaRPr>
          </a:p>
          <a:p>
            <a:pPr marL="457200" indent="-457200">
              <a:buFont typeface="Courier New" panose="02070309020205020404" pitchFamily="49" charset="0"/>
              <a:buChar char="o"/>
            </a:pPr>
            <a:r>
              <a:rPr lang="en-US" altLang="zh-CN" sz="3200" b="1" dirty="0" smtClean="0">
                <a:solidFill>
                  <a:srgbClr val="2D0AC2"/>
                </a:solidFill>
                <a:latin typeface="+mj-lt"/>
                <a:ea typeface="华文行楷" panose="02010800040101010101" pitchFamily="2" charset="-122"/>
              </a:rPr>
              <a:t>#</a:t>
            </a:r>
            <a:r>
              <a:rPr lang="en-US" altLang="zh-CN" sz="3200" b="1" dirty="0">
                <a:solidFill>
                  <a:srgbClr val="2D0AC2"/>
                </a:solidFill>
                <a:latin typeface="+mj-lt"/>
                <a:ea typeface="华文行楷" panose="02010800040101010101" pitchFamily="2" charset="-122"/>
              </a:rPr>
              <a:t>pragma </a:t>
            </a:r>
            <a:r>
              <a:rPr lang="en-US" altLang="zh-CN" sz="3200" b="1" dirty="0" err="1">
                <a:solidFill>
                  <a:srgbClr val="2D0AC2"/>
                </a:solidFill>
                <a:latin typeface="+mj-lt"/>
                <a:ea typeface="华文行楷" panose="02010800040101010101" pitchFamily="2" charset="-122"/>
              </a:rPr>
              <a:t>omp</a:t>
            </a:r>
            <a:r>
              <a:rPr lang="en-US" altLang="zh-CN" sz="3200" b="1" dirty="0">
                <a:solidFill>
                  <a:srgbClr val="2D0AC2"/>
                </a:solidFill>
                <a:latin typeface="+mj-lt"/>
                <a:ea typeface="华文行楷" panose="02010800040101010101" pitchFamily="2" charset="-122"/>
              </a:rPr>
              <a:t> parallel for </a:t>
            </a:r>
            <a:r>
              <a:rPr lang="zh-CN" altLang="en-US" sz="3200" b="1" dirty="0">
                <a:solidFill>
                  <a:srgbClr val="2D0AC2"/>
                </a:solidFill>
                <a:latin typeface="华文行楷" panose="02010800040101010101" pitchFamily="2" charset="-122"/>
                <a:ea typeface="华文行楷" panose="02010800040101010101" pitchFamily="2" charset="-122"/>
              </a:rPr>
              <a:t>这条语句是用来指定后面的</a:t>
            </a:r>
            <a:r>
              <a:rPr lang="en-US" altLang="zh-CN" sz="3200" b="1" dirty="0">
                <a:solidFill>
                  <a:srgbClr val="2D0AC2"/>
                </a:solidFill>
                <a:latin typeface="华文行楷" panose="02010800040101010101" pitchFamily="2" charset="-122"/>
                <a:ea typeface="华文行楷" panose="02010800040101010101" pitchFamily="2" charset="-122"/>
              </a:rPr>
              <a:t>for</a:t>
            </a:r>
            <a:r>
              <a:rPr lang="zh-CN" altLang="en-US" sz="3200" b="1" dirty="0">
                <a:solidFill>
                  <a:srgbClr val="2D0AC2"/>
                </a:solidFill>
                <a:latin typeface="华文行楷" panose="02010800040101010101" pitchFamily="2" charset="-122"/>
                <a:ea typeface="华文行楷" panose="02010800040101010101" pitchFamily="2" charset="-122"/>
              </a:rPr>
              <a:t>循环语句变成并行执行的，当然</a:t>
            </a:r>
            <a:r>
              <a:rPr lang="en-US" altLang="zh-CN" sz="3200" b="1" dirty="0">
                <a:solidFill>
                  <a:srgbClr val="2D0AC2"/>
                </a:solidFill>
                <a:latin typeface="华文行楷" panose="02010800040101010101" pitchFamily="2" charset="-122"/>
                <a:ea typeface="华文行楷" panose="02010800040101010101" pitchFamily="2" charset="-122"/>
              </a:rPr>
              <a:t>for</a:t>
            </a:r>
            <a:r>
              <a:rPr lang="zh-CN" altLang="en-US" sz="3200" b="1" dirty="0">
                <a:solidFill>
                  <a:srgbClr val="2D0AC2"/>
                </a:solidFill>
                <a:latin typeface="华文行楷" panose="02010800040101010101" pitchFamily="2" charset="-122"/>
                <a:ea typeface="华文行楷" panose="02010800040101010101" pitchFamily="2" charset="-122"/>
              </a:rPr>
              <a:t>循环里的内容必须满足可以并行执行，即每次循环互不相干，后一次循环不依赖于前面的循环。</a:t>
            </a:r>
            <a:endParaRPr lang="en-US" sz="3200" b="1" dirty="0">
              <a:solidFill>
                <a:srgbClr val="2D0AC2"/>
              </a:solidFill>
              <a:latin typeface="华文行楷" panose="02010800040101010101" pitchFamily="2" charset="-122"/>
              <a:ea typeface="华文行楷" panose="02010800040101010101" pitchFamily="2" charset="-122"/>
            </a:endParaRPr>
          </a:p>
        </p:txBody>
      </p:sp>
    </p:spTree>
  </p:cSld>
  <p:clrMapOvr>
    <a:masterClrMapping/>
  </p:clrMapOvr>
  <p:transition spd="med" advTm="3025">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99672" y="810029"/>
            <a:ext cx="5001718" cy="3108543"/>
          </a:xfrm>
          <a:prstGeom prst="rect">
            <a:avLst/>
          </a:prstGeom>
        </p:spPr>
        <p:txBody>
          <a:bodyPr wrap="square">
            <a:spAutoFit/>
          </a:bodyPr>
          <a:lstStyle/>
          <a:p>
            <a:r>
              <a:rPr lang="en-US" sz="2800" b="1" dirty="0"/>
              <a:t>void main(</a:t>
            </a:r>
            <a:r>
              <a:rPr lang="en-US" sz="2800" b="1" dirty="0" err="1"/>
              <a:t>int</a:t>
            </a:r>
            <a:r>
              <a:rPr lang="en-US" sz="2800" b="1" dirty="0"/>
              <a:t> </a:t>
            </a:r>
            <a:r>
              <a:rPr lang="en-US" sz="2800" b="1" dirty="0" err="1"/>
              <a:t>argc</a:t>
            </a:r>
            <a:r>
              <a:rPr lang="en-US" sz="2800" b="1" dirty="0"/>
              <a:t>, char *</a:t>
            </a:r>
            <a:r>
              <a:rPr lang="en-US" sz="2800" b="1" dirty="0" err="1"/>
              <a:t>argv</a:t>
            </a:r>
            <a:r>
              <a:rPr lang="en-US" sz="2800" b="1" dirty="0" smtClean="0"/>
              <a:t>[])</a:t>
            </a:r>
            <a:endParaRPr lang="en-US" sz="2800" b="1" dirty="0" smtClean="0"/>
          </a:p>
          <a:p>
            <a:r>
              <a:rPr lang="en-US" sz="2800" b="1" dirty="0" smtClean="0"/>
              <a:t> {</a:t>
            </a:r>
            <a:endParaRPr lang="en-US" sz="2800" b="1" dirty="0"/>
          </a:p>
          <a:p>
            <a:r>
              <a:rPr lang="en-US" sz="2800" b="1" dirty="0" smtClean="0"/>
              <a:t>    </a:t>
            </a:r>
            <a:r>
              <a:rPr lang="en-US" sz="2800" b="1" dirty="0" smtClean="0">
                <a:solidFill>
                  <a:srgbClr val="C00000"/>
                </a:solidFill>
              </a:rPr>
              <a:t>#</a:t>
            </a:r>
            <a:r>
              <a:rPr lang="en-US" sz="2800" b="1" dirty="0">
                <a:solidFill>
                  <a:srgbClr val="C00000"/>
                </a:solidFill>
              </a:rPr>
              <a:t>pragma </a:t>
            </a:r>
            <a:r>
              <a:rPr lang="en-US" sz="2800" b="1" dirty="0" err="1">
                <a:solidFill>
                  <a:srgbClr val="C00000"/>
                </a:solidFill>
              </a:rPr>
              <a:t>omp</a:t>
            </a:r>
            <a:r>
              <a:rPr lang="en-US" sz="2800" b="1" dirty="0">
                <a:solidFill>
                  <a:srgbClr val="C00000"/>
                </a:solidFill>
              </a:rPr>
              <a:t> parallel </a:t>
            </a:r>
            <a:endParaRPr lang="en-US" sz="2800" b="1" dirty="0">
              <a:solidFill>
                <a:srgbClr val="C00000"/>
              </a:solidFill>
            </a:endParaRPr>
          </a:p>
          <a:p>
            <a:r>
              <a:rPr lang="en-US" sz="2800" b="1" dirty="0" smtClean="0">
                <a:solidFill>
                  <a:srgbClr val="C00000"/>
                </a:solidFill>
              </a:rPr>
              <a:t>     {</a:t>
            </a:r>
            <a:endParaRPr lang="en-US" sz="2800" b="1" dirty="0">
              <a:solidFill>
                <a:srgbClr val="C00000"/>
              </a:solidFill>
            </a:endParaRPr>
          </a:p>
          <a:p>
            <a:r>
              <a:rPr lang="en-US" sz="2800" b="1" dirty="0" smtClean="0"/>
              <a:t>         </a:t>
            </a:r>
            <a:r>
              <a:rPr lang="en-US" sz="2800" b="1" dirty="0" err="1" smtClean="0"/>
              <a:t>printf</a:t>
            </a:r>
            <a:r>
              <a:rPr lang="en-US" sz="2800" b="1" dirty="0"/>
              <a:t>(“Hello, </a:t>
            </a:r>
            <a:r>
              <a:rPr lang="en-US" sz="2800" b="1" dirty="0" smtClean="0"/>
              <a:t>World!\n”);</a:t>
            </a:r>
            <a:endParaRPr lang="en-US" sz="2800" b="1" dirty="0"/>
          </a:p>
          <a:p>
            <a:r>
              <a:rPr lang="en-US" sz="2800" b="1" dirty="0" smtClean="0">
                <a:solidFill>
                  <a:srgbClr val="C00000"/>
                </a:solidFill>
              </a:rPr>
              <a:t>      }</a:t>
            </a:r>
            <a:endParaRPr lang="en-US" sz="2800" b="1" dirty="0">
              <a:solidFill>
                <a:srgbClr val="C00000"/>
              </a:solidFill>
            </a:endParaRPr>
          </a:p>
          <a:p>
            <a:r>
              <a:rPr lang="en-US" sz="2800" b="1" dirty="0" smtClean="0"/>
              <a:t>  }</a:t>
            </a:r>
            <a:endParaRPr lang="en-US" sz="2800" b="1" dirty="0"/>
          </a:p>
        </p:txBody>
      </p:sp>
      <p:sp>
        <p:nvSpPr>
          <p:cNvPr id="4" name="文本框 3"/>
          <p:cNvSpPr txBox="1"/>
          <p:nvPr/>
        </p:nvSpPr>
        <p:spPr>
          <a:xfrm>
            <a:off x="6265888" y="659568"/>
            <a:ext cx="5306517" cy="55092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wrap="square" rtlCol="0">
            <a:spAutoFit/>
          </a:bodyPr>
          <a:lstStyle/>
          <a:p>
            <a:r>
              <a:rPr lang="en-US" sz="2800" dirty="0"/>
              <a:t>Hello, World!</a:t>
            </a:r>
            <a:endParaRPr lang="en-US" sz="2800" dirty="0"/>
          </a:p>
          <a:p>
            <a:endParaRPr lang="en-US" sz="2800" dirty="0"/>
          </a:p>
          <a:p>
            <a:r>
              <a:rPr lang="en-US" sz="2800" dirty="0"/>
              <a:t>Hello, World!</a:t>
            </a:r>
            <a:endParaRPr lang="en-US" sz="2800" dirty="0"/>
          </a:p>
          <a:p>
            <a:endParaRPr lang="en-US" sz="2800" dirty="0"/>
          </a:p>
          <a:p>
            <a:r>
              <a:rPr lang="en-US" sz="2800" dirty="0"/>
              <a:t>Hello, World!</a:t>
            </a:r>
            <a:endParaRPr lang="en-US" sz="2800" dirty="0"/>
          </a:p>
          <a:p>
            <a:endParaRPr lang="en-US" sz="2800" dirty="0"/>
          </a:p>
          <a:p>
            <a:r>
              <a:rPr lang="en-US" sz="2800" dirty="0"/>
              <a:t>Hello, World!</a:t>
            </a:r>
            <a:endParaRPr lang="en-US" sz="2800" dirty="0"/>
          </a:p>
          <a:p>
            <a:endParaRPr lang="en-US" sz="2800" dirty="0"/>
          </a:p>
          <a:p>
            <a:r>
              <a:rPr lang="zh-CN" altLang="en-US" sz="3200" b="1" dirty="0">
                <a:solidFill>
                  <a:srgbClr val="2D0AC2"/>
                </a:solidFill>
              </a:rPr>
              <a:t>可以看得出</a:t>
            </a:r>
            <a:r>
              <a:rPr lang="en-US" sz="3200" b="1" dirty="0">
                <a:solidFill>
                  <a:srgbClr val="2D0AC2"/>
                </a:solidFill>
              </a:rPr>
              <a:t>parallel</a:t>
            </a:r>
            <a:r>
              <a:rPr lang="zh-CN" altLang="en-US" sz="3200" b="1" dirty="0">
                <a:solidFill>
                  <a:srgbClr val="2D0AC2"/>
                </a:solidFill>
              </a:rPr>
              <a:t>语句中的代码被执行了四次，说明总共创建了</a:t>
            </a:r>
            <a:r>
              <a:rPr lang="en-US" altLang="zh-CN" sz="3200" b="1" dirty="0">
                <a:solidFill>
                  <a:srgbClr val="2D0AC2"/>
                </a:solidFill>
              </a:rPr>
              <a:t>4</a:t>
            </a:r>
            <a:r>
              <a:rPr lang="zh-CN" altLang="en-US" sz="3200" b="1" dirty="0">
                <a:solidFill>
                  <a:srgbClr val="2D0AC2"/>
                </a:solidFill>
              </a:rPr>
              <a:t>个线程去执行</a:t>
            </a:r>
            <a:r>
              <a:rPr lang="en-US" sz="3200" b="1" dirty="0">
                <a:solidFill>
                  <a:srgbClr val="2D0AC2"/>
                </a:solidFill>
              </a:rPr>
              <a:t>parallel</a:t>
            </a:r>
            <a:r>
              <a:rPr lang="zh-CN" altLang="en-US" sz="3200" b="1" dirty="0">
                <a:solidFill>
                  <a:srgbClr val="2D0AC2"/>
                </a:solidFill>
              </a:rPr>
              <a:t>语句中的代码。</a:t>
            </a:r>
            <a:endParaRPr lang="en-US" sz="3200" b="1" dirty="0">
              <a:solidFill>
                <a:srgbClr val="2D0AC2"/>
              </a:solidFill>
            </a:endParaRPr>
          </a:p>
        </p:txBody>
      </p:sp>
    </p:spTree>
  </p:cSld>
  <p:clrMapOvr>
    <a:masterClrMapping/>
  </p:clrMapOvr>
  <p:transition spd="med" advTm="3025">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04604" y="791450"/>
            <a:ext cx="7220262" cy="4401205"/>
          </a:xfrm>
          <a:prstGeom prst="rect">
            <a:avLst/>
          </a:prstGeom>
        </p:spPr>
        <p:txBody>
          <a:bodyPr wrap="square">
            <a:spAutoFit/>
          </a:bodyPr>
          <a:lstStyle/>
          <a:p>
            <a:r>
              <a:rPr lang="en-US" sz="2800" b="1" dirty="0"/>
              <a:t>void main(</a:t>
            </a:r>
            <a:r>
              <a:rPr lang="en-US" sz="2800" b="1" dirty="0" err="1"/>
              <a:t>int</a:t>
            </a:r>
            <a:r>
              <a:rPr lang="en-US" sz="2800" b="1" dirty="0"/>
              <a:t> </a:t>
            </a:r>
            <a:r>
              <a:rPr lang="en-US" sz="2800" b="1" dirty="0" err="1"/>
              <a:t>argc</a:t>
            </a:r>
            <a:r>
              <a:rPr lang="en-US" sz="2800" b="1" dirty="0"/>
              <a:t>, char *</a:t>
            </a:r>
            <a:r>
              <a:rPr lang="en-US" sz="2800" b="1" dirty="0" err="1"/>
              <a:t>argv</a:t>
            </a:r>
            <a:r>
              <a:rPr lang="en-US" sz="2800" b="1" dirty="0" smtClean="0"/>
              <a:t>[])</a:t>
            </a:r>
            <a:endParaRPr lang="en-US" sz="2800" b="1" dirty="0" smtClean="0"/>
          </a:p>
          <a:p>
            <a:r>
              <a:rPr lang="en-US" sz="2800" b="1" dirty="0" smtClean="0"/>
              <a:t> { </a:t>
            </a:r>
            <a:r>
              <a:rPr lang="en-US" sz="2800" b="1" dirty="0" smtClean="0">
                <a:solidFill>
                  <a:srgbClr val="C00000"/>
                </a:solidFill>
              </a:rPr>
              <a:t>#</a:t>
            </a:r>
            <a:r>
              <a:rPr lang="en-US" sz="2800" b="1" dirty="0">
                <a:solidFill>
                  <a:srgbClr val="C00000"/>
                </a:solidFill>
              </a:rPr>
              <a:t>pragma </a:t>
            </a:r>
            <a:r>
              <a:rPr lang="en-US" sz="2800" b="1" dirty="0" err="1">
                <a:solidFill>
                  <a:srgbClr val="C00000"/>
                </a:solidFill>
              </a:rPr>
              <a:t>omp</a:t>
            </a:r>
            <a:r>
              <a:rPr lang="en-US" sz="2800" b="1" dirty="0">
                <a:solidFill>
                  <a:srgbClr val="C00000"/>
                </a:solidFill>
              </a:rPr>
              <a:t> parallel </a:t>
            </a:r>
            <a:r>
              <a:rPr lang="en-US" sz="2800" b="1" dirty="0" err="1">
                <a:solidFill>
                  <a:srgbClr val="C00000"/>
                </a:solidFill>
              </a:rPr>
              <a:t>num_threads</a:t>
            </a:r>
            <a:r>
              <a:rPr lang="en-US" sz="2800" b="1" dirty="0">
                <a:solidFill>
                  <a:srgbClr val="C00000"/>
                </a:solidFill>
              </a:rPr>
              <a:t>(8</a:t>
            </a:r>
            <a:r>
              <a:rPr lang="en-US" sz="2800" b="1" dirty="0" smtClean="0">
                <a:solidFill>
                  <a:srgbClr val="C00000"/>
                </a:solidFill>
              </a:rPr>
              <a:t>)</a:t>
            </a:r>
            <a:endParaRPr lang="en-US" sz="2800" b="1" dirty="0">
              <a:solidFill>
                <a:srgbClr val="C00000"/>
              </a:solidFill>
            </a:endParaRPr>
          </a:p>
          <a:p>
            <a:r>
              <a:rPr lang="en-US" sz="2800" b="1" dirty="0" smtClean="0"/>
              <a:t>       </a:t>
            </a:r>
            <a:r>
              <a:rPr lang="en-US" sz="2800" b="1" dirty="0" smtClean="0">
                <a:solidFill>
                  <a:srgbClr val="C00000"/>
                </a:solidFill>
              </a:rPr>
              <a:t>{ </a:t>
            </a:r>
            <a:r>
              <a:rPr lang="en-US" sz="2800" b="1" dirty="0" smtClean="0"/>
              <a:t>  </a:t>
            </a:r>
            <a:r>
              <a:rPr lang="en-US" sz="2800" b="1" dirty="0" err="1"/>
              <a:t>printf</a:t>
            </a:r>
            <a:r>
              <a:rPr lang="en-US" sz="2800" b="1" dirty="0"/>
              <a:t>(“Hello, World!, </a:t>
            </a:r>
            <a:r>
              <a:rPr lang="en-US" sz="2800" b="1" dirty="0" smtClean="0"/>
              <a:t> </a:t>
            </a:r>
            <a:r>
              <a:rPr lang="en-US" sz="2800" b="1" dirty="0" err="1" smtClean="0">
                <a:solidFill>
                  <a:srgbClr val="2D0AC2"/>
                </a:solidFill>
              </a:rPr>
              <a:t>ThreadId</a:t>
            </a:r>
            <a:r>
              <a:rPr lang="en-US" sz="2800" b="1" dirty="0">
                <a:solidFill>
                  <a:srgbClr val="2D0AC2"/>
                </a:solidFill>
              </a:rPr>
              <a:t>=%</a:t>
            </a:r>
            <a:r>
              <a:rPr lang="en-US" sz="2800" b="1" dirty="0" smtClean="0">
                <a:solidFill>
                  <a:srgbClr val="2D0AC2"/>
                </a:solidFill>
              </a:rPr>
              <a:t>d</a:t>
            </a:r>
            <a:r>
              <a:rPr lang="en-US" sz="2800" b="1" dirty="0"/>
              <a:t>\</a:t>
            </a:r>
            <a:r>
              <a:rPr lang="en-US" sz="2800" b="1" dirty="0" smtClean="0"/>
              <a:t>n</a:t>
            </a:r>
            <a:r>
              <a:rPr lang="en-US" sz="2800" b="1" dirty="0"/>
              <a:t>”, </a:t>
            </a:r>
            <a:r>
              <a:rPr lang="en-US" sz="2800" b="1" dirty="0" smtClean="0"/>
              <a:t>   </a:t>
            </a:r>
            <a:r>
              <a:rPr lang="en-US" sz="2800" b="1" dirty="0" err="1" smtClean="0">
                <a:solidFill>
                  <a:srgbClr val="2D0AC2"/>
                </a:solidFill>
              </a:rPr>
              <a:t>omp_get_thread_num</a:t>
            </a:r>
            <a:r>
              <a:rPr lang="en-US" sz="2800" b="1" dirty="0" smtClean="0">
                <a:solidFill>
                  <a:srgbClr val="2D0AC2"/>
                </a:solidFill>
              </a:rPr>
              <a:t>( )</a:t>
            </a:r>
            <a:r>
              <a:rPr lang="en-US" sz="2800" b="1" dirty="0" smtClean="0"/>
              <a:t> );</a:t>
            </a:r>
            <a:endParaRPr lang="en-US" sz="2800" b="1" dirty="0"/>
          </a:p>
          <a:p>
            <a:r>
              <a:rPr lang="en-US" sz="2800" b="1" dirty="0" smtClean="0"/>
              <a:t>       </a:t>
            </a:r>
            <a:r>
              <a:rPr lang="en-US" sz="2800" b="1" dirty="0" smtClean="0">
                <a:solidFill>
                  <a:srgbClr val="C00000"/>
                </a:solidFill>
              </a:rPr>
              <a:t>}</a:t>
            </a:r>
            <a:endParaRPr lang="en-US" sz="2800" b="1" dirty="0">
              <a:solidFill>
                <a:srgbClr val="C00000"/>
              </a:solidFill>
            </a:endParaRPr>
          </a:p>
          <a:p>
            <a:r>
              <a:rPr lang="en-US" sz="2800" b="1" dirty="0" smtClean="0"/>
              <a:t>}</a:t>
            </a:r>
            <a:endParaRPr lang="en-US" sz="2800" b="1" dirty="0" smtClean="0"/>
          </a:p>
          <a:p>
            <a:endParaRPr lang="en-US" sz="2800" b="1" dirty="0"/>
          </a:p>
          <a:p>
            <a:pPr marL="457200" indent="-457200">
              <a:buFont typeface="Wingdings" panose="05000000000000000000" pitchFamily="2" charset="2"/>
              <a:buChar char="ü"/>
            </a:pPr>
            <a:r>
              <a:rPr lang="zh-CN" altLang="en-US" sz="2800" b="1" dirty="0">
                <a:solidFill>
                  <a:srgbClr val="6A247A"/>
                </a:solidFill>
              </a:rPr>
              <a:t>可以</a:t>
            </a:r>
            <a:r>
              <a:rPr lang="zh-CN" altLang="en-US" sz="2800" b="1" dirty="0" smtClean="0">
                <a:solidFill>
                  <a:srgbClr val="6A247A"/>
                </a:solidFill>
              </a:rPr>
              <a:t>指定</a:t>
            </a:r>
            <a:r>
              <a:rPr lang="zh-CN" altLang="en-US" sz="2800" b="1" dirty="0">
                <a:solidFill>
                  <a:srgbClr val="6A247A"/>
                </a:solidFill>
              </a:rPr>
              <a:t>使用多少个线程来</a:t>
            </a:r>
            <a:r>
              <a:rPr lang="zh-CN" altLang="en-US" sz="2800" b="1" dirty="0" smtClean="0">
                <a:solidFill>
                  <a:srgbClr val="6A247A"/>
                </a:solidFill>
              </a:rPr>
              <a:t>执行</a:t>
            </a:r>
            <a:endParaRPr lang="en-US" altLang="zh-CN" sz="2800" b="1" dirty="0" smtClean="0">
              <a:solidFill>
                <a:srgbClr val="6A247A"/>
              </a:solidFill>
            </a:endParaRPr>
          </a:p>
          <a:p>
            <a:pPr marL="457200" indent="-457200">
              <a:buFont typeface="Wingdings" panose="05000000000000000000" pitchFamily="2" charset="2"/>
              <a:buChar char="ü"/>
            </a:pPr>
            <a:r>
              <a:rPr lang="en-US" altLang="zh-CN" sz="2800" b="1" dirty="0">
                <a:solidFill>
                  <a:srgbClr val="6A247A"/>
                </a:solidFill>
              </a:rPr>
              <a:t>parallel</a:t>
            </a:r>
            <a:r>
              <a:rPr lang="zh-CN" altLang="en-US" sz="2800" b="1" dirty="0">
                <a:solidFill>
                  <a:srgbClr val="6A247A"/>
                </a:solidFill>
              </a:rPr>
              <a:t>块中的每行代码都被多个线程重复</a:t>
            </a:r>
            <a:r>
              <a:rPr lang="zh-CN" altLang="en-US" sz="2800" b="1" dirty="0" smtClean="0">
                <a:solidFill>
                  <a:srgbClr val="6A247A"/>
                </a:solidFill>
              </a:rPr>
              <a:t>执行了</a:t>
            </a:r>
            <a:endParaRPr lang="en-US" sz="2800" b="1" dirty="0">
              <a:solidFill>
                <a:srgbClr val="6A247A"/>
              </a:solidFill>
            </a:endParaRPr>
          </a:p>
        </p:txBody>
      </p:sp>
      <p:sp>
        <p:nvSpPr>
          <p:cNvPr id="4" name="矩形 3"/>
          <p:cNvSpPr/>
          <p:nvPr/>
        </p:nvSpPr>
        <p:spPr>
          <a:xfrm>
            <a:off x="8009744" y="458077"/>
            <a:ext cx="3757534" cy="5632311"/>
          </a:xfrm>
          <a:prstGeom prst="rect">
            <a:avLst/>
          </a:prstGeom>
        </p:spPr>
        <p:txBody>
          <a:bodyPr wrap="square">
            <a:spAutoFit/>
          </a:bodyPr>
          <a:lstStyle/>
          <a:p>
            <a:r>
              <a:rPr lang="en-US" sz="2400" b="1" dirty="0"/>
              <a:t>Hello, World!, </a:t>
            </a:r>
            <a:r>
              <a:rPr lang="en-US" sz="2400" b="1" dirty="0" err="1"/>
              <a:t>ThreadId</a:t>
            </a:r>
            <a:r>
              <a:rPr lang="en-US" sz="2400" b="1" dirty="0"/>
              <a:t> = 2</a:t>
            </a:r>
            <a:endParaRPr lang="en-US" sz="2400" b="1" dirty="0"/>
          </a:p>
          <a:p>
            <a:endParaRPr lang="en-US" sz="2400" b="1" dirty="0"/>
          </a:p>
          <a:p>
            <a:r>
              <a:rPr lang="en-US" sz="2400" b="1" dirty="0"/>
              <a:t>Hello, World!, </a:t>
            </a:r>
            <a:r>
              <a:rPr lang="en-US" sz="2400" b="1" dirty="0" err="1"/>
              <a:t>ThreadId</a:t>
            </a:r>
            <a:r>
              <a:rPr lang="en-US" sz="2400" b="1" dirty="0"/>
              <a:t> = 6</a:t>
            </a:r>
            <a:endParaRPr lang="en-US" sz="2400" b="1" dirty="0"/>
          </a:p>
          <a:p>
            <a:endParaRPr lang="en-US" sz="2400" b="1" dirty="0"/>
          </a:p>
          <a:p>
            <a:r>
              <a:rPr lang="en-US" sz="2400" b="1" dirty="0"/>
              <a:t>Hello, World!, </a:t>
            </a:r>
            <a:r>
              <a:rPr lang="en-US" sz="2400" b="1" dirty="0" err="1"/>
              <a:t>ThreadId</a:t>
            </a:r>
            <a:r>
              <a:rPr lang="en-US" sz="2400" b="1" dirty="0"/>
              <a:t> = 4</a:t>
            </a:r>
            <a:endParaRPr lang="en-US" sz="2400" b="1" dirty="0"/>
          </a:p>
          <a:p>
            <a:endParaRPr lang="en-US" sz="2400" b="1" dirty="0"/>
          </a:p>
          <a:p>
            <a:r>
              <a:rPr lang="en-US" sz="2400" b="1" dirty="0"/>
              <a:t>Hello, World!, </a:t>
            </a:r>
            <a:r>
              <a:rPr lang="en-US" sz="2400" b="1" dirty="0" err="1"/>
              <a:t>ThreadId</a:t>
            </a:r>
            <a:r>
              <a:rPr lang="en-US" sz="2400" b="1" dirty="0"/>
              <a:t> = 0</a:t>
            </a:r>
            <a:endParaRPr lang="en-US" sz="2400" b="1" dirty="0"/>
          </a:p>
          <a:p>
            <a:endParaRPr lang="en-US" sz="2400" b="1" dirty="0"/>
          </a:p>
          <a:p>
            <a:r>
              <a:rPr lang="en-US" sz="2400" b="1" dirty="0"/>
              <a:t>Hello, World!, </a:t>
            </a:r>
            <a:r>
              <a:rPr lang="en-US" sz="2400" b="1" dirty="0" err="1"/>
              <a:t>ThreadId</a:t>
            </a:r>
            <a:r>
              <a:rPr lang="en-US" sz="2400" b="1" dirty="0"/>
              <a:t> = 5</a:t>
            </a:r>
            <a:endParaRPr lang="en-US" sz="2400" b="1" dirty="0"/>
          </a:p>
          <a:p>
            <a:endParaRPr lang="en-US" sz="2400" b="1" dirty="0"/>
          </a:p>
          <a:p>
            <a:r>
              <a:rPr lang="en-US" sz="2400" b="1" dirty="0"/>
              <a:t>Hello, World!, </a:t>
            </a:r>
            <a:r>
              <a:rPr lang="en-US" sz="2400" b="1" dirty="0" err="1"/>
              <a:t>ThreadId</a:t>
            </a:r>
            <a:r>
              <a:rPr lang="en-US" sz="2400" b="1" dirty="0"/>
              <a:t> = 7</a:t>
            </a:r>
            <a:endParaRPr lang="en-US" sz="2400" b="1" dirty="0"/>
          </a:p>
          <a:p>
            <a:endParaRPr lang="en-US" sz="2400" b="1" dirty="0"/>
          </a:p>
          <a:p>
            <a:r>
              <a:rPr lang="en-US" sz="2400" b="1" dirty="0"/>
              <a:t>Hello, World!, </a:t>
            </a:r>
            <a:r>
              <a:rPr lang="en-US" sz="2400" b="1" dirty="0" err="1"/>
              <a:t>ThreadId</a:t>
            </a:r>
            <a:r>
              <a:rPr lang="en-US" sz="2400" b="1" dirty="0"/>
              <a:t> = 1</a:t>
            </a:r>
            <a:endParaRPr lang="en-US" sz="2400" b="1" dirty="0"/>
          </a:p>
          <a:p>
            <a:endParaRPr lang="en-US" sz="2400" b="1" dirty="0"/>
          </a:p>
          <a:p>
            <a:r>
              <a:rPr lang="en-US" sz="2400" b="1" dirty="0"/>
              <a:t>Hello, World!, </a:t>
            </a:r>
            <a:r>
              <a:rPr lang="en-US" sz="2400" b="1" dirty="0" err="1"/>
              <a:t>ThreadId</a:t>
            </a:r>
            <a:r>
              <a:rPr lang="en-US" sz="2400" b="1" dirty="0"/>
              <a:t> = 3</a:t>
            </a:r>
            <a:endParaRPr lang="en-US" sz="2400" b="1" dirty="0"/>
          </a:p>
        </p:txBody>
      </p:sp>
    </p:spTree>
  </p:cSld>
  <p:clrMapOvr>
    <a:masterClrMapping/>
  </p:clrMapOvr>
  <p:transition spd="med" advTm="3025">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84485" y="858586"/>
            <a:ext cx="5301521" cy="4647426"/>
          </a:xfrm>
          <a:prstGeom prst="rect">
            <a:avLst/>
          </a:prstGeom>
        </p:spPr>
        <p:txBody>
          <a:bodyPr wrap="square">
            <a:spAutoFit/>
          </a:bodyPr>
          <a:lstStyle/>
          <a:p>
            <a:r>
              <a:rPr lang="en-US" sz="2400" b="1" dirty="0" err="1"/>
              <a:t>int</a:t>
            </a:r>
            <a:r>
              <a:rPr lang="en-US" sz="2400" b="1" dirty="0"/>
              <a:t> j = 0;</a:t>
            </a:r>
            <a:endParaRPr lang="en-US" sz="2400" b="1" dirty="0"/>
          </a:p>
          <a:p>
            <a:endParaRPr lang="en-US" sz="2400" b="1" dirty="0"/>
          </a:p>
          <a:p>
            <a:r>
              <a:rPr lang="en-US" sz="2400" b="1" dirty="0">
                <a:solidFill>
                  <a:srgbClr val="C00000"/>
                </a:solidFill>
              </a:rPr>
              <a:t>#pragma </a:t>
            </a:r>
            <a:r>
              <a:rPr lang="en-US" sz="2400" b="1" dirty="0" err="1">
                <a:solidFill>
                  <a:srgbClr val="C00000"/>
                </a:solidFill>
              </a:rPr>
              <a:t>omp</a:t>
            </a:r>
            <a:r>
              <a:rPr lang="en-US" sz="2400" b="1" dirty="0">
                <a:solidFill>
                  <a:srgbClr val="C00000"/>
                </a:solidFill>
              </a:rPr>
              <a:t> for</a:t>
            </a:r>
            <a:endParaRPr lang="en-US" sz="2400" b="1" dirty="0">
              <a:solidFill>
                <a:srgbClr val="C00000"/>
              </a:solidFill>
            </a:endParaRPr>
          </a:p>
          <a:p>
            <a:endParaRPr lang="en-US" sz="2400" b="1" dirty="0"/>
          </a:p>
          <a:p>
            <a:r>
              <a:rPr lang="en-US" sz="2400" b="1" dirty="0"/>
              <a:t>     for ( j = 0; j &lt; 4; </a:t>
            </a:r>
            <a:r>
              <a:rPr lang="en-US" sz="2400" b="1" dirty="0" err="1"/>
              <a:t>j++</a:t>
            </a:r>
            <a:r>
              <a:rPr lang="en-US" sz="2400" b="1" dirty="0"/>
              <a:t> </a:t>
            </a:r>
            <a:r>
              <a:rPr lang="en-US" sz="2400" b="1" dirty="0" smtClean="0"/>
              <a:t>)</a:t>
            </a:r>
            <a:endParaRPr lang="en-US" sz="2400" b="1" dirty="0" smtClean="0"/>
          </a:p>
          <a:p>
            <a:r>
              <a:rPr lang="en-US" sz="2400" b="1" dirty="0" smtClean="0"/>
              <a:t>{</a:t>
            </a:r>
            <a:endParaRPr lang="en-US" sz="2400" b="1" dirty="0"/>
          </a:p>
          <a:p>
            <a:r>
              <a:rPr lang="en-US" sz="2400" b="1" dirty="0"/>
              <a:t>         </a:t>
            </a:r>
            <a:r>
              <a:rPr lang="en-US" sz="2400" b="1" dirty="0" err="1"/>
              <a:t>printf</a:t>
            </a:r>
            <a:r>
              <a:rPr lang="en-US" sz="2400" b="1" dirty="0"/>
              <a:t>(“j = %d, </a:t>
            </a:r>
            <a:r>
              <a:rPr lang="en-US" sz="2400" b="1" dirty="0" err="1"/>
              <a:t>ThreadId</a:t>
            </a:r>
            <a:r>
              <a:rPr lang="en-US" sz="2400" b="1" dirty="0"/>
              <a:t> = %</a:t>
            </a:r>
            <a:r>
              <a:rPr lang="en-US" sz="2400" b="1" dirty="0" smtClean="0"/>
              <a:t>d\n</a:t>
            </a:r>
            <a:r>
              <a:rPr lang="en-US" sz="2400" b="1" dirty="0"/>
              <a:t>”, j, </a:t>
            </a:r>
            <a:r>
              <a:rPr lang="en-US" sz="2400" b="1" dirty="0" err="1"/>
              <a:t>omp_get_thread_num</a:t>
            </a:r>
            <a:r>
              <a:rPr lang="en-US" sz="2400" b="1" dirty="0"/>
              <a:t>());</a:t>
            </a:r>
            <a:endParaRPr lang="en-US" sz="2400" b="1" dirty="0"/>
          </a:p>
          <a:p>
            <a:endParaRPr lang="en-US" sz="2400" b="1" dirty="0"/>
          </a:p>
          <a:p>
            <a:r>
              <a:rPr lang="en-US" sz="2400" b="1" dirty="0"/>
              <a:t>     </a:t>
            </a:r>
            <a:r>
              <a:rPr lang="en-US" sz="2400" b="1" dirty="0" smtClean="0"/>
              <a:t>}</a:t>
            </a:r>
            <a:endParaRPr lang="en-US" sz="2400" b="1" dirty="0" smtClean="0"/>
          </a:p>
          <a:p>
            <a:endParaRPr lang="en-US" sz="2400" b="1" dirty="0"/>
          </a:p>
          <a:p>
            <a:r>
              <a:rPr lang="en-US" sz="3200" b="1" dirty="0">
                <a:solidFill>
                  <a:srgbClr val="C00000"/>
                </a:solidFill>
              </a:rPr>
              <a:t>#pragma </a:t>
            </a:r>
            <a:r>
              <a:rPr lang="en-US" sz="3200" b="1" dirty="0" err="1">
                <a:solidFill>
                  <a:srgbClr val="C00000"/>
                </a:solidFill>
              </a:rPr>
              <a:t>omp</a:t>
            </a:r>
            <a:r>
              <a:rPr lang="en-US" sz="3200" b="1" dirty="0">
                <a:solidFill>
                  <a:srgbClr val="C00000"/>
                </a:solidFill>
              </a:rPr>
              <a:t> parallel for</a:t>
            </a:r>
            <a:endParaRPr lang="en-US" sz="3200" b="1" dirty="0">
              <a:solidFill>
                <a:srgbClr val="C00000"/>
              </a:solidFill>
            </a:endParaRPr>
          </a:p>
        </p:txBody>
      </p:sp>
      <p:sp>
        <p:nvSpPr>
          <p:cNvPr id="4" name="矩形 3"/>
          <p:cNvSpPr/>
          <p:nvPr/>
        </p:nvSpPr>
        <p:spPr>
          <a:xfrm>
            <a:off x="6750570" y="617388"/>
            <a:ext cx="4552014" cy="5016758"/>
          </a:xfrm>
          <a:prstGeom prst="rect">
            <a:avLst/>
          </a:prstGeom>
        </p:spPr>
        <p:txBody>
          <a:bodyPr wrap="square">
            <a:spAutoFit/>
          </a:bodyPr>
          <a:lstStyle/>
          <a:p>
            <a:r>
              <a:rPr lang="en-US" sz="2400" b="1" dirty="0"/>
              <a:t>j = 0, </a:t>
            </a:r>
            <a:r>
              <a:rPr lang="en-US" sz="2400" b="1" dirty="0" err="1"/>
              <a:t>ThreadId</a:t>
            </a:r>
            <a:r>
              <a:rPr lang="en-US" sz="2400" b="1" dirty="0"/>
              <a:t> = 0</a:t>
            </a:r>
            <a:endParaRPr lang="en-US" sz="2400" b="1" dirty="0"/>
          </a:p>
          <a:p>
            <a:endParaRPr lang="en-US" sz="2400" b="1" dirty="0"/>
          </a:p>
          <a:p>
            <a:r>
              <a:rPr lang="en-US" sz="2400" b="1" dirty="0"/>
              <a:t>j = 1, </a:t>
            </a:r>
            <a:r>
              <a:rPr lang="en-US" sz="2400" b="1" dirty="0" err="1"/>
              <a:t>ThreadId</a:t>
            </a:r>
            <a:r>
              <a:rPr lang="en-US" sz="2400" b="1" dirty="0"/>
              <a:t> = 0</a:t>
            </a:r>
            <a:endParaRPr lang="en-US" sz="2400" b="1" dirty="0"/>
          </a:p>
          <a:p>
            <a:endParaRPr lang="en-US" sz="2400" b="1" dirty="0"/>
          </a:p>
          <a:p>
            <a:r>
              <a:rPr lang="en-US" sz="2400" b="1" dirty="0"/>
              <a:t>j = 2, </a:t>
            </a:r>
            <a:r>
              <a:rPr lang="en-US" sz="2400" b="1" dirty="0" err="1"/>
              <a:t>ThreadId</a:t>
            </a:r>
            <a:r>
              <a:rPr lang="en-US" sz="2400" b="1" dirty="0"/>
              <a:t> = 0</a:t>
            </a:r>
            <a:endParaRPr lang="en-US" sz="2400" b="1" dirty="0"/>
          </a:p>
          <a:p>
            <a:endParaRPr lang="en-US" sz="2400" b="1" dirty="0"/>
          </a:p>
          <a:p>
            <a:r>
              <a:rPr lang="en-US" sz="2400" b="1" dirty="0"/>
              <a:t>j = 3, </a:t>
            </a:r>
            <a:r>
              <a:rPr lang="en-US" sz="2400" b="1" dirty="0" err="1"/>
              <a:t>ThreadId</a:t>
            </a:r>
            <a:r>
              <a:rPr lang="en-US" sz="2400" b="1" dirty="0"/>
              <a:t> = </a:t>
            </a:r>
            <a:r>
              <a:rPr lang="en-US" sz="2400" b="1" dirty="0" smtClean="0"/>
              <a:t>0</a:t>
            </a:r>
            <a:endParaRPr lang="en-US" sz="2400" b="1" dirty="0" smtClean="0"/>
          </a:p>
          <a:p>
            <a:endParaRPr lang="en-US" sz="2400" b="1" dirty="0"/>
          </a:p>
          <a:p>
            <a:r>
              <a:rPr lang="zh-CN" altLang="en-US" sz="3200" b="1" dirty="0" smtClean="0">
                <a:solidFill>
                  <a:srgbClr val="6A247A"/>
                </a:solidFill>
                <a:latin typeface="隶书" panose="02010509060101010101" pitchFamily="49" charset="-122"/>
                <a:ea typeface="隶书" panose="02010509060101010101" pitchFamily="49" charset="-122"/>
              </a:rPr>
              <a:t>    四</a:t>
            </a:r>
            <a:r>
              <a:rPr lang="zh-CN" altLang="en-US" sz="3200" b="1" dirty="0">
                <a:solidFill>
                  <a:srgbClr val="6A247A"/>
                </a:solidFill>
                <a:latin typeface="隶书" panose="02010509060101010101" pitchFamily="49" charset="-122"/>
                <a:ea typeface="隶书" panose="02010509060101010101" pitchFamily="49" charset="-122"/>
              </a:rPr>
              <a:t>次循环都在一个线程里执行，可见</a:t>
            </a:r>
            <a:r>
              <a:rPr lang="en-US" altLang="zh-CN" sz="3200" b="1" dirty="0">
                <a:solidFill>
                  <a:srgbClr val="6A247A"/>
                </a:solidFill>
                <a:latin typeface="隶书" panose="02010509060101010101" pitchFamily="49" charset="-122"/>
                <a:ea typeface="隶书" panose="02010509060101010101" pitchFamily="49" charset="-122"/>
              </a:rPr>
              <a:t>for</a:t>
            </a:r>
            <a:r>
              <a:rPr lang="zh-CN" altLang="en-US" sz="3200" b="1" dirty="0">
                <a:solidFill>
                  <a:srgbClr val="6A247A"/>
                </a:solidFill>
                <a:latin typeface="隶书" panose="02010509060101010101" pitchFamily="49" charset="-122"/>
                <a:ea typeface="隶书" panose="02010509060101010101" pitchFamily="49" charset="-122"/>
              </a:rPr>
              <a:t>指令要和</a:t>
            </a:r>
            <a:r>
              <a:rPr lang="en-US" altLang="zh-CN" sz="3200" b="1" dirty="0">
                <a:solidFill>
                  <a:srgbClr val="6A247A"/>
                </a:solidFill>
                <a:latin typeface="隶书" panose="02010509060101010101" pitchFamily="49" charset="-122"/>
                <a:ea typeface="隶书" panose="02010509060101010101" pitchFamily="49" charset="-122"/>
              </a:rPr>
              <a:t>parallel</a:t>
            </a:r>
            <a:r>
              <a:rPr lang="zh-CN" altLang="en-US" sz="3200" b="1" dirty="0">
                <a:solidFill>
                  <a:srgbClr val="6A247A"/>
                </a:solidFill>
                <a:latin typeface="隶书" panose="02010509060101010101" pitchFamily="49" charset="-122"/>
                <a:ea typeface="隶书" panose="02010509060101010101" pitchFamily="49" charset="-122"/>
              </a:rPr>
              <a:t>指令结合起来使用才有效果</a:t>
            </a:r>
            <a:endParaRPr lang="en-US" sz="3200" b="1" dirty="0">
              <a:solidFill>
                <a:srgbClr val="6A247A"/>
              </a:solidFill>
              <a:latin typeface="隶书" panose="02010509060101010101" pitchFamily="49" charset="-122"/>
              <a:ea typeface="隶书" panose="02010509060101010101" pitchFamily="49" charset="-122"/>
            </a:endParaRPr>
          </a:p>
        </p:txBody>
      </p:sp>
      <p:cxnSp>
        <p:nvCxnSpPr>
          <p:cNvPr id="18" name="曲线连接符 17"/>
          <p:cNvCxnSpPr/>
          <p:nvPr/>
        </p:nvCxnSpPr>
        <p:spPr bwMode="auto">
          <a:xfrm rot="5400000">
            <a:off x="-820606" y="3521542"/>
            <a:ext cx="3210185" cy="2"/>
          </a:xfrm>
          <a:prstGeom prst="curvedConnector3">
            <a:avLst>
              <a:gd name="adj1" fmla="val 50000"/>
            </a:avLst>
          </a:prstGeom>
          <a:solidFill>
            <a:schemeClr val="accent1"/>
          </a:solidFill>
          <a:ln w="9525" cap="flat" cmpd="sng" algn="ctr">
            <a:solidFill>
              <a:schemeClr val="tx1"/>
            </a:solidFill>
            <a:prstDash val="solid"/>
            <a:round/>
            <a:headEnd type="none" w="med" len="med"/>
            <a:tailEnd type="triangle"/>
          </a:ln>
        </p:spPr>
      </p:cxnSp>
    </p:spTree>
  </p:cSld>
  <p:clrMapOvr>
    <a:masterClrMapping/>
  </p:clrMapOvr>
  <p:transition spd="med" advTm="3025">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64498" y="794479"/>
            <a:ext cx="11107712" cy="5016758"/>
          </a:xfrm>
          <a:prstGeom prst="rect">
            <a:avLst/>
          </a:prstGeom>
        </p:spPr>
        <p:txBody>
          <a:bodyPr wrap="square">
            <a:spAutoFit/>
          </a:bodyPr>
          <a:lstStyle/>
          <a:p>
            <a:r>
              <a:rPr lang="en-US" sz="3200" dirty="0" err="1"/>
              <a:t>int</a:t>
            </a:r>
            <a:r>
              <a:rPr lang="en-US" sz="3200" dirty="0"/>
              <a:t> j = 0</a:t>
            </a:r>
            <a:r>
              <a:rPr lang="en-US" sz="3200" dirty="0" smtClean="0"/>
              <a:t>;</a:t>
            </a:r>
            <a:endParaRPr lang="en-US" sz="3200" dirty="0"/>
          </a:p>
          <a:p>
            <a:r>
              <a:rPr lang="en-US" sz="3200" dirty="0">
                <a:solidFill>
                  <a:srgbClr val="C00000"/>
                </a:solidFill>
              </a:rPr>
              <a:t>#pragma </a:t>
            </a:r>
            <a:r>
              <a:rPr lang="en-US" sz="3200" dirty="0" err="1">
                <a:solidFill>
                  <a:srgbClr val="C00000"/>
                </a:solidFill>
              </a:rPr>
              <a:t>omp</a:t>
            </a:r>
            <a:r>
              <a:rPr lang="en-US" sz="3200" dirty="0">
                <a:solidFill>
                  <a:srgbClr val="C00000"/>
                </a:solidFill>
              </a:rPr>
              <a:t> parallel </a:t>
            </a:r>
            <a:endParaRPr lang="en-US" sz="3200" dirty="0">
              <a:solidFill>
                <a:srgbClr val="C00000"/>
              </a:solidFill>
            </a:endParaRPr>
          </a:p>
          <a:p>
            <a:r>
              <a:rPr lang="en-US" sz="3200" dirty="0" smtClean="0">
                <a:solidFill>
                  <a:srgbClr val="C00000"/>
                </a:solidFill>
              </a:rPr>
              <a:t>{</a:t>
            </a:r>
            <a:endParaRPr lang="en-US" sz="3200" dirty="0">
              <a:solidFill>
                <a:srgbClr val="C00000"/>
              </a:solidFill>
            </a:endParaRPr>
          </a:p>
          <a:p>
            <a:r>
              <a:rPr lang="en-US" sz="3200" dirty="0" smtClean="0"/>
              <a:t>       </a:t>
            </a:r>
            <a:r>
              <a:rPr lang="en-US" sz="3200" dirty="0" smtClean="0">
                <a:solidFill>
                  <a:srgbClr val="C00000"/>
                </a:solidFill>
              </a:rPr>
              <a:t>#</a:t>
            </a:r>
            <a:r>
              <a:rPr lang="en-US" sz="3200" dirty="0">
                <a:solidFill>
                  <a:srgbClr val="C00000"/>
                </a:solidFill>
              </a:rPr>
              <a:t>pragma </a:t>
            </a:r>
            <a:r>
              <a:rPr lang="en-US" sz="3200" dirty="0" err="1">
                <a:solidFill>
                  <a:srgbClr val="C00000"/>
                </a:solidFill>
              </a:rPr>
              <a:t>omp</a:t>
            </a:r>
            <a:r>
              <a:rPr lang="en-US" sz="3200" dirty="0">
                <a:solidFill>
                  <a:srgbClr val="C00000"/>
                </a:solidFill>
              </a:rPr>
              <a:t> </a:t>
            </a:r>
            <a:r>
              <a:rPr lang="en-US" sz="3200" dirty="0" smtClean="0">
                <a:solidFill>
                  <a:srgbClr val="C00000"/>
                </a:solidFill>
              </a:rPr>
              <a:t>for</a:t>
            </a:r>
            <a:endParaRPr lang="en-US" sz="3200" dirty="0">
              <a:solidFill>
                <a:srgbClr val="C00000"/>
              </a:solidFill>
            </a:endParaRPr>
          </a:p>
          <a:p>
            <a:r>
              <a:rPr lang="en-US" sz="3200" dirty="0"/>
              <a:t>     </a:t>
            </a:r>
            <a:r>
              <a:rPr lang="en-US" sz="3200" dirty="0" smtClean="0"/>
              <a:t> for </a:t>
            </a:r>
            <a:r>
              <a:rPr lang="en-US" sz="3200" dirty="0"/>
              <a:t>( j = 0; j &lt; 4; </a:t>
            </a:r>
            <a:r>
              <a:rPr lang="en-US" sz="3200" dirty="0" err="1"/>
              <a:t>j++</a:t>
            </a:r>
            <a:r>
              <a:rPr lang="en-US" sz="3200" dirty="0"/>
              <a:t> </a:t>
            </a:r>
            <a:r>
              <a:rPr lang="en-US" sz="3200" dirty="0" smtClean="0"/>
              <a:t>)</a:t>
            </a:r>
            <a:endParaRPr lang="en-US" sz="3200" dirty="0" smtClean="0"/>
          </a:p>
          <a:p>
            <a:r>
              <a:rPr lang="en-US" sz="3200" dirty="0"/>
              <a:t> </a:t>
            </a:r>
            <a:r>
              <a:rPr lang="en-US" sz="3200" dirty="0" smtClean="0"/>
              <a:t>          {</a:t>
            </a:r>
            <a:endParaRPr lang="en-US" sz="3200" dirty="0"/>
          </a:p>
          <a:p>
            <a:r>
              <a:rPr lang="en-US" sz="2800" dirty="0"/>
              <a:t>        </a:t>
            </a:r>
            <a:r>
              <a:rPr lang="en-US" sz="2800" dirty="0" smtClean="0"/>
              <a:t>     </a:t>
            </a:r>
            <a:r>
              <a:rPr lang="en-US" sz="2800" dirty="0" err="1"/>
              <a:t>printf</a:t>
            </a:r>
            <a:r>
              <a:rPr lang="en-US" sz="2800" dirty="0"/>
              <a:t>(“j = %d, </a:t>
            </a:r>
            <a:r>
              <a:rPr lang="en-US" sz="2800" dirty="0" err="1"/>
              <a:t>ThreadId</a:t>
            </a:r>
            <a:r>
              <a:rPr lang="en-US" sz="2800" dirty="0"/>
              <a:t> = %</a:t>
            </a:r>
            <a:r>
              <a:rPr lang="en-US" sz="2800" dirty="0" smtClean="0"/>
              <a:t>d\n</a:t>
            </a:r>
            <a:r>
              <a:rPr lang="en-US" sz="2800" dirty="0"/>
              <a:t>”, j, </a:t>
            </a:r>
            <a:r>
              <a:rPr lang="en-US" sz="2800" dirty="0" smtClean="0"/>
              <a:t> </a:t>
            </a:r>
            <a:r>
              <a:rPr lang="en-US" sz="2800" dirty="0" err="1" smtClean="0"/>
              <a:t>omp_get_thread_num</a:t>
            </a:r>
            <a:r>
              <a:rPr lang="en-US" sz="2800" dirty="0" smtClean="0"/>
              <a:t>());</a:t>
            </a:r>
            <a:endParaRPr lang="en-US" sz="3200" dirty="0"/>
          </a:p>
          <a:p>
            <a:r>
              <a:rPr lang="en-US" sz="3200" dirty="0"/>
              <a:t>    </a:t>
            </a:r>
            <a:r>
              <a:rPr lang="en-US" sz="3200" dirty="0" smtClean="0"/>
              <a:t>        }</a:t>
            </a:r>
            <a:endParaRPr lang="en-US" sz="3200" dirty="0"/>
          </a:p>
          <a:p>
            <a:r>
              <a:rPr lang="en-US" sz="3200" dirty="0" smtClean="0">
                <a:solidFill>
                  <a:srgbClr val="C00000"/>
                </a:solidFill>
              </a:rPr>
              <a:t>}</a:t>
            </a:r>
            <a:endParaRPr lang="en-US" sz="3200" dirty="0" smtClean="0">
              <a:solidFill>
                <a:srgbClr val="C00000"/>
              </a:solidFill>
            </a:endParaRPr>
          </a:p>
          <a:p>
            <a:r>
              <a:rPr lang="zh-CN" altLang="en-US" sz="3600" b="1" dirty="0">
                <a:solidFill>
                  <a:srgbClr val="2D0AC2"/>
                </a:solidFill>
                <a:ea typeface="华文行楷" panose="02010800040101010101" pitchFamily="2" charset="-122"/>
              </a:rPr>
              <a:t>在一个</a:t>
            </a:r>
            <a:r>
              <a:rPr lang="en-US" altLang="zh-CN" sz="3600" b="1" dirty="0">
                <a:solidFill>
                  <a:srgbClr val="2D0AC2"/>
                </a:solidFill>
                <a:ea typeface="华文行楷" panose="02010800040101010101" pitchFamily="2" charset="-122"/>
              </a:rPr>
              <a:t>parallel </a:t>
            </a:r>
            <a:r>
              <a:rPr lang="zh-CN" altLang="en-US" sz="3600" b="1" dirty="0">
                <a:solidFill>
                  <a:srgbClr val="2D0AC2"/>
                </a:solidFill>
                <a:ea typeface="华文行楷" panose="02010800040101010101" pitchFamily="2" charset="-122"/>
              </a:rPr>
              <a:t>块</a:t>
            </a:r>
            <a:r>
              <a:rPr lang="zh-CN" altLang="en-US" sz="3600" b="1" dirty="0" smtClean="0">
                <a:solidFill>
                  <a:srgbClr val="2D0AC2"/>
                </a:solidFill>
                <a:ea typeface="华文行楷" panose="02010800040101010101" pitchFamily="2" charset="-122"/>
              </a:rPr>
              <a:t>中可以</a:t>
            </a:r>
            <a:r>
              <a:rPr lang="zh-CN" altLang="en-US" sz="3600" b="1" dirty="0">
                <a:solidFill>
                  <a:srgbClr val="2D0AC2"/>
                </a:solidFill>
                <a:ea typeface="华文行楷" panose="02010800040101010101" pitchFamily="2" charset="-122"/>
              </a:rPr>
              <a:t>有多个</a:t>
            </a:r>
            <a:r>
              <a:rPr lang="en-US" altLang="zh-CN" sz="3600" b="1" dirty="0">
                <a:solidFill>
                  <a:srgbClr val="2D0AC2"/>
                </a:solidFill>
                <a:ea typeface="华文行楷" panose="02010800040101010101" pitchFamily="2" charset="-122"/>
              </a:rPr>
              <a:t>for</a:t>
            </a:r>
            <a:r>
              <a:rPr lang="zh-CN" altLang="en-US" sz="3600" b="1" dirty="0">
                <a:solidFill>
                  <a:srgbClr val="2D0AC2"/>
                </a:solidFill>
                <a:ea typeface="华文行楷" panose="02010800040101010101" pitchFamily="2" charset="-122"/>
              </a:rPr>
              <a:t>语句</a:t>
            </a:r>
            <a:endParaRPr lang="en-US" sz="3600" b="1" dirty="0">
              <a:solidFill>
                <a:srgbClr val="2D0AC2"/>
              </a:solidFill>
              <a:ea typeface="华文行楷" panose="02010800040101010101" pitchFamily="2" charset="-122"/>
            </a:endParaRPr>
          </a:p>
        </p:txBody>
      </p:sp>
    </p:spTree>
  </p:cSld>
  <p:clrMapOvr>
    <a:masterClrMapping/>
  </p:clrMapOvr>
  <p:transition spd="med" advTm="3025">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49377" y="744806"/>
            <a:ext cx="6096000" cy="5632311"/>
          </a:xfrm>
          <a:prstGeom prst="rect">
            <a:avLst/>
          </a:prstGeom>
        </p:spPr>
        <p:txBody>
          <a:bodyPr>
            <a:spAutoFit/>
          </a:bodyPr>
          <a:lstStyle/>
          <a:p>
            <a:r>
              <a:rPr lang="en-US" sz="2400" b="1" dirty="0" err="1"/>
              <a:t>int</a:t>
            </a:r>
            <a:r>
              <a:rPr lang="en-US" sz="2400" b="1" dirty="0"/>
              <a:t> j</a:t>
            </a:r>
            <a:r>
              <a:rPr lang="en-US" sz="2400" b="1" dirty="0" smtClean="0"/>
              <a:t>;</a:t>
            </a:r>
            <a:endParaRPr lang="en-US" sz="2400" b="1" dirty="0"/>
          </a:p>
          <a:p>
            <a:r>
              <a:rPr lang="en-US" sz="2400" b="1" dirty="0">
                <a:solidFill>
                  <a:srgbClr val="2D0AC2"/>
                </a:solidFill>
              </a:rPr>
              <a:t>#pragma </a:t>
            </a:r>
            <a:r>
              <a:rPr lang="en-US" sz="2400" b="1" dirty="0" err="1">
                <a:solidFill>
                  <a:srgbClr val="2D0AC2"/>
                </a:solidFill>
              </a:rPr>
              <a:t>omp</a:t>
            </a:r>
            <a:r>
              <a:rPr lang="en-US" sz="2400" b="1" dirty="0">
                <a:solidFill>
                  <a:srgbClr val="2D0AC2"/>
                </a:solidFill>
              </a:rPr>
              <a:t> parallel </a:t>
            </a:r>
            <a:endParaRPr lang="en-US" sz="2400" b="1" dirty="0">
              <a:solidFill>
                <a:srgbClr val="2D0AC2"/>
              </a:solidFill>
            </a:endParaRPr>
          </a:p>
          <a:p>
            <a:r>
              <a:rPr lang="en-US" sz="2400" b="1" dirty="0" smtClean="0">
                <a:solidFill>
                  <a:srgbClr val="2D0AC2"/>
                </a:solidFill>
              </a:rPr>
              <a:t>{</a:t>
            </a:r>
            <a:endParaRPr lang="en-US" sz="2400" b="1" dirty="0">
              <a:solidFill>
                <a:srgbClr val="2D0AC2"/>
              </a:solidFill>
            </a:endParaRPr>
          </a:p>
          <a:p>
            <a:r>
              <a:rPr lang="en-US" sz="2400" b="1" dirty="0" smtClean="0"/>
              <a:t>   </a:t>
            </a:r>
            <a:r>
              <a:rPr lang="en-US" sz="2400" b="1" dirty="0" smtClean="0">
                <a:solidFill>
                  <a:srgbClr val="6A247A"/>
                </a:solidFill>
              </a:rPr>
              <a:t>#</a:t>
            </a:r>
            <a:r>
              <a:rPr lang="en-US" sz="2400" b="1" dirty="0">
                <a:solidFill>
                  <a:srgbClr val="6A247A"/>
                </a:solidFill>
              </a:rPr>
              <a:t>pragma </a:t>
            </a:r>
            <a:r>
              <a:rPr lang="en-US" sz="2400" b="1" dirty="0" err="1">
                <a:solidFill>
                  <a:srgbClr val="6A247A"/>
                </a:solidFill>
              </a:rPr>
              <a:t>omp</a:t>
            </a:r>
            <a:r>
              <a:rPr lang="en-US" sz="2400" b="1" dirty="0">
                <a:solidFill>
                  <a:srgbClr val="6A247A"/>
                </a:solidFill>
              </a:rPr>
              <a:t> </a:t>
            </a:r>
            <a:r>
              <a:rPr lang="en-US" sz="2400" b="1" dirty="0" smtClean="0">
                <a:solidFill>
                  <a:srgbClr val="6A247A"/>
                </a:solidFill>
              </a:rPr>
              <a:t>for</a:t>
            </a:r>
            <a:endParaRPr lang="en-US" sz="2400" b="1" dirty="0">
              <a:solidFill>
                <a:srgbClr val="6A247A"/>
              </a:solidFill>
            </a:endParaRPr>
          </a:p>
          <a:p>
            <a:r>
              <a:rPr lang="en-US" sz="2400" b="1" dirty="0"/>
              <a:t>     for ( j = 0; j &lt; 100; </a:t>
            </a:r>
            <a:r>
              <a:rPr lang="en-US" sz="2400" b="1" dirty="0" err="1"/>
              <a:t>j++</a:t>
            </a:r>
            <a:r>
              <a:rPr lang="en-US" sz="2400" b="1" dirty="0"/>
              <a:t> </a:t>
            </a:r>
            <a:r>
              <a:rPr lang="en-US" sz="2400" b="1" dirty="0" smtClean="0"/>
              <a:t>){</a:t>
            </a:r>
            <a:endParaRPr lang="en-US" sz="2400" b="1" dirty="0"/>
          </a:p>
          <a:p>
            <a:r>
              <a:rPr lang="en-US" sz="2400" b="1" dirty="0"/>
              <a:t>         …</a:t>
            </a:r>
            <a:endParaRPr lang="en-US" sz="2400" b="1" dirty="0"/>
          </a:p>
          <a:p>
            <a:endParaRPr lang="en-US" sz="2400" b="1" dirty="0"/>
          </a:p>
          <a:p>
            <a:r>
              <a:rPr lang="en-US" sz="2400" b="1" dirty="0"/>
              <a:t>     </a:t>
            </a:r>
            <a:r>
              <a:rPr lang="en-US" sz="2400" b="1" dirty="0" smtClean="0"/>
              <a:t>}</a:t>
            </a:r>
            <a:endParaRPr lang="en-US" sz="2400" b="1" dirty="0"/>
          </a:p>
          <a:p>
            <a:r>
              <a:rPr lang="en-US" sz="2400" b="1" dirty="0" smtClean="0"/>
              <a:t>   </a:t>
            </a:r>
            <a:r>
              <a:rPr lang="en-US" sz="2400" b="1" dirty="0" smtClean="0">
                <a:solidFill>
                  <a:srgbClr val="6A247A"/>
                </a:solidFill>
              </a:rPr>
              <a:t>#</a:t>
            </a:r>
            <a:r>
              <a:rPr lang="en-US" sz="2400" b="1" dirty="0">
                <a:solidFill>
                  <a:srgbClr val="6A247A"/>
                </a:solidFill>
              </a:rPr>
              <a:t>pragma </a:t>
            </a:r>
            <a:r>
              <a:rPr lang="en-US" sz="2400" b="1" dirty="0" err="1">
                <a:solidFill>
                  <a:srgbClr val="6A247A"/>
                </a:solidFill>
              </a:rPr>
              <a:t>omp</a:t>
            </a:r>
            <a:r>
              <a:rPr lang="en-US" sz="2400" b="1" dirty="0">
                <a:solidFill>
                  <a:srgbClr val="6A247A"/>
                </a:solidFill>
              </a:rPr>
              <a:t> </a:t>
            </a:r>
            <a:r>
              <a:rPr lang="en-US" sz="2400" b="1" dirty="0" smtClean="0">
                <a:solidFill>
                  <a:srgbClr val="6A247A"/>
                </a:solidFill>
              </a:rPr>
              <a:t>for</a:t>
            </a:r>
            <a:endParaRPr lang="en-US" sz="2400" b="1" dirty="0">
              <a:solidFill>
                <a:srgbClr val="6A247A"/>
              </a:solidFill>
            </a:endParaRPr>
          </a:p>
          <a:p>
            <a:r>
              <a:rPr lang="en-US" sz="2400" b="1" dirty="0"/>
              <a:t>     for (  j = 0; j &lt; 100; </a:t>
            </a:r>
            <a:r>
              <a:rPr lang="en-US" sz="2400" b="1" dirty="0" err="1"/>
              <a:t>j++</a:t>
            </a:r>
            <a:r>
              <a:rPr lang="en-US" sz="2400" b="1" dirty="0"/>
              <a:t> </a:t>
            </a:r>
            <a:r>
              <a:rPr lang="en-US" sz="2400" b="1" dirty="0" smtClean="0"/>
              <a:t>){</a:t>
            </a:r>
            <a:endParaRPr lang="en-US" sz="2400" b="1" dirty="0"/>
          </a:p>
          <a:p>
            <a:r>
              <a:rPr lang="en-US" sz="2400" b="1" dirty="0"/>
              <a:t>         …</a:t>
            </a:r>
            <a:endParaRPr lang="en-US" sz="2400" b="1" dirty="0"/>
          </a:p>
          <a:p>
            <a:endParaRPr lang="en-US" sz="2400" b="1" dirty="0"/>
          </a:p>
          <a:p>
            <a:r>
              <a:rPr lang="en-US" sz="2400" b="1" dirty="0"/>
              <a:t>     </a:t>
            </a:r>
            <a:r>
              <a:rPr lang="en-US" sz="2400" b="1" dirty="0" smtClean="0"/>
              <a:t>}</a:t>
            </a:r>
            <a:endParaRPr lang="en-US" sz="2400" b="1" dirty="0"/>
          </a:p>
          <a:p>
            <a:r>
              <a:rPr lang="en-US" sz="2400" b="1" dirty="0" smtClean="0"/>
              <a:t>…</a:t>
            </a:r>
            <a:endParaRPr lang="en-US" sz="2400" b="1" dirty="0"/>
          </a:p>
          <a:p>
            <a:r>
              <a:rPr lang="en-US" sz="2400" b="1" dirty="0">
                <a:solidFill>
                  <a:srgbClr val="2D0AC2"/>
                </a:solidFill>
              </a:rPr>
              <a:t>}</a:t>
            </a:r>
            <a:endParaRPr lang="en-US" sz="2400" b="1" dirty="0">
              <a:solidFill>
                <a:srgbClr val="2D0AC2"/>
              </a:solidFill>
            </a:endParaRPr>
          </a:p>
        </p:txBody>
      </p:sp>
    </p:spTree>
  </p:cSld>
  <p:clrMapOvr>
    <a:masterClrMapping/>
  </p:clrMapOvr>
  <p:transition spd="med" advTm="3025">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云形 4"/>
          <p:cNvSpPr/>
          <p:nvPr/>
        </p:nvSpPr>
        <p:spPr bwMode="auto">
          <a:xfrm>
            <a:off x="9199418" y="1653156"/>
            <a:ext cx="2881745" cy="1960510"/>
          </a:xfrm>
          <a:prstGeom prst="cloud">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smtClean="0">
              <a:ln>
                <a:noFill/>
              </a:ln>
              <a:solidFill>
                <a:schemeClr val="tx1"/>
              </a:solidFill>
              <a:effectLst/>
              <a:latin typeface="Arial" panose="020B0604020202020204" pitchFamily="34" charset="0"/>
              <a:ea typeface="隶书" panose="02010509060101010101" pitchFamily="49" charset="-122"/>
            </a:endParaRPr>
          </a:p>
        </p:txBody>
      </p:sp>
      <p:pic>
        <p:nvPicPr>
          <p:cNvPr id="2" name="图片 1"/>
          <p:cNvPicPr>
            <a:picLocks noChangeAspect="1"/>
          </p:cNvPicPr>
          <p:nvPr/>
        </p:nvPicPr>
        <p:blipFill>
          <a:blip r:embed="rId1">
            <a:duotone>
              <a:prstClr val="black"/>
              <a:schemeClr val="accent5">
                <a:tint val="45000"/>
                <a:satMod val="400000"/>
              </a:schemeClr>
            </a:duotone>
          </a:blip>
          <a:stretch>
            <a:fillRect/>
          </a:stretch>
        </p:blipFill>
        <p:spPr>
          <a:xfrm>
            <a:off x="1819686" y="1653156"/>
            <a:ext cx="7379732" cy="4725380"/>
          </a:xfrm>
          <a:prstGeom prst="rect">
            <a:avLst/>
          </a:prstGeom>
          <a:solidFill>
            <a:schemeClr val="accent1">
              <a:alpha val="56000"/>
            </a:schemeClr>
          </a:solidFill>
          <a:ln w="127000">
            <a:solidFill>
              <a:schemeClr val="accent1">
                <a:alpha val="39000"/>
              </a:schemeClr>
            </a:solidFill>
            <a:round/>
          </a:ln>
          <a:effectLst>
            <a:softEdge rad="228600"/>
          </a:effectLst>
        </p:spPr>
      </p:pic>
      <p:sp>
        <p:nvSpPr>
          <p:cNvPr id="3" name="矩形 2"/>
          <p:cNvSpPr/>
          <p:nvPr/>
        </p:nvSpPr>
        <p:spPr>
          <a:xfrm>
            <a:off x="2530840" y="542698"/>
            <a:ext cx="6893234" cy="923330"/>
          </a:xfrm>
          <a:prstGeom prst="rect">
            <a:avLst/>
          </a:prstGeom>
        </p:spPr>
        <p:txBody>
          <a:bodyPr wrap="none">
            <a:spAutoFit/>
          </a:bodyPr>
          <a:lstStyle/>
          <a:p>
            <a:r>
              <a:rPr lang="en-US" sz="5400" b="1" dirty="0">
                <a:solidFill>
                  <a:srgbClr val="2D0AC2"/>
                </a:solidFill>
                <a:latin typeface="+mj-lt"/>
                <a:ea typeface="隶书" panose="02010509060101010101" pitchFamily="49" charset="-122"/>
              </a:rPr>
              <a:t>OpenMP</a:t>
            </a:r>
            <a:r>
              <a:rPr lang="zh-CN" altLang="en-US" sz="5400" b="1" dirty="0">
                <a:solidFill>
                  <a:srgbClr val="2D0AC2"/>
                </a:solidFill>
                <a:latin typeface="+mj-lt"/>
                <a:ea typeface="隶书" panose="02010509060101010101" pitchFamily="49" charset="-122"/>
              </a:rPr>
              <a:t>并行编程模型</a:t>
            </a:r>
            <a:endParaRPr lang="en-US" sz="5400" b="1" dirty="0">
              <a:solidFill>
                <a:srgbClr val="2D0AC2"/>
              </a:solidFill>
              <a:latin typeface="+mj-lt"/>
              <a:ea typeface="隶书" panose="02010509060101010101" pitchFamily="49" charset="-122"/>
            </a:endParaRPr>
          </a:p>
        </p:txBody>
      </p:sp>
      <p:sp>
        <p:nvSpPr>
          <p:cNvPr id="4" name="矩形 3"/>
          <p:cNvSpPr/>
          <p:nvPr/>
        </p:nvSpPr>
        <p:spPr>
          <a:xfrm>
            <a:off x="9961419" y="1931570"/>
            <a:ext cx="1567540" cy="1200329"/>
          </a:xfrm>
          <a:prstGeom prst="rect">
            <a:avLst/>
          </a:prstGeom>
          <a:ln>
            <a:noFill/>
          </a:ln>
        </p:spPr>
        <p:txBody>
          <a:bodyPr wrap="square">
            <a:spAutoFit/>
          </a:bodyPr>
          <a:lstStyle/>
          <a:p>
            <a:r>
              <a:rPr lang="en-US" sz="2400" b="1" dirty="0">
                <a:solidFill>
                  <a:schemeClr val="bg1"/>
                </a:solidFill>
              </a:rPr>
              <a:t>Fork-Join</a:t>
            </a:r>
            <a:r>
              <a:rPr lang="zh-CN" altLang="en-US" sz="2400" b="1" dirty="0">
                <a:solidFill>
                  <a:schemeClr val="bg1"/>
                </a:solidFill>
              </a:rPr>
              <a:t>并行执行模型</a:t>
            </a:r>
            <a:endParaRPr lang="en-US" sz="2400" b="1" dirty="0">
              <a:solidFill>
                <a:schemeClr val="bg1"/>
              </a:solidFill>
            </a:endParaRPr>
          </a:p>
        </p:txBody>
      </p:sp>
    </p:spTree>
  </p:cSld>
  <p:clrMapOvr>
    <a:masterClrMapping/>
  </p:clrMapOvr>
  <p:transition spd="med" advTm="3025">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云形 4"/>
          <p:cNvSpPr/>
          <p:nvPr/>
        </p:nvSpPr>
        <p:spPr bwMode="auto">
          <a:xfrm>
            <a:off x="7630262" y="825507"/>
            <a:ext cx="4561738" cy="5275489"/>
          </a:xfrm>
          <a:prstGeom prst="cloud">
            <a:avLst/>
          </a:prstGeom>
          <a:solidFill>
            <a:srgbClr val="6A247A"/>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ctr" fontAlgn="base">
              <a:spcBef>
                <a:spcPct val="0"/>
              </a:spcBef>
              <a:spcAft>
                <a:spcPct val="0"/>
              </a:spcAft>
            </a:pPr>
            <a:endParaRPr lang="en-US" smtClean="0">
              <a:solidFill>
                <a:srgbClr val="000000"/>
              </a:solidFill>
              <a:latin typeface="Arial" panose="020B0604020202020204" pitchFamily="34" charset="0"/>
              <a:ea typeface="隶书" panose="02010509060101010101" pitchFamily="49" charset="-122"/>
            </a:endParaRPr>
          </a:p>
        </p:txBody>
      </p:sp>
      <p:sp>
        <p:nvSpPr>
          <p:cNvPr id="3" name="矩形 2"/>
          <p:cNvSpPr/>
          <p:nvPr/>
        </p:nvSpPr>
        <p:spPr>
          <a:xfrm>
            <a:off x="2503131" y="376443"/>
            <a:ext cx="6893234" cy="923330"/>
          </a:xfrm>
          <a:prstGeom prst="rect">
            <a:avLst/>
          </a:prstGeom>
        </p:spPr>
        <p:txBody>
          <a:bodyPr wrap="none">
            <a:spAutoFit/>
          </a:bodyPr>
          <a:lstStyle/>
          <a:p>
            <a:r>
              <a:rPr lang="en-US" sz="5400" b="1" dirty="0">
                <a:solidFill>
                  <a:srgbClr val="2D0AC2"/>
                </a:solidFill>
                <a:ea typeface="隶书" panose="02010509060101010101" pitchFamily="49" charset="-122"/>
              </a:rPr>
              <a:t>OpenMP</a:t>
            </a:r>
            <a:r>
              <a:rPr lang="zh-CN" altLang="en-US" sz="5400" b="1" dirty="0">
                <a:solidFill>
                  <a:srgbClr val="2D0AC2"/>
                </a:solidFill>
                <a:ea typeface="隶书" panose="02010509060101010101" pitchFamily="49" charset="-122"/>
              </a:rPr>
              <a:t>并行编程模型</a:t>
            </a:r>
            <a:endParaRPr lang="en-US" sz="5400" b="1" dirty="0">
              <a:solidFill>
                <a:srgbClr val="2D0AC2"/>
              </a:solidFill>
              <a:ea typeface="隶书" panose="02010509060101010101" pitchFamily="49" charset="-122"/>
            </a:endParaRPr>
          </a:p>
        </p:txBody>
      </p:sp>
      <p:pic>
        <p:nvPicPr>
          <p:cNvPr id="6" name="图片 5"/>
          <p:cNvPicPr>
            <a:picLocks noChangeAspect="1"/>
          </p:cNvPicPr>
          <p:nvPr/>
        </p:nvPicPr>
        <p:blipFill>
          <a:blip r:embed="rId1"/>
          <a:stretch>
            <a:fillRect/>
          </a:stretch>
        </p:blipFill>
        <p:spPr>
          <a:xfrm>
            <a:off x="239169" y="1299773"/>
            <a:ext cx="7391093" cy="5096562"/>
          </a:xfrm>
          <a:prstGeom prst="rect">
            <a:avLst/>
          </a:prstGeom>
        </p:spPr>
      </p:pic>
      <p:sp>
        <p:nvSpPr>
          <p:cNvPr id="2" name="矩形 1"/>
          <p:cNvSpPr/>
          <p:nvPr/>
        </p:nvSpPr>
        <p:spPr>
          <a:xfrm>
            <a:off x="8244589" y="1478092"/>
            <a:ext cx="3627619" cy="3970318"/>
          </a:xfrm>
          <a:prstGeom prst="rect">
            <a:avLst/>
          </a:prstGeom>
        </p:spPr>
        <p:txBody>
          <a:bodyPr wrap="square">
            <a:spAutoFit/>
          </a:bodyPr>
          <a:lstStyle/>
          <a:p>
            <a:r>
              <a:rPr lang="zh-CN" altLang="en-US" sz="2800" b="1" dirty="0">
                <a:solidFill>
                  <a:schemeClr val="bg1"/>
                </a:solidFill>
              </a:rPr>
              <a:t>基本</a:t>
            </a:r>
            <a:r>
              <a:rPr lang="zh-CN" altLang="en-US" sz="2800" b="1" dirty="0" smtClean="0">
                <a:solidFill>
                  <a:schemeClr val="bg1"/>
                </a:solidFill>
              </a:rPr>
              <a:t>思想</a:t>
            </a:r>
            <a:r>
              <a:rPr lang="zh-CN" altLang="en-US" sz="2800" b="1" dirty="0">
                <a:solidFill>
                  <a:schemeClr val="bg1"/>
                </a:solidFill>
              </a:rPr>
              <a:t>：</a:t>
            </a:r>
            <a:r>
              <a:rPr lang="zh-CN" altLang="en-US" sz="2800" b="1" dirty="0" smtClean="0">
                <a:solidFill>
                  <a:schemeClr val="bg1"/>
                </a:solidFill>
              </a:rPr>
              <a:t>程序</a:t>
            </a:r>
            <a:r>
              <a:rPr lang="zh-CN" altLang="en-US" sz="2800" b="1" dirty="0">
                <a:solidFill>
                  <a:schemeClr val="bg1"/>
                </a:solidFill>
              </a:rPr>
              <a:t>开始时只有一个主线程，程序中的串行部分</a:t>
            </a:r>
            <a:r>
              <a:rPr lang="zh-CN" altLang="en-US" sz="2800" b="1" dirty="0" smtClean="0">
                <a:solidFill>
                  <a:schemeClr val="bg1"/>
                </a:solidFill>
              </a:rPr>
              <a:t>都是由</a:t>
            </a:r>
            <a:r>
              <a:rPr lang="zh-CN" altLang="en-US" sz="2800" b="1" dirty="0">
                <a:solidFill>
                  <a:schemeClr val="bg1"/>
                </a:solidFill>
              </a:rPr>
              <a:t>主线程</a:t>
            </a:r>
            <a:r>
              <a:rPr lang="zh-CN" altLang="en-US" sz="2800" b="1" dirty="0" smtClean="0">
                <a:solidFill>
                  <a:schemeClr val="bg1"/>
                </a:solidFill>
              </a:rPr>
              <a:t>执行；并行</a:t>
            </a:r>
            <a:r>
              <a:rPr lang="zh-CN" altLang="en-US" sz="2800" b="1" dirty="0">
                <a:solidFill>
                  <a:schemeClr val="bg1"/>
                </a:solidFill>
              </a:rPr>
              <a:t>的部分是通过派生</a:t>
            </a:r>
            <a:r>
              <a:rPr lang="zh-CN" altLang="en-US" sz="2800" b="1" dirty="0" smtClean="0">
                <a:solidFill>
                  <a:schemeClr val="bg1"/>
                </a:solidFill>
              </a:rPr>
              <a:t>其它线程</a:t>
            </a:r>
            <a:r>
              <a:rPr lang="zh-CN" altLang="en-US" sz="2800" b="1" dirty="0">
                <a:solidFill>
                  <a:schemeClr val="bg1"/>
                </a:solidFill>
              </a:rPr>
              <a:t>来</a:t>
            </a:r>
            <a:r>
              <a:rPr lang="zh-CN" altLang="en-US" sz="2800" b="1" dirty="0" smtClean="0">
                <a:solidFill>
                  <a:schemeClr val="bg1"/>
                </a:solidFill>
              </a:rPr>
              <a:t>执行。但是</a:t>
            </a:r>
            <a:r>
              <a:rPr lang="zh-CN" altLang="en-US" sz="2800" b="1" dirty="0">
                <a:solidFill>
                  <a:schemeClr val="bg1"/>
                </a:solidFill>
              </a:rPr>
              <a:t>如果并行部分没有结束时是不会执行串行部分</a:t>
            </a:r>
            <a:r>
              <a:rPr lang="zh-CN" altLang="en-US" sz="2800" b="1" dirty="0" smtClean="0">
                <a:solidFill>
                  <a:schemeClr val="bg1"/>
                </a:solidFill>
              </a:rPr>
              <a:t>的。</a:t>
            </a:r>
            <a:endParaRPr lang="en-US" sz="2800" b="1" dirty="0">
              <a:solidFill>
                <a:schemeClr val="bg1"/>
              </a:solidFill>
            </a:endParaRPr>
          </a:p>
        </p:txBody>
      </p:sp>
    </p:spTree>
  </p:cSld>
  <p:clrMapOvr>
    <a:masterClrMapping/>
  </p:clrMapOvr>
  <p:transition spd="med" advTm="3025">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2053652" y="610185"/>
            <a:ext cx="7495082" cy="5760635"/>
          </a:xfrm>
          <a:prstGeom prst="rect">
            <a:avLst/>
          </a:prstGeom>
        </p:spPr>
      </p:pic>
    </p:spTree>
  </p:cSld>
  <p:clrMapOvr>
    <a:masterClrMapping/>
  </p:clrMapOvr>
  <p:transition spd="med" advTm="3025">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912206" y="366632"/>
            <a:ext cx="4512774" cy="769441"/>
          </a:xfrm>
          <a:prstGeom prst="rect">
            <a:avLst/>
          </a:prstGeom>
        </p:spPr>
        <p:txBody>
          <a:bodyPr wrap="none">
            <a:spAutoFit/>
          </a:bodyPr>
          <a:lstStyle/>
          <a:p>
            <a:r>
              <a:rPr lang="en-US" sz="4400" b="1" dirty="0" smtClean="0">
                <a:solidFill>
                  <a:srgbClr val="2D0AC2"/>
                </a:solidFill>
                <a:ea typeface="隶书" panose="02010509060101010101" pitchFamily="49" charset="-122"/>
              </a:rPr>
              <a:t>OpenMP</a:t>
            </a:r>
            <a:r>
              <a:rPr lang="zh-CN" altLang="en-US" sz="4400" b="1" dirty="0" smtClean="0">
                <a:solidFill>
                  <a:srgbClr val="2D0AC2"/>
                </a:solidFill>
                <a:ea typeface="隶书" panose="02010509060101010101" pitchFamily="49" charset="-122"/>
              </a:rPr>
              <a:t>存储模型</a:t>
            </a:r>
            <a:endParaRPr lang="en-US" sz="4400" b="1" dirty="0">
              <a:solidFill>
                <a:srgbClr val="2D0AC2"/>
              </a:solidFill>
              <a:ea typeface="隶书" panose="02010509060101010101" pitchFamily="49" charset="-122"/>
            </a:endParaRPr>
          </a:p>
        </p:txBody>
      </p:sp>
      <p:sp>
        <p:nvSpPr>
          <p:cNvPr id="4" name="矩形 3"/>
          <p:cNvSpPr/>
          <p:nvPr/>
        </p:nvSpPr>
        <p:spPr>
          <a:xfrm>
            <a:off x="9447811" y="1897815"/>
            <a:ext cx="1983177" cy="954107"/>
          </a:xfrm>
          <a:prstGeom prst="rect">
            <a:avLst/>
          </a:prstGeom>
          <a:ln>
            <a:noFill/>
          </a:ln>
        </p:spPr>
        <p:txBody>
          <a:bodyPr wrap="square">
            <a:spAutoFit/>
          </a:bodyPr>
          <a:lstStyle/>
          <a:p>
            <a:r>
              <a:rPr lang="en-US" sz="2800" b="1" dirty="0">
                <a:solidFill>
                  <a:srgbClr val="FFFFFF"/>
                </a:solidFill>
              </a:rPr>
              <a:t>Fork-Join</a:t>
            </a:r>
            <a:r>
              <a:rPr lang="zh-CN" altLang="en-US" sz="2800" b="1" dirty="0">
                <a:solidFill>
                  <a:srgbClr val="FFFFFF"/>
                </a:solidFill>
              </a:rPr>
              <a:t>并行执行模型</a:t>
            </a:r>
            <a:endParaRPr lang="en-US" sz="2800" b="1" dirty="0">
              <a:solidFill>
                <a:srgbClr val="FFFFFF"/>
              </a:solidFill>
            </a:endParaRPr>
          </a:p>
        </p:txBody>
      </p:sp>
      <p:pic>
        <p:nvPicPr>
          <p:cNvPr id="2" name="图片 1"/>
          <p:cNvPicPr>
            <a:picLocks noChangeAspect="1"/>
          </p:cNvPicPr>
          <p:nvPr/>
        </p:nvPicPr>
        <p:blipFill>
          <a:blip r:embed="rId1">
            <a:duotone>
              <a:prstClr val="black"/>
              <a:schemeClr val="accent5">
                <a:tint val="45000"/>
                <a:satMod val="400000"/>
              </a:schemeClr>
            </a:duotone>
          </a:blip>
          <a:stretch>
            <a:fillRect/>
          </a:stretch>
        </p:blipFill>
        <p:spPr>
          <a:xfrm>
            <a:off x="1586631" y="1136073"/>
            <a:ext cx="4206334" cy="5209309"/>
          </a:xfrm>
          <a:prstGeom prst="rect">
            <a:avLst/>
          </a:prstGeom>
          <a:effectLst>
            <a:glow rad="88900">
              <a:srgbClr val="00B0F0">
                <a:alpha val="16000"/>
              </a:srgbClr>
            </a:glow>
            <a:softEdge rad="25400"/>
          </a:effectLst>
        </p:spPr>
      </p:pic>
      <p:sp>
        <p:nvSpPr>
          <p:cNvPr id="7" name="文本框 6"/>
          <p:cNvSpPr txBox="1"/>
          <p:nvPr/>
        </p:nvSpPr>
        <p:spPr>
          <a:xfrm>
            <a:off x="6664116" y="1136073"/>
            <a:ext cx="4766872" cy="4453912"/>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zh-CN" altLang="en-US" sz="3200" b="1" dirty="0" smtClean="0">
                <a:solidFill>
                  <a:srgbClr val="6A247A"/>
                </a:solidFill>
                <a:latin typeface="华文新魏" panose="02010800040101010101" pitchFamily="2" charset="-122"/>
                <a:ea typeface="华文新魏" panose="02010800040101010101" pitchFamily="2" charset="-122"/>
              </a:rPr>
              <a:t>每个线程拥有私有存储</a:t>
            </a:r>
            <a:endParaRPr lang="en-US" altLang="zh-CN" sz="3200" b="1" dirty="0" smtClean="0">
              <a:solidFill>
                <a:srgbClr val="6A247A"/>
              </a:solidFill>
              <a:latin typeface="华文新魏" panose="02010800040101010101" pitchFamily="2" charset="-122"/>
              <a:ea typeface="华文新魏" panose="02010800040101010101" pitchFamily="2" charset="-122"/>
            </a:endParaRPr>
          </a:p>
          <a:p>
            <a:pPr marL="457200" indent="-457200">
              <a:lnSpc>
                <a:spcPct val="150000"/>
              </a:lnSpc>
              <a:buFont typeface="Arial" panose="020B0604020202020204" pitchFamily="34" charset="0"/>
              <a:buChar char="•"/>
            </a:pPr>
            <a:r>
              <a:rPr lang="zh-CN" altLang="en-US" sz="3200" b="1" dirty="0" smtClean="0">
                <a:solidFill>
                  <a:srgbClr val="6A247A"/>
                </a:solidFill>
                <a:latin typeface="华文新魏" panose="02010800040101010101" pitchFamily="2" charset="-122"/>
                <a:ea typeface="华文新魏" panose="02010800040101010101" pitchFamily="2" charset="-122"/>
              </a:rPr>
              <a:t>私有存储只能被本地线程访问，不能被其它线程访问</a:t>
            </a:r>
            <a:endParaRPr lang="en-US" altLang="zh-CN" sz="3200" b="1" dirty="0" smtClean="0">
              <a:solidFill>
                <a:srgbClr val="6A247A"/>
              </a:solidFill>
              <a:latin typeface="华文新魏" panose="02010800040101010101" pitchFamily="2" charset="-122"/>
              <a:ea typeface="华文新魏" panose="02010800040101010101" pitchFamily="2" charset="-122"/>
            </a:endParaRPr>
          </a:p>
          <a:p>
            <a:pPr marL="457200" indent="-457200">
              <a:lnSpc>
                <a:spcPct val="150000"/>
              </a:lnSpc>
              <a:buFont typeface="Arial" panose="020B0604020202020204" pitchFamily="34" charset="0"/>
              <a:buChar char="•"/>
            </a:pPr>
            <a:r>
              <a:rPr lang="zh-CN" altLang="en-US" sz="3200" b="1" dirty="0" smtClean="0">
                <a:solidFill>
                  <a:srgbClr val="6A247A"/>
                </a:solidFill>
                <a:latin typeface="华文新魏" panose="02010800040101010101" pitchFamily="2" charset="-122"/>
                <a:ea typeface="华文新魏" panose="02010800040101010101" pitchFamily="2" charset="-122"/>
              </a:rPr>
              <a:t>所有线程都可以存取共享存储里的数据</a:t>
            </a:r>
            <a:endParaRPr lang="en-US" sz="3200" b="1" dirty="0">
              <a:solidFill>
                <a:srgbClr val="6A247A"/>
              </a:solidFill>
              <a:latin typeface="华文新魏" panose="02010800040101010101" pitchFamily="2" charset="-122"/>
              <a:ea typeface="华文新魏" panose="02010800040101010101" pitchFamily="2" charset="-122"/>
            </a:endParaRPr>
          </a:p>
        </p:txBody>
      </p:sp>
    </p:spTree>
  </p:cSld>
  <p:clrMapOvr>
    <a:masterClrMapping/>
  </p:clrMapOvr>
  <p:transition spd="med" advTm="3025">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573967" y="552246"/>
            <a:ext cx="9143999" cy="5816977"/>
          </a:xfrm>
          <a:prstGeom prst="rect">
            <a:avLst/>
          </a:prstGeom>
        </p:spPr>
        <p:txBody>
          <a:bodyPr wrap="square">
            <a:spAutoFit/>
          </a:bodyPr>
          <a:lstStyle/>
          <a:p>
            <a:pPr algn="ctr"/>
            <a:r>
              <a:rPr lang="zh-CN" altLang="en-US" sz="3600" b="1" dirty="0" smtClean="0">
                <a:solidFill>
                  <a:srgbClr val="2D0AC2"/>
                </a:solidFill>
              </a:rPr>
              <a:t>基于</a:t>
            </a:r>
            <a:r>
              <a:rPr lang="en-US" sz="3600" b="1" dirty="0">
                <a:solidFill>
                  <a:srgbClr val="2D0AC2"/>
                </a:solidFill>
              </a:rPr>
              <a:t>Fortran</a:t>
            </a:r>
            <a:r>
              <a:rPr lang="zh-CN" altLang="en-US" sz="3600" b="1" dirty="0">
                <a:solidFill>
                  <a:srgbClr val="2D0AC2"/>
                </a:solidFill>
              </a:rPr>
              <a:t>语言的</a:t>
            </a:r>
            <a:r>
              <a:rPr lang="en-US" sz="3600" b="1" dirty="0">
                <a:solidFill>
                  <a:srgbClr val="2D0AC2"/>
                </a:solidFill>
              </a:rPr>
              <a:t>OpenMP</a:t>
            </a:r>
            <a:r>
              <a:rPr lang="zh-CN" altLang="en-US" sz="3600" b="1" dirty="0">
                <a:solidFill>
                  <a:srgbClr val="2D0AC2"/>
                </a:solidFill>
              </a:rPr>
              <a:t>程序的结构 </a:t>
            </a:r>
            <a:r>
              <a:rPr lang="zh-CN" altLang="en-US" sz="2400" b="1" dirty="0" smtClean="0"/>
              <a:t> </a:t>
            </a:r>
            <a:r>
              <a:rPr lang="en-US" sz="2400" b="1" dirty="0"/>
              <a:t>PROGRAM HELLO </a:t>
            </a:r>
            <a:endParaRPr lang="en-US" sz="2400" b="1" dirty="0"/>
          </a:p>
          <a:p>
            <a:r>
              <a:rPr lang="en-US" sz="2400" b="1" dirty="0"/>
              <a:t>INTEGER VAR1, VAR2, VAR3 </a:t>
            </a:r>
            <a:endParaRPr lang="en-US" sz="2400" b="1" dirty="0"/>
          </a:p>
          <a:p>
            <a:r>
              <a:rPr lang="en-US" sz="2400" b="1" dirty="0"/>
              <a:t>       !Serial code </a:t>
            </a:r>
            <a:endParaRPr lang="en-US" sz="2400" b="1" dirty="0"/>
          </a:p>
          <a:p>
            <a:r>
              <a:rPr lang="en-US" sz="2400" b="1" dirty="0"/>
              <a:t>  … </a:t>
            </a:r>
            <a:endParaRPr lang="en-US" sz="2400" b="1" dirty="0"/>
          </a:p>
          <a:p>
            <a:r>
              <a:rPr lang="en-US" sz="2400" b="1" dirty="0"/>
              <a:t>       !Beginning of parallel section. Fork a team of threads.  </a:t>
            </a:r>
            <a:endParaRPr lang="en-US" sz="2400" b="1" dirty="0"/>
          </a:p>
          <a:p>
            <a:r>
              <a:rPr lang="en-US" sz="2400" b="1" dirty="0"/>
              <a:t>       !Specify variable scoping  </a:t>
            </a:r>
            <a:endParaRPr lang="en-US" sz="2400" b="1" dirty="0"/>
          </a:p>
          <a:p>
            <a:r>
              <a:rPr lang="en-US" sz="2400" b="1" dirty="0">
                <a:solidFill>
                  <a:srgbClr val="6A247A"/>
                </a:solidFill>
              </a:rPr>
              <a:t>!$OMP PARALLEL PRIVATE(VAR1, VAR2) SHARED(VAR3) </a:t>
            </a:r>
            <a:endParaRPr lang="en-US" sz="2400" b="1" dirty="0">
              <a:solidFill>
                <a:srgbClr val="6A247A"/>
              </a:solidFill>
            </a:endParaRPr>
          </a:p>
          <a:p>
            <a:r>
              <a:rPr lang="en-US" sz="2400" b="1" dirty="0">
                <a:solidFill>
                  <a:srgbClr val="6A247A"/>
                </a:solidFill>
              </a:rPr>
              <a:t>       !Parallel section executed by all threads  </a:t>
            </a:r>
            <a:endParaRPr lang="en-US" sz="2400" b="1" dirty="0">
              <a:solidFill>
                <a:srgbClr val="6A247A"/>
              </a:solidFill>
            </a:endParaRPr>
          </a:p>
          <a:p>
            <a:r>
              <a:rPr lang="en-US" sz="2400" b="1" dirty="0">
                <a:solidFill>
                  <a:srgbClr val="6A247A"/>
                </a:solidFill>
              </a:rPr>
              <a:t>  … </a:t>
            </a:r>
            <a:endParaRPr lang="en-US" sz="2400" b="1" dirty="0">
              <a:solidFill>
                <a:srgbClr val="6A247A"/>
              </a:solidFill>
            </a:endParaRPr>
          </a:p>
          <a:p>
            <a:r>
              <a:rPr lang="en-US" sz="2400" b="1" dirty="0">
                <a:solidFill>
                  <a:srgbClr val="6A247A"/>
                </a:solidFill>
              </a:rPr>
              <a:t>       !All threads join master thread and disband </a:t>
            </a:r>
            <a:endParaRPr lang="en-US" sz="2400" b="1" dirty="0">
              <a:solidFill>
                <a:srgbClr val="6A247A"/>
              </a:solidFill>
            </a:endParaRPr>
          </a:p>
          <a:p>
            <a:r>
              <a:rPr lang="en-US" sz="2400" b="1" dirty="0">
                <a:solidFill>
                  <a:srgbClr val="6A247A"/>
                </a:solidFill>
              </a:rPr>
              <a:t>!$OMP END PARALLEL </a:t>
            </a:r>
            <a:endParaRPr lang="en-US" sz="2400" b="1" dirty="0">
              <a:solidFill>
                <a:srgbClr val="6A247A"/>
              </a:solidFill>
            </a:endParaRPr>
          </a:p>
          <a:p>
            <a:r>
              <a:rPr lang="en-US" sz="2400" b="1" dirty="0"/>
              <a:t>       !Resume serial code </a:t>
            </a:r>
            <a:endParaRPr lang="en-US" sz="2400" b="1" dirty="0"/>
          </a:p>
          <a:p>
            <a:r>
              <a:rPr lang="en-US" sz="2400" b="1" dirty="0"/>
              <a:t>  … </a:t>
            </a:r>
            <a:endParaRPr lang="en-US" sz="2400" b="1" dirty="0"/>
          </a:p>
          <a:p>
            <a:r>
              <a:rPr lang="en-US" sz="2400" b="1" dirty="0"/>
              <a:t>END </a:t>
            </a:r>
            <a:endParaRPr lang="en-US" sz="2400" b="1" dirty="0"/>
          </a:p>
        </p:txBody>
      </p:sp>
    </p:spTree>
  </p:cSld>
  <p:clrMapOvr>
    <a:masterClrMapping/>
  </p:clrMapOvr>
  <p:transition spd="med" advTm="3025">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48524" y="440139"/>
            <a:ext cx="9263921" cy="6124754"/>
          </a:xfrm>
          <a:prstGeom prst="rect">
            <a:avLst/>
          </a:prstGeom>
        </p:spPr>
        <p:txBody>
          <a:bodyPr wrap="square">
            <a:spAutoFit/>
          </a:bodyPr>
          <a:lstStyle/>
          <a:p>
            <a:pPr algn="ctr"/>
            <a:r>
              <a:rPr lang="zh-CN" altLang="en-US" sz="3200" b="1" dirty="0">
                <a:solidFill>
                  <a:srgbClr val="2D0AC2"/>
                </a:solidFill>
              </a:rPr>
              <a:t>基于</a:t>
            </a:r>
            <a:r>
              <a:rPr lang="en-US" sz="3200" b="1" dirty="0">
                <a:solidFill>
                  <a:srgbClr val="2D0AC2"/>
                </a:solidFill>
              </a:rPr>
              <a:t>c/</a:t>
            </a:r>
            <a:r>
              <a:rPr lang="en-US" sz="3200" b="1" dirty="0" err="1">
                <a:solidFill>
                  <a:srgbClr val="2D0AC2"/>
                </a:solidFill>
              </a:rPr>
              <a:t>c++</a:t>
            </a:r>
            <a:r>
              <a:rPr lang="zh-CN" altLang="en-US" sz="3200" b="1" dirty="0">
                <a:solidFill>
                  <a:srgbClr val="2D0AC2"/>
                </a:solidFill>
              </a:rPr>
              <a:t>语言的</a:t>
            </a:r>
            <a:r>
              <a:rPr lang="en-US" sz="3200" b="1" dirty="0">
                <a:solidFill>
                  <a:srgbClr val="2D0AC2"/>
                </a:solidFill>
              </a:rPr>
              <a:t>OpenMP</a:t>
            </a:r>
            <a:r>
              <a:rPr lang="zh-CN" altLang="en-US" sz="3200" b="1" dirty="0">
                <a:solidFill>
                  <a:srgbClr val="2D0AC2"/>
                </a:solidFill>
              </a:rPr>
              <a:t>程序的结构  </a:t>
            </a:r>
            <a:r>
              <a:rPr lang="zh-CN" altLang="en-US" sz="3200" b="1" dirty="0" smtClean="0">
                <a:solidFill>
                  <a:srgbClr val="2D0AC2"/>
                </a:solidFill>
              </a:rPr>
              <a:t> </a:t>
            </a:r>
            <a:endParaRPr lang="zh-CN" altLang="en-US" sz="3200" b="1" dirty="0">
              <a:solidFill>
                <a:srgbClr val="2D0AC2"/>
              </a:solidFill>
            </a:endParaRPr>
          </a:p>
          <a:p>
            <a:r>
              <a:rPr lang="zh-CN" altLang="en-US" sz="2400" b="1" dirty="0"/>
              <a:t>  </a:t>
            </a:r>
            <a:r>
              <a:rPr lang="en-US" altLang="zh-CN" sz="2400" b="1" dirty="0"/>
              <a:t>#</a:t>
            </a:r>
            <a:r>
              <a:rPr lang="en-US" sz="2400" b="1" dirty="0"/>
              <a:t>include &lt;</a:t>
            </a:r>
            <a:r>
              <a:rPr lang="en-US" sz="2400" b="1" dirty="0" err="1"/>
              <a:t>omp.h</a:t>
            </a:r>
            <a:r>
              <a:rPr lang="en-US" sz="2400" b="1" dirty="0"/>
              <a:t>&gt;  </a:t>
            </a:r>
            <a:endParaRPr lang="en-US" sz="2400" b="1" dirty="0"/>
          </a:p>
          <a:p>
            <a:r>
              <a:rPr lang="en-US" sz="2400" b="1" dirty="0"/>
              <a:t>  main </a:t>
            </a:r>
            <a:r>
              <a:rPr lang="en-US" sz="2400" b="1" dirty="0" smtClean="0"/>
              <a:t>()</a:t>
            </a:r>
            <a:endParaRPr lang="en-US" sz="2400" b="1" dirty="0" smtClean="0"/>
          </a:p>
          <a:p>
            <a:r>
              <a:rPr lang="en-US" sz="2400" b="1" dirty="0" smtClean="0"/>
              <a:t>{  </a:t>
            </a:r>
            <a:r>
              <a:rPr lang="en-US" sz="2400" b="1" dirty="0" err="1"/>
              <a:t>int</a:t>
            </a:r>
            <a:r>
              <a:rPr lang="en-US" sz="2400" b="1" dirty="0"/>
              <a:t> var1, var2, var3; </a:t>
            </a:r>
            <a:endParaRPr lang="en-US" sz="2400" b="1" dirty="0"/>
          </a:p>
          <a:p>
            <a:r>
              <a:rPr lang="en-US" sz="2400" b="1" dirty="0"/>
              <a:t>    /*Serial code*/ </a:t>
            </a:r>
            <a:endParaRPr lang="en-US" sz="2400" b="1" dirty="0"/>
          </a:p>
          <a:p>
            <a:r>
              <a:rPr lang="en-US" sz="2400" b="1" dirty="0"/>
              <a:t>            … </a:t>
            </a:r>
            <a:endParaRPr lang="en-US" sz="2400" b="1" dirty="0"/>
          </a:p>
          <a:p>
            <a:r>
              <a:rPr lang="en-US" sz="2400" b="1" dirty="0"/>
              <a:t>    /*Beginning of parallel section. Fork a team of threads*/ </a:t>
            </a:r>
            <a:endParaRPr lang="en-US" sz="2400" b="1" dirty="0"/>
          </a:p>
          <a:p>
            <a:r>
              <a:rPr lang="en-US" sz="2400" b="1" dirty="0"/>
              <a:t>    /*Specify variable scoping */ </a:t>
            </a:r>
            <a:endParaRPr lang="en-US" sz="2400" b="1" dirty="0"/>
          </a:p>
          <a:p>
            <a:r>
              <a:rPr lang="en-US" sz="2400" b="1" dirty="0">
                <a:solidFill>
                  <a:srgbClr val="6A247A"/>
                </a:solidFill>
              </a:rPr>
              <a:t>    #pragma </a:t>
            </a:r>
            <a:r>
              <a:rPr lang="en-US" sz="2400" b="1" dirty="0" err="1">
                <a:solidFill>
                  <a:srgbClr val="6A247A"/>
                </a:solidFill>
              </a:rPr>
              <a:t>omp</a:t>
            </a:r>
            <a:r>
              <a:rPr lang="en-US" sz="2400" b="1" dirty="0">
                <a:solidFill>
                  <a:srgbClr val="6A247A"/>
                </a:solidFill>
              </a:rPr>
              <a:t> parallel private(var1, var2) shared(var3)   </a:t>
            </a:r>
            <a:endParaRPr lang="en-US" sz="2400" b="1" dirty="0">
              <a:solidFill>
                <a:srgbClr val="6A247A"/>
              </a:solidFill>
            </a:endParaRPr>
          </a:p>
          <a:p>
            <a:r>
              <a:rPr lang="en-US" sz="2400" b="1" dirty="0">
                <a:solidFill>
                  <a:srgbClr val="6A247A"/>
                </a:solidFill>
              </a:rPr>
              <a:t>    { </a:t>
            </a:r>
            <a:r>
              <a:rPr lang="en-US" sz="2400" b="1" dirty="0" smtClean="0">
                <a:solidFill>
                  <a:srgbClr val="6A247A"/>
                </a:solidFill>
              </a:rPr>
              <a:t> </a:t>
            </a:r>
            <a:r>
              <a:rPr lang="en-US" sz="2400" b="1" dirty="0">
                <a:solidFill>
                  <a:srgbClr val="6A247A"/>
                </a:solidFill>
              </a:rPr>
              <a:t>/*Parallel section executed by all threads*/       </a:t>
            </a:r>
            <a:endParaRPr lang="en-US" sz="2400" b="1" dirty="0">
              <a:solidFill>
                <a:srgbClr val="6A247A"/>
              </a:solidFill>
            </a:endParaRPr>
          </a:p>
          <a:p>
            <a:r>
              <a:rPr lang="en-US" sz="2400" b="1" dirty="0">
                <a:solidFill>
                  <a:srgbClr val="6A247A"/>
                </a:solidFill>
              </a:rPr>
              <a:t>      … </a:t>
            </a:r>
            <a:endParaRPr lang="en-US" sz="2400" b="1" dirty="0">
              <a:solidFill>
                <a:srgbClr val="6A247A"/>
              </a:solidFill>
            </a:endParaRPr>
          </a:p>
          <a:p>
            <a:r>
              <a:rPr lang="en-US" sz="2400" b="1" dirty="0">
                <a:solidFill>
                  <a:srgbClr val="6A247A"/>
                </a:solidFill>
              </a:rPr>
              <a:t>      /*All threads join master thread and disband*/ </a:t>
            </a:r>
            <a:endParaRPr lang="en-US" sz="2400" b="1" dirty="0">
              <a:solidFill>
                <a:srgbClr val="6A247A"/>
              </a:solidFill>
            </a:endParaRPr>
          </a:p>
          <a:p>
            <a:r>
              <a:rPr lang="en-US" sz="2400" b="1" dirty="0">
                <a:solidFill>
                  <a:srgbClr val="6A247A"/>
                </a:solidFill>
              </a:rPr>
              <a:t>    }   </a:t>
            </a:r>
            <a:endParaRPr lang="en-US" sz="2400" b="1" dirty="0">
              <a:solidFill>
                <a:srgbClr val="6A247A"/>
              </a:solidFill>
            </a:endParaRPr>
          </a:p>
          <a:p>
            <a:r>
              <a:rPr lang="en-US" sz="2400" b="1" dirty="0"/>
              <a:t>    /*Resume serial code */      </a:t>
            </a:r>
            <a:endParaRPr lang="en-US" sz="2400" b="1" dirty="0"/>
          </a:p>
          <a:p>
            <a:r>
              <a:rPr lang="en-US" sz="2400" b="1" dirty="0"/>
              <a:t>    … </a:t>
            </a:r>
            <a:endParaRPr lang="en-US" sz="2400" b="1" dirty="0" smtClean="0"/>
          </a:p>
          <a:p>
            <a:r>
              <a:rPr lang="en-US" sz="2400" b="1" dirty="0" smtClean="0"/>
              <a:t> </a:t>
            </a:r>
            <a:r>
              <a:rPr lang="en-US" sz="2400" b="1" dirty="0"/>
              <a:t>} </a:t>
            </a:r>
            <a:endParaRPr lang="en-US" sz="2400" b="1" dirty="0"/>
          </a:p>
        </p:txBody>
      </p:sp>
    </p:spTree>
  </p:cSld>
  <p:clrMapOvr>
    <a:masterClrMapping/>
  </p:clrMapOvr>
  <p:transition spd="med" advTm="3025">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028669" y="477933"/>
            <a:ext cx="7535056" cy="5632311"/>
          </a:xfrm>
          <a:prstGeom prst="rect">
            <a:avLst/>
          </a:prstGeom>
        </p:spPr>
        <p:txBody>
          <a:bodyPr wrap="square">
            <a:spAutoFit/>
          </a:bodyPr>
          <a:lstStyle/>
          <a:p>
            <a:r>
              <a:rPr lang="en-US" sz="2400" b="1" dirty="0"/>
              <a:t>#include "</a:t>
            </a:r>
            <a:r>
              <a:rPr lang="en-US" sz="2400" b="1" dirty="0" err="1"/>
              <a:t>omp.h</a:t>
            </a:r>
            <a:r>
              <a:rPr lang="en-US" sz="2400" b="1" dirty="0"/>
              <a:t>" </a:t>
            </a:r>
            <a:endParaRPr lang="en-US" sz="2400" b="1" dirty="0"/>
          </a:p>
          <a:p>
            <a:r>
              <a:rPr lang="en-US" sz="2400" b="1" dirty="0" err="1"/>
              <a:t>int</a:t>
            </a:r>
            <a:r>
              <a:rPr lang="en-US" sz="2400" b="1" dirty="0"/>
              <a:t> main(</a:t>
            </a:r>
            <a:r>
              <a:rPr lang="en-US" sz="2400" b="1" dirty="0" err="1"/>
              <a:t>int</a:t>
            </a:r>
            <a:r>
              <a:rPr lang="en-US" sz="2400" b="1" dirty="0"/>
              <a:t> </a:t>
            </a:r>
            <a:r>
              <a:rPr lang="en-US" sz="2400" b="1" dirty="0" err="1"/>
              <a:t>argc</a:t>
            </a:r>
            <a:r>
              <a:rPr lang="en-US" sz="2400" b="1" dirty="0"/>
              <a:t>, char* </a:t>
            </a:r>
            <a:r>
              <a:rPr lang="en-US" sz="2400" b="1" dirty="0" err="1"/>
              <a:t>argv</a:t>
            </a:r>
            <a:r>
              <a:rPr lang="en-US" sz="2400" b="1" dirty="0"/>
              <a:t>[]) </a:t>
            </a:r>
            <a:endParaRPr lang="en-US" sz="2400" b="1" dirty="0"/>
          </a:p>
          <a:p>
            <a:r>
              <a:rPr lang="en-US" sz="2400" b="1" dirty="0"/>
              <a:t>{ </a:t>
            </a:r>
            <a:r>
              <a:rPr lang="en-US" sz="2400" b="1" dirty="0" smtClean="0"/>
              <a:t> </a:t>
            </a:r>
            <a:r>
              <a:rPr lang="en-US" sz="2400" b="1" dirty="0" err="1"/>
              <a:t>int</a:t>
            </a:r>
            <a:r>
              <a:rPr lang="en-US" sz="2400" b="1" dirty="0"/>
              <a:t> </a:t>
            </a:r>
            <a:r>
              <a:rPr lang="en-US" sz="2400" b="1" dirty="0" err="1"/>
              <a:t>nthreads</a:t>
            </a:r>
            <a:r>
              <a:rPr lang="en-US" sz="2400" b="1" dirty="0"/>
              <a:t>, </a:t>
            </a:r>
            <a:r>
              <a:rPr lang="en-US" sz="2400" b="1" dirty="0" err="1"/>
              <a:t>tid</a:t>
            </a:r>
            <a:r>
              <a:rPr lang="en-US" sz="2400" b="1" dirty="0"/>
              <a:t>; </a:t>
            </a:r>
            <a:endParaRPr lang="en-US" sz="2400" b="1" dirty="0" smtClean="0"/>
          </a:p>
          <a:p>
            <a:r>
              <a:rPr lang="en-US" sz="2400" b="1" dirty="0" smtClean="0"/>
              <a:t>/*     </a:t>
            </a:r>
            <a:r>
              <a:rPr lang="en-US" sz="2400" b="1" dirty="0"/>
              <a:t>Fork a team of threads      */ </a:t>
            </a:r>
            <a:endParaRPr lang="en-US" sz="2400" b="1" dirty="0"/>
          </a:p>
          <a:p>
            <a:r>
              <a:rPr lang="en-US" sz="2400" b="1" dirty="0"/>
              <a:t>   </a:t>
            </a:r>
            <a:r>
              <a:rPr lang="en-US" sz="2400" b="1" dirty="0">
                <a:solidFill>
                  <a:srgbClr val="C00000"/>
                </a:solidFill>
              </a:rPr>
              <a:t>#pragma </a:t>
            </a:r>
            <a:r>
              <a:rPr lang="en-US" sz="2400" b="1" dirty="0" err="1">
                <a:solidFill>
                  <a:srgbClr val="C00000"/>
                </a:solidFill>
              </a:rPr>
              <a:t>omp</a:t>
            </a:r>
            <a:r>
              <a:rPr lang="en-US" sz="2400" b="1" dirty="0">
                <a:solidFill>
                  <a:srgbClr val="C00000"/>
                </a:solidFill>
              </a:rPr>
              <a:t> parallel private(</a:t>
            </a:r>
            <a:r>
              <a:rPr lang="en-US" sz="2400" b="1" dirty="0" err="1">
                <a:solidFill>
                  <a:srgbClr val="C00000"/>
                </a:solidFill>
              </a:rPr>
              <a:t>nthreads</a:t>
            </a:r>
            <a:r>
              <a:rPr lang="en-US" sz="2400" b="1" dirty="0">
                <a:solidFill>
                  <a:srgbClr val="C00000"/>
                </a:solidFill>
              </a:rPr>
              <a:t>, </a:t>
            </a:r>
            <a:r>
              <a:rPr lang="en-US" sz="2400" b="1" dirty="0" err="1">
                <a:solidFill>
                  <a:srgbClr val="C00000"/>
                </a:solidFill>
              </a:rPr>
              <a:t>tid</a:t>
            </a:r>
            <a:r>
              <a:rPr lang="en-US" sz="2400" b="1" dirty="0">
                <a:solidFill>
                  <a:srgbClr val="C00000"/>
                </a:solidFill>
              </a:rPr>
              <a:t>) </a:t>
            </a:r>
            <a:endParaRPr lang="en-US" sz="2400" b="1" dirty="0">
              <a:solidFill>
                <a:srgbClr val="C00000"/>
              </a:solidFill>
            </a:endParaRPr>
          </a:p>
          <a:p>
            <a:r>
              <a:rPr lang="en-US" sz="2400" b="1" dirty="0"/>
              <a:t>   { </a:t>
            </a:r>
            <a:r>
              <a:rPr lang="en-US" sz="2400" b="1" dirty="0" smtClean="0"/>
              <a:t>  </a:t>
            </a:r>
            <a:r>
              <a:rPr lang="en-US" sz="2400" b="1" dirty="0"/>
              <a:t>/*     Obtain and print thread id  */ </a:t>
            </a:r>
            <a:endParaRPr lang="en-US" sz="2400" b="1" dirty="0"/>
          </a:p>
          <a:p>
            <a:r>
              <a:rPr lang="en-US" sz="2400" b="1" dirty="0">
                <a:solidFill>
                  <a:srgbClr val="C00000"/>
                </a:solidFill>
              </a:rPr>
              <a:t>         </a:t>
            </a:r>
            <a:r>
              <a:rPr lang="en-US" sz="2400" b="1" dirty="0" err="1">
                <a:solidFill>
                  <a:srgbClr val="C00000"/>
                </a:solidFill>
              </a:rPr>
              <a:t>tid</a:t>
            </a:r>
            <a:r>
              <a:rPr lang="en-US" sz="2400" b="1" dirty="0">
                <a:solidFill>
                  <a:srgbClr val="C00000"/>
                </a:solidFill>
              </a:rPr>
              <a:t> = </a:t>
            </a:r>
            <a:r>
              <a:rPr lang="en-US" sz="2400" b="1" dirty="0" err="1">
                <a:solidFill>
                  <a:srgbClr val="C00000"/>
                </a:solidFill>
              </a:rPr>
              <a:t>omp_get_thread_num</a:t>
            </a:r>
            <a:r>
              <a:rPr lang="en-US" sz="2400" b="1" dirty="0" smtClean="0">
                <a:solidFill>
                  <a:srgbClr val="C00000"/>
                </a:solidFill>
              </a:rPr>
              <a:t>( ); </a:t>
            </a:r>
            <a:endParaRPr lang="en-US" sz="2400" b="1" dirty="0">
              <a:solidFill>
                <a:srgbClr val="C00000"/>
              </a:solidFill>
            </a:endParaRPr>
          </a:p>
          <a:p>
            <a:r>
              <a:rPr lang="en-US" sz="2400" b="1" dirty="0">
                <a:solidFill>
                  <a:srgbClr val="6A247A"/>
                </a:solidFill>
              </a:rPr>
              <a:t>         </a:t>
            </a:r>
            <a:r>
              <a:rPr lang="en-US" sz="2400" b="1" dirty="0" err="1">
                <a:solidFill>
                  <a:srgbClr val="6A247A"/>
                </a:solidFill>
              </a:rPr>
              <a:t>printf</a:t>
            </a:r>
            <a:r>
              <a:rPr lang="en-US" sz="2400" b="1" dirty="0">
                <a:solidFill>
                  <a:srgbClr val="6A247A"/>
                </a:solidFill>
              </a:rPr>
              <a:t>("Hello World from OMP thread %d\n", </a:t>
            </a:r>
            <a:r>
              <a:rPr lang="en-US" sz="2400" b="1" dirty="0" err="1">
                <a:solidFill>
                  <a:srgbClr val="6A247A"/>
                </a:solidFill>
              </a:rPr>
              <a:t>tid</a:t>
            </a:r>
            <a:r>
              <a:rPr lang="en-US" sz="2400" b="1" dirty="0">
                <a:solidFill>
                  <a:srgbClr val="6A247A"/>
                </a:solidFill>
              </a:rPr>
              <a:t>); </a:t>
            </a:r>
            <a:endParaRPr lang="en-US" sz="2400" b="1" dirty="0">
              <a:solidFill>
                <a:srgbClr val="6A247A"/>
              </a:solidFill>
            </a:endParaRPr>
          </a:p>
          <a:p>
            <a:r>
              <a:rPr lang="en-US" sz="2400" b="1" dirty="0"/>
              <a:t>        /*      Only master thread does this  */ </a:t>
            </a:r>
            <a:endParaRPr lang="en-US" sz="2400" b="1" dirty="0"/>
          </a:p>
          <a:p>
            <a:r>
              <a:rPr lang="en-US" sz="2400" b="1" dirty="0">
                <a:solidFill>
                  <a:srgbClr val="2D0AC2"/>
                </a:solidFill>
              </a:rPr>
              <a:t>         if (</a:t>
            </a:r>
            <a:r>
              <a:rPr lang="en-US" sz="2400" b="1" dirty="0" err="1">
                <a:solidFill>
                  <a:srgbClr val="2D0AC2"/>
                </a:solidFill>
              </a:rPr>
              <a:t>tid</a:t>
            </a:r>
            <a:r>
              <a:rPr lang="en-US" sz="2400" b="1" dirty="0">
                <a:solidFill>
                  <a:srgbClr val="2D0AC2"/>
                </a:solidFill>
              </a:rPr>
              <a:t>==0) { </a:t>
            </a:r>
            <a:endParaRPr lang="en-US" sz="2400" b="1" dirty="0">
              <a:solidFill>
                <a:srgbClr val="2D0AC2"/>
              </a:solidFill>
            </a:endParaRPr>
          </a:p>
          <a:p>
            <a:r>
              <a:rPr lang="en-US" sz="2400" b="1" dirty="0">
                <a:solidFill>
                  <a:srgbClr val="2D0AC2"/>
                </a:solidFill>
              </a:rPr>
              <a:t>              </a:t>
            </a:r>
            <a:r>
              <a:rPr lang="en-US" sz="2400" b="1" dirty="0" err="1">
                <a:solidFill>
                  <a:srgbClr val="2D0AC2"/>
                </a:solidFill>
              </a:rPr>
              <a:t>nthreads</a:t>
            </a:r>
            <a:r>
              <a:rPr lang="en-US" sz="2400" b="1" dirty="0">
                <a:solidFill>
                  <a:srgbClr val="2D0AC2"/>
                </a:solidFill>
              </a:rPr>
              <a:t> = </a:t>
            </a:r>
            <a:r>
              <a:rPr lang="en-US" sz="2400" b="1" dirty="0" err="1">
                <a:solidFill>
                  <a:srgbClr val="2D0AC2"/>
                </a:solidFill>
              </a:rPr>
              <a:t>omp_get_num_threads</a:t>
            </a:r>
            <a:r>
              <a:rPr lang="en-US" sz="2400" b="1" dirty="0">
                <a:solidFill>
                  <a:srgbClr val="2D0AC2"/>
                </a:solidFill>
              </a:rPr>
              <a:t>(); </a:t>
            </a:r>
            <a:endParaRPr lang="en-US" sz="2400" b="1" dirty="0">
              <a:solidFill>
                <a:srgbClr val="2D0AC2"/>
              </a:solidFill>
            </a:endParaRPr>
          </a:p>
          <a:p>
            <a:r>
              <a:rPr lang="en-US" sz="2400" b="1" dirty="0">
                <a:solidFill>
                  <a:srgbClr val="2D0AC2"/>
                </a:solidFill>
              </a:rPr>
              <a:t>              </a:t>
            </a:r>
            <a:r>
              <a:rPr lang="en-US" sz="2400" b="1" dirty="0" err="1">
                <a:solidFill>
                  <a:srgbClr val="2D0AC2"/>
                </a:solidFill>
              </a:rPr>
              <a:t>printf</a:t>
            </a:r>
            <a:r>
              <a:rPr lang="en-US" sz="2400" b="1" dirty="0">
                <a:solidFill>
                  <a:srgbClr val="2D0AC2"/>
                </a:solidFill>
              </a:rPr>
              <a:t>("Number of threads %d\n", </a:t>
            </a:r>
            <a:r>
              <a:rPr lang="en-US" sz="2400" b="1" dirty="0" err="1">
                <a:solidFill>
                  <a:srgbClr val="2D0AC2"/>
                </a:solidFill>
              </a:rPr>
              <a:t>nthreads</a:t>
            </a:r>
            <a:r>
              <a:rPr lang="en-US" sz="2400" b="1" dirty="0">
                <a:solidFill>
                  <a:srgbClr val="2D0AC2"/>
                </a:solidFill>
              </a:rPr>
              <a:t>); </a:t>
            </a:r>
            <a:endParaRPr lang="en-US" sz="2400" b="1" dirty="0">
              <a:solidFill>
                <a:srgbClr val="2D0AC2"/>
              </a:solidFill>
            </a:endParaRPr>
          </a:p>
          <a:p>
            <a:r>
              <a:rPr lang="en-US" sz="2400" b="1" dirty="0"/>
              <a:t>        } </a:t>
            </a:r>
            <a:endParaRPr lang="en-US" sz="2400" b="1" dirty="0"/>
          </a:p>
          <a:p>
            <a:r>
              <a:rPr lang="en-US" sz="2400" b="1" dirty="0"/>
              <a:t>   } </a:t>
            </a:r>
            <a:endParaRPr lang="en-US" sz="2400" b="1" dirty="0"/>
          </a:p>
          <a:p>
            <a:r>
              <a:rPr lang="en-US" sz="2400" b="1" dirty="0"/>
              <a:t>   return 0; </a:t>
            </a:r>
            <a:r>
              <a:rPr lang="en-US" sz="2400" b="1" dirty="0" smtClean="0"/>
              <a:t>} </a:t>
            </a:r>
            <a:endParaRPr lang="en-US" sz="2400" b="1" dirty="0"/>
          </a:p>
        </p:txBody>
      </p:sp>
    </p:spTree>
  </p:cSld>
  <p:clrMapOvr>
    <a:masterClrMapping/>
  </p:clrMapOvr>
  <p:transition spd="med" advTm="3025">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98491" y="618744"/>
            <a:ext cx="8554388" cy="5724644"/>
          </a:xfrm>
          <a:prstGeom prst="rect">
            <a:avLst/>
          </a:prstGeom>
        </p:spPr>
        <p:txBody>
          <a:bodyPr wrap="square">
            <a:spAutoFit/>
          </a:bodyPr>
          <a:lstStyle/>
          <a:p>
            <a:pPr>
              <a:lnSpc>
                <a:spcPct val="150000"/>
              </a:lnSpc>
            </a:pPr>
            <a:r>
              <a:rPr lang="zh-CN" altLang="en-US" sz="2800" b="1" dirty="0">
                <a:solidFill>
                  <a:srgbClr val="2D0AC2"/>
                </a:solidFill>
              </a:rPr>
              <a:t>运行结果 </a:t>
            </a:r>
            <a:r>
              <a:rPr lang="en-US" altLang="zh-CN" sz="2800" b="1" dirty="0">
                <a:solidFill>
                  <a:srgbClr val="2D0AC2"/>
                </a:solidFill>
              </a:rPr>
              <a:t>(</a:t>
            </a:r>
            <a:r>
              <a:rPr lang="en-US" sz="2800" b="1" dirty="0" err="1">
                <a:solidFill>
                  <a:srgbClr val="2D0AC2"/>
                </a:solidFill>
              </a:rPr>
              <a:t>setenv</a:t>
            </a:r>
            <a:r>
              <a:rPr lang="en-US" sz="2800" b="1" dirty="0">
                <a:solidFill>
                  <a:srgbClr val="2D0AC2"/>
                </a:solidFill>
              </a:rPr>
              <a:t> OMP_NUM_THREADS 8) </a:t>
            </a:r>
            <a:endParaRPr lang="en-US" sz="2800" b="1" dirty="0">
              <a:solidFill>
                <a:srgbClr val="2D0AC2"/>
              </a:solidFill>
            </a:endParaRPr>
          </a:p>
          <a:p>
            <a:pPr>
              <a:lnSpc>
                <a:spcPct val="150000"/>
              </a:lnSpc>
            </a:pPr>
            <a:r>
              <a:rPr lang="en-US" sz="2400" b="1" dirty="0">
                <a:solidFill>
                  <a:srgbClr val="6A247A"/>
                </a:solidFill>
              </a:rPr>
              <a:t>Hello World from OMP thread 0 </a:t>
            </a:r>
            <a:endParaRPr lang="en-US" sz="2400" b="1" dirty="0">
              <a:solidFill>
                <a:srgbClr val="6A247A"/>
              </a:solidFill>
            </a:endParaRPr>
          </a:p>
          <a:p>
            <a:pPr>
              <a:lnSpc>
                <a:spcPct val="150000"/>
              </a:lnSpc>
            </a:pPr>
            <a:r>
              <a:rPr lang="en-US" sz="2400" b="1" dirty="0">
                <a:solidFill>
                  <a:srgbClr val="6A247A"/>
                </a:solidFill>
              </a:rPr>
              <a:t>Number of threads 8 </a:t>
            </a:r>
            <a:endParaRPr lang="en-US" sz="2400" b="1" dirty="0">
              <a:solidFill>
                <a:srgbClr val="6A247A"/>
              </a:solidFill>
            </a:endParaRPr>
          </a:p>
          <a:p>
            <a:pPr>
              <a:lnSpc>
                <a:spcPct val="150000"/>
              </a:lnSpc>
            </a:pPr>
            <a:r>
              <a:rPr lang="en-US" sz="2400" b="1" dirty="0"/>
              <a:t>Hello World from OMP thread 4 </a:t>
            </a:r>
            <a:endParaRPr lang="en-US" sz="2400" b="1" dirty="0"/>
          </a:p>
          <a:p>
            <a:pPr>
              <a:lnSpc>
                <a:spcPct val="150000"/>
              </a:lnSpc>
            </a:pPr>
            <a:r>
              <a:rPr lang="en-US" sz="2400" b="1" dirty="0"/>
              <a:t>Hello World from OMP thread 5 </a:t>
            </a:r>
            <a:endParaRPr lang="en-US" sz="2400" b="1" dirty="0"/>
          </a:p>
          <a:p>
            <a:pPr>
              <a:lnSpc>
                <a:spcPct val="150000"/>
              </a:lnSpc>
            </a:pPr>
            <a:r>
              <a:rPr lang="en-US" sz="2400" b="1" dirty="0"/>
              <a:t>Hello World from OMP thread 6 </a:t>
            </a:r>
            <a:endParaRPr lang="en-US" sz="2400" b="1" dirty="0"/>
          </a:p>
          <a:p>
            <a:pPr>
              <a:lnSpc>
                <a:spcPct val="150000"/>
              </a:lnSpc>
            </a:pPr>
            <a:r>
              <a:rPr lang="en-US" sz="2400" b="1" dirty="0"/>
              <a:t>Hello World from OMP thread 7 </a:t>
            </a:r>
            <a:endParaRPr lang="en-US" sz="2400" b="1" dirty="0"/>
          </a:p>
          <a:p>
            <a:pPr>
              <a:lnSpc>
                <a:spcPct val="150000"/>
              </a:lnSpc>
            </a:pPr>
            <a:r>
              <a:rPr lang="en-US" sz="2400" b="1" dirty="0"/>
              <a:t>Hello World from OMP thread 2 </a:t>
            </a:r>
            <a:endParaRPr lang="en-US" sz="2400" b="1" dirty="0"/>
          </a:p>
          <a:p>
            <a:pPr>
              <a:lnSpc>
                <a:spcPct val="150000"/>
              </a:lnSpc>
            </a:pPr>
            <a:r>
              <a:rPr lang="en-US" sz="2400" b="1" dirty="0"/>
              <a:t>Hello World from OMP thread 1 </a:t>
            </a:r>
            <a:endParaRPr lang="en-US" sz="2400" b="1" dirty="0"/>
          </a:p>
          <a:p>
            <a:pPr>
              <a:lnSpc>
                <a:spcPct val="150000"/>
              </a:lnSpc>
            </a:pPr>
            <a:r>
              <a:rPr lang="en-US" sz="2400" b="1" dirty="0"/>
              <a:t>Hello World from OMP thread 3 </a:t>
            </a:r>
            <a:endParaRPr lang="en-US" sz="2400" b="1" dirty="0"/>
          </a:p>
        </p:txBody>
      </p:sp>
    </p:spTree>
  </p:cSld>
  <p:clrMapOvr>
    <a:masterClrMapping/>
  </p:clrMapOvr>
  <p:transition spd="med" advTm="3025">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858460" y="516124"/>
            <a:ext cx="6322564" cy="830997"/>
          </a:xfrm>
          <a:prstGeom prst="rect">
            <a:avLst/>
          </a:prstGeom>
        </p:spPr>
        <p:txBody>
          <a:bodyPr wrap="none">
            <a:spAutoFit/>
          </a:bodyPr>
          <a:lstStyle/>
          <a:p>
            <a:pPr algn="ctr"/>
            <a:r>
              <a:rPr lang="en-US" altLang="zh-CN" sz="4800" dirty="0" smtClean="0">
                <a:solidFill>
                  <a:srgbClr val="2D0AC2"/>
                </a:solidFill>
                <a:latin typeface="华文新魏" panose="02010800040101010101" pitchFamily="2" charset="-122"/>
                <a:ea typeface="华文新魏" panose="02010800040101010101" pitchFamily="2" charset="-122"/>
              </a:rPr>
              <a:t>OpenMP</a:t>
            </a:r>
            <a:r>
              <a:rPr lang="zh-CN" altLang="en-US" sz="4800" dirty="0" smtClean="0">
                <a:solidFill>
                  <a:srgbClr val="2D0AC2"/>
                </a:solidFill>
                <a:latin typeface="华文新魏" panose="02010800040101010101" pitchFamily="2" charset="-122"/>
                <a:ea typeface="华文新魏" panose="02010800040101010101" pitchFamily="2" charset="-122"/>
              </a:rPr>
              <a:t>编译指导语句</a:t>
            </a:r>
            <a:endParaRPr lang="en-US" altLang="zh-CN" sz="4800" dirty="0" smtClean="0">
              <a:solidFill>
                <a:srgbClr val="2D0AC2"/>
              </a:solidFill>
              <a:latin typeface="华文新魏" panose="02010800040101010101" pitchFamily="2" charset="-122"/>
              <a:ea typeface="华文新魏" panose="02010800040101010101" pitchFamily="2" charset="-122"/>
            </a:endParaRPr>
          </a:p>
        </p:txBody>
      </p:sp>
      <p:sp>
        <p:nvSpPr>
          <p:cNvPr id="2" name="矩形 1"/>
          <p:cNvSpPr/>
          <p:nvPr/>
        </p:nvSpPr>
        <p:spPr>
          <a:xfrm>
            <a:off x="858116" y="1347121"/>
            <a:ext cx="10009753" cy="5073184"/>
          </a:xfrm>
          <a:prstGeom prst="rect">
            <a:avLst/>
          </a:prstGeom>
        </p:spPr>
        <p:txBody>
          <a:bodyPr wrap="square">
            <a:spAutoFit/>
          </a:bodyPr>
          <a:lstStyle/>
          <a:p>
            <a:pPr marL="457200" indent="-457200">
              <a:buFont typeface="Wingdings" panose="05000000000000000000" pitchFamily="2" charset="2"/>
              <a:buChar char="v"/>
            </a:pPr>
            <a:r>
              <a:rPr lang="zh-CN" altLang="en-US" sz="3200" b="1" dirty="0" smtClean="0">
                <a:solidFill>
                  <a:srgbClr val="000000"/>
                </a:solidFill>
              </a:rPr>
              <a:t> 目标：</a:t>
            </a:r>
            <a:endParaRPr lang="en-US" altLang="zh-CN" sz="3200" b="1" dirty="0" smtClean="0">
              <a:solidFill>
                <a:srgbClr val="000000"/>
              </a:solidFill>
            </a:endParaRPr>
          </a:p>
          <a:p>
            <a:pPr>
              <a:lnSpc>
                <a:spcPts val="5000"/>
              </a:lnSpc>
            </a:pPr>
            <a:r>
              <a:rPr lang="en-US" altLang="zh-CN" sz="3200" b="1" dirty="0" smtClean="0">
                <a:solidFill>
                  <a:srgbClr val="000000"/>
                </a:solidFill>
              </a:rPr>
              <a:t>1</a:t>
            </a:r>
            <a:r>
              <a:rPr lang="zh-CN" altLang="en-US" sz="3200" b="1" dirty="0">
                <a:solidFill>
                  <a:srgbClr val="000000"/>
                </a:solidFill>
              </a:rPr>
              <a:t>）产生一个并行区域</a:t>
            </a:r>
            <a:r>
              <a:rPr lang="zh-CN" altLang="en-US" sz="3200" b="1" dirty="0" smtClean="0">
                <a:solidFill>
                  <a:srgbClr val="000000"/>
                </a:solidFill>
              </a:rPr>
              <a:t>；</a:t>
            </a:r>
            <a:endParaRPr lang="en-US" altLang="zh-CN" sz="3200" b="1" dirty="0" smtClean="0">
              <a:solidFill>
                <a:srgbClr val="000000"/>
              </a:solidFill>
            </a:endParaRPr>
          </a:p>
          <a:p>
            <a:pPr>
              <a:lnSpc>
                <a:spcPts val="5000"/>
              </a:lnSpc>
            </a:pPr>
            <a:r>
              <a:rPr lang="en-US" altLang="zh-CN" sz="3200" b="1" dirty="0" smtClean="0">
                <a:solidFill>
                  <a:srgbClr val="000000"/>
                </a:solidFill>
              </a:rPr>
              <a:t>2</a:t>
            </a:r>
            <a:r>
              <a:rPr lang="zh-CN" altLang="en-US" sz="3200" b="1" dirty="0">
                <a:solidFill>
                  <a:srgbClr val="000000"/>
                </a:solidFill>
              </a:rPr>
              <a:t>）划分线程中的代码块</a:t>
            </a:r>
            <a:r>
              <a:rPr lang="zh-CN" altLang="en-US" sz="3200" b="1" dirty="0" smtClean="0">
                <a:solidFill>
                  <a:srgbClr val="000000"/>
                </a:solidFill>
              </a:rPr>
              <a:t>；</a:t>
            </a:r>
            <a:endParaRPr lang="en-US" altLang="zh-CN" sz="3200" b="1" dirty="0" smtClean="0">
              <a:solidFill>
                <a:srgbClr val="000000"/>
              </a:solidFill>
            </a:endParaRPr>
          </a:p>
          <a:p>
            <a:pPr>
              <a:lnSpc>
                <a:spcPts val="5000"/>
              </a:lnSpc>
            </a:pPr>
            <a:r>
              <a:rPr lang="en-US" altLang="zh-CN" sz="3200" b="1" dirty="0" smtClean="0">
                <a:solidFill>
                  <a:srgbClr val="000000"/>
                </a:solidFill>
              </a:rPr>
              <a:t>3</a:t>
            </a:r>
            <a:r>
              <a:rPr lang="zh-CN" altLang="en-US" sz="3200" b="1" dirty="0">
                <a:solidFill>
                  <a:srgbClr val="000000"/>
                </a:solidFill>
              </a:rPr>
              <a:t>）在线程之间分配循环迭代</a:t>
            </a:r>
            <a:r>
              <a:rPr lang="zh-CN" altLang="en-US" sz="3200" b="1" dirty="0" smtClean="0">
                <a:solidFill>
                  <a:srgbClr val="000000"/>
                </a:solidFill>
              </a:rPr>
              <a:t>；</a:t>
            </a:r>
            <a:endParaRPr lang="en-US" altLang="zh-CN" sz="3200" b="1" dirty="0" smtClean="0">
              <a:solidFill>
                <a:srgbClr val="000000"/>
              </a:solidFill>
            </a:endParaRPr>
          </a:p>
          <a:p>
            <a:pPr>
              <a:lnSpc>
                <a:spcPts val="5000"/>
              </a:lnSpc>
            </a:pPr>
            <a:r>
              <a:rPr lang="en-US" altLang="zh-CN" sz="3200" b="1" dirty="0" smtClean="0">
                <a:solidFill>
                  <a:srgbClr val="000000"/>
                </a:solidFill>
              </a:rPr>
              <a:t>4</a:t>
            </a:r>
            <a:r>
              <a:rPr lang="zh-CN" altLang="en-US" sz="3200" b="1" dirty="0">
                <a:solidFill>
                  <a:srgbClr val="000000"/>
                </a:solidFill>
              </a:rPr>
              <a:t>）序列化代码段</a:t>
            </a:r>
            <a:r>
              <a:rPr lang="zh-CN" altLang="en-US" sz="3200" b="1" dirty="0" smtClean="0">
                <a:solidFill>
                  <a:srgbClr val="000000"/>
                </a:solidFill>
              </a:rPr>
              <a:t>；</a:t>
            </a:r>
            <a:endParaRPr lang="en-US" altLang="zh-CN" sz="3200" b="1" dirty="0" smtClean="0">
              <a:solidFill>
                <a:srgbClr val="000000"/>
              </a:solidFill>
            </a:endParaRPr>
          </a:p>
          <a:p>
            <a:pPr>
              <a:lnSpc>
                <a:spcPts val="5000"/>
              </a:lnSpc>
            </a:pPr>
            <a:r>
              <a:rPr lang="en-US" altLang="zh-CN" sz="3200" b="1" dirty="0" smtClean="0">
                <a:solidFill>
                  <a:srgbClr val="000000"/>
                </a:solidFill>
              </a:rPr>
              <a:t>5</a:t>
            </a:r>
            <a:r>
              <a:rPr lang="zh-CN" altLang="en-US" sz="3200" b="1" dirty="0">
                <a:solidFill>
                  <a:srgbClr val="000000"/>
                </a:solidFill>
              </a:rPr>
              <a:t>）同步线程间的工作</a:t>
            </a:r>
            <a:r>
              <a:rPr lang="zh-CN" altLang="en-US" sz="3200" b="1" dirty="0" smtClean="0">
                <a:solidFill>
                  <a:srgbClr val="000000"/>
                </a:solidFill>
              </a:rPr>
              <a:t>。</a:t>
            </a:r>
            <a:endParaRPr lang="en-US" altLang="zh-CN" sz="3200" b="1" dirty="0" smtClean="0">
              <a:solidFill>
                <a:srgbClr val="000000"/>
              </a:solidFill>
            </a:endParaRPr>
          </a:p>
          <a:p>
            <a:pPr>
              <a:lnSpc>
                <a:spcPts val="5000"/>
              </a:lnSpc>
            </a:pPr>
            <a:r>
              <a:rPr lang="zh-CN" altLang="en-US" sz="3200" b="1" dirty="0" smtClean="0">
                <a:solidFill>
                  <a:srgbClr val="000000"/>
                </a:solidFill>
              </a:rPr>
              <a:t>编译指导语句以</a:t>
            </a:r>
            <a:r>
              <a:rPr lang="en-US" altLang="zh-CN" sz="3200" b="1" dirty="0">
                <a:solidFill>
                  <a:srgbClr val="000000"/>
                </a:solidFill>
              </a:rPr>
              <a:t>#pragma </a:t>
            </a:r>
            <a:r>
              <a:rPr lang="en-US" altLang="zh-CN" sz="3200" b="1" dirty="0" err="1">
                <a:solidFill>
                  <a:srgbClr val="000000"/>
                </a:solidFill>
              </a:rPr>
              <a:t>omp</a:t>
            </a:r>
            <a:r>
              <a:rPr lang="en-US" altLang="zh-CN" sz="3200" b="1" dirty="0">
                <a:solidFill>
                  <a:srgbClr val="000000"/>
                </a:solidFill>
              </a:rPr>
              <a:t> </a:t>
            </a:r>
            <a:r>
              <a:rPr lang="zh-CN" altLang="en-US" sz="3200" b="1" dirty="0" smtClean="0">
                <a:solidFill>
                  <a:srgbClr val="000000"/>
                </a:solidFill>
              </a:rPr>
              <a:t>开始</a:t>
            </a:r>
            <a:endParaRPr lang="en-US" altLang="zh-CN" sz="3200" b="1" dirty="0" smtClean="0">
              <a:solidFill>
                <a:srgbClr val="000000"/>
              </a:solidFill>
            </a:endParaRPr>
          </a:p>
          <a:p>
            <a:pPr>
              <a:lnSpc>
                <a:spcPts val="5000"/>
              </a:lnSpc>
            </a:pPr>
            <a:r>
              <a:rPr lang="zh-CN" altLang="en-US" sz="3200" b="1" dirty="0" smtClean="0">
                <a:solidFill>
                  <a:srgbClr val="000000"/>
                </a:solidFill>
              </a:rPr>
              <a:t>格式：</a:t>
            </a:r>
            <a:r>
              <a:rPr lang="en-US" altLang="zh-CN" sz="3200" b="1" dirty="0">
                <a:solidFill>
                  <a:srgbClr val="000000"/>
                </a:solidFill>
              </a:rPr>
              <a:t>#pragma </a:t>
            </a:r>
            <a:r>
              <a:rPr lang="en-US" altLang="zh-CN" sz="3200" b="1" dirty="0" err="1">
                <a:solidFill>
                  <a:srgbClr val="000000"/>
                </a:solidFill>
              </a:rPr>
              <a:t>omp</a:t>
            </a:r>
            <a:r>
              <a:rPr lang="en-US" altLang="zh-CN" sz="3200" b="1" dirty="0">
                <a:solidFill>
                  <a:srgbClr val="000000"/>
                </a:solidFill>
              </a:rPr>
              <a:t> </a:t>
            </a:r>
            <a:r>
              <a:rPr lang="zh-CN" altLang="en-US" sz="3200" b="1" dirty="0">
                <a:solidFill>
                  <a:srgbClr val="000000"/>
                </a:solidFill>
              </a:rPr>
              <a:t>指令</a:t>
            </a:r>
            <a:r>
              <a:rPr lang="en-US" altLang="zh-CN" sz="3200" b="1" dirty="0">
                <a:solidFill>
                  <a:srgbClr val="000000"/>
                </a:solidFill>
              </a:rPr>
              <a:t>[</a:t>
            </a:r>
            <a:r>
              <a:rPr lang="zh-CN" altLang="en-US" sz="3200" b="1" dirty="0">
                <a:solidFill>
                  <a:srgbClr val="000000"/>
                </a:solidFill>
              </a:rPr>
              <a:t>子句</a:t>
            </a:r>
            <a:r>
              <a:rPr lang="en-US" altLang="zh-CN" sz="3200" b="1" dirty="0">
                <a:solidFill>
                  <a:srgbClr val="000000"/>
                </a:solidFill>
              </a:rPr>
              <a:t>],[</a:t>
            </a:r>
            <a:r>
              <a:rPr lang="zh-CN" altLang="en-US" sz="3200" b="1" dirty="0">
                <a:solidFill>
                  <a:srgbClr val="000000"/>
                </a:solidFill>
              </a:rPr>
              <a:t>子句</a:t>
            </a:r>
            <a:r>
              <a:rPr lang="en-US" altLang="zh-CN" sz="3200" b="1" dirty="0">
                <a:solidFill>
                  <a:srgbClr val="000000"/>
                </a:solidFill>
              </a:rPr>
              <a:t>] </a:t>
            </a:r>
            <a:r>
              <a:rPr lang="en-US" altLang="zh-CN" sz="3200" b="1" dirty="0" smtClean="0">
                <a:solidFill>
                  <a:srgbClr val="000000"/>
                </a:solidFill>
              </a:rPr>
              <a:t>…]</a:t>
            </a:r>
            <a:endParaRPr lang="en-US" sz="3200" b="1" dirty="0">
              <a:solidFill>
                <a:srgbClr val="000000"/>
              </a:solidFill>
            </a:endParaRPr>
          </a:p>
        </p:txBody>
      </p:sp>
    </p:spTree>
  </p:cSld>
  <p:clrMapOvr>
    <a:masterClrMapping/>
  </p:clrMapOvr>
  <p:transition spd="med" advTm="3025">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bwMode="auto">
          <a:xfrm>
            <a:off x="659567" y="2308485"/>
            <a:ext cx="8214610" cy="44970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9525" cap="flat" cmpd="sng" algn="ctr">
            <a:solidFill>
              <a:schemeClr val="tx1"/>
            </a:solidFill>
            <a:prstDash val="solid"/>
            <a:round/>
            <a:headEnd type="none" w="med" len="med"/>
            <a:tailEnd type="none" w="med" len="med"/>
          </a:ln>
          <a:effectLst>
            <a:glow rad="127000">
              <a:schemeClr val="accent1"/>
            </a:glow>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smtClean="0">
              <a:ln>
                <a:noFill/>
              </a:ln>
              <a:solidFill>
                <a:schemeClr val="tx1"/>
              </a:solidFill>
              <a:effectLst/>
              <a:latin typeface="Arial" panose="020B0604020202020204" pitchFamily="34" charset="0"/>
              <a:ea typeface="隶书" panose="02010509060101010101" pitchFamily="49" charset="-122"/>
            </a:endParaRPr>
          </a:p>
        </p:txBody>
      </p:sp>
      <p:sp>
        <p:nvSpPr>
          <p:cNvPr id="3" name="矩形 2"/>
          <p:cNvSpPr/>
          <p:nvPr/>
        </p:nvSpPr>
        <p:spPr>
          <a:xfrm>
            <a:off x="2858460" y="516124"/>
            <a:ext cx="6322564" cy="830997"/>
          </a:xfrm>
          <a:prstGeom prst="rect">
            <a:avLst/>
          </a:prstGeom>
        </p:spPr>
        <p:txBody>
          <a:bodyPr wrap="none">
            <a:spAutoFit/>
          </a:bodyPr>
          <a:lstStyle/>
          <a:p>
            <a:pPr algn="ctr"/>
            <a:r>
              <a:rPr lang="en-US" altLang="zh-CN" sz="4800" dirty="0" smtClean="0">
                <a:solidFill>
                  <a:srgbClr val="2D0AC2"/>
                </a:solidFill>
                <a:latin typeface="华文新魏" panose="02010800040101010101" pitchFamily="2" charset="-122"/>
                <a:ea typeface="华文新魏" panose="02010800040101010101" pitchFamily="2" charset="-122"/>
              </a:rPr>
              <a:t>OpenMP</a:t>
            </a:r>
            <a:r>
              <a:rPr lang="zh-CN" altLang="en-US" sz="4800" dirty="0" smtClean="0">
                <a:solidFill>
                  <a:srgbClr val="2D0AC2"/>
                </a:solidFill>
                <a:latin typeface="华文新魏" panose="02010800040101010101" pitchFamily="2" charset="-122"/>
                <a:ea typeface="华文新魏" panose="02010800040101010101" pitchFamily="2" charset="-122"/>
              </a:rPr>
              <a:t>编译指导语句</a:t>
            </a:r>
            <a:endParaRPr lang="en-US" altLang="zh-CN" sz="4800" dirty="0" smtClean="0">
              <a:solidFill>
                <a:srgbClr val="2D0AC2"/>
              </a:solidFill>
              <a:latin typeface="华文新魏" panose="02010800040101010101" pitchFamily="2" charset="-122"/>
              <a:ea typeface="华文新魏" panose="02010800040101010101" pitchFamily="2" charset="-122"/>
            </a:endParaRPr>
          </a:p>
        </p:txBody>
      </p:sp>
      <p:sp>
        <p:nvSpPr>
          <p:cNvPr id="2" name="矩形 1"/>
          <p:cNvSpPr/>
          <p:nvPr/>
        </p:nvSpPr>
        <p:spPr>
          <a:xfrm>
            <a:off x="933067" y="1475495"/>
            <a:ext cx="2799164" cy="584775"/>
          </a:xfrm>
          <a:prstGeom prst="rect">
            <a:avLst/>
          </a:prstGeom>
        </p:spPr>
        <p:txBody>
          <a:bodyPr wrap="none">
            <a:spAutoFit/>
          </a:bodyPr>
          <a:lstStyle/>
          <a:p>
            <a:pPr marL="457200" indent="-457200">
              <a:buFont typeface="Wingdings" panose="05000000000000000000" pitchFamily="2" charset="2"/>
              <a:buChar char="v"/>
            </a:pPr>
            <a:r>
              <a:rPr lang="zh-CN" altLang="en-US" sz="3200" b="1" dirty="0" smtClean="0">
                <a:solidFill>
                  <a:srgbClr val="000000"/>
                </a:solidFill>
              </a:rPr>
              <a:t> </a:t>
            </a:r>
            <a:r>
              <a:rPr lang="zh-CN" altLang="en-US" sz="3200" b="1" dirty="0">
                <a:solidFill>
                  <a:srgbClr val="000000"/>
                </a:solidFill>
              </a:rPr>
              <a:t>语句</a:t>
            </a:r>
            <a:r>
              <a:rPr lang="zh-CN" altLang="en-US" sz="3200" b="1" dirty="0" smtClean="0">
                <a:solidFill>
                  <a:srgbClr val="000000"/>
                </a:solidFill>
              </a:rPr>
              <a:t>格式：</a:t>
            </a:r>
            <a:endParaRPr lang="en-US" sz="3200" b="1" dirty="0">
              <a:solidFill>
                <a:srgbClr val="000000"/>
              </a:solidFill>
            </a:endParaRPr>
          </a:p>
        </p:txBody>
      </p:sp>
      <p:pic>
        <p:nvPicPr>
          <p:cNvPr id="4" name="图片 3"/>
          <p:cNvPicPr>
            <a:picLocks noChangeAspect="1"/>
          </p:cNvPicPr>
          <p:nvPr/>
        </p:nvPicPr>
        <p:blipFill>
          <a:blip r:embed="rId1"/>
          <a:stretch>
            <a:fillRect/>
          </a:stretch>
        </p:blipFill>
        <p:spPr>
          <a:xfrm>
            <a:off x="481281" y="2128763"/>
            <a:ext cx="11375939" cy="3387697"/>
          </a:xfrm>
          <a:prstGeom prst="rect">
            <a:avLst/>
          </a:prstGeom>
        </p:spPr>
      </p:pic>
      <p:sp>
        <p:nvSpPr>
          <p:cNvPr id="6" name="矩形 5"/>
          <p:cNvSpPr/>
          <p:nvPr/>
        </p:nvSpPr>
        <p:spPr bwMode="auto">
          <a:xfrm>
            <a:off x="659567" y="2308485"/>
            <a:ext cx="8214610" cy="449705"/>
          </a:xfrm>
          <a:prstGeom prst="rect">
            <a:avLst/>
          </a:prstGeom>
          <a:noFill/>
          <a:ln w="9525" cap="flat" cmpd="sng" algn="ctr">
            <a:solidFill>
              <a:schemeClr val="tx1"/>
            </a:solidFill>
            <a:prstDash val="solid"/>
            <a:round/>
            <a:headEnd type="none" w="med" len="med"/>
            <a:tailEnd type="none" w="med" len="med"/>
          </a:ln>
          <a:effectLst>
            <a:glow rad="88900">
              <a:srgbClr val="C00000"/>
            </a:glow>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smtClean="0">
              <a:ln>
                <a:noFill/>
              </a:ln>
              <a:solidFill>
                <a:schemeClr val="tx1"/>
              </a:solidFill>
              <a:effectLst/>
              <a:latin typeface="Arial" panose="020B0604020202020204" pitchFamily="34" charset="0"/>
              <a:ea typeface="隶书" panose="02010509060101010101" pitchFamily="49" charset="-122"/>
            </a:endParaRPr>
          </a:p>
        </p:txBody>
      </p:sp>
    </p:spTree>
  </p:cSld>
  <p:clrMapOvr>
    <a:masterClrMapping/>
  </p:clrMapOvr>
  <p:transition spd="med" advTm="3025">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088218" y="516124"/>
            <a:ext cx="7863050" cy="707886"/>
          </a:xfrm>
          <a:prstGeom prst="rect">
            <a:avLst/>
          </a:prstGeom>
        </p:spPr>
        <p:txBody>
          <a:bodyPr wrap="none">
            <a:spAutoFit/>
          </a:bodyPr>
          <a:lstStyle/>
          <a:p>
            <a:pPr algn="ctr"/>
            <a:r>
              <a:rPr lang="en-US" altLang="zh-CN" sz="4000" dirty="0" smtClean="0">
                <a:solidFill>
                  <a:srgbClr val="2D0AC2"/>
                </a:solidFill>
                <a:latin typeface="华文新魏" panose="02010800040101010101" pitchFamily="2" charset="-122"/>
                <a:ea typeface="华文新魏" panose="02010800040101010101" pitchFamily="2" charset="-122"/>
              </a:rPr>
              <a:t>OpenMP</a:t>
            </a:r>
            <a:r>
              <a:rPr lang="zh-CN" altLang="en-US" sz="4000" dirty="0" smtClean="0">
                <a:solidFill>
                  <a:srgbClr val="2D0AC2"/>
                </a:solidFill>
                <a:latin typeface="华文新魏" panose="02010800040101010101" pitchFamily="2" charset="-122"/>
                <a:ea typeface="华文新魏" panose="02010800040101010101" pitchFamily="2" charset="-122"/>
              </a:rPr>
              <a:t>编译指导语句</a:t>
            </a:r>
            <a:r>
              <a:rPr lang="en-US" altLang="zh-CN" sz="4000" dirty="0" smtClean="0">
                <a:solidFill>
                  <a:srgbClr val="2D0AC2"/>
                </a:solidFill>
                <a:latin typeface="华文新魏" panose="02010800040101010101" pitchFamily="2" charset="-122"/>
                <a:ea typeface="华文新魏" panose="02010800040101010101" pitchFamily="2" charset="-122"/>
              </a:rPr>
              <a:t>——</a:t>
            </a:r>
            <a:r>
              <a:rPr lang="zh-CN" altLang="en-US" sz="4000" dirty="0" smtClean="0">
                <a:solidFill>
                  <a:srgbClr val="2D0AC2"/>
                </a:solidFill>
                <a:latin typeface="华文新魏" panose="02010800040101010101" pitchFamily="2" charset="-122"/>
                <a:ea typeface="华文新魏" panose="02010800040101010101" pitchFamily="2" charset="-122"/>
              </a:rPr>
              <a:t>作用域</a:t>
            </a:r>
            <a:endParaRPr lang="en-US" altLang="zh-CN" sz="4000" dirty="0" smtClean="0">
              <a:solidFill>
                <a:srgbClr val="2D0AC2"/>
              </a:solidFill>
              <a:latin typeface="华文新魏" panose="02010800040101010101" pitchFamily="2" charset="-122"/>
              <a:ea typeface="华文新魏" panose="02010800040101010101" pitchFamily="2" charset="-122"/>
            </a:endParaRPr>
          </a:p>
        </p:txBody>
      </p:sp>
      <p:pic>
        <p:nvPicPr>
          <p:cNvPr id="4" name="图片 3"/>
          <p:cNvPicPr>
            <a:picLocks noChangeAspect="1"/>
          </p:cNvPicPr>
          <p:nvPr/>
        </p:nvPicPr>
        <p:blipFill>
          <a:blip r:embed="rId1"/>
          <a:stretch>
            <a:fillRect/>
          </a:stretch>
        </p:blipFill>
        <p:spPr>
          <a:xfrm>
            <a:off x="746214" y="1229193"/>
            <a:ext cx="9035961" cy="5066676"/>
          </a:xfrm>
          <a:prstGeom prst="rect">
            <a:avLst/>
          </a:prstGeom>
        </p:spPr>
      </p:pic>
    </p:spTree>
  </p:cSld>
  <p:clrMapOvr>
    <a:masterClrMapping/>
  </p:clrMapOvr>
  <p:transition spd="med" advTm="3025">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370619" y="516124"/>
            <a:ext cx="5298245" cy="707886"/>
          </a:xfrm>
          <a:prstGeom prst="rect">
            <a:avLst/>
          </a:prstGeom>
        </p:spPr>
        <p:txBody>
          <a:bodyPr wrap="none">
            <a:spAutoFit/>
          </a:bodyPr>
          <a:lstStyle/>
          <a:p>
            <a:pPr algn="ctr"/>
            <a:r>
              <a:rPr lang="en-US" altLang="zh-CN" sz="4000" dirty="0" smtClean="0">
                <a:solidFill>
                  <a:srgbClr val="2D0AC2"/>
                </a:solidFill>
                <a:latin typeface="华文新魏" panose="02010800040101010101" pitchFamily="2" charset="-122"/>
                <a:ea typeface="华文新魏" panose="02010800040101010101" pitchFamily="2" charset="-122"/>
              </a:rPr>
              <a:t>OpenMP</a:t>
            </a:r>
            <a:r>
              <a:rPr lang="zh-CN" altLang="en-US" sz="4000" dirty="0" smtClean="0">
                <a:solidFill>
                  <a:srgbClr val="2D0AC2"/>
                </a:solidFill>
                <a:latin typeface="华文新魏" panose="02010800040101010101" pitchFamily="2" charset="-122"/>
                <a:ea typeface="华文新魏" panose="02010800040101010101" pitchFamily="2" charset="-122"/>
              </a:rPr>
              <a:t>编译指导语句</a:t>
            </a:r>
            <a:endParaRPr lang="en-US" altLang="zh-CN" sz="4000" dirty="0" smtClean="0">
              <a:solidFill>
                <a:srgbClr val="2D0AC2"/>
              </a:solidFill>
              <a:latin typeface="华文新魏" panose="02010800040101010101" pitchFamily="2" charset="-122"/>
              <a:ea typeface="华文新魏" panose="02010800040101010101" pitchFamily="2" charset="-122"/>
            </a:endParaRPr>
          </a:p>
        </p:txBody>
      </p:sp>
      <p:sp>
        <p:nvSpPr>
          <p:cNvPr id="2" name="矩形 1"/>
          <p:cNvSpPr/>
          <p:nvPr/>
        </p:nvSpPr>
        <p:spPr>
          <a:xfrm>
            <a:off x="1633927" y="1089099"/>
            <a:ext cx="9039069" cy="5324535"/>
          </a:xfrm>
          <a:prstGeom prst="rect">
            <a:avLst/>
          </a:prstGeom>
        </p:spPr>
        <p:txBody>
          <a:bodyPr wrap="square">
            <a:spAutoFit/>
          </a:bodyPr>
          <a:lstStyle/>
          <a:p>
            <a:r>
              <a:rPr lang="zh-CN" altLang="en-US" sz="2800" b="1" dirty="0">
                <a:solidFill>
                  <a:srgbClr val="C00000"/>
                </a:solidFill>
              </a:rPr>
              <a:t>并行域结构 </a:t>
            </a:r>
            <a:endParaRPr lang="zh-CN" altLang="en-US" sz="2800" b="1" dirty="0">
              <a:solidFill>
                <a:srgbClr val="C00000"/>
              </a:solidFill>
            </a:endParaRPr>
          </a:p>
          <a:p>
            <a:r>
              <a:rPr lang="en-US" altLang="zh-CN" sz="2800" b="1" dirty="0" smtClean="0">
                <a:solidFill>
                  <a:srgbClr val="2D0AC2"/>
                </a:solidFill>
              </a:rPr>
              <a:t>——</a:t>
            </a:r>
            <a:r>
              <a:rPr lang="zh-CN" altLang="en-US" sz="2800" b="1" dirty="0" smtClean="0">
                <a:solidFill>
                  <a:srgbClr val="2D0AC2"/>
                </a:solidFill>
              </a:rPr>
              <a:t> </a:t>
            </a:r>
            <a:r>
              <a:rPr lang="zh-CN" altLang="en-US" sz="2800" b="1" dirty="0">
                <a:solidFill>
                  <a:srgbClr val="2D0AC2"/>
                </a:solidFill>
              </a:rPr>
              <a:t>并行域中的代码被所有的线程执行 </a:t>
            </a:r>
            <a:endParaRPr lang="zh-CN" altLang="en-US" sz="2800" b="1" dirty="0">
              <a:solidFill>
                <a:srgbClr val="2D0AC2"/>
              </a:solidFill>
            </a:endParaRPr>
          </a:p>
          <a:p>
            <a:r>
              <a:rPr lang="zh-CN" altLang="en-US" sz="2800" b="1" dirty="0" smtClean="0"/>
              <a:t> </a:t>
            </a:r>
            <a:r>
              <a:rPr lang="zh-CN" altLang="en-US" sz="2800" b="1" dirty="0"/>
              <a:t>具体格式 </a:t>
            </a:r>
            <a:endParaRPr lang="zh-CN" altLang="en-US" sz="2800" b="1" dirty="0"/>
          </a:p>
          <a:p>
            <a:r>
              <a:rPr lang="zh-CN" altLang="en-US" sz="2800" b="1" dirty="0" smtClean="0"/>
              <a:t> </a:t>
            </a:r>
            <a:r>
              <a:rPr lang="en-US" altLang="zh-CN" sz="3200" b="1" dirty="0">
                <a:solidFill>
                  <a:srgbClr val="6A247A"/>
                </a:solidFill>
              </a:rPr>
              <a:t>#</a:t>
            </a:r>
            <a:r>
              <a:rPr lang="en-US" sz="3200" b="1" dirty="0">
                <a:solidFill>
                  <a:srgbClr val="6A247A"/>
                </a:solidFill>
              </a:rPr>
              <a:t>pragma </a:t>
            </a:r>
            <a:r>
              <a:rPr lang="en-US" sz="3200" b="1" dirty="0" err="1">
                <a:solidFill>
                  <a:srgbClr val="6A247A"/>
                </a:solidFill>
              </a:rPr>
              <a:t>omp</a:t>
            </a:r>
            <a:r>
              <a:rPr lang="en-US" sz="3200" b="1" dirty="0">
                <a:solidFill>
                  <a:srgbClr val="6A247A"/>
                </a:solidFill>
              </a:rPr>
              <a:t> parallel [clause[[,]clause]…]newline </a:t>
            </a:r>
            <a:endParaRPr lang="en-US" sz="3200" b="1" dirty="0">
              <a:solidFill>
                <a:srgbClr val="6A247A"/>
              </a:solidFill>
            </a:endParaRPr>
          </a:p>
          <a:p>
            <a:r>
              <a:rPr lang="en-US" sz="2800" b="1" dirty="0" smtClean="0"/>
              <a:t> </a:t>
            </a:r>
            <a:r>
              <a:rPr lang="en-US" sz="2800" b="1" dirty="0"/>
              <a:t>clause= </a:t>
            </a:r>
            <a:endParaRPr lang="en-US" sz="2800" b="1" dirty="0"/>
          </a:p>
          <a:p>
            <a:pPr marL="457200" indent="-457200">
              <a:buFont typeface="Arial" panose="020B0604020202020204" pitchFamily="34" charset="0"/>
              <a:buChar char="•"/>
            </a:pPr>
            <a:r>
              <a:rPr lang="en-US" sz="2800" b="1" dirty="0" smtClean="0"/>
              <a:t> </a:t>
            </a:r>
            <a:r>
              <a:rPr lang="en-US" sz="2800" b="1" dirty="0"/>
              <a:t>if (</a:t>
            </a:r>
            <a:r>
              <a:rPr lang="en-US" sz="2800" b="1" dirty="0" err="1"/>
              <a:t>scalar_expression</a:t>
            </a:r>
            <a:r>
              <a:rPr lang="en-US" sz="2800" b="1" dirty="0"/>
              <a:t>) </a:t>
            </a:r>
            <a:endParaRPr lang="en-US" sz="2800" b="1" dirty="0"/>
          </a:p>
          <a:p>
            <a:pPr marL="457200" indent="-457200">
              <a:buFont typeface="Arial" panose="020B0604020202020204" pitchFamily="34" charset="0"/>
              <a:buChar char="•"/>
            </a:pPr>
            <a:r>
              <a:rPr lang="en-US" sz="2800" b="1" dirty="0" smtClean="0"/>
              <a:t> </a:t>
            </a:r>
            <a:r>
              <a:rPr lang="en-US" sz="2800" b="1" dirty="0"/>
              <a:t>private (list) </a:t>
            </a:r>
            <a:endParaRPr lang="en-US" sz="2800" b="1" dirty="0"/>
          </a:p>
          <a:p>
            <a:pPr marL="457200" indent="-457200">
              <a:buFont typeface="Arial" panose="020B0604020202020204" pitchFamily="34" charset="0"/>
              <a:buChar char="•"/>
            </a:pPr>
            <a:r>
              <a:rPr lang="en-US" sz="2800" b="1" dirty="0" smtClean="0"/>
              <a:t> </a:t>
            </a:r>
            <a:r>
              <a:rPr lang="en-US" sz="2800" b="1" dirty="0"/>
              <a:t>shared (list) </a:t>
            </a:r>
            <a:endParaRPr lang="en-US" sz="2800" b="1" dirty="0"/>
          </a:p>
          <a:p>
            <a:pPr marL="457200" indent="-457200">
              <a:buFont typeface="Arial" panose="020B0604020202020204" pitchFamily="34" charset="0"/>
              <a:buChar char="•"/>
            </a:pPr>
            <a:r>
              <a:rPr lang="en-US" sz="2800" b="1" dirty="0" smtClean="0"/>
              <a:t> </a:t>
            </a:r>
            <a:r>
              <a:rPr lang="en-US" sz="2800" b="1" dirty="0"/>
              <a:t>default (shared | none) </a:t>
            </a:r>
            <a:endParaRPr lang="en-US" sz="2800" b="1" dirty="0"/>
          </a:p>
          <a:p>
            <a:pPr marL="457200" indent="-457200">
              <a:buFont typeface="Arial" panose="020B0604020202020204" pitchFamily="34" charset="0"/>
              <a:buChar char="•"/>
            </a:pPr>
            <a:r>
              <a:rPr lang="en-US" sz="2800" b="1" dirty="0" smtClean="0"/>
              <a:t> </a:t>
            </a:r>
            <a:r>
              <a:rPr lang="en-US" sz="2800" b="1" dirty="0" err="1"/>
              <a:t>firstprivate</a:t>
            </a:r>
            <a:r>
              <a:rPr lang="en-US" sz="2800" b="1" dirty="0"/>
              <a:t> (list) </a:t>
            </a:r>
            <a:endParaRPr lang="en-US" sz="2800" b="1" dirty="0"/>
          </a:p>
          <a:p>
            <a:pPr marL="457200" indent="-457200">
              <a:buFont typeface="Arial" panose="020B0604020202020204" pitchFamily="34" charset="0"/>
              <a:buChar char="•"/>
            </a:pPr>
            <a:r>
              <a:rPr lang="en-US" sz="2800" b="1" dirty="0" smtClean="0"/>
              <a:t> </a:t>
            </a:r>
            <a:r>
              <a:rPr lang="en-US" sz="2800" b="1" dirty="0"/>
              <a:t>reduction (operator: list) </a:t>
            </a:r>
            <a:endParaRPr lang="en-US" sz="2800" b="1" dirty="0"/>
          </a:p>
          <a:p>
            <a:pPr marL="457200" indent="-457200">
              <a:buFont typeface="Arial" panose="020B0604020202020204" pitchFamily="34" charset="0"/>
              <a:buChar char="•"/>
            </a:pPr>
            <a:r>
              <a:rPr lang="en-US" sz="2800" b="1" dirty="0" smtClean="0"/>
              <a:t> </a:t>
            </a:r>
            <a:r>
              <a:rPr lang="en-US" sz="2800" b="1" dirty="0"/>
              <a:t>copyin (list) </a:t>
            </a:r>
            <a:endParaRPr lang="en-US" sz="2800" b="1" dirty="0"/>
          </a:p>
        </p:txBody>
      </p:sp>
    </p:spTree>
  </p:cSld>
  <p:clrMapOvr>
    <a:masterClrMapping/>
  </p:clrMapOvr>
  <p:transition spd="med" advTm="3025">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858460" y="516124"/>
            <a:ext cx="6322564" cy="830997"/>
          </a:xfrm>
          <a:prstGeom prst="rect">
            <a:avLst/>
          </a:prstGeom>
        </p:spPr>
        <p:txBody>
          <a:bodyPr wrap="none">
            <a:spAutoFit/>
          </a:bodyPr>
          <a:lstStyle/>
          <a:p>
            <a:pPr algn="ctr"/>
            <a:r>
              <a:rPr lang="en-US" altLang="zh-CN" sz="4800" dirty="0" smtClean="0">
                <a:solidFill>
                  <a:srgbClr val="2D0AC2"/>
                </a:solidFill>
                <a:latin typeface="华文新魏" panose="02010800040101010101" pitchFamily="2" charset="-122"/>
                <a:ea typeface="华文新魏" panose="02010800040101010101" pitchFamily="2" charset="-122"/>
              </a:rPr>
              <a:t>OpenMP</a:t>
            </a:r>
            <a:r>
              <a:rPr lang="zh-CN" altLang="en-US" sz="4800" dirty="0" smtClean="0">
                <a:solidFill>
                  <a:srgbClr val="2D0AC2"/>
                </a:solidFill>
                <a:latin typeface="华文新魏" panose="02010800040101010101" pitchFamily="2" charset="-122"/>
                <a:ea typeface="华文新魏" panose="02010800040101010101" pitchFamily="2" charset="-122"/>
              </a:rPr>
              <a:t>编译指导语句</a:t>
            </a:r>
            <a:endParaRPr lang="en-US" altLang="zh-CN" sz="4800" dirty="0" smtClean="0">
              <a:solidFill>
                <a:srgbClr val="2D0AC2"/>
              </a:solidFill>
              <a:latin typeface="华文新魏" panose="02010800040101010101" pitchFamily="2" charset="-122"/>
              <a:ea typeface="华文新魏" panose="02010800040101010101" pitchFamily="2" charset="-122"/>
            </a:endParaRPr>
          </a:p>
        </p:txBody>
      </p:sp>
      <p:sp>
        <p:nvSpPr>
          <p:cNvPr id="2" name="矩形 1"/>
          <p:cNvSpPr/>
          <p:nvPr/>
        </p:nvSpPr>
        <p:spPr>
          <a:xfrm>
            <a:off x="949377" y="1347121"/>
            <a:ext cx="10113364" cy="1815882"/>
          </a:xfrm>
          <a:prstGeom prst="rect">
            <a:avLst/>
          </a:prstGeom>
        </p:spPr>
        <p:txBody>
          <a:bodyPr wrap="square">
            <a:spAutoFit/>
          </a:bodyPr>
          <a:lstStyle/>
          <a:p>
            <a:r>
              <a:rPr lang="zh-CN" altLang="en-US" sz="2800" b="1" dirty="0">
                <a:solidFill>
                  <a:srgbClr val="C00000"/>
                </a:solidFill>
              </a:rPr>
              <a:t>共享任务结构</a:t>
            </a:r>
            <a:r>
              <a:rPr lang="zh-CN" altLang="en-US" sz="2800" b="1" dirty="0"/>
              <a:t>将它所包含的代码划分给线程组的各</a:t>
            </a:r>
            <a:r>
              <a:rPr lang="zh-CN" altLang="en-US" sz="2800" b="1" dirty="0" smtClean="0"/>
              <a:t>成员来</a:t>
            </a:r>
            <a:r>
              <a:rPr lang="zh-CN" altLang="en-US" sz="2800" b="1" dirty="0"/>
              <a:t>执行 </a:t>
            </a:r>
            <a:endParaRPr lang="zh-CN" altLang="en-US" sz="2800" b="1" dirty="0"/>
          </a:p>
          <a:p>
            <a:pPr marL="457200" indent="-457200">
              <a:buFont typeface="Arial" panose="020B0604020202020204" pitchFamily="34" charset="0"/>
              <a:buChar char="•"/>
            </a:pPr>
            <a:r>
              <a:rPr lang="zh-CN" altLang="en-US" sz="2800" b="1" dirty="0" smtClean="0"/>
              <a:t>并行</a:t>
            </a:r>
            <a:r>
              <a:rPr lang="en-US" altLang="zh-CN" sz="2800" b="1" dirty="0"/>
              <a:t>for</a:t>
            </a:r>
            <a:r>
              <a:rPr lang="zh-CN" altLang="en-US" sz="2800" b="1" dirty="0"/>
              <a:t>循环 </a:t>
            </a:r>
            <a:endParaRPr lang="zh-CN" altLang="en-US" sz="2800" b="1" dirty="0"/>
          </a:p>
          <a:p>
            <a:pPr marL="457200" indent="-457200">
              <a:buFont typeface="Arial" panose="020B0604020202020204" pitchFamily="34" charset="0"/>
              <a:buChar char="•"/>
            </a:pPr>
            <a:r>
              <a:rPr lang="zh-CN" altLang="en-US" sz="2800" b="1" dirty="0" smtClean="0"/>
              <a:t>并行</a:t>
            </a:r>
            <a:r>
              <a:rPr lang="en-US" altLang="zh-CN" sz="2800" b="1" dirty="0"/>
              <a:t>sections </a:t>
            </a:r>
            <a:endParaRPr lang="en-US" altLang="zh-CN" sz="2800" b="1" dirty="0"/>
          </a:p>
          <a:p>
            <a:pPr marL="457200" indent="-457200">
              <a:buFont typeface="Arial" panose="020B0604020202020204" pitchFamily="34" charset="0"/>
              <a:buChar char="•"/>
            </a:pPr>
            <a:r>
              <a:rPr lang="zh-CN" altLang="en-US" sz="2800" b="1" dirty="0" smtClean="0"/>
              <a:t>串行</a:t>
            </a:r>
            <a:r>
              <a:rPr lang="zh-CN" altLang="en-US" sz="2800" b="1" dirty="0"/>
              <a:t>执行 </a:t>
            </a:r>
            <a:endParaRPr lang="en-US" sz="2800" b="1" dirty="0"/>
          </a:p>
        </p:txBody>
      </p:sp>
      <p:pic>
        <p:nvPicPr>
          <p:cNvPr id="4" name="图片 3"/>
          <p:cNvPicPr>
            <a:picLocks noChangeAspect="1"/>
          </p:cNvPicPr>
          <p:nvPr/>
        </p:nvPicPr>
        <p:blipFill>
          <a:blip r:embed="rId1"/>
          <a:stretch>
            <a:fillRect/>
          </a:stretch>
        </p:blipFill>
        <p:spPr>
          <a:xfrm>
            <a:off x="3837482" y="2081212"/>
            <a:ext cx="2803160" cy="4183701"/>
          </a:xfrm>
          <a:prstGeom prst="rect">
            <a:avLst/>
          </a:prstGeom>
        </p:spPr>
      </p:pic>
      <p:pic>
        <p:nvPicPr>
          <p:cNvPr id="5" name="图片 4"/>
          <p:cNvPicPr>
            <a:picLocks noChangeAspect="1"/>
          </p:cNvPicPr>
          <p:nvPr/>
        </p:nvPicPr>
        <p:blipFill>
          <a:blip r:embed="rId2"/>
          <a:stretch>
            <a:fillRect/>
          </a:stretch>
        </p:blipFill>
        <p:spPr>
          <a:xfrm>
            <a:off x="7130321" y="2081212"/>
            <a:ext cx="3033009" cy="4267147"/>
          </a:xfrm>
          <a:prstGeom prst="rect">
            <a:avLst/>
          </a:prstGeom>
        </p:spPr>
      </p:pic>
    </p:spTree>
  </p:cSld>
  <p:clrMapOvr>
    <a:masterClrMapping/>
  </p:clrMapOvr>
  <p:transition spd="med" advTm="3025">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35840" y="670570"/>
            <a:ext cx="10877863" cy="5652830"/>
          </a:xfrm>
          <a:prstGeom prst="rect">
            <a:avLst/>
          </a:prstGeom>
        </p:spPr>
        <p:txBody>
          <a:bodyPr wrap="square">
            <a:spAutoFit/>
          </a:bodyPr>
          <a:lstStyle/>
          <a:p>
            <a:r>
              <a:rPr lang="en-US" altLang="zh-CN" sz="2800" b="1" dirty="0">
                <a:solidFill>
                  <a:srgbClr val="000000"/>
                </a:solidFill>
              </a:rPr>
              <a:t>OpenMP</a:t>
            </a:r>
            <a:r>
              <a:rPr lang="zh-CN" altLang="en-US" sz="2800" b="1" dirty="0" smtClean="0">
                <a:solidFill>
                  <a:srgbClr val="000000"/>
                </a:solidFill>
              </a:rPr>
              <a:t>的常用指令</a:t>
            </a:r>
            <a:r>
              <a:rPr lang="zh-CN" altLang="en-US" sz="2800" b="1" dirty="0">
                <a:solidFill>
                  <a:srgbClr val="000000"/>
                </a:solidFill>
              </a:rPr>
              <a:t>如下</a:t>
            </a:r>
            <a:r>
              <a:rPr lang="zh-CN" altLang="en-US" sz="2800" b="1" dirty="0" smtClean="0">
                <a:solidFill>
                  <a:srgbClr val="000000"/>
                </a:solidFill>
              </a:rPr>
              <a:t>：</a:t>
            </a:r>
            <a:endParaRPr lang="zh-CN" altLang="en-US" sz="2800" b="1" dirty="0">
              <a:solidFill>
                <a:srgbClr val="000000"/>
              </a:solidFill>
            </a:endParaRPr>
          </a:p>
          <a:p>
            <a:pPr>
              <a:lnSpc>
                <a:spcPts val="4000"/>
              </a:lnSpc>
            </a:pPr>
            <a:r>
              <a:rPr lang="zh-CN" altLang="en-US" sz="2800" b="1" dirty="0">
                <a:solidFill>
                  <a:srgbClr val="000000"/>
                </a:solidFill>
              </a:rPr>
              <a:t>       </a:t>
            </a:r>
            <a:r>
              <a:rPr lang="en-US" altLang="zh-CN" sz="2800" b="1" dirty="0" smtClean="0">
                <a:solidFill>
                  <a:srgbClr val="C00000"/>
                </a:solidFill>
              </a:rPr>
              <a:t>parallel</a:t>
            </a:r>
            <a:r>
              <a:rPr lang="en-US" altLang="zh-CN" sz="2800" b="1" dirty="0" smtClean="0">
                <a:solidFill>
                  <a:srgbClr val="000000"/>
                </a:solidFill>
              </a:rPr>
              <a:t>——</a:t>
            </a:r>
            <a:r>
              <a:rPr lang="zh-CN" altLang="en-US" sz="2800" b="1" dirty="0" smtClean="0">
                <a:solidFill>
                  <a:srgbClr val="000000"/>
                </a:solidFill>
              </a:rPr>
              <a:t>表示</a:t>
            </a:r>
            <a:r>
              <a:rPr lang="zh-CN" altLang="en-US" sz="2800" b="1" dirty="0">
                <a:solidFill>
                  <a:srgbClr val="000000"/>
                </a:solidFill>
              </a:rPr>
              <a:t>这段代码将被多个线程并行</a:t>
            </a:r>
            <a:r>
              <a:rPr lang="zh-CN" altLang="en-US" sz="2800" b="1" dirty="0" smtClean="0">
                <a:solidFill>
                  <a:srgbClr val="000000"/>
                </a:solidFill>
              </a:rPr>
              <a:t>执行</a:t>
            </a:r>
            <a:endParaRPr lang="zh-CN" altLang="en-US" sz="2800" b="1" dirty="0">
              <a:solidFill>
                <a:srgbClr val="000000"/>
              </a:solidFill>
            </a:endParaRPr>
          </a:p>
          <a:p>
            <a:pPr>
              <a:lnSpc>
                <a:spcPts val="4000"/>
              </a:lnSpc>
            </a:pPr>
            <a:r>
              <a:rPr lang="zh-CN" altLang="en-US" sz="2800" b="1" dirty="0">
                <a:solidFill>
                  <a:srgbClr val="000000"/>
                </a:solidFill>
              </a:rPr>
              <a:t>       </a:t>
            </a:r>
            <a:r>
              <a:rPr lang="en-US" altLang="zh-CN" sz="2800" b="1" dirty="0" smtClean="0">
                <a:solidFill>
                  <a:srgbClr val="C00000"/>
                </a:solidFill>
              </a:rPr>
              <a:t>for</a:t>
            </a:r>
            <a:r>
              <a:rPr lang="en-US" altLang="zh-CN" sz="2800" b="1" dirty="0" smtClean="0">
                <a:solidFill>
                  <a:srgbClr val="000000"/>
                </a:solidFill>
              </a:rPr>
              <a:t>——</a:t>
            </a:r>
            <a:r>
              <a:rPr lang="zh-CN" altLang="en-US" sz="2800" b="1" dirty="0" smtClean="0">
                <a:solidFill>
                  <a:srgbClr val="000000"/>
                </a:solidFill>
              </a:rPr>
              <a:t>用于</a:t>
            </a:r>
            <a:r>
              <a:rPr lang="en-US" altLang="zh-CN" sz="2800" b="1" dirty="0">
                <a:solidFill>
                  <a:srgbClr val="000000"/>
                </a:solidFill>
              </a:rPr>
              <a:t>for</a:t>
            </a:r>
            <a:r>
              <a:rPr lang="zh-CN" altLang="en-US" sz="2800" b="1" dirty="0">
                <a:solidFill>
                  <a:srgbClr val="000000"/>
                </a:solidFill>
              </a:rPr>
              <a:t>循环之前，将循环分配到多个线程中并行执行，</a:t>
            </a:r>
            <a:r>
              <a:rPr lang="zh-CN" altLang="en-US" sz="2800" b="1" dirty="0">
                <a:solidFill>
                  <a:srgbClr val="2D0AC2"/>
                </a:solidFill>
              </a:rPr>
              <a:t>必须保证每次循环之间无相关性</a:t>
            </a:r>
            <a:r>
              <a:rPr lang="zh-CN" altLang="en-US" sz="2800" b="1" dirty="0" smtClean="0">
                <a:solidFill>
                  <a:srgbClr val="000000"/>
                </a:solidFill>
              </a:rPr>
              <a:t>。</a:t>
            </a:r>
            <a:endParaRPr lang="zh-CN" altLang="en-US" sz="2800" b="1" dirty="0">
              <a:solidFill>
                <a:srgbClr val="000000"/>
              </a:solidFill>
            </a:endParaRPr>
          </a:p>
          <a:p>
            <a:pPr>
              <a:lnSpc>
                <a:spcPts val="4000"/>
              </a:lnSpc>
            </a:pPr>
            <a:r>
              <a:rPr lang="zh-CN" altLang="en-US" sz="2800" b="1" dirty="0">
                <a:solidFill>
                  <a:srgbClr val="000000"/>
                </a:solidFill>
              </a:rPr>
              <a:t>       </a:t>
            </a:r>
            <a:r>
              <a:rPr lang="en-US" altLang="zh-CN" sz="2800" b="1" dirty="0">
                <a:solidFill>
                  <a:srgbClr val="C00000"/>
                </a:solidFill>
              </a:rPr>
              <a:t>parallel </a:t>
            </a:r>
            <a:r>
              <a:rPr lang="en-US" altLang="zh-CN" sz="2800" b="1" dirty="0" smtClean="0">
                <a:solidFill>
                  <a:srgbClr val="C00000"/>
                </a:solidFill>
              </a:rPr>
              <a:t>for</a:t>
            </a:r>
            <a:r>
              <a:rPr lang="zh-CN" altLang="en-US" sz="2800" b="1" dirty="0" smtClean="0">
                <a:solidFill>
                  <a:srgbClr val="C00000"/>
                </a:solidFill>
              </a:rPr>
              <a:t>、 </a:t>
            </a:r>
            <a:r>
              <a:rPr lang="en-US" altLang="zh-CN" sz="2800" b="1" dirty="0">
                <a:solidFill>
                  <a:srgbClr val="C00000"/>
                </a:solidFill>
              </a:rPr>
              <a:t>parallel </a:t>
            </a:r>
            <a:r>
              <a:rPr lang="zh-CN" altLang="en-US" sz="2800" b="1" dirty="0">
                <a:solidFill>
                  <a:srgbClr val="000000"/>
                </a:solidFill>
              </a:rPr>
              <a:t>和 </a:t>
            </a:r>
            <a:r>
              <a:rPr lang="en-US" altLang="zh-CN" sz="2800" b="1" dirty="0">
                <a:solidFill>
                  <a:srgbClr val="C00000"/>
                </a:solidFill>
              </a:rPr>
              <a:t>for</a:t>
            </a:r>
            <a:r>
              <a:rPr lang="zh-CN" altLang="en-US" sz="2800" b="1" dirty="0">
                <a:solidFill>
                  <a:srgbClr val="000000"/>
                </a:solidFill>
              </a:rPr>
              <a:t>语句的结合</a:t>
            </a:r>
            <a:r>
              <a:rPr lang="zh-CN" altLang="en-US" sz="2800" b="1" dirty="0" smtClean="0">
                <a:solidFill>
                  <a:srgbClr val="000000"/>
                </a:solidFill>
              </a:rPr>
              <a:t>，</a:t>
            </a:r>
            <a:r>
              <a:rPr lang="zh-CN" altLang="en-US" sz="2800" b="1" dirty="0">
                <a:solidFill>
                  <a:srgbClr val="000000"/>
                </a:solidFill>
              </a:rPr>
              <a:t>可以</a:t>
            </a:r>
            <a:r>
              <a:rPr lang="zh-CN" altLang="en-US" sz="2800" b="1" dirty="0" smtClean="0">
                <a:solidFill>
                  <a:srgbClr val="000000"/>
                </a:solidFill>
              </a:rPr>
              <a:t>用</a:t>
            </a:r>
            <a:r>
              <a:rPr lang="zh-CN" altLang="en-US" sz="2800" b="1" dirty="0">
                <a:solidFill>
                  <a:srgbClr val="000000"/>
                </a:solidFill>
              </a:rPr>
              <a:t>在一个</a:t>
            </a:r>
            <a:r>
              <a:rPr lang="en-US" altLang="zh-CN" sz="2800" b="1" dirty="0">
                <a:solidFill>
                  <a:srgbClr val="000000"/>
                </a:solidFill>
              </a:rPr>
              <a:t>for</a:t>
            </a:r>
            <a:r>
              <a:rPr lang="zh-CN" altLang="en-US" sz="2800" b="1" dirty="0">
                <a:solidFill>
                  <a:srgbClr val="000000"/>
                </a:solidFill>
              </a:rPr>
              <a:t>循环之前，表示</a:t>
            </a:r>
            <a:r>
              <a:rPr lang="en-US" altLang="zh-CN" sz="2800" b="1" dirty="0">
                <a:solidFill>
                  <a:srgbClr val="000000"/>
                </a:solidFill>
              </a:rPr>
              <a:t>for</a:t>
            </a:r>
            <a:r>
              <a:rPr lang="zh-CN" altLang="en-US" sz="2800" b="1" dirty="0">
                <a:solidFill>
                  <a:srgbClr val="000000"/>
                </a:solidFill>
              </a:rPr>
              <a:t>循环的代码将被多个线程并行执行</a:t>
            </a:r>
            <a:r>
              <a:rPr lang="zh-CN" altLang="en-US" sz="2800" b="1" dirty="0" smtClean="0">
                <a:solidFill>
                  <a:srgbClr val="000000"/>
                </a:solidFill>
              </a:rPr>
              <a:t>。</a:t>
            </a:r>
            <a:endParaRPr lang="zh-CN" altLang="en-US" sz="2800" b="1" dirty="0">
              <a:solidFill>
                <a:srgbClr val="000000"/>
              </a:solidFill>
            </a:endParaRPr>
          </a:p>
          <a:p>
            <a:pPr>
              <a:lnSpc>
                <a:spcPts val="4000"/>
              </a:lnSpc>
            </a:pPr>
            <a:r>
              <a:rPr lang="zh-CN" altLang="en-US" sz="2800" b="1" dirty="0">
                <a:solidFill>
                  <a:srgbClr val="000000"/>
                </a:solidFill>
              </a:rPr>
              <a:t>       </a:t>
            </a:r>
            <a:r>
              <a:rPr lang="en-US" altLang="zh-CN" sz="2800" b="1" dirty="0" smtClean="0">
                <a:solidFill>
                  <a:srgbClr val="C00000"/>
                </a:solidFill>
              </a:rPr>
              <a:t>sections</a:t>
            </a:r>
            <a:r>
              <a:rPr lang="en-US" altLang="zh-CN" sz="2800" b="1" dirty="0" smtClean="0">
                <a:solidFill>
                  <a:srgbClr val="000000"/>
                </a:solidFill>
              </a:rPr>
              <a:t>——</a:t>
            </a:r>
            <a:r>
              <a:rPr lang="zh-CN" altLang="en-US" sz="2800" b="1" dirty="0" smtClean="0">
                <a:solidFill>
                  <a:srgbClr val="000000"/>
                </a:solidFill>
              </a:rPr>
              <a:t>用在</a:t>
            </a:r>
            <a:r>
              <a:rPr lang="zh-CN" altLang="en-US" sz="2800" b="1" dirty="0">
                <a:solidFill>
                  <a:srgbClr val="2D0AC2"/>
                </a:solidFill>
              </a:rPr>
              <a:t>任务</a:t>
            </a:r>
            <a:r>
              <a:rPr lang="zh-CN" altLang="en-US" sz="2800" b="1" dirty="0" smtClean="0">
                <a:solidFill>
                  <a:srgbClr val="2D0AC2"/>
                </a:solidFill>
              </a:rPr>
              <a:t>并行</a:t>
            </a:r>
            <a:r>
              <a:rPr lang="zh-CN" altLang="en-US" sz="2800" b="1" dirty="0">
                <a:solidFill>
                  <a:srgbClr val="000000"/>
                </a:solidFill>
              </a:rPr>
              <a:t>执行的代码段</a:t>
            </a:r>
            <a:r>
              <a:rPr lang="zh-CN" altLang="en-US" sz="2800" b="1" dirty="0" smtClean="0">
                <a:solidFill>
                  <a:srgbClr val="000000"/>
                </a:solidFill>
              </a:rPr>
              <a:t>之前</a:t>
            </a:r>
            <a:endParaRPr lang="zh-CN" altLang="en-US" sz="2800" b="1" dirty="0">
              <a:solidFill>
                <a:srgbClr val="000000"/>
              </a:solidFill>
            </a:endParaRPr>
          </a:p>
          <a:p>
            <a:pPr>
              <a:lnSpc>
                <a:spcPts val="4000"/>
              </a:lnSpc>
            </a:pPr>
            <a:r>
              <a:rPr lang="zh-CN" altLang="en-US" sz="2800" b="1" dirty="0">
                <a:solidFill>
                  <a:srgbClr val="000000"/>
                </a:solidFill>
              </a:rPr>
              <a:t>       </a:t>
            </a:r>
            <a:r>
              <a:rPr lang="en-US" altLang="zh-CN" sz="2800" b="1" dirty="0">
                <a:solidFill>
                  <a:srgbClr val="C00000"/>
                </a:solidFill>
              </a:rPr>
              <a:t>parallel </a:t>
            </a:r>
            <a:r>
              <a:rPr lang="en-US" altLang="zh-CN" sz="2800" b="1" dirty="0" smtClean="0">
                <a:solidFill>
                  <a:srgbClr val="C00000"/>
                </a:solidFill>
              </a:rPr>
              <a:t>sections</a:t>
            </a:r>
            <a:r>
              <a:rPr lang="zh-CN" altLang="en-US" sz="2800" b="1" dirty="0" smtClean="0">
                <a:solidFill>
                  <a:srgbClr val="C00000"/>
                </a:solidFill>
              </a:rPr>
              <a:t>、</a:t>
            </a:r>
            <a:r>
              <a:rPr lang="en-US" altLang="zh-CN" sz="2800" b="1" dirty="0" smtClean="0">
                <a:solidFill>
                  <a:srgbClr val="C00000"/>
                </a:solidFill>
              </a:rPr>
              <a:t>parallel</a:t>
            </a:r>
            <a:r>
              <a:rPr lang="zh-CN" altLang="en-US" sz="2800" b="1" dirty="0">
                <a:solidFill>
                  <a:srgbClr val="000000"/>
                </a:solidFill>
              </a:rPr>
              <a:t>和</a:t>
            </a:r>
            <a:r>
              <a:rPr lang="en-US" altLang="zh-CN" sz="2800" b="1" dirty="0">
                <a:solidFill>
                  <a:srgbClr val="C00000"/>
                </a:solidFill>
              </a:rPr>
              <a:t>sections</a:t>
            </a:r>
            <a:r>
              <a:rPr lang="zh-CN" altLang="en-US" sz="2800" b="1" dirty="0">
                <a:solidFill>
                  <a:srgbClr val="000000"/>
                </a:solidFill>
              </a:rPr>
              <a:t>两个</a:t>
            </a:r>
            <a:r>
              <a:rPr lang="zh-CN" altLang="en-US" sz="2800" b="1" dirty="0" smtClean="0">
                <a:solidFill>
                  <a:srgbClr val="000000"/>
                </a:solidFill>
              </a:rPr>
              <a:t>语句结合</a:t>
            </a:r>
            <a:endParaRPr lang="zh-CN" altLang="en-US" sz="2800" b="1" dirty="0">
              <a:solidFill>
                <a:srgbClr val="000000"/>
              </a:solidFill>
            </a:endParaRPr>
          </a:p>
          <a:p>
            <a:pPr>
              <a:lnSpc>
                <a:spcPts val="4000"/>
              </a:lnSpc>
            </a:pPr>
            <a:r>
              <a:rPr lang="zh-CN" altLang="en-US" sz="2800" b="1" dirty="0">
                <a:solidFill>
                  <a:srgbClr val="C00000"/>
                </a:solidFill>
              </a:rPr>
              <a:t>       </a:t>
            </a:r>
            <a:r>
              <a:rPr lang="en-US" altLang="zh-CN" sz="2800" b="1" dirty="0" smtClean="0">
                <a:solidFill>
                  <a:srgbClr val="C00000"/>
                </a:solidFill>
              </a:rPr>
              <a:t>critical</a:t>
            </a:r>
            <a:r>
              <a:rPr lang="en-US" altLang="zh-CN" sz="2800" b="1" dirty="0" smtClean="0">
                <a:solidFill>
                  <a:srgbClr val="000000"/>
                </a:solidFill>
              </a:rPr>
              <a:t>——</a:t>
            </a:r>
            <a:r>
              <a:rPr lang="zh-CN" altLang="en-US" sz="2800" b="1" dirty="0" smtClean="0">
                <a:solidFill>
                  <a:srgbClr val="000000"/>
                </a:solidFill>
              </a:rPr>
              <a:t>用</a:t>
            </a:r>
            <a:r>
              <a:rPr lang="zh-CN" altLang="en-US" sz="2800" b="1" dirty="0">
                <a:solidFill>
                  <a:srgbClr val="000000"/>
                </a:solidFill>
              </a:rPr>
              <a:t>在一段代码临界区</a:t>
            </a:r>
            <a:r>
              <a:rPr lang="zh-CN" altLang="en-US" sz="2800" b="1" dirty="0" smtClean="0">
                <a:solidFill>
                  <a:srgbClr val="000000"/>
                </a:solidFill>
              </a:rPr>
              <a:t>之前，避免线程竞争</a:t>
            </a:r>
            <a:endParaRPr lang="zh-CN" altLang="en-US" sz="2800" b="1" dirty="0">
              <a:solidFill>
                <a:srgbClr val="000000"/>
              </a:solidFill>
            </a:endParaRPr>
          </a:p>
          <a:p>
            <a:pPr>
              <a:lnSpc>
                <a:spcPts val="4000"/>
              </a:lnSpc>
            </a:pPr>
            <a:r>
              <a:rPr lang="zh-CN" altLang="en-US" sz="2800" b="1" dirty="0">
                <a:solidFill>
                  <a:srgbClr val="000000"/>
                </a:solidFill>
              </a:rPr>
              <a:t>       </a:t>
            </a:r>
            <a:r>
              <a:rPr lang="en-US" altLang="zh-CN" sz="2800" b="1" dirty="0" smtClean="0">
                <a:solidFill>
                  <a:srgbClr val="C00000"/>
                </a:solidFill>
              </a:rPr>
              <a:t>single</a:t>
            </a:r>
            <a:r>
              <a:rPr lang="en-US" altLang="zh-CN" sz="2800" b="1" dirty="0" smtClean="0">
                <a:solidFill>
                  <a:srgbClr val="000000"/>
                </a:solidFill>
              </a:rPr>
              <a:t>——</a:t>
            </a:r>
            <a:r>
              <a:rPr lang="zh-CN" altLang="en-US" sz="2800" b="1" dirty="0" smtClean="0">
                <a:solidFill>
                  <a:srgbClr val="000000"/>
                </a:solidFill>
              </a:rPr>
              <a:t>用</a:t>
            </a:r>
            <a:r>
              <a:rPr lang="zh-CN" altLang="en-US" sz="2800" b="1" dirty="0">
                <a:solidFill>
                  <a:srgbClr val="000000"/>
                </a:solidFill>
              </a:rPr>
              <a:t>在一段只被单个线程执行的代码段之前，表示后面的代码段将被单线程</a:t>
            </a:r>
            <a:r>
              <a:rPr lang="zh-CN" altLang="en-US" sz="2800" b="1" dirty="0" smtClean="0">
                <a:solidFill>
                  <a:srgbClr val="000000"/>
                </a:solidFill>
              </a:rPr>
              <a:t>执行（由首先执行到该代码的线程执行）。</a:t>
            </a:r>
            <a:endParaRPr lang="en-US" sz="2800" b="1" dirty="0">
              <a:solidFill>
                <a:srgbClr val="000000"/>
              </a:solidFill>
            </a:endParaRPr>
          </a:p>
        </p:txBody>
      </p:sp>
    </p:spTree>
  </p:cSld>
  <p:clrMapOvr>
    <a:masterClrMapping/>
  </p:clrMapOvr>
  <p:transition spd="med" advTm="3025">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858460" y="516124"/>
            <a:ext cx="6322564" cy="1569660"/>
          </a:xfrm>
          <a:prstGeom prst="rect">
            <a:avLst/>
          </a:prstGeom>
        </p:spPr>
        <p:txBody>
          <a:bodyPr wrap="none">
            <a:spAutoFit/>
          </a:bodyPr>
          <a:lstStyle/>
          <a:p>
            <a:pPr algn="ctr"/>
            <a:r>
              <a:rPr lang="en-US" altLang="zh-CN" sz="4800" dirty="0" smtClean="0">
                <a:solidFill>
                  <a:srgbClr val="2D0AC2"/>
                </a:solidFill>
                <a:latin typeface="华文新魏" panose="02010800040101010101" pitchFamily="2" charset="-122"/>
                <a:ea typeface="华文新魏" panose="02010800040101010101" pitchFamily="2" charset="-122"/>
              </a:rPr>
              <a:t>OpenMP</a:t>
            </a:r>
            <a:r>
              <a:rPr lang="zh-CN" altLang="en-US" sz="4800" dirty="0" smtClean="0">
                <a:solidFill>
                  <a:srgbClr val="2D0AC2"/>
                </a:solidFill>
                <a:latin typeface="华文新魏" panose="02010800040101010101" pitchFamily="2" charset="-122"/>
                <a:ea typeface="华文新魏" panose="02010800040101010101" pitchFamily="2" charset="-122"/>
              </a:rPr>
              <a:t>编译指导语句</a:t>
            </a:r>
            <a:endParaRPr lang="en-US" altLang="zh-CN" sz="4800" dirty="0" smtClean="0">
              <a:solidFill>
                <a:srgbClr val="2D0AC2"/>
              </a:solidFill>
              <a:latin typeface="华文新魏" panose="02010800040101010101" pitchFamily="2" charset="-122"/>
              <a:ea typeface="华文新魏" panose="02010800040101010101" pitchFamily="2" charset="-122"/>
            </a:endParaRPr>
          </a:p>
          <a:p>
            <a:pPr algn="ctr"/>
            <a:endParaRPr lang="en-US" altLang="zh-CN" sz="4800" dirty="0" smtClean="0">
              <a:solidFill>
                <a:srgbClr val="2D0AC2"/>
              </a:solidFill>
              <a:latin typeface="华文新魏" panose="02010800040101010101" pitchFamily="2" charset="-122"/>
              <a:ea typeface="华文新魏" panose="02010800040101010101" pitchFamily="2" charset="-122"/>
            </a:endParaRPr>
          </a:p>
        </p:txBody>
      </p:sp>
      <p:sp>
        <p:nvSpPr>
          <p:cNvPr id="2" name="矩形 1"/>
          <p:cNvSpPr/>
          <p:nvPr/>
        </p:nvSpPr>
        <p:spPr>
          <a:xfrm>
            <a:off x="596824" y="1300954"/>
            <a:ext cx="11115658" cy="5047536"/>
          </a:xfrm>
          <a:prstGeom prst="rect">
            <a:avLst/>
          </a:prstGeom>
        </p:spPr>
        <p:txBody>
          <a:bodyPr wrap="square">
            <a:spAutoFit/>
          </a:bodyPr>
          <a:lstStyle/>
          <a:p>
            <a:r>
              <a:rPr lang="en-US" altLang="zh-CN" sz="2800" b="1" dirty="0"/>
              <a:t>OpenMP</a:t>
            </a:r>
            <a:r>
              <a:rPr lang="zh-CN" altLang="en-US" sz="2800" b="1" dirty="0"/>
              <a:t>的常用指令如下</a:t>
            </a:r>
            <a:r>
              <a:rPr lang="zh-CN" altLang="en-US" sz="2800" b="1" dirty="0" smtClean="0"/>
              <a:t>：</a:t>
            </a:r>
            <a:endParaRPr lang="en-US" altLang="zh-CN" sz="2800" b="1" dirty="0" smtClean="0"/>
          </a:p>
          <a:p>
            <a:pPr>
              <a:lnSpc>
                <a:spcPct val="150000"/>
              </a:lnSpc>
            </a:pPr>
            <a:r>
              <a:rPr lang="en-US" altLang="zh-CN" sz="2800" b="1" dirty="0">
                <a:solidFill>
                  <a:srgbClr val="C00000"/>
                </a:solidFill>
              </a:rPr>
              <a:t>b</a:t>
            </a:r>
            <a:r>
              <a:rPr lang="en-US" altLang="zh-CN" sz="2800" b="1" dirty="0" smtClean="0">
                <a:solidFill>
                  <a:srgbClr val="C00000"/>
                </a:solidFill>
              </a:rPr>
              <a:t>arrier</a:t>
            </a:r>
            <a:r>
              <a:rPr lang="en-US" altLang="zh-CN" sz="2800" b="1" dirty="0" smtClean="0"/>
              <a:t>——</a:t>
            </a:r>
            <a:r>
              <a:rPr lang="zh-CN" altLang="en-US" sz="2800" b="1" dirty="0" smtClean="0"/>
              <a:t>用于</a:t>
            </a:r>
            <a:r>
              <a:rPr lang="zh-CN" altLang="en-US" sz="2800" b="1" dirty="0"/>
              <a:t>并行区</a:t>
            </a:r>
            <a:r>
              <a:rPr lang="zh-CN" altLang="en-US" sz="2800" b="1" dirty="0" smtClean="0"/>
              <a:t>内</a:t>
            </a:r>
            <a:r>
              <a:rPr lang="zh-CN" altLang="en-US" sz="2800" b="1" dirty="0"/>
              <a:t>所有</a:t>
            </a:r>
            <a:r>
              <a:rPr lang="zh-CN" altLang="en-US" sz="2800" b="1" dirty="0" smtClean="0"/>
              <a:t>线程的同步</a:t>
            </a:r>
            <a:endParaRPr lang="en-US" altLang="zh-CN" sz="2800" b="1" dirty="0" smtClean="0"/>
          </a:p>
          <a:p>
            <a:pPr>
              <a:lnSpc>
                <a:spcPct val="150000"/>
              </a:lnSpc>
            </a:pPr>
            <a:r>
              <a:rPr lang="en-US" altLang="zh-CN" sz="2800" b="1" dirty="0" smtClean="0">
                <a:solidFill>
                  <a:srgbClr val="C00000"/>
                </a:solidFill>
              </a:rPr>
              <a:t>atomic</a:t>
            </a:r>
            <a:r>
              <a:rPr lang="en-US" altLang="zh-CN" sz="2800" b="1" dirty="0" smtClean="0"/>
              <a:t>——</a:t>
            </a:r>
            <a:r>
              <a:rPr lang="zh-CN" altLang="en-US" sz="2800" b="1" dirty="0" smtClean="0"/>
              <a:t>用于</a:t>
            </a:r>
            <a:r>
              <a:rPr lang="zh-CN" altLang="en-US" sz="2800" b="1" dirty="0"/>
              <a:t>指定</a:t>
            </a:r>
            <a:r>
              <a:rPr lang="zh-CN" altLang="en-US" sz="2800" b="1" dirty="0" smtClean="0"/>
              <a:t>一个特殊的存储单元</a:t>
            </a:r>
            <a:r>
              <a:rPr lang="zh-CN" altLang="en-US" sz="2800" b="1" dirty="0" smtClean="0">
                <a:solidFill>
                  <a:srgbClr val="2D0AC2"/>
                </a:solidFill>
              </a:rPr>
              <a:t>只能原子的替代更新</a:t>
            </a:r>
            <a:r>
              <a:rPr lang="zh-CN" altLang="en-US" sz="2800" b="1" dirty="0" smtClean="0"/>
              <a:t>，而不允许让多个线程同时去写。主要用来保证操作被安全的执行，可以替代</a:t>
            </a:r>
            <a:r>
              <a:rPr lang="en-US" altLang="zh-CN" sz="2800" b="1" dirty="0" smtClean="0"/>
              <a:t>critical</a:t>
            </a:r>
            <a:r>
              <a:rPr lang="zh-CN" altLang="en-US" sz="2800" b="1" dirty="0" smtClean="0"/>
              <a:t>结构，但是只能用于单一赋值语句等特殊情况。</a:t>
            </a:r>
            <a:endParaRPr lang="zh-CN" altLang="en-US" sz="2800" b="1" dirty="0"/>
          </a:p>
          <a:p>
            <a:pPr>
              <a:lnSpc>
                <a:spcPct val="150000"/>
              </a:lnSpc>
            </a:pPr>
            <a:r>
              <a:rPr lang="en-US" altLang="zh-CN" sz="2800" b="1" dirty="0" smtClean="0">
                <a:solidFill>
                  <a:srgbClr val="C00000"/>
                </a:solidFill>
              </a:rPr>
              <a:t>master</a:t>
            </a:r>
            <a:r>
              <a:rPr lang="en-US" altLang="zh-CN" sz="2800" b="1" dirty="0" smtClean="0"/>
              <a:t>——</a:t>
            </a:r>
            <a:r>
              <a:rPr lang="zh-CN" altLang="en-US" sz="2800" b="1" dirty="0" smtClean="0"/>
              <a:t>用于</a:t>
            </a:r>
            <a:r>
              <a:rPr lang="zh-CN" altLang="en-US" sz="2800" b="1" dirty="0"/>
              <a:t>指定一段代码块由主线程</a:t>
            </a:r>
            <a:r>
              <a:rPr lang="zh-CN" altLang="en-US" sz="2800" b="1" dirty="0" smtClean="0"/>
              <a:t>执行</a:t>
            </a:r>
            <a:endParaRPr lang="zh-CN" altLang="en-US" sz="2800" b="1" dirty="0"/>
          </a:p>
          <a:p>
            <a:pPr>
              <a:lnSpc>
                <a:spcPct val="150000"/>
              </a:lnSpc>
            </a:pPr>
            <a:r>
              <a:rPr lang="en-US" altLang="zh-CN" sz="2800" b="1" dirty="0" smtClean="0">
                <a:solidFill>
                  <a:srgbClr val="C00000"/>
                </a:solidFill>
              </a:rPr>
              <a:t>ordered</a:t>
            </a:r>
            <a:r>
              <a:rPr lang="en-US" altLang="zh-CN" sz="2800" b="1" dirty="0" smtClean="0"/>
              <a:t>——</a:t>
            </a:r>
            <a:r>
              <a:rPr lang="zh-CN" altLang="en-US" sz="2800" b="1" dirty="0" smtClean="0"/>
              <a:t>用于</a:t>
            </a:r>
            <a:r>
              <a:rPr lang="zh-CN" altLang="en-US" sz="2800" b="1" dirty="0"/>
              <a:t>指定并行区域的循环</a:t>
            </a:r>
            <a:r>
              <a:rPr lang="zh-CN" altLang="en-US" sz="2800" b="1" dirty="0" smtClean="0"/>
              <a:t>按照迭代顺序执行</a:t>
            </a:r>
            <a:endParaRPr lang="zh-CN" altLang="en-US" sz="2800" b="1" dirty="0"/>
          </a:p>
          <a:p>
            <a:pPr>
              <a:lnSpc>
                <a:spcPct val="150000"/>
              </a:lnSpc>
            </a:pPr>
            <a:r>
              <a:rPr lang="en-US" altLang="zh-CN" sz="2800" b="1" dirty="0" err="1" smtClean="0">
                <a:solidFill>
                  <a:srgbClr val="C00000"/>
                </a:solidFill>
              </a:rPr>
              <a:t>threadprivate</a:t>
            </a:r>
            <a:r>
              <a:rPr lang="en-US" altLang="zh-CN" sz="2800" b="1" dirty="0" smtClean="0"/>
              <a:t>——</a:t>
            </a:r>
            <a:r>
              <a:rPr lang="zh-CN" altLang="en-US" sz="2800" b="1" dirty="0" smtClean="0"/>
              <a:t>用于</a:t>
            </a:r>
            <a:r>
              <a:rPr lang="zh-CN" altLang="en-US" sz="2800" b="1" dirty="0"/>
              <a:t>指定一个变量是线程私有</a:t>
            </a:r>
            <a:r>
              <a:rPr lang="zh-CN" altLang="en-US" sz="2800" b="1" dirty="0" smtClean="0"/>
              <a:t>的</a:t>
            </a:r>
            <a:endParaRPr lang="en-US" sz="2800" b="1" dirty="0"/>
          </a:p>
        </p:txBody>
      </p:sp>
    </p:spTree>
  </p:cSld>
  <p:clrMapOvr>
    <a:masterClrMapping/>
  </p:clrMapOvr>
  <p:transition spd="med" advTm="3025">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370619" y="516124"/>
            <a:ext cx="5298245" cy="707886"/>
          </a:xfrm>
          <a:prstGeom prst="rect">
            <a:avLst/>
          </a:prstGeom>
        </p:spPr>
        <p:txBody>
          <a:bodyPr wrap="none">
            <a:spAutoFit/>
          </a:bodyPr>
          <a:lstStyle/>
          <a:p>
            <a:pPr algn="ctr"/>
            <a:r>
              <a:rPr lang="en-US" altLang="zh-CN" sz="4000" dirty="0" smtClean="0">
                <a:solidFill>
                  <a:srgbClr val="2D0AC2"/>
                </a:solidFill>
                <a:latin typeface="华文新魏" panose="02010800040101010101" pitchFamily="2" charset="-122"/>
                <a:ea typeface="华文新魏" panose="02010800040101010101" pitchFamily="2" charset="-122"/>
              </a:rPr>
              <a:t>OpenMP</a:t>
            </a:r>
            <a:r>
              <a:rPr lang="zh-CN" altLang="en-US" sz="4000" dirty="0" smtClean="0">
                <a:solidFill>
                  <a:srgbClr val="2D0AC2"/>
                </a:solidFill>
                <a:latin typeface="华文新魏" panose="02010800040101010101" pitchFamily="2" charset="-122"/>
                <a:ea typeface="华文新魏" panose="02010800040101010101" pitchFamily="2" charset="-122"/>
              </a:rPr>
              <a:t>编译指导语句</a:t>
            </a:r>
            <a:endParaRPr lang="en-US" altLang="zh-CN" sz="4000" dirty="0" smtClean="0">
              <a:solidFill>
                <a:srgbClr val="2D0AC2"/>
              </a:solidFill>
              <a:latin typeface="华文新魏" panose="02010800040101010101" pitchFamily="2" charset="-122"/>
              <a:ea typeface="华文新魏" panose="02010800040101010101" pitchFamily="2" charset="-122"/>
            </a:endParaRPr>
          </a:p>
        </p:txBody>
      </p:sp>
      <p:sp>
        <p:nvSpPr>
          <p:cNvPr id="2" name="矩形 1"/>
          <p:cNvSpPr/>
          <p:nvPr/>
        </p:nvSpPr>
        <p:spPr>
          <a:xfrm>
            <a:off x="689548" y="1066533"/>
            <a:ext cx="10927830" cy="5478423"/>
          </a:xfrm>
          <a:prstGeom prst="rect">
            <a:avLst/>
          </a:prstGeom>
        </p:spPr>
        <p:txBody>
          <a:bodyPr wrap="square">
            <a:spAutoFit/>
          </a:bodyPr>
          <a:lstStyle/>
          <a:p>
            <a:pPr>
              <a:lnSpc>
                <a:spcPct val="150000"/>
              </a:lnSpc>
            </a:pPr>
            <a:r>
              <a:rPr lang="en-US" sz="2800" b="1" dirty="0" smtClean="0">
                <a:solidFill>
                  <a:srgbClr val="C00000"/>
                </a:solidFill>
              </a:rPr>
              <a:t>         sections</a:t>
            </a:r>
            <a:r>
              <a:rPr lang="zh-CN" altLang="en-US" sz="2800" b="1" dirty="0" smtClean="0">
                <a:solidFill>
                  <a:srgbClr val="C00000"/>
                </a:solidFill>
              </a:rPr>
              <a:t>结构划分任务成独立、离散的代码块，每个代码块由一个线程执行，属于典型的任务并行。</a:t>
            </a:r>
            <a:endParaRPr lang="zh-CN" altLang="en-US" sz="2800" b="1" dirty="0">
              <a:solidFill>
                <a:srgbClr val="C00000"/>
              </a:solidFill>
            </a:endParaRPr>
          </a:p>
          <a:p>
            <a:pPr marL="457200" indent="-457200">
              <a:lnSpc>
                <a:spcPct val="150000"/>
              </a:lnSpc>
              <a:buFont typeface="Wingdings" panose="05000000000000000000" pitchFamily="2" charset="2"/>
              <a:buChar char="v"/>
            </a:pPr>
            <a:r>
              <a:rPr lang="zh-CN" altLang="en-US" sz="2800" b="1" dirty="0" smtClean="0">
                <a:solidFill>
                  <a:srgbClr val="2D0AC2"/>
                </a:solidFill>
              </a:rPr>
              <a:t>不同</a:t>
            </a:r>
            <a:r>
              <a:rPr lang="zh-CN" altLang="en-US" sz="2800" b="1" dirty="0">
                <a:solidFill>
                  <a:srgbClr val="2D0AC2"/>
                </a:solidFill>
              </a:rPr>
              <a:t>的</a:t>
            </a:r>
            <a:r>
              <a:rPr lang="en-US" sz="2800" b="1" dirty="0">
                <a:solidFill>
                  <a:srgbClr val="2D0AC2"/>
                </a:solidFill>
              </a:rPr>
              <a:t>section</a:t>
            </a:r>
            <a:r>
              <a:rPr lang="zh-CN" altLang="en-US" sz="2800" b="1" dirty="0">
                <a:solidFill>
                  <a:srgbClr val="2D0AC2"/>
                </a:solidFill>
              </a:rPr>
              <a:t>由不同的线程执行 </a:t>
            </a:r>
            <a:endParaRPr lang="zh-CN" altLang="en-US" sz="2800" b="1" dirty="0">
              <a:solidFill>
                <a:srgbClr val="2D0AC2"/>
              </a:solidFill>
            </a:endParaRPr>
          </a:p>
          <a:p>
            <a:r>
              <a:rPr lang="en-US" sz="2800" b="1" dirty="0" smtClean="0"/>
              <a:t>Section</a:t>
            </a:r>
            <a:r>
              <a:rPr lang="zh-CN" altLang="en-US" sz="2800" b="1" dirty="0"/>
              <a:t>语句格式： </a:t>
            </a:r>
            <a:endParaRPr lang="zh-CN" altLang="en-US" sz="2800" b="1" dirty="0"/>
          </a:p>
          <a:p>
            <a:r>
              <a:rPr lang="en-US" altLang="zh-CN" sz="2800" b="1" dirty="0"/>
              <a:t>#</a:t>
            </a:r>
            <a:r>
              <a:rPr lang="en-US" sz="2800" b="1" dirty="0"/>
              <a:t>pragma </a:t>
            </a:r>
            <a:r>
              <a:rPr lang="en-US" sz="2800" b="1" dirty="0" err="1"/>
              <a:t>omp</a:t>
            </a:r>
            <a:r>
              <a:rPr lang="en-US" sz="2800" b="1" dirty="0"/>
              <a:t> sections [ clause[[,]clause]…] newline       </a:t>
            </a:r>
            <a:endParaRPr lang="en-US" sz="2800" b="1" dirty="0"/>
          </a:p>
          <a:p>
            <a:r>
              <a:rPr lang="en-US" sz="2800" b="1" dirty="0"/>
              <a:t>{       </a:t>
            </a:r>
            <a:endParaRPr lang="en-US" sz="2800" b="1" dirty="0"/>
          </a:p>
          <a:p>
            <a:r>
              <a:rPr lang="en-US" sz="2800" b="1" dirty="0" smtClean="0"/>
              <a:t>     [#</a:t>
            </a:r>
            <a:r>
              <a:rPr lang="en-US" sz="2800" b="1" dirty="0"/>
              <a:t>pragma </a:t>
            </a:r>
            <a:r>
              <a:rPr lang="en-US" sz="2800" b="1" dirty="0" err="1"/>
              <a:t>omp</a:t>
            </a:r>
            <a:r>
              <a:rPr lang="en-US" sz="2800" b="1" dirty="0"/>
              <a:t> section newline] </a:t>
            </a:r>
            <a:endParaRPr lang="en-US" sz="2800" b="1" dirty="0"/>
          </a:p>
          <a:p>
            <a:r>
              <a:rPr lang="en-US" sz="2800" b="1" dirty="0"/>
              <a:t>        …       </a:t>
            </a:r>
            <a:endParaRPr lang="en-US" sz="2800" b="1" dirty="0"/>
          </a:p>
          <a:p>
            <a:r>
              <a:rPr lang="en-US" sz="2800" b="1" dirty="0" smtClean="0"/>
              <a:t>     [#</a:t>
            </a:r>
            <a:r>
              <a:rPr lang="en-US" sz="2800" b="1" dirty="0"/>
              <a:t>pragma </a:t>
            </a:r>
            <a:r>
              <a:rPr lang="en-US" sz="2800" b="1" dirty="0" err="1"/>
              <a:t>omp</a:t>
            </a:r>
            <a:r>
              <a:rPr lang="en-US" sz="2800" b="1" dirty="0"/>
              <a:t> section newline] </a:t>
            </a:r>
            <a:endParaRPr lang="en-US" sz="2800" b="1" dirty="0"/>
          </a:p>
          <a:p>
            <a:r>
              <a:rPr lang="en-US" sz="2800" b="1" dirty="0"/>
              <a:t>        …       </a:t>
            </a:r>
            <a:endParaRPr lang="en-US" sz="2800" b="1" dirty="0"/>
          </a:p>
          <a:p>
            <a:r>
              <a:rPr lang="en-US" sz="2800" b="1" dirty="0"/>
              <a:t>}</a:t>
            </a:r>
            <a:endParaRPr lang="en-US" sz="2800" b="1" dirty="0"/>
          </a:p>
        </p:txBody>
      </p:sp>
    </p:spTree>
  </p:cSld>
  <p:clrMapOvr>
    <a:masterClrMapping/>
  </p:clrMapOvr>
  <p:transition spd="med" advTm="3025">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858460" y="516124"/>
            <a:ext cx="6322564" cy="830997"/>
          </a:xfrm>
          <a:prstGeom prst="rect">
            <a:avLst/>
          </a:prstGeom>
        </p:spPr>
        <p:txBody>
          <a:bodyPr wrap="none">
            <a:spAutoFit/>
          </a:bodyPr>
          <a:lstStyle/>
          <a:p>
            <a:pPr algn="ctr"/>
            <a:r>
              <a:rPr lang="en-US" altLang="zh-CN" sz="4800" dirty="0" smtClean="0">
                <a:solidFill>
                  <a:srgbClr val="2D0AC2"/>
                </a:solidFill>
                <a:latin typeface="华文新魏" panose="02010800040101010101" pitchFamily="2" charset="-122"/>
                <a:ea typeface="华文新魏" panose="02010800040101010101" pitchFamily="2" charset="-122"/>
              </a:rPr>
              <a:t>OpenMP</a:t>
            </a:r>
            <a:r>
              <a:rPr lang="zh-CN" altLang="en-US" sz="4800" dirty="0" smtClean="0">
                <a:solidFill>
                  <a:srgbClr val="2D0AC2"/>
                </a:solidFill>
                <a:latin typeface="华文新魏" panose="02010800040101010101" pitchFamily="2" charset="-122"/>
                <a:ea typeface="华文新魏" panose="02010800040101010101" pitchFamily="2" charset="-122"/>
              </a:rPr>
              <a:t>编译指导语句</a:t>
            </a:r>
            <a:endParaRPr lang="en-US" altLang="zh-CN" sz="4800" dirty="0" smtClean="0">
              <a:solidFill>
                <a:srgbClr val="2D0AC2"/>
              </a:solidFill>
              <a:latin typeface="华文新魏" panose="02010800040101010101" pitchFamily="2" charset="-122"/>
              <a:ea typeface="华文新魏" panose="02010800040101010101" pitchFamily="2" charset="-122"/>
            </a:endParaRPr>
          </a:p>
        </p:txBody>
      </p:sp>
      <p:sp>
        <p:nvSpPr>
          <p:cNvPr id="2" name="矩形 1"/>
          <p:cNvSpPr/>
          <p:nvPr/>
        </p:nvSpPr>
        <p:spPr>
          <a:xfrm>
            <a:off x="761716" y="1347121"/>
            <a:ext cx="10516052" cy="4616648"/>
          </a:xfrm>
          <a:prstGeom prst="rect">
            <a:avLst/>
          </a:prstGeom>
        </p:spPr>
        <p:txBody>
          <a:bodyPr wrap="square">
            <a:spAutoFit/>
          </a:bodyPr>
          <a:lstStyle/>
          <a:p>
            <a:r>
              <a:rPr lang="en-US" sz="2800" b="1" dirty="0" smtClean="0"/>
              <a:t>Sections</a:t>
            </a:r>
            <a:r>
              <a:rPr lang="zh-CN" altLang="en-US" sz="2800" b="1" dirty="0" smtClean="0"/>
              <a:t>语句的子句：</a:t>
            </a:r>
            <a:endParaRPr lang="en-US" sz="2800" b="1" dirty="0" smtClean="0"/>
          </a:p>
          <a:p>
            <a:r>
              <a:rPr lang="en-US" sz="2800" b="1" dirty="0" smtClean="0"/>
              <a:t>clause</a:t>
            </a:r>
            <a:r>
              <a:rPr lang="en-US" sz="2800" b="1" dirty="0"/>
              <a:t>= </a:t>
            </a:r>
            <a:endParaRPr lang="en-US" sz="2800" b="1" dirty="0"/>
          </a:p>
          <a:p>
            <a:pPr marL="457200" indent="-457200">
              <a:lnSpc>
                <a:spcPct val="150000"/>
              </a:lnSpc>
              <a:buFont typeface="Arial" panose="020B0604020202020204" pitchFamily="34" charset="0"/>
              <a:buChar char="•"/>
            </a:pPr>
            <a:r>
              <a:rPr lang="en-US" sz="2800" b="1" dirty="0" smtClean="0"/>
              <a:t> </a:t>
            </a:r>
            <a:r>
              <a:rPr lang="en-US" sz="2800" b="1" dirty="0"/>
              <a:t>private (list)  </a:t>
            </a:r>
            <a:endParaRPr lang="en-US" sz="2800" b="1" dirty="0"/>
          </a:p>
          <a:p>
            <a:pPr marL="457200" indent="-457200">
              <a:lnSpc>
                <a:spcPct val="150000"/>
              </a:lnSpc>
              <a:buFont typeface="Arial" panose="020B0604020202020204" pitchFamily="34" charset="0"/>
              <a:buChar char="•"/>
            </a:pPr>
            <a:r>
              <a:rPr lang="en-US" sz="2800" b="1" dirty="0" smtClean="0"/>
              <a:t> </a:t>
            </a:r>
            <a:r>
              <a:rPr lang="en-US" sz="2800" b="1" dirty="0" err="1"/>
              <a:t>firstprivate</a:t>
            </a:r>
            <a:r>
              <a:rPr lang="en-US" sz="2800" b="1" dirty="0"/>
              <a:t> (list) </a:t>
            </a:r>
            <a:endParaRPr lang="en-US" sz="2800" b="1" dirty="0"/>
          </a:p>
          <a:p>
            <a:pPr marL="457200" indent="-457200">
              <a:lnSpc>
                <a:spcPct val="150000"/>
              </a:lnSpc>
              <a:buFont typeface="Arial" panose="020B0604020202020204" pitchFamily="34" charset="0"/>
              <a:buChar char="•"/>
            </a:pPr>
            <a:r>
              <a:rPr lang="en-US" sz="2800" b="1" dirty="0" smtClean="0"/>
              <a:t> </a:t>
            </a:r>
            <a:r>
              <a:rPr lang="en-US" sz="2800" b="1" dirty="0" err="1"/>
              <a:t>lastprivate</a:t>
            </a:r>
            <a:r>
              <a:rPr lang="en-US" sz="2800" b="1" dirty="0"/>
              <a:t> (list) </a:t>
            </a:r>
            <a:endParaRPr lang="en-US" sz="2800" b="1" dirty="0"/>
          </a:p>
          <a:p>
            <a:pPr marL="457200" indent="-457200">
              <a:lnSpc>
                <a:spcPct val="150000"/>
              </a:lnSpc>
              <a:buFont typeface="Arial" panose="020B0604020202020204" pitchFamily="34" charset="0"/>
              <a:buChar char="•"/>
            </a:pPr>
            <a:r>
              <a:rPr lang="en-US" sz="2800" b="1" dirty="0" smtClean="0"/>
              <a:t> </a:t>
            </a:r>
            <a:r>
              <a:rPr lang="en-US" sz="2800" b="1" dirty="0"/>
              <a:t>reduction (operator: list) </a:t>
            </a:r>
            <a:endParaRPr lang="en-US" sz="2800" b="1" dirty="0"/>
          </a:p>
          <a:p>
            <a:pPr marL="457200" indent="-457200">
              <a:lnSpc>
                <a:spcPct val="150000"/>
              </a:lnSpc>
              <a:buFont typeface="Arial" panose="020B0604020202020204" pitchFamily="34" charset="0"/>
              <a:buChar char="•"/>
            </a:pPr>
            <a:r>
              <a:rPr lang="en-US" sz="2800" b="1" dirty="0" smtClean="0"/>
              <a:t> </a:t>
            </a:r>
            <a:r>
              <a:rPr lang="en-US" sz="2800" b="1" dirty="0" err="1"/>
              <a:t>nowait</a:t>
            </a:r>
            <a:r>
              <a:rPr lang="en-US" sz="2800" b="1" dirty="0"/>
              <a:t>  </a:t>
            </a:r>
            <a:endParaRPr lang="en-US" sz="2800" b="1" dirty="0"/>
          </a:p>
          <a:p>
            <a:r>
              <a:rPr lang="en-US" sz="2800" b="1" dirty="0" smtClean="0"/>
              <a:t> </a:t>
            </a:r>
            <a:r>
              <a:rPr lang="zh-CN" altLang="en-US" sz="2800" b="1" dirty="0"/>
              <a:t>在</a:t>
            </a:r>
            <a:r>
              <a:rPr lang="en-US" sz="2800" b="1" dirty="0"/>
              <a:t>sections</a:t>
            </a:r>
            <a:r>
              <a:rPr lang="zh-CN" altLang="en-US" sz="2800" b="1" dirty="0"/>
              <a:t>语句结束处</a:t>
            </a:r>
            <a:r>
              <a:rPr lang="zh-CN" altLang="en-US" sz="2800" b="1" dirty="0">
                <a:solidFill>
                  <a:srgbClr val="2D0AC2"/>
                </a:solidFill>
              </a:rPr>
              <a:t>有一个隐含的路障</a:t>
            </a:r>
            <a:r>
              <a:rPr lang="zh-CN" altLang="en-US" sz="2800" b="1" dirty="0"/>
              <a:t>，使用</a:t>
            </a:r>
            <a:r>
              <a:rPr lang="zh-CN" altLang="en-US" sz="2800" b="1" dirty="0" smtClean="0"/>
              <a:t>了</a:t>
            </a:r>
            <a:r>
              <a:rPr lang="en-US" sz="2800" b="1" dirty="0" err="1" smtClean="0"/>
              <a:t>nowait</a:t>
            </a:r>
            <a:r>
              <a:rPr lang="zh-CN" altLang="en-US" sz="2800" b="1" dirty="0"/>
              <a:t>子句除外 </a:t>
            </a:r>
            <a:endParaRPr lang="en-US" sz="2800" b="1" dirty="0"/>
          </a:p>
        </p:txBody>
      </p:sp>
    </p:spTree>
  </p:cSld>
  <p:clrMapOvr>
    <a:masterClrMapping/>
  </p:clrMapOvr>
  <p:transition spd="med" advTm="3025">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64498" y="452178"/>
            <a:ext cx="11017770" cy="5734903"/>
          </a:xfrm>
          <a:prstGeom prst="rect">
            <a:avLst/>
          </a:prstGeom>
        </p:spPr>
        <p:txBody>
          <a:bodyPr wrap="square">
            <a:spAutoFit/>
          </a:bodyPr>
          <a:lstStyle/>
          <a:p>
            <a:pPr>
              <a:lnSpc>
                <a:spcPts val="4000"/>
              </a:lnSpc>
            </a:pPr>
            <a:r>
              <a:rPr lang="en-US" sz="2400" b="1" dirty="0">
                <a:solidFill>
                  <a:srgbClr val="000000"/>
                </a:solidFill>
              </a:rPr>
              <a:t>void main(</a:t>
            </a:r>
            <a:r>
              <a:rPr lang="en-US" sz="2400" b="1" dirty="0" err="1">
                <a:solidFill>
                  <a:srgbClr val="000000"/>
                </a:solidFill>
              </a:rPr>
              <a:t>int</a:t>
            </a:r>
            <a:r>
              <a:rPr lang="en-US" sz="2400" b="1" dirty="0">
                <a:solidFill>
                  <a:srgbClr val="000000"/>
                </a:solidFill>
              </a:rPr>
              <a:t> </a:t>
            </a:r>
            <a:r>
              <a:rPr lang="en-US" sz="2400" b="1" dirty="0" err="1">
                <a:solidFill>
                  <a:srgbClr val="000000"/>
                </a:solidFill>
              </a:rPr>
              <a:t>argc</a:t>
            </a:r>
            <a:r>
              <a:rPr lang="en-US" sz="2400" b="1" dirty="0">
                <a:solidFill>
                  <a:srgbClr val="000000"/>
                </a:solidFill>
              </a:rPr>
              <a:t>, char *</a:t>
            </a:r>
            <a:r>
              <a:rPr lang="en-US" sz="2400" b="1" dirty="0" err="1">
                <a:solidFill>
                  <a:srgbClr val="000000"/>
                </a:solidFill>
              </a:rPr>
              <a:t>argv</a:t>
            </a:r>
            <a:r>
              <a:rPr lang="en-US" sz="2400" b="1" dirty="0" smtClean="0">
                <a:solidFill>
                  <a:srgbClr val="000000"/>
                </a:solidFill>
              </a:rPr>
              <a:t>)</a:t>
            </a:r>
            <a:endParaRPr lang="en-US" sz="2400" b="1" dirty="0">
              <a:solidFill>
                <a:srgbClr val="000000"/>
              </a:solidFill>
            </a:endParaRPr>
          </a:p>
          <a:p>
            <a:pPr>
              <a:lnSpc>
                <a:spcPts val="4000"/>
              </a:lnSpc>
            </a:pPr>
            <a:r>
              <a:rPr lang="en-US" sz="2400" b="1" dirty="0" smtClean="0">
                <a:solidFill>
                  <a:srgbClr val="000000"/>
                </a:solidFill>
              </a:rPr>
              <a:t>{      #</a:t>
            </a:r>
            <a:r>
              <a:rPr lang="en-US" sz="2400" b="1" dirty="0">
                <a:solidFill>
                  <a:srgbClr val="000000"/>
                </a:solidFill>
              </a:rPr>
              <a:t>pragma </a:t>
            </a:r>
            <a:r>
              <a:rPr lang="en-US" sz="2400" b="1" dirty="0" err="1">
                <a:solidFill>
                  <a:srgbClr val="000000"/>
                </a:solidFill>
              </a:rPr>
              <a:t>omp</a:t>
            </a:r>
            <a:r>
              <a:rPr lang="en-US" sz="2400" b="1" dirty="0">
                <a:solidFill>
                  <a:srgbClr val="000000"/>
                </a:solidFill>
              </a:rPr>
              <a:t> parallel </a:t>
            </a:r>
            <a:r>
              <a:rPr lang="en-US" sz="2400" b="1" dirty="0">
                <a:solidFill>
                  <a:srgbClr val="C00000"/>
                </a:solidFill>
              </a:rPr>
              <a:t>sections</a:t>
            </a:r>
            <a:r>
              <a:rPr lang="en-US" sz="2400" b="1" dirty="0">
                <a:solidFill>
                  <a:srgbClr val="000000"/>
                </a:solidFill>
              </a:rPr>
              <a:t> </a:t>
            </a:r>
            <a:r>
              <a:rPr lang="en-US" sz="2400" b="1" dirty="0" smtClean="0">
                <a:solidFill>
                  <a:srgbClr val="000000"/>
                </a:solidFill>
              </a:rPr>
              <a:t>{</a:t>
            </a:r>
            <a:endParaRPr lang="en-US" sz="2400" b="1" dirty="0">
              <a:solidFill>
                <a:srgbClr val="000000"/>
              </a:solidFill>
            </a:endParaRPr>
          </a:p>
          <a:p>
            <a:pPr>
              <a:lnSpc>
                <a:spcPts val="4000"/>
              </a:lnSpc>
            </a:pPr>
            <a:r>
              <a:rPr lang="en-US" sz="2400" b="1" dirty="0" smtClean="0">
                <a:solidFill>
                  <a:srgbClr val="000000"/>
                </a:solidFill>
              </a:rPr>
              <a:t>                #</a:t>
            </a:r>
            <a:r>
              <a:rPr lang="en-US" sz="2400" b="1" dirty="0">
                <a:solidFill>
                  <a:srgbClr val="000000"/>
                </a:solidFill>
              </a:rPr>
              <a:t>pragma </a:t>
            </a:r>
            <a:r>
              <a:rPr lang="en-US" sz="2400" b="1" dirty="0" err="1">
                <a:solidFill>
                  <a:srgbClr val="000000"/>
                </a:solidFill>
              </a:rPr>
              <a:t>omp</a:t>
            </a:r>
            <a:r>
              <a:rPr lang="en-US" sz="2400" b="1" dirty="0">
                <a:solidFill>
                  <a:srgbClr val="000000"/>
                </a:solidFill>
              </a:rPr>
              <a:t> </a:t>
            </a:r>
            <a:r>
              <a:rPr lang="en-US" sz="2400" b="1" dirty="0" smtClean="0">
                <a:solidFill>
                  <a:srgbClr val="C00000"/>
                </a:solidFill>
              </a:rPr>
              <a:t>section</a:t>
            </a:r>
            <a:endParaRPr lang="en-US" sz="2400" b="1" dirty="0">
              <a:solidFill>
                <a:srgbClr val="C00000"/>
              </a:solidFill>
            </a:endParaRPr>
          </a:p>
          <a:p>
            <a:pPr>
              <a:lnSpc>
                <a:spcPts val="4000"/>
              </a:lnSpc>
            </a:pPr>
            <a:r>
              <a:rPr lang="en-US" sz="2400" b="1" dirty="0">
                <a:solidFill>
                  <a:srgbClr val="000000"/>
                </a:solidFill>
              </a:rPr>
              <a:t>    </a:t>
            </a:r>
            <a:r>
              <a:rPr lang="en-US" sz="2400" b="1" dirty="0" smtClean="0">
                <a:solidFill>
                  <a:srgbClr val="000000"/>
                </a:solidFill>
              </a:rPr>
              <a:t>                     </a:t>
            </a:r>
            <a:r>
              <a:rPr lang="en-US" sz="2400" b="1" dirty="0" err="1" smtClean="0">
                <a:solidFill>
                  <a:srgbClr val="000000"/>
                </a:solidFill>
              </a:rPr>
              <a:t>printf</a:t>
            </a:r>
            <a:r>
              <a:rPr lang="en-US" sz="2400" b="1" dirty="0">
                <a:solidFill>
                  <a:srgbClr val="000000"/>
                </a:solidFill>
              </a:rPr>
              <a:t>(“section 1 </a:t>
            </a:r>
            <a:r>
              <a:rPr lang="en-US" sz="2400" b="1" dirty="0" err="1">
                <a:solidFill>
                  <a:srgbClr val="000000"/>
                </a:solidFill>
              </a:rPr>
              <a:t>ThreadId</a:t>
            </a:r>
            <a:r>
              <a:rPr lang="en-US" sz="2400" b="1" dirty="0">
                <a:solidFill>
                  <a:srgbClr val="000000"/>
                </a:solidFill>
              </a:rPr>
              <a:t> = %</a:t>
            </a:r>
            <a:r>
              <a:rPr lang="en-US" sz="2400" b="1" dirty="0" smtClean="0">
                <a:solidFill>
                  <a:srgbClr val="000000"/>
                </a:solidFill>
              </a:rPr>
              <a:t>d\n</a:t>
            </a:r>
            <a:r>
              <a:rPr lang="en-US" sz="2400" b="1" dirty="0">
                <a:solidFill>
                  <a:srgbClr val="000000"/>
                </a:solidFill>
              </a:rPr>
              <a:t>”, </a:t>
            </a:r>
            <a:r>
              <a:rPr lang="en-US" sz="2400" b="1" dirty="0" err="1">
                <a:solidFill>
                  <a:srgbClr val="000000"/>
                </a:solidFill>
              </a:rPr>
              <a:t>omp_get_thread_num</a:t>
            </a:r>
            <a:r>
              <a:rPr lang="en-US" sz="2400" b="1" dirty="0" smtClean="0">
                <a:solidFill>
                  <a:srgbClr val="000000"/>
                </a:solidFill>
              </a:rPr>
              <a:t>());</a:t>
            </a:r>
            <a:endParaRPr lang="en-US" sz="2400" b="1" dirty="0">
              <a:solidFill>
                <a:srgbClr val="000000"/>
              </a:solidFill>
            </a:endParaRPr>
          </a:p>
          <a:p>
            <a:pPr>
              <a:lnSpc>
                <a:spcPts val="4000"/>
              </a:lnSpc>
            </a:pPr>
            <a:r>
              <a:rPr lang="en-US" sz="2400" b="1" dirty="0" smtClean="0">
                <a:solidFill>
                  <a:srgbClr val="000000"/>
                </a:solidFill>
              </a:rPr>
              <a:t>                #</a:t>
            </a:r>
            <a:r>
              <a:rPr lang="en-US" sz="2400" b="1" dirty="0">
                <a:solidFill>
                  <a:srgbClr val="000000"/>
                </a:solidFill>
              </a:rPr>
              <a:t>pragma </a:t>
            </a:r>
            <a:r>
              <a:rPr lang="en-US" sz="2400" b="1" dirty="0" err="1">
                <a:solidFill>
                  <a:srgbClr val="000000"/>
                </a:solidFill>
              </a:rPr>
              <a:t>omp</a:t>
            </a:r>
            <a:r>
              <a:rPr lang="en-US" sz="2400" b="1" dirty="0">
                <a:solidFill>
                  <a:srgbClr val="000000"/>
                </a:solidFill>
              </a:rPr>
              <a:t> section </a:t>
            </a:r>
            <a:endParaRPr lang="en-US" sz="2400" b="1" dirty="0">
              <a:solidFill>
                <a:srgbClr val="000000"/>
              </a:solidFill>
            </a:endParaRPr>
          </a:p>
          <a:p>
            <a:pPr>
              <a:lnSpc>
                <a:spcPts val="4000"/>
              </a:lnSpc>
            </a:pPr>
            <a:r>
              <a:rPr lang="en-US" sz="2400" b="1" dirty="0">
                <a:solidFill>
                  <a:srgbClr val="000000"/>
                </a:solidFill>
              </a:rPr>
              <a:t>    </a:t>
            </a:r>
            <a:r>
              <a:rPr lang="en-US" sz="2400" b="1" dirty="0" smtClean="0">
                <a:solidFill>
                  <a:srgbClr val="000000"/>
                </a:solidFill>
              </a:rPr>
              <a:t>                    </a:t>
            </a:r>
            <a:r>
              <a:rPr lang="en-US" sz="2400" b="1" dirty="0" err="1" smtClean="0">
                <a:solidFill>
                  <a:srgbClr val="000000"/>
                </a:solidFill>
              </a:rPr>
              <a:t>printf</a:t>
            </a:r>
            <a:r>
              <a:rPr lang="en-US" sz="2400" b="1" dirty="0">
                <a:solidFill>
                  <a:srgbClr val="000000"/>
                </a:solidFill>
              </a:rPr>
              <a:t>(“section 2 </a:t>
            </a:r>
            <a:r>
              <a:rPr lang="en-US" sz="2400" b="1" dirty="0" err="1">
                <a:solidFill>
                  <a:srgbClr val="000000"/>
                </a:solidFill>
              </a:rPr>
              <a:t>ThreadId</a:t>
            </a:r>
            <a:r>
              <a:rPr lang="en-US" sz="2400" b="1" dirty="0">
                <a:solidFill>
                  <a:srgbClr val="000000"/>
                </a:solidFill>
              </a:rPr>
              <a:t> = %</a:t>
            </a:r>
            <a:r>
              <a:rPr lang="en-US" sz="2400" b="1" dirty="0" smtClean="0">
                <a:solidFill>
                  <a:srgbClr val="000000"/>
                </a:solidFill>
              </a:rPr>
              <a:t>d\n</a:t>
            </a:r>
            <a:r>
              <a:rPr lang="en-US" sz="2400" b="1" dirty="0">
                <a:solidFill>
                  <a:srgbClr val="000000"/>
                </a:solidFill>
              </a:rPr>
              <a:t>”, </a:t>
            </a:r>
            <a:r>
              <a:rPr lang="en-US" sz="2400" b="1" dirty="0" err="1">
                <a:solidFill>
                  <a:srgbClr val="000000"/>
                </a:solidFill>
              </a:rPr>
              <a:t>omp_get_thread_num</a:t>
            </a:r>
            <a:r>
              <a:rPr lang="en-US" sz="2400" b="1" dirty="0" smtClean="0">
                <a:solidFill>
                  <a:srgbClr val="000000"/>
                </a:solidFill>
              </a:rPr>
              <a:t>());</a:t>
            </a:r>
            <a:endParaRPr lang="en-US" sz="2400" b="1" dirty="0">
              <a:solidFill>
                <a:srgbClr val="000000"/>
              </a:solidFill>
            </a:endParaRPr>
          </a:p>
          <a:p>
            <a:pPr>
              <a:lnSpc>
                <a:spcPts val="4000"/>
              </a:lnSpc>
            </a:pPr>
            <a:r>
              <a:rPr lang="en-US" sz="2400" b="1" dirty="0" smtClean="0">
                <a:solidFill>
                  <a:srgbClr val="000000"/>
                </a:solidFill>
              </a:rPr>
              <a:t>                #</a:t>
            </a:r>
            <a:r>
              <a:rPr lang="en-US" sz="2400" b="1" dirty="0">
                <a:solidFill>
                  <a:srgbClr val="000000"/>
                </a:solidFill>
              </a:rPr>
              <a:t>pragma </a:t>
            </a:r>
            <a:r>
              <a:rPr lang="en-US" sz="2400" b="1" dirty="0" err="1">
                <a:solidFill>
                  <a:srgbClr val="000000"/>
                </a:solidFill>
              </a:rPr>
              <a:t>omp</a:t>
            </a:r>
            <a:r>
              <a:rPr lang="en-US" sz="2400" b="1" dirty="0">
                <a:solidFill>
                  <a:srgbClr val="000000"/>
                </a:solidFill>
              </a:rPr>
              <a:t> </a:t>
            </a:r>
            <a:r>
              <a:rPr lang="en-US" sz="2400" b="1" dirty="0" smtClean="0">
                <a:solidFill>
                  <a:srgbClr val="000000"/>
                </a:solidFill>
              </a:rPr>
              <a:t>section</a:t>
            </a:r>
            <a:endParaRPr lang="en-US" sz="2400" b="1" dirty="0">
              <a:solidFill>
                <a:srgbClr val="000000"/>
              </a:solidFill>
            </a:endParaRPr>
          </a:p>
          <a:p>
            <a:pPr>
              <a:lnSpc>
                <a:spcPts val="4000"/>
              </a:lnSpc>
            </a:pPr>
            <a:r>
              <a:rPr lang="en-US" sz="2400" b="1" dirty="0">
                <a:solidFill>
                  <a:srgbClr val="000000"/>
                </a:solidFill>
              </a:rPr>
              <a:t>   </a:t>
            </a:r>
            <a:r>
              <a:rPr lang="en-US" sz="2400" b="1" dirty="0" smtClean="0">
                <a:solidFill>
                  <a:srgbClr val="000000"/>
                </a:solidFill>
              </a:rPr>
              <a:t>                     </a:t>
            </a:r>
            <a:r>
              <a:rPr lang="en-US" sz="2400" b="1" dirty="0" err="1">
                <a:solidFill>
                  <a:srgbClr val="000000"/>
                </a:solidFill>
              </a:rPr>
              <a:t>printf</a:t>
            </a:r>
            <a:r>
              <a:rPr lang="en-US" sz="2400" b="1" dirty="0">
                <a:solidFill>
                  <a:srgbClr val="000000"/>
                </a:solidFill>
              </a:rPr>
              <a:t>(“section 3 </a:t>
            </a:r>
            <a:r>
              <a:rPr lang="en-US" sz="2400" b="1" dirty="0" err="1">
                <a:solidFill>
                  <a:srgbClr val="000000"/>
                </a:solidFill>
              </a:rPr>
              <a:t>ThreadId</a:t>
            </a:r>
            <a:r>
              <a:rPr lang="en-US" sz="2400" b="1" dirty="0">
                <a:solidFill>
                  <a:srgbClr val="000000"/>
                </a:solidFill>
              </a:rPr>
              <a:t> = %</a:t>
            </a:r>
            <a:r>
              <a:rPr lang="en-US" sz="2400" b="1" dirty="0" smtClean="0">
                <a:solidFill>
                  <a:srgbClr val="000000"/>
                </a:solidFill>
              </a:rPr>
              <a:t>d\n</a:t>
            </a:r>
            <a:r>
              <a:rPr lang="en-US" sz="2400" b="1" dirty="0">
                <a:solidFill>
                  <a:srgbClr val="000000"/>
                </a:solidFill>
              </a:rPr>
              <a:t>”, </a:t>
            </a:r>
            <a:r>
              <a:rPr lang="en-US" sz="2400" b="1" dirty="0" err="1">
                <a:solidFill>
                  <a:srgbClr val="000000"/>
                </a:solidFill>
              </a:rPr>
              <a:t>omp_get_thread_num</a:t>
            </a:r>
            <a:r>
              <a:rPr lang="en-US" sz="2400" b="1" dirty="0">
                <a:solidFill>
                  <a:srgbClr val="000000"/>
                </a:solidFill>
              </a:rPr>
              <a:t>());</a:t>
            </a:r>
            <a:endParaRPr lang="en-US" sz="2400" b="1" dirty="0">
              <a:solidFill>
                <a:srgbClr val="000000"/>
              </a:solidFill>
            </a:endParaRPr>
          </a:p>
          <a:p>
            <a:pPr>
              <a:lnSpc>
                <a:spcPts val="4000"/>
              </a:lnSpc>
            </a:pPr>
            <a:r>
              <a:rPr lang="en-US" sz="2400" b="1" dirty="0" smtClean="0">
                <a:solidFill>
                  <a:srgbClr val="000000"/>
                </a:solidFill>
              </a:rPr>
              <a:t>                #</a:t>
            </a:r>
            <a:r>
              <a:rPr lang="en-US" sz="2400" b="1" dirty="0">
                <a:solidFill>
                  <a:srgbClr val="000000"/>
                </a:solidFill>
              </a:rPr>
              <a:t>pragma </a:t>
            </a:r>
            <a:r>
              <a:rPr lang="en-US" sz="2400" b="1" dirty="0" err="1">
                <a:solidFill>
                  <a:srgbClr val="000000"/>
                </a:solidFill>
              </a:rPr>
              <a:t>omp</a:t>
            </a:r>
            <a:r>
              <a:rPr lang="en-US" sz="2400" b="1" dirty="0">
                <a:solidFill>
                  <a:srgbClr val="000000"/>
                </a:solidFill>
              </a:rPr>
              <a:t> section </a:t>
            </a:r>
            <a:endParaRPr lang="en-US" sz="2400" b="1" dirty="0">
              <a:solidFill>
                <a:srgbClr val="000000"/>
              </a:solidFill>
            </a:endParaRPr>
          </a:p>
          <a:p>
            <a:pPr>
              <a:lnSpc>
                <a:spcPts val="4000"/>
              </a:lnSpc>
            </a:pPr>
            <a:r>
              <a:rPr lang="en-US" sz="2400" b="1" dirty="0">
                <a:solidFill>
                  <a:srgbClr val="000000"/>
                </a:solidFill>
              </a:rPr>
              <a:t>  </a:t>
            </a:r>
            <a:r>
              <a:rPr lang="en-US" sz="2400" b="1" dirty="0" smtClean="0">
                <a:solidFill>
                  <a:srgbClr val="000000"/>
                </a:solidFill>
              </a:rPr>
              <a:t>                      </a:t>
            </a:r>
            <a:r>
              <a:rPr lang="en-US" sz="2400" b="1" dirty="0" err="1">
                <a:solidFill>
                  <a:srgbClr val="000000"/>
                </a:solidFill>
              </a:rPr>
              <a:t>printf</a:t>
            </a:r>
            <a:r>
              <a:rPr lang="en-US" sz="2400" b="1" dirty="0">
                <a:solidFill>
                  <a:srgbClr val="000000"/>
                </a:solidFill>
              </a:rPr>
              <a:t>(“section 4 </a:t>
            </a:r>
            <a:r>
              <a:rPr lang="en-US" sz="2400" b="1" dirty="0" err="1">
                <a:solidFill>
                  <a:srgbClr val="000000"/>
                </a:solidFill>
              </a:rPr>
              <a:t>ThreadId</a:t>
            </a:r>
            <a:r>
              <a:rPr lang="en-US" sz="2400" b="1" dirty="0">
                <a:solidFill>
                  <a:srgbClr val="000000"/>
                </a:solidFill>
              </a:rPr>
              <a:t> = %</a:t>
            </a:r>
            <a:r>
              <a:rPr lang="en-US" sz="2400" b="1" dirty="0" smtClean="0">
                <a:solidFill>
                  <a:srgbClr val="000000"/>
                </a:solidFill>
              </a:rPr>
              <a:t>d\n</a:t>
            </a:r>
            <a:r>
              <a:rPr lang="en-US" sz="2400" b="1" dirty="0">
                <a:solidFill>
                  <a:srgbClr val="000000"/>
                </a:solidFill>
              </a:rPr>
              <a:t>”, </a:t>
            </a:r>
            <a:r>
              <a:rPr lang="en-US" sz="2400" b="1" dirty="0" err="1">
                <a:solidFill>
                  <a:srgbClr val="000000"/>
                </a:solidFill>
              </a:rPr>
              <a:t>omp_get_thread_num</a:t>
            </a:r>
            <a:r>
              <a:rPr lang="en-US" sz="2400" b="1" dirty="0" smtClean="0">
                <a:solidFill>
                  <a:srgbClr val="000000"/>
                </a:solidFill>
              </a:rPr>
              <a:t>());       }</a:t>
            </a:r>
            <a:endParaRPr lang="en-US" sz="2400" b="1" dirty="0" smtClean="0">
              <a:solidFill>
                <a:srgbClr val="000000"/>
              </a:solidFill>
            </a:endParaRPr>
          </a:p>
          <a:p>
            <a:pPr>
              <a:lnSpc>
                <a:spcPts val="4000"/>
              </a:lnSpc>
            </a:pPr>
            <a:r>
              <a:rPr lang="en-US" sz="2400" b="1" dirty="0" smtClean="0">
                <a:solidFill>
                  <a:srgbClr val="000000"/>
                </a:solidFill>
              </a:rPr>
              <a:t>}</a:t>
            </a:r>
            <a:endParaRPr lang="en-US" sz="2400" b="1" dirty="0">
              <a:solidFill>
                <a:srgbClr val="000000"/>
              </a:solidFill>
            </a:endParaRPr>
          </a:p>
        </p:txBody>
      </p:sp>
    </p:spTree>
  </p:cSld>
  <p:clrMapOvr>
    <a:masterClrMapping/>
  </p:clrMapOvr>
  <p:transition spd="med" advTm="3025">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矩形 1"/>
          <p:cNvSpPr/>
          <p:nvPr/>
        </p:nvSpPr>
        <p:spPr>
          <a:xfrm>
            <a:off x="1034321" y="751344"/>
            <a:ext cx="3537679" cy="3970318"/>
          </a:xfrm>
          <a:prstGeom prst="rect">
            <a:avLst/>
          </a:prstGeom>
        </p:spPr>
        <p:txBody>
          <a:bodyPr wrap="square">
            <a:spAutoFit/>
          </a:bodyPr>
          <a:lstStyle/>
          <a:p>
            <a:r>
              <a:rPr lang="zh-CN" altLang="en-US" sz="2800" b="1" dirty="0" smtClean="0">
                <a:solidFill>
                  <a:srgbClr val="000000"/>
                </a:solidFill>
              </a:rPr>
              <a:t>运行结果：</a:t>
            </a:r>
            <a:endParaRPr lang="en-US" sz="2800" b="1" dirty="0" smtClean="0">
              <a:solidFill>
                <a:srgbClr val="000000"/>
              </a:solidFill>
            </a:endParaRPr>
          </a:p>
          <a:p>
            <a:r>
              <a:rPr lang="en-US" sz="2800" b="1" dirty="0" smtClean="0">
                <a:solidFill>
                  <a:srgbClr val="000000"/>
                </a:solidFill>
              </a:rPr>
              <a:t>section </a:t>
            </a:r>
            <a:r>
              <a:rPr lang="en-US" sz="2800" b="1" dirty="0">
                <a:solidFill>
                  <a:srgbClr val="000000"/>
                </a:solidFill>
              </a:rPr>
              <a:t>1 </a:t>
            </a:r>
            <a:r>
              <a:rPr lang="en-US" sz="2800" b="1" dirty="0" err="1">
                <a:solidFill>
                  <a:srgbClr val="000000"/>
                </a:solidFill>
              </a:rPr>
              <a:t>ThreadId</a:t>
            </a:r>
            <a:r>
              <a:rPr lang="en-US" sz="2800" b="1" dirty="0">
                <a:solidFill>
                  <a:srgbClr val="000000"/>
                </a:solidFill>
              </a:rPr>
              <a:t> = 0</a:t>
            </a:r>
            <a:endParaRPr lang="en-US" sz="2800" b="1" dirty="0">
              <a:solidFill>
                <a:srgbClr val="000000"/>
              </a:solidFill>
            </a:endParaRPr>
          </a:p>
          <a:p>
            <a:endParaRPr lang="en-US" sz="2800" b="1" dirty="0">
              <a:solidFill>
                <a:srgbClr val="000000"/>
              </a:solidFill>
            </a:endParaRPr>
          </a:p>
          <a:p>
            <a:r>
              <a:rPr lang="en-US" sz="2800" b="1" dirty="0">
                <a:solidFill>
                  <a:srgbClr val="000000"/>
                </a:solidFill>
              </a:rPr>
              <a:t>section 2 </a:t>
            </a:r>
            <a:r>
              <a:rPr lang="en-US" sz="2800" b="1" dirty="0" err="1">
                <a:solidFill>
                  <a:srgbClr val="000000"/>
                </a:solidFill>
              </a:rPr>
              <a:t>ThreadId</a:t>
            </a:r>
            <a:r>
              <a:rPr lang="en-US" sz="2800" b="1" dirty="0">
                <a:solidFill>
                  <a:srgbClr val="000000"/>
                </a:solidFill>
              </a:rPr>
              <a:t> = 2</a:t>
            </a:r>
            <a:endParaRPr lang="en-US" sz="2800" b="1" dirty="0">
              <a:solidFill>
                <a:srgbClr val="000000"/>
              </a:solidFill>
            </a:endParaRPr>
          </a:p>
          <a:p>
            <a:endParaRPr lang="en-US" sz="2800" b="1" dirty="0">
              <a:solidFill>
                <a:srgbClr val="000000"/>
              </a:solidFill>
            </a:endParaRPr>
          </a:p>
          <a:p>
            <a:r>
              <a:rPr lang="en-US" sz="2800" b="1" dirty="0">
                <a:solidFill>
                  <a:srgbClr val="000000"/>
                </a:solidFill>
              </a:rPr>
              <a:t>section 4 </a:t>
            </a:r>
            <a:r>
              <a:rPr lang="en-US" sz="2800" b="1" dirty="0" err="1">
                <a:solidFill>
                  <a:srgbClr val="000000"/>
                </a:solidFill>
              </a:rPr>
              <a:t>ThreadId</a:t>
            </a:r>
            <a:r>
              <a:rPr lang="en-US" sz="2800" b="1" dirty="0">
                <a:solidFill>
                  <a:srgbClr val="000000"/>
                </a:solidFill>
              </a:rPr>
              <a:t> = 3</a:t>
            </a:r>
            <a:endParaRPr lang="en-US" sz="2800" b="1" dirty="0">
              <a:solidFill>
                <a:srgbClr val="000000"/>
              </a:solidFill>
            </a:endParaRPr>
          </a:p>
          <a:p>
            <a:endParaRPr lang="en-US" sz="2800" b="1" dirty="0">
              <a:solidFill>
                <a:srgbClr val="000000"/>
              </a:solidFill>
            </a:endParaRPr>
          </a:p>
          <a:p>
            <a:r>
              <a:rPr lang="en-US" sz="2800" b="1" dirty="0">
                <a:solidFill>
                  <a:srgbClr val="000000"/>
                </a:solidFill>
              </a:rPr>
              <a:t>section 3 </a:t>
            </a:r>
            <a:r>
              <a:rPr lang="en-US" sz="2800" b="1" dirty="0" err="1">
                <a:solidFill>
                  <a:srgbClr val="000000"/>
                </a:solidFill>
              </a:rPr>
              <a:t>ThreadId</a:t>
            </a:r>
            <a:r>
              <a:rPr lang="en-US" sz="2800" b="1" dirty="0">
                <a:solidFill>
                  <a:srgbClr val="000000"/>
                </a:solidFill>
              </a:rPr>
              <a:t> = 1</a:t>
            </a:r>
            <a:endParaRPr lang="en-US" sz="2800" b="1" dirty="0">
              <a:solidFill>
                <a:srgbClr val="000000"/>
              </a:solidFill>
            </a:endParaRPr>
          </a:p>
          <a:p>
            <a:endParaRPr lang="en-US" sz="2800" b="1" dirty="0">
              <a:solidFill>
                <a:srgbClr val="000000"/>
              </a:solidFill>
            </a:endParaRPr>
          </a:p>
        </p:txBody>
      </p:sp>
      <p:sp>
        <p:nvSpPr>
          <p:cNvPr id="3" name="文本框 2"/>
          <p:cNvSpPr txBox="1"/>
          <p:nvPr/>
        </p:nvSpPr>
        <p:spPr>
          <a:xfrm>
            <a:off x="5456419" y="751344"/>
            <a:ext cx="6115988" cy="55092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zh-CN" altLang="en-US" sz="3200" dirty="0" smtClean="0">
                <a:solidFill>
                  <a:srgbClr val="6A247A"/>
                </a:solidFill>
                <a:latin typeface="华文行楷" panose="02010800040101010101" pitchFamily="2" charset="-122"/>
                <a:ea typeface="华文行楷" panose="02010800040101010101" pitchFamily="2" charset="-122"/>
              </a:rPr>
              <a:t>      </a:t>
            </a:r>
            <a:r>
              <a:rPr lang="zh-CN" altLang="en-US" sz="3200" dirty="0" smtClean="0">
                <a:solidFill>
                  <a:srgbClr val="6A247A"/>
                </a:solidFill>
                <a:ea typeface="华文行楷" panose="02010800040101010101" pitchFamily="2" charset="-122"/>
              </a:rPr>
              <a:t>从</a:t>
            </a:r>
            <a:r>
              <a:rPr lang="zh-CN" altLang="en-US" sz="3200" dirty="0">
                <a:solidFill>
                  <a:srgbClr val="6A247A"/>
                </a:solidFill>
                <a:ea typeface="华文行楷" panose="02010800040101010101" pitchFamily="2" charset="-122"/>
              </a:rPr>
              <a:t>结果中可以发现第</a:t>
            </a:r>
            <a:r>
              <a:rPr lang="en-US" altLang="zh-CN" sz="3200" dirty="0">
                <a:solidFill>
                  <a:srgbClr val="6A247A"/>
                </a:solidFill>
                <a:ea typeface="华文行楷" panose="02010800040101010101" pitchFamily="2" charset="-122"/>
              </a:rPr>
              <a:t>4</a:t>
            </a:r>
            <a:r>
              <a:rPr lang="zh-CN" altLang="en-US" sz="3200" dirty="0">
                <a:solidFill>
                  <a:srgbClr val="6A247A"/>
                </a:solidFill>
                <a:ea typeface="华文行楷" panose="02010800040101010101" pitchFamily="2" charset="-122"/>
              </a:rPr>
              <a:t>段代码执行比第</a:t>
            </a:r>
            <a:r>
              <a:rPr lang="en-US" altLang="zh-CN" sz="3200" dirty="0">
                <a:solidFill>
                  <a:srgbClr val="6A247A"/>
                </a:solidFill>
                <a:ea typeface="华文行楷" panose="02010800040101010101" pitchFamily="2" charset="-122"/>
              </a:rPr>
              <a:t>3</a:t>
            </a:r>
            <a:r>
              <a:rPr lang="zh-CN" altLang="en-US" sz="3200" dirty="0">
                <a:solidFill>
                  <a:srgbClr val="6A247A"/>
                </a:solidFill>
                <a:ea typeface="华文行楷" panose="02010800040101010101" pitchFamily="2" charset="-122"/>
              </a:rPr>
              <a:t>段代码早，说明各个</a:t>
            </a:r>
            <a:r>
              <a:rPr lang="en-US" altLang="zh-CN" sz="3200" dirty="0">
                <a:solidFill>
                  <a:srgbClr val="6A247A"/>
                </a:solidFill>
                <a:ea typeface="华文行楷" panose="02010800040101010101" pitchFamily="2" charset="-122"/>
              </a:rPr>
              <a:t>section</a:t>
            </a:r>
            <a:r>
              <a:rPr lang="zh-CN" altLang="en-US" sz="3200" dirty="0">
                <a:solidFill>
                  <a:srgbClr val="6A247A"/>
                </a:solidFill>
                <a:ea typeface="华文行楷" panose="02010800040101010101" pitchFamily="2" charset="-122"/>
              </a:rPr>
              <a:t>里的代码都是并行执行的，并且各个</a:t>
            </a:r>
            <a:r>
              <a:rPr lang="en-US" altLang="zh-CN" sz="3200" dirty="0">
                <a:solidFill>
                  <a:srgbClr val="6A247A"/>
                </a:solidFill>
                <a:ea typeface="华文行楷" panose="02010800040101010101" pitchFamily="2" charset="-122"/>
              </a:rPr>
              <a:t>section</a:t>
            </a:r>
            <a:r>
              <a:rPr lang="zh-CN" altLang="en-US" sz="3200" dirty="0">
                <a:solidFill>
                  <a:srgbClr val="6A247A"/>
                </a:solidFill>
                <a:ea typeface="华文行楷" panose="02010800040101010101" pitchFamily="2" charset="-122"/>
              </a:rPr>
              <a:t>被分配到不同的线程执行</a:t>
            </a:r>
            <a:r>
              <a:rPr lang="zh-CN" altLang="en-US" sz="3200" dirty="0" smtClean="0">
                <a:solidFill>
                  <a:srgbClr val="6A247A"/>
                </a:solidFill>
                <a:ea typeface="华文行楷" panose="02010800040101010101" pitchFamily="2" charset="-122"/>
              </a:rPr>
              <a:t>。</a:t>
            </a:r>
            <a:endParaRPr lang="zh-CN" altLang="en-US" sz="3200" dirty="0">
              <a:solidFill>
                <a:srgbClr val="6A247A"/>
              </a:solidFill>
              <a:ea typeface="华文行楷" panose="02010800040101010101" pitchFamily="2" charset="-122"/>
            </a:endParaRPr>
          </a:p>
          <a:p>
            <a:r>
              <a:rPr lang="zh-CN" altLang="en-US" sz="3200" dirty="0" smtClean="0">
                <a:solidFill>
                  <a:srgbClr val="6A247A"/>
                </a:solidFill>
                <a:ea typeface="华文行楷" panose="02010800040101010101" pitchFamily="2" charset="-122"/>
              </a:rPr>
              <a:t>      使用</a:t>
            </a:r>
            <a:r>
              <a:rPr lang="en-US" altLang="zh-CN" sz="3200" dirty="0">
                <a:solidFill>
                  <a:srgbClr val="6A247A"/>
                </a:solidFill>
                <a:ea typeface="华文行楷" panose="02010800040101010101" pitchFamily="2" charset="-122"/>
              </a:rPr>
              <a:t>section</a:t>
            </a:r>
            <a:r>
              <a:rPr lang="zh-CN" altLang="en-US" sz="3200" dirty="0">
                <a:solidFill>
                  <a:srgbClr val="6A247A"/>
                </a:solidFill>
                <a:ea typeface="华文行楷" panose="02010800040101010101" pitchFamily="2" charset="-122"/>
              </a:rPr>
              <a:t>语句时，需要注意的是这种方式需要保证各个</a:t>
            </a:r>
            <a:r>
              <a:rPr lang="en-US" altLang="zh-CN" sz="3200" dirty="0">
                <a:solidFill>
                  <a:srgbClr val="6A247A"/>
                </a:solidFill>
                <a:ea typeface="华文行楷" panose="02010800040101010101" pitchFamily="2" charset="-122"/>
              </a:rPr>
              <a:t>section</a:t>
            </a:r>
            <a:r>
              <a:rPr lang="zh-CN" altLang="en-US" sz="3200" dirty="0">
                <a:solidFill>
                  <a:srgbClr val="6A247A"/>
                </a:solidFill>
                <a:ea typeface="华文行楷" panose="02010800040101010101" pitchFamily="2" charset="-122"/>
              </a:rPr>
              <a:t>里的代码执行时间相差不大，否则某个</a:t>
            </a:r>
            <a:r>
              <a:rPr lang="en-US" altLang="zh-CN" sz="3200" dirty="0">
                <a:solidFill>
                  <a:srgbClr val="6A247A"/>
                </a:solidFill>
                <a:ea typeface="华文行楷" panose="02010800040101010101" pitchFamily="2" charset="-122"/>
              </a:rPr>
              <a:t>section</a:t>
            </a:r>
            <a:r>
              <a:rPr lang="zh-CN" altLang="en-US" sz="3200" dirty="0">
                <a:solidFill>
                  <a:srgbClr val="6A247A"/>
                </a:solidFill>
                <a:ea typeface="华文行楷" panose="02010800040101010101" pitchFamily="2" charset="-122"/>
              </a:rPr>
              <a:t>执行时间比其他</a:t>
            </a:r>
            <a:r>
              <a:rPr lang="en-US" altLang="zh-CN" sz="3200" dirty="0">
                <a:solidFill>
                  <a:srgbClr val="6A247A"/>
                </a:solidFill>
                <a:ea typeface="华文行楷" panose="02010800040101010101" pitchFamily="2" charset="-122"/>
              </a:rPr>
              <a:t>section</a:t>
            </a:r>
            <a:r>
              <a:rPr lang="zh-CN" altLang="en-US" sz="3200" dirty="0">
                <a:solidFill>
                  <a:srgbClr val="6A247A"/>
                </a:solidFill>
                <a:ea typeface="华文行楷" panose="02010800040101010101" pitchFamily="2" charset="-122"/>
              </a:rPr>
              <a:t>过长就达不到并行执行的效果了。</a:t>
            </a:r>
            <a:endParaRPr lang="zh-CN" altLang="en-US" sz="3200" dirty="0">
              <a:solidFill>
                <a:srgbClr val="6A247A"/>
              </a:solidFill>
              <a:ea typeface="华文行楷" panose="02010800040101010101" pitchFamily="2" charset="-122"/>
            </a:endParaRPr>
          </a:p>
        </p:txBody>
      </p:sp>
    </p:spTree>
  </p:cSld>
  <p:clrMapOvr>
    <a:masterClrMapping/>
  </p:clrMapOvr>
  <p:transition spd="med" advTm="3025">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59568" y="567477"/>
            <a:ext cx="10852879" cy="5992474"/>
          </a:xfrm>
          <a:prstGeom prst="rect">
            <a:avLst/>
          </a:prstGeom>
        </p:spPr>
        <p:txBody>
          <a:bodyPr wrap="square">
            <a:spAutoFit/>
          </a:bodyPr>
          <a:lstStyle/>
          <a:p>
            <a:pPr>
              <a:lnSpc>
                <a:spcPts val="3300"/>
              </a:lnSpc>
            </a:pPr>
            <a:r>
              <a:rPr lang="en-US" sz="2400" b="1" dirty="0">
                <a:solidFill>
                  <a:srgbClr val="000000"/>
                </a:solidFill>
              </a:rPr>
              <a:t>void main(</a:t>
            </a:r>
            <a:r>
              <a:rPr lang="en-US" sz="2400" b="1" dirty="0" err="1">
                <a:solidFill>
                  <a:srgbClr val="000000"/>
                </a:solidFill>
              </a:rPr>
              <a:t>int</a:t>
            </a:r>
            <a:r>
              <a:rPr lang="en-US" sz="2400" b="1" dirty="0">
                <a:solidFill>
                  <a:srgbClr val="000000"/>
                </a:solidFill>
              </a:rPr>
              <a:t> </a:t>
            </a:r>
            <a:r>
              <a:rPr lang="en-US" sz="2400" b="1" dirty="0" err="1">
                <a:solidFill>
                  <a:srgbClr val="000000"/>
                </a:solidFill>
              </a:rPr>
              <a:t>argc</a:t>
            </a:r>
            <a:r>
              <a:rPr lang="en-US" sz="2400" b="1" dirty="0">
                <a:solidFill>
                  <a:srgbClr val="000000"/>
                </a:solidFill>
              </a:rPr>
              <a:t>, char *</a:t>
            </a:r>
            <a:r>
              <a:rPr lang="en-US" sz="2400" b="1" dirty="0" err="1">
                <a:solidFill>
                  <a:srgbClr val="000000"/>
                </a:solidFill>
              </a:rPr>
              <a:t>argv</a:t>
            </a:r>
            <a:r>
              <a:rPr lang="en-US" sz="2400" b="1" dirty="0" smtClean="0">
                <a:solidFill>
                  <a:srgbClr val="000000"/>
                </a:solidFill>
              </a:rPr>
              <a:t>)</a:t>
            </a:r>
            <a:endParaRPr lang="en-US" sz="2400" b="1" dirty="0">
              <a:solidFill>
                <a:srgbClr val="000000"/>
              </a:solidFill>
            </a:endParaRPr>
          </a:p>
          <a:p>
            <a:pPr>
              <a:lnSpc>
                <a:spcPts val="3300"/>
              </a:lnSpc>
            </a:pPr>
            <a:r>
              <a:rPr lang="en-US" sz="2400" b="1" dirty="0" smtClean="0">
                <a:solidFill>
                  <a:srgbClr val="000000"/>
                </a:solidFill>
              </a:rPr>
              <a:t>{   </a:t>
            </a:r>
            <a:r>
              <a:rPr lang="en-US" sz="2400" b="1" dirty="0" smtClean="0">
                <a:solidFill>
                  <a:srgbClr val="6A247A"/>
                </a:solidFill>
              </a:rPr>
              <a:t>#</a:t>
            </a:r>
            <a:r>
              <a:rPr lang="en-US" sz="2400" b="1" dirty="0">
                <a:solidFill>
                  <a:srgbClr val="6A247A"/>
                </a:solidFill>
              </a:rPr>
              <a:t>pragma </a:t>
            </a:r>
            <a:r>
              <a:rPr lang="en-US" sz="2400" b="1" dirty="0" err="1">
                <a:solidFill>
                  <a:srgbClr val="6A247A"/>
                </a:solidFill>
              </a:rPr>
              <a:t>omp</a:t>
            </a:r>
            <a:r>
              <a:rPr lang="en-US" sz="2400" b="1" dirty="0">
                <a:solidFill>
                  <a:srgbClr val="6A247A"/>
                </a:solidFill>
              </a:rPr>
              <a:t> parallel </a:t>
            </a:r>
            <a:endParaRPr lang="en-US" sz="2400" b="1" dirty="0" smtClean="0">
              <a:solidFill>
                <a:srgbClr val="6A247A"/>
              </a:solidFill>
            </a:endParaRPr>
          </a:p>
          <a:p>
            <a:pPr>
              <a:lnSpc>
                <a:spcPts val="3300"/>
              </a:lnSpc>
            </a:pPr>
            <a:r>
              <a:rPr lang="en-US" sz="2400" b="1" dirty="0">
                <a:solidFill>
                  <a:srgbClr val="000000"/>
                </a:solidFill>
              </a:rPr>
              <a:t> </a:t>
            </a:r>
            <a:r>
              <a:rPr lang="en-US" sz="2400" b="1" dirty="0" smtClean="0">
                <a:solidFill>
                  <a:srgbClr val="000000"/>
                </a:solidFill>
              </a:rPr>
              <a:t>    {    </a:t>
            </a:r>
            <a:r>
              <a:rPr lang="en-US" sz="2400" b="1" dirty="0" smtClean="0">
                <a:solidFill>
                  <a:srgbClr val="6A247A"/>
                </a:solidFill>
              </a:rPr>
              <a:t>#</a:t>
            </a:r>
            <a:r>
              <a:rPr lang="en-US" sz="2400" b="1" dirty="0">
                <a:solidFill>
                  <a:srgbClr val="6A247A"/>
                </a:solidFill>
              </a:rPr>
              <a:t>pragma </a:t>
            </a:r>
            <a:r>
              <a:rPr lang="en-US" sz="2400" b="1" dirty="0" err="1">
                <a:solidFill>
                  <a:srgbClr val="6A247A"/>
                </a:solidFill>
              </a:rPr>
              <a:t>omp</a:t>
            </a:r>
            <a:r>
              <a:rPr lang="en-US" sz="2400" b="1" dirty="0">
                <a:solidFill>
                  <a:srgbClr val="6A247A"/>
                </a:solidFill>
              </a:rPr>
              <a:t> </a:t>
            </a:r>
            <a:r>
              <a:rPr lang="en-US" sz="2400" b="1" dirty="0" smtClean="0">
                <a:solidFill>
                  <a:srgbClr val="6A247A"/>
                </a:solidFill>
              </a:rPr>
              <a:t>sections</a:t>
            </a:r>
            <a:endParaRPr lang="en-US" sz="2400" b="1" dirty="0">
              <a:solidFill>
                <a:srgbClr val="6A247A"/>
              </a:solidFill>
            </a:endParaRPr>
          </a:p>
          <a:p>
            <a:pPr>
              <a:lnSpc>
                <a:spcPts val="3300"/>
              </a:lnSpc>
            </a:pPr>
            <a:r>
              <a:rPr lang="en-US" sz="2400" b="1" dirty="0" smtClean="0">
                <a:solidFill>
                  <a:srgbClr val="000000"/>
                </a:solidFill>
              </a:rPr>
              <a:t>              {   </a:t>
            </a:r>
            <a:r>
              <a:rPr lang="en-US" sz="2400" b="1" dirty="0" smtClean="0">
                <a:solidFill>
                  <a:srgbClr val="2D0AC2"/>
                </a:solidFill>
              </a:rPr>
              <a:t>#</a:t>
            </a:r>
            <a:r>
              <a:rPr lang="en-US" sz="2400" b="1" dirty="0">
                <a:solidFill>
                  <a:srgbClr val="2D0AC2"/>
                </a:solidFill>
              </a:rPr>
              <a:t>pragma </a:t>
            </a:r>
            <a:r>
              <a:rPr lang="en-US" sz="2400" b="1" dirty="0" err="1">
                <a:solidFill>
                  <a:srgbClr val="2D0AC2"/>
                </a:solidFill>
              </a:rPr>
              <a:t>omp</a:t>
            </a:r>
            <a:r>
              <a:rPr lang="en-US" sz="2400" b="1" dirty="0">
                <a:solidFill>
                  <a:srgbClr val="2D0AC2"/>
                </a:solidFill>
              </a:rPr>
              <a:t> </a:t>
            </a:r>
            <a:r>
              <a:rPr lang="en-US" sz="2400" b="1" dirty="0" smtClean="0">
                <a:solidFill>
                  <a:srgbClr val="2D0AC2"/>
                </a:solidFill>
              </a:rPr>
              <a:t>section</a:t>
            </a:r>
            <a:endParaRPr lang="en-US" sz="2400" b="1" dirty="0">
              <a:solidFill>
                <a:srgbClr val="2D0AC2"/>
              </a:solidFill>
            </a:endParaRPr>
          </a:p>
          <a:p>
            <a:pPr>
              <a:lnSpc>
                <a:spcPts val="3300"/>
              </a:lnSpc>
            </a:pPr>
            <a:r>
              <a:rPr lang="en-US" sz="2400" b="1" dirty="0">
                <a:solidFill>
                  <a:srgbClr val="000000"/>
                </a:solidFill>
              </a:rPr>
              <a:t>       </a:t>
            </a:r>
            <a:r>
              <a:rPr lang="en-US" sz="2400" b="1" dirty="0" smtClean="0">
                <a:solidFill>
                  <a:srgbClr val="000000"/>
                </a:solidFill>
              </a:rPr>
              <a:t>                 </a:t>
            </a:r>
            <a:r>
              <a:rPr lang="en-US" sz="2400" b="1" dirty="0" err="1" smtClean="0">
                <a:solidFill>
                  <a:srgbClr val="000000"/>
                </a:solidFill>
              </a:rPr>
              <a:t>printf</a:t>
            </a:r>
            <a:r>
              <a:rPr lang="en-US" sz="2400" b="1" dirty="0">
                <a:solidFill>
                  <a:srgbClr val="000000"/>
                </a:solidFill>
              </a:rPr>
              <a:t>(“section 1 </a:t>
            </a:r>
            <a:r>
              <a:rPr lang="en-US" sz="2400" b="1" dirty="0" err="1">
                <a:solidFill>
                  <a:srgbClr val="000000"/>
                </a:solidFill>
              </a:rPr>
              <a:t>ThreadId</a:t>
            </a:r>
            <a:r>
              <a:rPr lang="en-US" sz="2400" b="1" dirty="0">
                <a:solidFill>
                  <a:srgbClr val="000000"/>
                </a:solidFill>
              </a:rPr>
              <a:t> = %</a:t>
            </a:r>
            <a:r>
              <a:rPr lang="en-US" sz="2400" b="1" dirty="0" smtClean="0">
                <a:solidFill>
                  <a:srgbClr val="000000"/>
                </a:solidFill>
              </a:rPr>
              <a:t>d\n</a:t>
            </a:r>
            <a:r>
              <a:rPr lang="en-US" sz="2400" b="1" dirty="0">
                <a:solidFill>
                  <a:srgbClr val="000000"/>
                </a:solidFill>
              </a:rPr>
              <a:t>”, </a:t>
            </a:r>
            <a:r>
              <a:rPr lang="en-US" sz="2400" b="1" dirty="0" err="1">
                <a:solidFill>
                  <a:srgbClr val="000000"/>
                </a:solidFill>
              </a:rPr>
              <a:t>omp_get_thread_num</a:t>
            </a:r>
            <a:r>
              <a:rPr lang="en-US" sz="2400" b="1" dirty="0" smtClean="0">
                <a:solidFill>
                  <a:srgbClr val="000000"/>
                </a:solidFill>
              </a:rPr>
              <a:t>());</a:t>
            </a:r>
            <a:endParaRPr lang="en-US" sz="2400" b="1" dirty="0">
              <a:solidFill>
                <a:srgbClr val="000000"/>
              </a:solidFill>
            </a:endParaRPr>
          </a:p>
          <a:p>
            <a:pPr>
              <a:lnSpc>
                <a:spcPts val="3300"/>
              </a:lnSpc>
            </a:pPr>
            <a:r>
              <a:rPr lang="en-US" sz="2400" b="1" dirty="0" smtClean="0">
                <a:solidFill>
                  <a:srgbClr val="000000"/>
                </a:solidFill>
              </a:rPr>
              <a:t>                  </a:t>
            </a:r>
            <a:r>
              <a:rPr lang="en-US" sz="2400" b="1" dirty="0" smtClean="0">
                <a:solidFill>
                  <a:srgbClr val="2D0AC2"/>
                </a:solidFill>
              </a:rPr>
              <a:t>#</a:t>
            </a:r>
            <a:r>
              <a:rPr lang="en-US" sz="2400" b="1" dirty="0">
                <a:solidFill>
                  <a:srgbClr val="2D0AC2"/>
                </a:solidFill>
              </a:rPr>
              <a:t>pragma </a:t>
            </a:r>
            <a:r>
              <a:rPr lang="en-US" sz="2400" b="1" dirty="0" err="1">
                <a:solidFill>
                  <a:srgbClr val="2D0AC2"/>
                </a:solidFill>
              </a:rPr>
              <a:t>omp</a:t>
            </a:r>
            <a:r>
              <a:rPr lang="en-US" sz="2400" b="1" dirty="0">
                <a:solidFill>
                  <a:srgbClr val="2D0AC2"/>
                </a:solidFill>
              </a:rPr>
              <a:t> section </a:t>
            </a:r>
            <a:endParaRPr lang="en-US" sz="2400" b="1" dirty="0">
              <a:solidFill>
                <a:srgbClr val="2D0AC2"/>
              </a:solidFill>
            </a:endParaRPr>
          </a:p>
          <a:p>
            <a:pPr>
              <a:lnSpc>
                <a:spcPts val="3300"/>
              </a:lnSpc>
            </a:pPr>
            <a:r>
              <a:rPr lang="en-US" sz="2400" b="1" dirty="0">
                <a:solidFill>
                  <a:srgbClr val="000000"/>
                </a:solidFill>
              </a:rPr>
              <a:t>     </a:t>
            </a:r>
            <a:r>
              <a:rPr lang="en-US" sz="2400" b="1" dirty="0" smtClean="0">
                <a:solidFill>
                  <a:srgbClr val="000000"/>
                </a:solidFill>
              </a:rPr>
              <a:t>                   </a:t>
            </a:r>
            <a:r>
              <a:rPr lang="en-US" sz="2400" b="1" dirty="0" err="1">
                <a:solidFill>
                  <a:srgbClr val="000000"/>
                </a:solidFill>
              </a:rPr>
              <a:t>printf</a:t>
            </a:r>
            <a:r>
              <a:rPr lang="en-US" sz="2400" b="1" dirty="0">
                <a:solidFill>
                  <a:srgbClr val="000000"/>
                </a:solidFill>
              </a:rPr>
              <a:t>(“section 2 </a:t>
            </a:r>
            <a:r>
              <a:rPr lang="en-US" sz="2400" b="1" dirty="0" err="1">
                <a:solidFill>
                  <a:srgbClr val="000000"/>
                </a:solidFill>
              </a:rPr>
              <a:t>ThreadId</a:t>
            </a:r>
            <a:r>
              <a:rPr lang="en-US" sz="2400" b="1" dirty="0">
                <a:solidFill>
                  <a:srgbClr val="000000"/>
                </a:solidFill>
              </a:rPr>
              <a:t> = %</a:t>
            </a:r>
            <a:r>
              <a:rPr lang="en-US" sz="2400" b="1" dirty="0" smtClean="0">
                <a:solidFill>
                  <a:srgbClr val="000000"/>
                </a:solidFill>
              </a:rPr>
              <a:t>d\n</a:t>
            </a:r>
            <a:r>
              <a:rPr lang="en-US" sz="2400" b="1" dirty="0">
                <a:solidFill>
                  <a:srgbClr val="000000"/>
                </a:solidFill>
              </a:rPr>
              <a:t>”, </a:t>
            </a:r>
            <a:r>
              <a:rPr lang="en-US" sz="2400" b="1" dirty="0" err="1">
                <a:solidFill>
                  <a:srgbClr val="000000"/>
                </a:solidFill>
              </a:rPr>
              <a:t>omp_get_thread_num</a:t>
            </a:r>
            <a:r>
              <a:rPr lang="en-US" sz="2400" b="1" dirty="0" smtClean="0">
                <a:solidFill>
                  <a:srgbClr val="000000"/>
                </a:solidFill>
              </a:rPr>
              <a:t>());   }</a:t>
            </a:r>
            <a:endParaRPr lang="en-US" sz="2400" b="1" dirty="0">
              <a:solidFill>
                <a:srgbClr val="000000"/>
              </a:solidFill>
            </a:endParaRPr>
          </a:p>
          <a:p>
            <a:pPr>
              <a:lnSpc>
                <a:spcPts val="3300"/>
              </a:lnSpc>
            </a:pPr>
            <a:r>
              <a:rPr lang="en-US" sz="2400" b="1" dirty="0" smtClean="0">
                <a:solidFill>
                  <a:srgbClr val="000000"/>
                </a:solidFill>
              </a:rPr>
              <a:t>          </a:t>
            </a:r>
            <a:r>
              <a:rPr lang="en-US" sz="2400" b="1" dirty="0" smtClean="0">
                <a:solidFill>
                  <a:srgbClr val="6A247A"/>
                </a:solidFill>
              </a:rPr>
              <a:t>#</a:t>
            </a:r>
            <a:r>
              <a:rPr lang="en-US" sz="2400" b="1" dirty="0">
                <a:solidFill>
                  <a:srgbClr val="6A247A"/>
                </a:solidFill>
              </a:rPr>
              <a:t>pragma </a:t>
            </a:r>
            <a:r>
              <a:rPr lang="en-US" sz="2400" b="1" dirty="0" err="1">
                <a:solidFill>
                  <a:srgbClr val="6A247A"/>
                </a:solidFill>
              </a:rPr>
              <a:t>omp</a:t>
            </a:r>
            <a:r>
              <a:rPr lang="en-US" sz="2400" b="1" dirty="0">
                <a:solidFill>
                  <a:srgbClr val="6A247A"/>
                </a:solidFill>
              </a:rPr>
              <a:t> </a:t>
            </a:r>
            <a:r>
              <a:rPr lang="en-US" sz="2400" b="1" dirty="0" smtClean="0">
                <a:solidFill>
                  <a:srgbClr val="6A247A"/>
                </a:solidFill>
              </a:rPr>
              <a:t>sections</a:t>
            </a:r>
            <a:endParaRPr lang="en-US" sz="2400" b="1" dirty="0">
              <a:solidFill>
                <a:srgbClr val="6A247A"/>
              </a:solidFill>
            </a:endParaRPr>
          </a:p>
          <a:p>
            <a:pPr>
              <a:lnSpc>
                <a:spcPts val="3300"/>
              </a:lnSpc>
            </a:pPr>
            <a:r>
              <a:rPr lang="en-US" sz="2400" b="1" dirty="0" smtClean="0">
                <a:solidFill>
                  <a:srgbClr val="000000"/>
                </a:solidFill>
              </a:rPr>
              <a:t>              {   </a:t>
            </a:r>
            <a:r>
              <a:rPr lang="en-US" sz="2400" b="1" dirty="0" smtClean="0">
                <a:solidFill>
                  <a:srgbClr val="2D0AC2"/>
                </a:solidFill>
              </a:rPr>
              <a:t>#</a:t>
            </a:r>
            <a:r>
              <a:rPr lang="en-US" sz="2400" b="1" dirty="0">
                <a:solidFill>
                  <a:srgbClr val="2D0AC2"/>
                </a:solidFill>
              </a:rPr>
              <a:t>pragma </a:t>
            </a:r>
            <a:r>
              <a:rPr lang="en-US" sz="2400" b="1" dirty="0" err="1">
                <a:solidFill>
                  <a:srgbClr val="2D0AC2"/>
                </a:solidFill>
              </a:rPr>
              <a:t>omp</a:t>
            </a:r>
            <a:r>
              <a:rPr lang="en-US" sz="2400" b="1" dirty="0">
                <a:solidFill>
                  <a:srgbClr val="2D0AC2"/>
                </a:solidFill>
              </a:rPr>
              <a:t> </a:t>
            </a:r>
            <a:r>
              <a:rPr lang="en-US" sz="2400" b="1" dirty="0" smtClean="0">
                <a:solidFill>
                  <a:srgbClr val="2D0AC2"/>
                </a:solidFill>
              </a:rPr>
              <a:t>section</a:t>
            </a:r>
            <a:endParaRPr lang="en-US" sz="2400" b="1" dirty="0">
              <a:solidFill>
                <a:srgbClr val="2D0AC2"/>
              </a:solidFill>
            </a:endParaRPr>
          </a:p>
          <a:p>
            <a:pPr>
              <a:lnSpc>
                <a:spcPts val="3300"/>
              </a:lnSpc>
            </a:pPr>
            <a:r>
              <a:rPr lang="en-US" sz="2400" b="1" dirty="0">
                <a:solidFill>
                  <a:srgbClr val="000000"/>
                </a:solidFill>
              </a:rPr>
              <a:t>  </a:t>
            </a:r>
            <a:r>
              <a:rPr lang="en-US" sz="2400" b="1" dirty="0" smtClean="0">
                <a:solidFill>
                  <a:srgbClr val="000000"/>
                </a:solidFill>
              </a:rPr>
              <a:t>                      </a:t>
            </a:r>
            <a:r>
              <a:rPr lang="en-US" sz="2400" b="1" dirty="0" err="1">
                <a:solidFill>
                  <a:srgbClr val="000000"/>
                </a:solidFill>
              </a:rPr>
              <a:t>printf</a:t>
            </a:r>
            <a:r>
              <a:rPr lang="en-US" sz="2400" b="1" dirty="0">
                <a:solidFill>
                  <a:srgbClr val="000000"/>
                </a:solidFill>
              </a:rPr>
              <a:t>(“section 3 </a:t>
            </a:r>
            <a:r>
              <a:rPr lang="en-US" sz="2400" b="1" dirty="0" err="1">
                <a:solidFill>
                  <a:srgbClr val="000000"/>
                </a:solidFill>
              </a:rPr>
              <a:t>ThreadId</a:t>
            </a:r>
            <a:r>
              <a:rPr lang="en-US" sz="2400" b="1" dirty="0">
                <a:solidFill>
                  <a:srgbClr val="000000"/>
                </a:solidFill>
              </a:rPr>
              <a:t> = %</a:t>
            </a:r>
            <a:r>
              <a:rPr lang="en-US" sz="2400" b="1" dirty="0" smtClean="0">
                <a:solidFill>
                  <a:srgbClr val="000000"/>
                </a:solidFill>
              </a:rPr>
              <a:t>d\n</a:t>
            </a:r>
            <a:r>
              <a:rPr lang="en-US" sz="2400" b="1" dirty="0">
                <a:solidFill>
                  <a:srgbClr val="000000"/>
                </a:solidFill>
              </a:rPr>
              <a:t>”, </a:t>
            </a:r>
            <a:r>
              <a:rPr lang="en-US" sz="2400" b="1" dirty="0" err="1">
                <a:solidFill>
                  <a:srgbClr val="000000"/>
                </a:solidFill>
              </a:rPr>
              <a:t>omp_get_thread_num</a:t>
            </a:r>
            <a:r>
              <a:rPr lang="en-US" sz="2400" b="1" dirty="0" smtClean="0">
                <a:solidFill>
                  <a:srgbClr val="000000"/>
                </a:solidFill>
              </a:rPr>
              <a:t>());</a:t>
            </a:r>
            <a:endParaRPr lang="en-US" sz="2400" b="1" dirty="0">
              <a:solidFill>
                <a:srgbClr val="000000"/>
              </a:solidFill>
            </a:endParaRPr>
          </a:p>
          <a:p>
            <a:pPr>
              <a:lnSpc>
                <a:spcPts val="3300"/>
              </a:lnSpc>
            </a:pPr>
            <a:r>
              <a:rPr lang="en-US" sz="2400" b="1" dirty="0" smtClean="0">
                <a:solidFill>
                  <a:srgbClr val="000000"/>
                </a:solidFill>
              </a:rPr>
              <a:t>                   </a:t>
            </a:r>
            <a:r>
              <a:rPr lang="en-US" sz="2400" b="1" dirty="0" smtClean="0">
                <a:solidFill>
                  <a:srgbClr val="2D0AC2"/>
                </a:solidFill>
              </a:rPr>
              <a:t>#</a:t>
            </a:r>
            <a:r>
              <a:rPr lang="en-US" sz="2400" b="1" dirty="0">
                <a:solidFill>
                  <a:srgbClr val="2D0AC2"/>
                </a:solidFill>
              </a:rPr>
              <a:t>pragma </a:t>
            </a:r>
            <a:r>
              <a:rPr lang="en-US" sz="2400" b="1" dirty="0" err="1">
                <a:solidFill>
                  <a:srgbClr val="2D0AC2"/>
                </a:solidFill>
              </a:rPr>
              <a:t>omp</a:t>
            </a:r>
            <a:r>
              <a:rPr lang="en-US" sz="2400" b="1" dirty="0">
                <a:solidFill>
                  <a:srgbClr val="2D0AC2"/>
                </a:solidFill>
              </a:rPr>
              <a:t> section </a:t>
            </a:r>
            <a:endParaRPr lang="en-US" sz="2400" b="1" dirty="0">
              <a:solidFill>
                <a:srgbClr val="2D0AC2"/>
              </a:solidFill>
            </a:endParaRPr>
          </a:p>
          <a:p>
            <a:pPr>
              <a:lnSpc>
                <a:spcPts val="3300"/>
              </a:lnSpc>
            </a:pPr>
            <a:r>
              <a:rPr lang="en-US" sz="2400" b="1" dirty="0">
                <a:solidFill>
                  <a:srgbClr val="000000"/>
                </a:solidFill>
              </a:rPr>
              <a:t>     </a:t>
            </a:r>
            <a:r>
              <a:rPr lang="en-US" sz="2400" b="1" dirty="0" smtClean="0">
                <a:solidFill>
                  <a:srgbClr val="000000"/>
                </a:solidFill>
              </a:rPr>
              <a:t>                  </a:t>
            </a:r>
            <a:r>
              <a:rPr lang="en-US" sz="2400" b="1" dirty="0" err="1">
                <a:solidFill>
                  <a:srgbClr val="000000"/>
                </a:solidFill>
              </a:rPr>
              <a:t>printf</a:t>
            </a:r>
            <a:r>
              <a:rPr lang="en-US" sz="2400" b="1" dirty="0">
                <a:solidFill>
                  <a:srgbClr val="000000"/>
                </a:solidFill>
              </a:rPr>
              <a:t>(“section 4 </a:t>
            </a:r>
            <a:r>
              <a:rPr lang="en-US" sz="2400" b="1" dirty="0" err="1">
                <a:solidFill>
                  <a:srgbClr val="000000"/>
                </a:solidFill>
              </a:rPr>
              <a:t>ThreadId</a:t>
            </a:r>
            <a:r>
              <a:rPr lang="en-US" sz="2400" b="1" dirty="0">
                <a:solidFill>
                  <a:srgbClr val="000000"/>
                </a:solidFill>
              </a:rPr>
              <a:t> = %</a:t>
            </a:r>
            <a:r>
              <a:rPr lang="en-US" sz="2400" b="1" dirty="0" smtClean="0">
                <a:solidFill>
                  <a:srgbClr val="000000"/>
                </a:solidFill>
              </a:rPr>
              <a:t>d\n</a:t>
            </a:r>
            <a:r>
              <a:rPr lang="en-US" sz="2400" b="1" dirty="0">
                <a:solidFill>
                  <a:srgbClr val="000000"/>
                </a:solidFill>
              </a:rPr>
              <a:t>”, </a:t>
            </a:r>
            <a:r>
              <a:rPr lang="en-US" sz="2400" b="1" dirty="0" err="1">
                <a:solidFill>
                  <a:srgbClr val="000000"/>
                </a:solidFill>
              </a:rPr>
              <a:t>omp_get_thread_num</a:t>
            </a:r>
            <a:r>
              <a:rPr lang="en-US" sz="2400" b="1" dirty="0" smtClean="0">
                <a:solidFill>
                  <a:srgbClr val="000000"/>
                </a:solidFill>
              </a:rPr>
              <a:t>());   }</a:t>
            </a:r>
            <a:endParaRPr lang="en-US" sz="2400" b="1" dirty="0">
              <a:solidFill>
                <a:srgbClr val="000000"/>
              </a:solidFill>
            </a:endParaRPr>
          </a:p>
          <a:p>
            <a:pPr>
              <a:lnSpc>
                <a:spcPts val="3300"/>
              </a:lnSpc>
            </a:pPr>
            <a:r>
              <a:rPr lang="en-US" sz="2400" b="1" dirty="0" smtClean="0">
                <a:solidFill>
                  <a:srgbClr val="000000"/>
                </a:solidFill>
              </a:rPr>
              <a:t>      }</a:t>
            </a:r>
            <a:endParaRPr lang="en-US" sz="2400" b="1" dirty="0" smtClean="0">
              <a:solidFill>
                <a:srgbClr val="000000"/>
              </a:solidFill>
            </a:endParaRPr>
          </a:p>
          <a:p>
            <a:pPr>
              <a:lnSpc>
                <a:spcPts val="3300"/>
              </a:lnSpc>
            </a:pPr>
            <a:r>
              <a:rPr lang="en-US" sz="2400" b="1" dirty="0" smtClean="0">
                <a:solidFill>
                  <a:srgbClr val="000000"/>
                </a:solidFill>
              </a:rPr>
              <a:t>}</a:t>
            </a:r>
            <a:endParaRPr lang="en-US" sz="2400" b="1" dirty="0">
              <a:solidFill>
                <a:srgbClr val="000000"/>
              </a:solidFill>
            </a:endParaRPr>
          </a:p>
        </p:txBody>
      </p:sp>
    </p:spTree>
  </p:cSld>
  <p:clrMapOvr>
    <a:masterClrMapping/>
  </p:clrMapOvr>
  <p:transition spd="med" advTm="3025">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矩形 1"/>
          <p:cNvSpPr/>
          <p:nvPr/>
        </p:nvSpPr>
        <p:spPr>
          <a:xfrm>
            <a:off x="1034321" y="751344"/>
            <a:ext cx="3537679" cy="3970318"/>
          </a:xfrm>
          <a:prstGeom prst="rect">
            <a:avLst/>
          </a:prstGeom>
        </p:spPr>
        <p:txBody>
          <a:bodyPr wrap="square">
            <a:spAutoFit/>
          </a:bodyPr>
          <a:lstStyle/>
          <a:p>
            <a:r>
              <a:rPr lang="zh-CN" altLang="en-US" sz="2800" b="1" dirty="0" smtClean="0">
                <a:solidFill>
                  <a:srgbClr val="000000"/>
                </a:solidFill>
              </a:rPr>
              <a:t>运行结果：</a:t>
            </a:r>
            <a:endParaRPr lang="en-US" sz="2800" b="1" dirty="0" smtClean="0">
              <a:solidFill>
                <a:srgbClr val="000000"/>
              </a:solidFill>
            </a:endParaRPr>
          </a:p>
          <a:p>
            <a:r>
              <a:rPr lang="en-US" sz="2800" b="1" dirty="0" smtClean="0">
                <a:solidFill>
                  <a:srgbClr val="000000"/>
                </a:solidFill>
              </a:rPr>
              <a:t>section </a:t>
            </a:r>
            <a:r>
              <a:rPr lang="en-US" sz="2800" b="1" dirty="0">
                <a:solidFill>
                  <a:srgbClr val="000000"/>
                </a:solidFill>
              </a:rPr>
              <a:t>1 </a:t>
            </a:r>
            <a:r>
              <a:rPr lang="en-US" sz="2800" b="1" dirty="0" err="1">
                <a:solidFill>
                  <a:srgbClr val="000000"/>
                </a:solidFill>
              </a:rPr>
              <a:t>ThreadId</a:t>
            </a:r>
            <a:r>
              <a:rPr lang="en-US" sz="2800" b="1" dirty="0">
                <a:solidFill>
                  <a:srgbClr val="000000"/>
                </a:solidFill>
              </a:rPr>
              <a:t> = 0</a:t>
            </a:r>
            <a:endParaRPr lang="en-US" sz="2800" b="1" dirty="0">
              <a:solidFill>
                <a:srgbClr val="000000"/>
              </a:solidFill>
            </a:endParaRPr>
          </a:p>
          <a:p>
            <a:endParaRPr lang="en-US" sz="2800" b="1" dirty="0">
              <a:solidFill>
                <a:srgbClr val="000000"/>
              </a:solidFill>
            </a:endParaRPr>
          </a:p>
          <a:p>
            <a:r>
              <a:rPr lang="en-US" sz="2800" b="1" dirty="0">
                <a:solidFill>
                  <a:srgbClr val="000000"/>
                </a:solidFill>
              </a:rPr>
              <a:t>section 2 </a:t>
            </a:r>
            <a:r>
              <a:rPr lang="en-US" sz="2800" b="1" dirty="0" err="1">
                <a:solidFill>
                  <a:srgbClr val="000000"/>
                </a:solidFill>
              </a:rPr>
              <a:t>ThreadId</a:t>
            </a:r>
            <a:r>
              <a:rPr lang="en-US" sz="2800" b="1" dirty="0">
                <a:solidFill>
                  <a:srgbClr val="000000"/>
                </a:solidFill>
              </a:rPr>
              <a:t> = </a:t>
            </a:r>
            <a:r>
              <a:rPr lang="en-US" sz="2800" b="1" dirty="0" smtClean="0">
                <a:solidFill>
                  <a:srgbClr val="000000"/>
                </a:solidFill>
              </a:rPr>
              <a:t>3</a:t>
            </a:r>
            <a:endParaRPr lang="en-US" sz="2800" b="1" dirty="0">
              <a:solidFill>
                <a:srgbClr val="000000"/>
              </a:solidFill>
            </a:endParaRPr>
          </a:p>
          <a:p>
            <a:endParaRPr lang="en-US" sz="2800" b="1" dirty="0">
              <a:solidFill>
                <a:srgbClr val="000000"/>
              </a:solidFill>
            </a:endParaRPr>
          </a:p>
          <a:p>
            <a:r>
              <a:rPr lang="en-US" sz="2800" b="1" dirty="0">
                <a:solidFill>
                  <a:srgbClr val="000000"/>
                </a:solidFill>
              </a:rPr>
              <a:t>section </a:t>
            </a:r>
            <a:r>
              <a:rPr lang="en-US" sz="2800" b="1" dirty="0" smtClean="0">
                <a:solidFill>
                  <a:srgbClr val="000000"/>
                </a:solidFill>
              </a:rPr>
              <a:t>3 </a:t>
            </a:r>
            <a:r>
              <a:rPr lang="en-US" sz="2800" b="1" dirty="0" err="1">
                <a:solidFill>
                  <a:srgbClr val="000000"/>
                </a:solidFill>
              </a:rPr>
              <a:t>ThreadId</a:t>
            </a:r>
            <a:r>
              <a:rPr lang="en-US" sz="2800" b="1" dirty="0">
                <a:solidFill>
                  <a:srgbClr val="000000"/>
                </a:solidFill>
              </a:rPr>
              <a:t> = 3</a:t>
            </a:r>
            <a:endParaRPr lang="en-US" sz="2800" b="1" dirty="0">
              <a:solidFill>
                <a:srgbClr val="000000"/>
              </a:solidFill>
            </a:endParaRPr>
          </a:p>
          <a:p>
            <a:endParaRPr lang="en-US" sz="2800" b="1" dirty="0">
              <a:solidFill>
                <a:srgbClr val="000000"/>
              </a:solidFill>
            </a:endParaRPr>
          </a:p>
          <a:p>
            <a:r>
              <a:rPr lang="en-US" sz="2800" b="1" dirty="0">
                <a:solidFill>
                  <a:srgbClr val="000000"/>
                </a:solidFill>
              </a:rPr>
              <a:t>section </a:t>
            </a:r>
            <a:r>
              <a:rPr lang="en-US" sz="2800" b="1" dirty="0" smtClean="0">
                <a:solidFill>
                  <a:srgbClr val="000000"/>
                </a:solidFill>
              </a:rPr>
              <a:t>4 </a:t>
            </a:r>
            <a:r>
              <a:rPr lang="en-US" sz="2800" b="1" dirty="0" err="1">
                <a:solidFill>
                  <a:srgbClr val="000000"/>
                </a:solidFill>
              </a:rPr>
              <a:t>ThreadId</a:t>
            </a:r>
            <a:r>
              <a:rPr lang="en-US" sz="2800" b="1" dirty="0">
                <a:solidFill>
                  <a:srgbClr val="000000"/>
                </a:solidFill>
              </a:rPr>
              <a:t> = 1</a:t>
            </a:r>
            <a:endParaRPr lang="en-US" sz="2800" b="1" dirty="0">
              <a:solidFill>
                <a:srgbClr val="000000"/>
              </a:solidFill>
            </a:endParaRPr>
          </a:p>
          <a:p>
            <a:endParaRPr lang="en-US" sz="2800" b="1" dirty="0">
              <a:solidFill>
                <a:srgbClr val="000000"/>
              </a:solidFill>
            </a:endParaRPr>
          </a:p>
        </p:txBody>
      </p:sp>
      <p:sp>
        <p:nvSpPr>
          <p:cNvPr id="3" name="文本框 2"/>
          <p:cNvSpPr txBox="1"/>
          <p:nvPr/>
        </p:nvSpPr>
        <p:spPr>
          <a:xfrm>
            <a:off x="5561350" y="1755685"/>
            <a:ext cx="6115988" cy="2062103"/>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zh-CN" altLang="en-US" sz="3200" dirty="0" smtClean="0">
                <a:solidFill>
                  <a:srgbClr val="6A247A"/>
                </a:solidFill>
                <a:latin typeface="+mj-lt"/>
                <a:ea typeface="华文行楷" panose="02010800040101010101" pitchFamily="2" charset="-122"/>
              </a:rPr>
              <a:t>         两</a:t>
            </a:r>
            <a:r>
              <a:rPr lang="zh-CN" altLang="en-US" sz="3200" dirty="0">
                <a:solidFill>
                  <a:srgbClr val="6A247A"/>
                </a:solidFill>
                <a:latin typeface="+mj-lt"/>
                <a:ea typeface="华文行楷" panose="02010800040101010101" pitchFamily="2" charset="-122"/>
              </a:rPr>
              <a:t>个</a:t>
            </a:r>
            <a:r>
              <a:rPr lang="en-US" altLang="zh-CN" sz="3200" dirty="0">
                <a:solidFill>
                  <a:srgbClr val="6A247A"/>
                </a:solidFill>
                <a:latin typeface="+mj-lt"/>
                <a:ea typeface="华文行楷" panose="02010800040101010101" pitchFamily="2" charset="-122"/>
              </a:rPr>
              <a:t>sections</a:t>
            </a:r>
            <a:r>
              <a:rPr lang="zh-CN" altLang="en-US" sz="3200" dirty="0">
                <a:solidFill>
                  <a:srgbClr val="6A247A"/>
                </a:solidFill>
                <a:latin typeface="+mj-lt"/>
                <a:ea typeface="华文行楷" panose="02010800040101010101" pitchFamily="2" charset="-122"/>
              </a:rPr>
              <a:t>语句是串行执行的，即第二个</a:t>
            </a:r>
            <a:r>
              <a:rPr lang="en-US" altLang="zh-CN" sz="3200" dirty="0">
                <a:solidFill>
                  <a:srgbClr val="6A247A"/>
                </a:solidFill>
                <a:latin typeface="+mj-lt"/>
                <a:ea typeface="华文行楷" panose="02010800040101010101" pitchFamily="2" charset="-122"/>
              </a:rPr>
              <a:t>sections</a:t>
            </a:r>
            <a:r>
              <a:rPr lang="zh-CN" altLang="en-US" sz="3200" dirty="0">
                <a:solidFill>
                  <a:srgbClr val="6A247A"/>
                </a:solidFill>
                <a:latin typeface="+mj-lt"/>
                <a:ea typeface="华文行楷" panose="02010800040101010101" pitchFamily="2" charset="-122"/>
              </a:rPr>
              <a:t>语句里的代码要等第一个</a:t>
            </a:r>
            <a:r>
              <a:rPr lang="en-US" altLang="zh-CN" sz="3200" dirty="0">
                <a:solidFill>
                  <a:srgbClr val="6A247A"/>
                </a:solidFill>
                <a:latin typeface="+mj-lt"/>
                <a:ea typeface="华文行楷" panose="02010800040101010101" pitchFamily="2" charset="-122"/>
              </a:rPr>
              <a:t>sections</a:t>
            </a:r>
            <a:r>
              <a:rPr lang="zh-CN" altLang="en-US" sz="3200" dirty="0">
                <a:solidFill>
                  <a:srgbClr val="6A247A"/>
                </a:solidFill>
                <a:latin typeface="+mj-lt"/>
                <a:ea typeface="华文行楷" panose="02010800040101010101" pitchFamily="2" charset="-122"/>
              </a:rPr>
              <a:t>语句里的代码执行完后才能执行。</a:t>
            </a:r>
            <a:endParaRPr lang="zh-CN" altLang="en-US" sz="3200" dirty="0">
              <a:solidFill>
                <a:srgbClr val="6A247A"/>
              </a:solidFill>
              <a:latin typeface="+mj-lt"/>
              <a:ea typeface="华文行楷" panose="02010800040101010101" pitchFamily="2" charset="-122"/>
            </a:endParaRPr>
          </a:p>
        </p:txBody>
      </p:sp>
    </p:spTree>
  </p:cSld>
  <p:clrMapOvr>
    <a:masterClrMapping/>
  </p:clrMapOvr>
  <p:transition spd="med" advTm="3025">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193560" y="579274"/>
            <a:ext cx="6096000" cy="5550237"/>
          </a:xfrm>
          <a:prstGeom prst="rect">
            <a:avLst/>
          </a:prstGeom>
        </p:spPr>
        <p:txBody>
          <a:bodyPr>
            <a:spAutoFit/>
          </a:bodyPr>
          <a:lstStyle/>
          <a:p>
            <a:r>
              <a:rPr lang="zh-CN" altLang="en-US" sz="4800" b="1" dirty="0" smtClean="0">
                <a:solidFill>
                  <a:srgbClr val="2D0AC2"/>
                </a:solidFill>
                <a:latin typeface="华文行楷" panose="02010800040101010101" pitchFamily="2" charset="-122"/>
                <a:ea typeface="华文行楷" panose="02010800040101010101" pitchFamily="2" charset="-122"/>
              </a:rPr>
              <a:t>例：向量运算</a:t>
            </a:r>
            <a:endParaRPr lang="en-US" sz="4800" b="1" dirty="0" smtClean="0">
              <a:solidFill>
                <a:srgbClr val="2D0AC2"/>
              </a:solidFill>
              <a:latin typeface="华文行楷" panose="02010800040101010101" pitchFamily="2" charset="-122"/>
              <a:ea typeface="华文行楷" panose="02010800040101010101" pitchFamily="2" charset="-122"/>
            </a:endParaRPr>
          </a:p>
          <a:p>
            <a:pPr>
              <a:lnSpc>
                <a:spcPts val="4600"/>
              </a:lnSpc>
            </a:pPr>
            <a:r>
              <a:rPr lang="en-US" sz="2800" b="1" dirty="0" smtClean="0"/>
              <a:t>#</a:t>
            </a:r>
            <a:r>
              <a:rPr lang="en-US" sz="2800" b="1" dirty="0"/>
              <a:t>include &lt;</a:t>
            </a:r>
            <a:r>
              <a:rPr lang="en-US" sz="2800" b="1" dirty="0" err="1"/>
              <a:t>omp.h</a:t>
            </a:r>
            <a:r>
              <a:rPr lang="en-US" sz="2800" b="1" dirty="0"/>
              <a:t>&gt; </a:t>
            </a:r>
            <a:endParaRPr lang="en-US" sz="2800" b="1" dirty="0"/>
          </a:p>
          <a:p>
            <a:pPr>
              <a:lnSpc>
                <a:spcPts val="4600"/>
              </a:lnSpc>
            </a:pPr>
            <a:r>
              <a:rPr lang="en-US" sz="2800" b="1" dirty="0"/>
              <a:t>#define N     1000 </a:t>
            </a:r>
            <a:endParaRPr lang="en-US" sz="2800" b="1" dirty="0"/>
          </a:p>
          <a:p>
            <a:pPr>
              <a:lnSpc>
                <a:spcPts val="4600"/>
              </a:lnSpc>
            </a:pPr>
            <a:r>
              <a:rPr lang="en-US" sz="2800" b="1" dirty="0" err="1"/>
              <a:t>int</a:t>
            </a:r>
            <a:r>
              <a:rPr lang="en-US" sz="2800" b="1" dirty="0"/>
              <a:t> main </a:t>
            </a:r>
            <a:r>
              <a:rPr lang="en-US" sz="2800" b="1" dirty="0" smtClean="0"/>
              <a:t>()</a:t>
            </a:r>
            <a:endParaRPr lang="en-US" sz="2800" b="1" dirty="0" smtClean="0"/>
          </a:p>
          <a:p>
            <a:pPr>
              <a:lnSpc>
                <a:spcPts val="4600"/>
              </a:lnSpc>
            </a:pPr>
            <a:r>
              <a:rPr lang="en-US" sz="2800" b="1" dirty="0" smtClean="0"/>
              <a:t>{ </a:t>
            </a:r>
            <a:r>
              <a:rPr lang="en-US" sz="2800" b="1" dirty="0" err="1" smtClean="0"/>
              <a:t>int</a:t>
            </a:r>
            <a:r>
              <a:rPr lang="en-US" sz="2800" b="1" dirty="0" smtClean="0"/>
              <a:t> </a:t>
            </a:r>
            <a:r>
              <a:rPr lang="en-US" sz="2800" b="1" dirty="0" err="1"/>
              <a:t>i</a:t>
            </a:r>
            <a:r>
              <a:rPr lang="en-US" sz="2800" b="1" dirty="0"/>
              <a:t>; </a:t>
            </a:r>
            <a:endParaRPr lang="en-US" sz="2800" b="1" dirty="0"/>
          </a:p>
          <a:p>
            <a:pPr>
              <a:lnSpc>
                <a:spcPts val="4600"/>
              </a:lnSpc>
            </a:pPr>
            <a:r>
              <a:rPr lang="en-US" sz="2800" b="1" dirty="0"/>
              <a:t>  float a[N], b[N], c[N]; </a:t>
            </a:r>
            <a:endParaRPr lang="en-US" sz="2800" b="1" dirty="0"/>
          </a:p>
          <a:p>
            <a:pPr>
              <a:lnSpc>
                <a:spcPts val="4600"/>
              </a:lnSpc>
            </a:pPr>
            <a:r>
              <a:rPr lang="en-US" sz="2800" b="1" dirty="0"/>
              <a:t>  /* Some initializations */ </a:t>
            </a:r>
            <a:endParaRPr lang="en-US" sz="2800" b="1" dirty="0"/>
          </a:p>
          <a:p>
            <a:pPr>
              <a:lnSpc>
                <a:spcPts val="4600"/>
              </a:lnSpc>
            </a:pPr>
            <a:r>
              <a:rPr lang="en-US" sz="2800" b="1" dirty="0"/>
              <a:t>  for (</a:t>
            </a:r>
            <a:r>
              <a:rPr lang="en-US" sz="2800" b="1" dirty="0" err="1"/>
              <a:t>i</a:t>
            </a:r>
            <a:r>
              <a:rPr lang="en-US" sz="2800" b="1" dirty="0"/>
              <a:t>=0; </a:t>
            </a:r>
            <a:r>
              <a:rPr lang="en-US" sz="2800" b="1" dirty="0" err="1"/>
              <a:t>i</a:t>
            </a:r>
            <a:r>
              <a:rPr lang="en-US" sz="2800" b="1" dirty="0"/>
              <a:t> &lt; N; </a:t>
            </a:r>
            <a:r>
              <a:rPr lang="en-US" sz="2800" b="1" dirty="0" err="1"/>
              <a:t>i</a:t>
            </a:r>
            <a:r>
              <a:rPr lang="en-US" sz="2800" b="1" dirty="0"/>
              <a:t>++)   </a:t>
            </a:r>
            <a:endParaRPr lang="en-US" sz="2800" b="1" dirty="0"/>
          </a:p>
          <a:p>
            <a:pPr>
              <a:lnSpc>
                <a:spcPts val="4600"/>
              </a:lnSpc>
            </a:pPr>
            <a:r>
              <a:rPr lang="en-US" sz="2800" b="1" dirty="0"/>
              <a:t>    a[</a:t>
            </a:r>
            <a:r>
              <a:rPr lang="en-US" sz="2800" b="1" dirty="0" err="1"/>
              <a:t>i</a:t>
            </a:r>
            <a:r>
              <a:rPr lang="en-US" sz="2800" b="1" dirty="0"/>
              <a:t>] = b[</a:t>
            </a:r>
            <a:r>
              <a:rPr lang="en-US" sz="2800" b="1" dirty="0" err="1"/>
              <a:t>i</a:t>
            </a:r>
            <a:r>
              <a:rPr lang="en-US" sz="2800" b="1" dirty="0"/>
              <a:t>] = </a:t>
            </a:r>
            <a:r>
              <a:rPr lang="en-US" sz="2800" b="1" dirty="0" err="1"/>
              <a:t>i</a:t>
            </a:r>
            <a:r>
              <a:rPr lang="en-US" sz="2800" b="1" dirty="0"/>
              <a:t> * 1.0; </a:t>
            </a:r>
            <a:endParaRPr lang="en-US" sz="2800" b="1" dirty="0"/>
          </a:p>
        </p:txBody>
      </p:sp>
    </p:spTree>
  </p:cSld>
  <p:clrMapOvr>
    <a:masterClrMapping/>
  </p:clrMapOvr>
  <p:transition spd="med" advTm="3025">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44053" y="714188"/>
            <a:ext cx="7235252" cy="5693866"/>
          </a:xfrm>
          <a:prstGeom prst="rect">
            <a:avLst/>
          </a:prstGeom>
        </p:spPr>
        <p:txBody>
          <a:bodyPr wrap="square">
            <a:spAutoFit/>
          </a:bodyPr>
          <a:lstStyle/>
          <a:p>
            <a:r>
              <a:rPr lang="en-US" sz="2800" b="1" dirty="0" smtClean="0">
                <a:solidFill>
                  <a:srgbClr val="2D0AC2"/>
                </a:solidFill>
              </a:rPr>
              <a:t>#</a:t>
            </a:r>
            <a:r>
              <a:rPr lang="en-US" sz="2800" b="1" dirty="0">
                <a:solidFill>
                  <a:srgbClr val="2D0AC2"/>
                </a:solidFill>
              </a:rPr>
              <a:t>pragma </a:t>
            </a:r>
            <a:r>
              <a:rPr lang="en-US" sz="2800" b="1" dirty="0" err="1">
                <a:solidFill>
                  <a:srgbClr val="2D0AC2"/>
                </a:solidFill>
              </a:rPr>
              <a:t>omp</a:t>
            </a:r>
            <a:r>
              <a:rPr lang="en-US" sz="2800" b="1" dirty="0">
                <a:solidFill>
                  <a:srgbClr val="2D0AC2"/>
                </a:solidFill>
              </a:rPr>
              <a:t> parallel shared(</a:t>
            </a:r>
            <a:r>
              <a:rPr lang="en-US" sz="2800" b="1" dirty="0" err="1">
                <a:solidFill>
                  <a:srgbClr val="2D0AC2"/>
                </a:solidFill>
              </a:rPr>
              <a:t>a,b,c</a:t>
            </a:r>
            <a:r>
              <a:rPr lang="en-US" sz="2800" b="1" dirty="0">
                <a:solidFill>
                  <a:srgbClr val="2D0AC2"/>
                </a:solidFill>
              </a:rPr>
              <a:t>) private(</a:t>
            </a:r>
            <a:r>
              <a:rPr lang="en-US" sz="2800" b="1" dirty="0" err="1">
                <a:solidFill>
                  <a:srgbClr val="2D0AC2"/>
                </a:solidFill>
              </a:rPr>
              <a:t>i</a:t>
            </a:r>
            <a:r>
              <a:rPr lang="en-US" sz="2800" b="1" dirty="0">
                <a:solidFill>
                  <a:srgbClr val="2D0AC2"/>
                </a:solidFill>
              </a:rPr>
              <a:t>)  </a:t>
            </a:r>
            <a:endParaRPr lang="en-US" sz="2800" b="1" dirty="0">
              <a:solidFill>
                <a:srgbClr val="2D0AC2"/>
              </a:solidFill>
            </a:endParaRPr>
          </a:p>
          <a:p>
            <a:r>
              <a:rPr lang="en-US" sz="2800" b="1" dirty="0">
                <a:solidFill>
                  <a:srgbClr val="000000"/>
                </a:solidFill>
              </a:rPr>
              <a:t>   </a:t>
            </a:r>
            <a:r>
              <a:rPr lang="en-US" sz="2800" b="1" dirty="0" smtClean="0">
                <a:solidFill>
                  <a:srgbClr val="000000"/>
                </a:solidFill>
              </a:rPr>
              <a:t> </a:t>
            </a:r>
            <a:r>
              <a:rPr lang="en-US" sz="2800" b="1" dirty="0">
                <a:solidFill>
                  <a:srgbClr val="000000"/>
                </a:solidFill>
              </a:rPr>
              <a:t>{  </a:t>
            </a:r>
            <a:endParaRPr lang="en-US" sz="2800" b="1" dirty="0">
              <a:solidFill>
                <a:srgbClr val="000000"/>
              </a:solidFill>
            </a:endParaRPr>
          </a:p>
          <a:p>
            <a:r>
              <a:rPr lang="en-US" sz="2800" b="1" dirty="0">
                <a:solidFill>
                  <a:srgbClr val="000000"/>
                </a:solidFill>
              </a:rPr>
              <a:t>       </a:t>
            </a:r>
            <a:r>
              <a:rPr lang="en-US" sz="2800" b="1" dirty="0">
                <a:solidFill>
                  <a:srgbClr val="C00000"/>
                </a:solidFill>
              </a:rPr>
              <a:t>#pragma </a:t>
            </a:r>
            <a:r>
              <a:rPr lang="en-US" sz="2800" b="1" dirty="0" err="1">
                <a:solidFill>
                  <a:srgbClr val="C00000"/>
                </a:solidFill>
              </a:rPr>
              <a:t>omp</a:t>
            </a:r>
            <a:r>
              <a:rPr lang="en-US" sz="2800" b="1" dirty="0">
                <a:solidFill>
                  <a:srgbClr val="C00000"/>
                </a:solidFill>
              </a:rPr>
              <a:t> sections </a:t>
            </a:r>
            <a:r>
              <a:rPr lang="en-US" sz="2800" b="1" dirty="0" err="1">
                <a:solidFill>
                  <a:srgbClr val="C00000"/>
                </a:solidFill>
              </a:rPr>
              <a:t>nowait</a:t>
            </a:r>
            <a:r>
              <a:rPr lang="en-US" sz="2800" b="1" dirty="0">
                <a:solidFill>
                  <a:srgbClr val="C00000"/>
                </a:solidFill>
              </a:rPr>
              <a:t>     </a:t>
            </a:r>
            <a:endParaRPr lang="en-US" sz="2800" b="1" dirty="0">
              <a:solidFill>
                <a:srgbClr val="C00000"/>
              </a:solidFill>
            </a:endParaRPr>
          </a:p>
          <a:p>
            <a:r>
              <a:rPr lang="en-US" sz="2800" b="1" dirty="0">
                <a:solidFill>
                  <a:srgbClr val="000000"/>
                </a:solidFill>
              </a:rPr>
              <a:t>    </a:t>
            </a:r>
            <a:r>
              <a:rPr lang="en-US" sz="2800" b="1" dirty="0" smtClean="0">
                <a:solidFill>
                  <a:srgbClr val="000000"/>
                </a:solidFill>
              </a:rPr>
              <a:t>    {     </a:t>
            </a:r>
            <a:endParaRPr lang="en-US" sz="2800" b="1" dirty="0">
              <a:solidFill>
                <a:srgbClr val="000000"/>
              </a:solidFill>
            </a:endParaRPr>
          </a:p>
          <a:p>
            <a:r>
              <a:rPr lang="en-US" sz="2800" b="1" dirty="0">
                <a:solidFill>
                  <a:srgbClr val="C00000"/>
                </a:solidFill>
              </a:rPr>
              <a:t>   </a:t>
            </a:r>
            <a:r>
              <a:rPr lang="en-US" sz="2800" b="1" dirty="0" smtClean="0">
                <a:solidFill>
                  <a:srgbClr val="C00000"/>
                </a:solidFill>
              </a:rPr>
              <a:t>          </a:t>
            </a:r>
            <a:r>
              <a:rPr lang="en-US" sz="2800" b="1" dirty="0">
                <a:solidFill>
                  <a:srgbClr val="C00000"/>
                </a:solidFill>
              </a:rPr>
              <a:t>#pragma </a:t>
            </a:r>
            <a:r>
              <a:rPr lang="en-US" sz="2800" b="1" dirty="0" err="1">
                <a:solidFill>
                  <a:srgbClr val="C00000"/>
                </a:solidFill>
              </a:rPr>
              <a:t>omp</a:t>
            </a:r>
            <a:r>
              <a:rPr lang="en-US" sz="2800" b="1" dirty="0">
                <a:solidFill>
                  <a:srgbClr val="C00000"/>
                </a:solidFill>
              </a:rPr>
              <a:t> section     </a:t>
            </a:r>
            <a:endParaRPr lang="en-US" sz="2800" b="1" dirty="0">
              <a:solidFill>
                <a:srgbClr val="C00000"/>
              </a:solidFill>
            </a:endParaRPr>
          </a:p>
          <a:p>
            <a:r>
              <a:rPr lang="en-US" sz="2800" b="1" dirty="0">
                <a:solidFill>
                  <a:srgbClr val="000000"/>
                </a:solidFill>
              </a:rPr>
              <a:t>   </a:t>
            </a:r>
            <a:r>
              <a:rPr lang="en-US" sz="2800" b="1" dirty="0" smtClean="0">
                <a:solidFill>
                  <a:srgbClr val="000000"/>
                </a:solidFill>
              </a:rPr>
              <a:t>              for </a:t>
            </a:r>
            <a:r>
              <a:rPr lang="en-US" sz="2800" b="1" dirty="0">
                <a:solidFill>
                  <a:srgbClr val="000000"/>
                </a:solidFill>
              </a:rPr>
              <a:t>(</a:t>
            </a:r>
            <a:r>
              <a:rPr lang="en-US" sz="2800" b="1" dirty="0" err="1">
                <a:solidFill>
                  <a:srgbClr val="000000"/>
                </a:solidFill>
              </a:rPr>
              <a:t>i</a:t>
            </a:r>
            <a:r>
              <a:rPr lang="en-US" sz="2800" b="1" dirty="0">
                <a:solidFill>
                  <a:srgbClr val="000000"/>
                </a:solidFill>
              </a:rPr>
              <a:t>=0; </a:t>
            </a:r>
            <a:r>
              <a:rPr lang="en-US" sz="2800" b="1" dirty="0" err="1">
                <a:solidFill>
                  <a:srgbClr val="000000"/>
                </a:solidFill>
              </a:rPr>
              <a:t>i</a:t>
            </a:r>
            <a:r>
              <a:rPr lang="en-US" sz="2800" b="1" dirty="0">
                <a:solidFill>
                  <a:srgbClr val="000000"/>
                </a:solidFill>
              </a:rPr>
              <a:t> &lt; N/2; </a:t>
            </a:r>
            <a:r>
              <a:rPr lang="en-US" sz="2800" b="1" dirty="0" err="1">
                <a:solidFill>
                  <a:srgbClr val="000000"/>
                </a:solidFill>
              </a:rPr>
              <a:t>i</a:t>
            </a:r>
            <a:r>
              <a:rPr lang="en-US" sz="2800" b="1" dirty="0">
                <a:solidFill>
                  <a:srgbClr val="000000"/>
                </a:solidFill>
              </a:rPr>
              <a:t>++)       </a:t>
            </a:r>
            <a:endParaRPr lang="en-US" sz="2800" b="1" dirty="0">
              <a:solidFill>
                <a:srgbClr val="000000"/>
              </a:solidFill>
            </a:endParaRPr>
          </a:p>
          <a:p>
            <a:r>
              <a:rPr lang="en-US" sz="2800" b="1" dirty="0">
                <a:solidFill>
                  <a:srgbClr val="000000"/>
                </a:solidFill>
              </a:rPr>
              <a:t>    </a:t>
            </a:r>
            <a:r>
              <a:rPr lang="en-US" sz="2800" b="1" dirty="0" smtClean="0">
                <a:solidFill>
                  <a:srgbClr val="000000"/>
                </a:solidFill>
              </a:rPr>
              <a:t>                  c[</a:t>
            </a:r>
            <a:r>
              <a:rPr lang="en-US" sz="2800" b="1" dirty="0" err="1" smtClean="0">
                <a:solidFill>
                  <a:srgbClr val="000000"/>
                </a:solidFill>
              </a:rPr>
              <a:t>i</a:t>
            </a:r>
            <a:r>
              <a:rPr lang="en-US" sz="2800" b="1" dirty="0">
                <a:solidFill>
                  <a:srgbClr val="000000"/>
                </a:solidFill>
              </a:rPr>
              <a:t>] = a[</a:t>
            </a:r>
            <a:r>
              <a:rPr lang="en-US" sz="2800" b="1" dirty="0" err="1">
                <a:solidFill>
                  <a:srgbClr val="000000"/>
                </a:solidFill>
              </a:rPr>
              <a:t>i</a:t>
            </a:r>
            <a:r>
              <a:rPr lang="en-US" sz="2800" b="1" dirty="0">
                <a:solidFill>
                  <a:srgbClr val="000000"/>
                </a:solidFill>
              </a:rPr>
              <a:t>] + b[</a:t>
            </a:r>
            <a:r>
              <a:rPr lang="en-US" sz="2800" b="1" dirty="0" err="1">
                <a:solidFill>
                  <a:srgbClr val="000000"/>
                </a:solidFill>
              </a:rPr>
              <a:t>i</a:t>
            </a:r>
            <a:r>
              <a:rPr lang="en-US" sz="2800" b="1" dirty="0">
                <a:solidFill>
                  <a:srgbClr val="000000"/>
                </a:solidFill>
              </a:rPr>
              <a:t>];     </a:t>
            </a:r>
            <a:endParaRPr lang="en-US" sz="2800" b="1" dirty="0">
              <a:solidFill>
                <a:srgbClr val="000000"/>
              </a:solidFill>
            </a:endParaRPr>
          </a:p>
          <a:p>
            <a:r>
              <a:rPr lang="en-US" sz="2800" b="1" dirty="0">
                <a:solidFill>
                  <a:srgbClr val="000000"/>
                </a:solidFill>
              </a:rPr>
              <a:t>   </a:t>
            </a:r>
            <a:r>
              <a:rPr lang="en-US" sz="2800" b="1" dirty="0" smtClean="0">
                <a:solidFill>
                  <a:srgbClr val="000000"/>
                </a:solidFill>
              </a:rPr>
              <a:t>           </a:t>
            </a:r>
            <a:r>
              <a:rPr lang="en-US" sz="2800" b="1" dirty="0">
                <a:solidFill>
                  <a:srgbClr val="C00000"/>
                </a:solidFill>
              </a:rPr>
              <a:t>#pragma </a:t>
            </a:r>
            <a:r>
              <a:rPr lang="en-US" sz="2800" b="1" dirty="0" err="1">
                <a:solidFill>
                  <a:srgbClr val="C00000"/>
                </a:solidFill>
              </a:rPr>
              <a:t>omp</a:t>
            </a:r>
            <a:r>
              <a:rPr lang="en-US" sz="2800" b="1" dirty="0">
                <a:solidFill>
                  <a:srgbClr val="C00000"/>
                </a:solidFill>
              </a:rPr>
              <a:t> section     </a:t>
            </a:r>
            <a:endParaRPr lang="en-US" sz="2800" b="1" dirty="0">
              <a:solidFill>
                <a:srgbClr val="C00000"/>
              </a:solidFill>
            </a:endParaRPr>
          </a:p>
          <a:p>
            <a:r>
              <a:rPr lang="en-US" sz="2800" b="1" dirty="0">
                <a:solidFill>
                  <a:srgbClr val="000000"/>
                </a:solidFill>
              </a:rPr>
              <a:t>  </a:t>
            </a:r>
            <a:r>
              <a:rPr lang="en-US" sz="2800" b="1" dirty="0" smtClean="0">
                <a:solidFill>
                  <a:srgbClr val="000000"/>
                </a:solidFill>
              </a:rPr>
              <a:t>              </a:t>
            </a:r>
            <a:r>
              <a:rPr lang="en-US" sz="2800" b="1" dirty="0">
                <a:solidFill>
                  <a:srgbClr val="000000"/>
                </a:solidFill>
              </a:rPr>
              <a:t>for (</a:t>
            </a:r>
            <a:r>
              <a:rPr lang="en-US" sz="2800" b="1" dirty="0" err="1">
                <a:solidFill>
                  <a:srgbClr val="000000"/>
                </a:solidFill>
              </a:rPr>
              <a:t>i</a:t>
            </a:r>
            <a:r>
              <a:rPr lang="en-US" sz="2800" b="1" dirty="0">
                <a:solidFill>
                  <a:srgbClr val="000000"/>
                </a:solidFill>
              </a:rPr>
              <a:t>=N/2; </a:t>
            </a:r>
            <a:r>
              <a:rPr lang="en-US" sz="2800" b="1" dirty="0" err="1">
                <a:solidFill>
                  <a:srgbClr val="000000"/>
                </a:solidFill>
              </a:rPr>
              <a:t>i</a:t>
            </a:r>
            <a:r>
              <a:rPr lang="en-US" sz="2800" b="1" dirty="0">
                <a:solidFill>
                  <a:srgbClr val="000000"/>
                </a:solidFill>
              </a:rPr>
              <a:t> &lt; N; </a:t>
            </a:r>
            <a:r>
              <a:rPr lang="en-US" sz="2800" b="1" dirty="0" err="1">
                <a:solidFill>
                  <a:srgbClr val="000000"/>
                </a:solidFill>
              </a:rPr>
              <a:t>i</a:t>
            </a:r>
            <a:r>
              <a:rPr lang="en-US" sz="2800" b="1" dirty="0">
                <a:solidFill>
                  <a:srgbClr val="000000"/>
                </a:solidFill>
              </a:rPr>
              <a:t>++)       </a:t>
            </a:r>
            <a:endParaRPr lang="en-US" sz="2800" b="1" dirty="0">
              <a:solidFill>
                <a:srgbClr val="000000"/>
              </a:solidFill>
            </a:endParaRPr>
          </a:p>
          <a:p>
            <a:r>
              <a:rPr lang="en-US" sz="2800" b="1" dirty="0">
                <a:solidFill>
                  <a:srgbClr val="000000"/>
                </a:solidFill>
              </a:rPr>
              <a:t>     </a:t>
            </a:r>
            <a:r>
              <a:rPr lang="en-US" sz="2800" b="1" dirty="0" smtClean="0">
                <a:solidFill>
                  <a:srgbClr val="000000"/>
                </a:solidFill>
              </a:rPr>
              <a:t>                 </a:t>
            </a:r>
            <a:r>
              <a:rPr lang="en-US" sz="2800" b="1" dirty="0">
                <a:solidFill>
                  <a:srgbClr val="000000"/>
                </a:solidFill>
              </a:rPr>
              <a:t>c[</a:t>
            </a:r>
            <a:r>
              <a:rPr lang="en-US" sz="2800" b="1" dirty="0" err="1">
                <a:solidFill>
                  <a:srgbClr val="000000"/>
                </a:solidFill>
              </a:rPr>
              <a:t>i</a:t>
            </a:r>
            <a:r>
              <a:rPr lang="en-US" sz="2800" b="1" dirty="0">
                <a:solidFill>
                  <a:srgbClr val="000000"/>
                </a:solidFill>
              </a:rPr>
              <a:t>] = a[</a:t>
            </a:r>
            <a:r>
              <a:rPr lang="en-US" sz="2800" b="1" dirty="0" err="1">
                <a:solidFill>
                  <a:srgbClr val="000000"/>
                </a:solidFill>
              </a:rPr>
              <a:t>i</a:t>
            </a:r>
            <a:r>
              <a:rPr lang="en-US" sz="2800" b="1" dirty="0">
                <a:solidFill>
                  <a:srgbClr val="000000"/>
                </a:solidFill>
              </a:rPr>
              <a:t>] + b[</a:t>
            </a:r>
            <a:r>
              <a:rPr lang="en-US" sz="2800" b="1" dirty="0" err="1">
                <a:solidFill>
                  <a:srgbClr val="000000"/>
                </a:solidFill>
              </a:rPr>
              <a:t>i</a:t>
            </a:r>
            <a:r>
              <a:rPr lang="en-US" sz="2800" b="1" dirty="0">
                <a:solidFill>
                  <a:srgbClr val="000000"/>
                </a:solidFill>
              </a:rPr>
              <a:t>];     </a:t>
            </a:r>
            <a:endParaRPr lang="en-US" sz="2800" b="1" dirty="0">
              <a:solidFill>
                <a:srgbClr val="000000"/>
              </a:solidFill>
            </a:endParaRPr>
          </a:p>
          <a:p>
            <a:r>
              <a:rPr lang="en-US" sz="2800" b="1" dirty="0">
                <a:solidFill>
                  <a:srgbClr val="000000"/>
                </a:solidFill>
              </a:rPr>
              <a:t>  </a:t>
            </a:r>
            <a:r>
              <a:rPr lang="en-US" sz="2800" b="1" dirty="0" smtClean="0">
                <a:solidFill>
                  <a:srgbClr val="000000"/>
                </a:solidFill>
              </a:rPr>
              <a:t>      </a:t>
            </a:r>
            <a:r>
              <a:rPr lang="en-US" sz="2800" b="1" dirty="0">
                <a:solidFill>
                  <a:srgbClr val="000000"/>
                </a:solidFill>
              </a:rPr>
              <a:t>} </a:t>
            </a:r>
            <a:endParaRPr lang="en-US" sz="2800" b="1" dirty="0" smtClean="0">
              <a:solidFill>
                <a:srgbClr val="000000"/>
              </a:solidFill>
            </a:endParaRPr>
          </a:p>
          <a:p>
            <a:r>
              <a:rPr lang="en-US" sz="2800" b="1" dirty="0" smtClean="0">
                <a:solidFill>
                  <a:srgbClr val="000000"/>
                </a:solidFill>
              </a:rPr>
              <a:t>     }</a:t>
            </a:r>
            <a:endParaRPr lang="en-US" sz="2800" b="1" dirty="0" smtClean="0">
              <a:solidFill>
                <a:srgbClr val="000000"/>
              </a:solidFill>
            </a:endParaRPr>
          </a:p>
          <a:p>
            <a:r>
              <a:rPr lang="en-US" sz="2800" b="1" dirty="0" smtClean="0">
                <a:solidFill>
                  <a:srgbClr val="000000"/>
                </a:solidFill>
              </a:rPr>
              <a:t>}</a:t>
            </a:r>
            <a:endParaRPr lang="en-US" sz="2800" b="1" dirty="0">
              <a:solidFill>
                <a:srgbClr val="000000"/>
              </a:solidFill>
            </a:endParaRPr>
          </a:p>
        </p:txBody>
      </p:sp>
      <p:sp>
        <p:nvSpPr>
          <p:cNvPr id="3" name="右箭头 2"/>
          <p:cNvSpPr/>
          <p:nvPr/>
        </p:nvSpPr>
        <p:spPr bwMode="auto">
          <a:xfrm>
            <a:off x="6520721" y="3087974"/>
            <a:ext cx="2563318" cy="329783"/>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smtClean="0">
              <a:ln>
                <a:noFill/>
              </a:ln>
              <a:solidFill>
                <a:schemeClr val="tx1"/>
              </a:solidFill>
              <a:effectLst/>
              <a:latin typeface="Arial" panose="020B0604020202020204" pitchFamily="34" charset="0"/>
              <a:ea typeface="隶书" panose="02010509060101010101" pitchFamily="49" charset="-122"/>
            </a:endParaRPr>
          </a:p>
        </p:txBody>
      </p:sp>
      <p:pic>
        <p:nvPicPr>
          <p:cNvPr id="4" name="图片 3"/>
          <p:cNvPicPr>
            <a:picLocks noChangeAspect="1"/>
          </p:cNvPicPr>
          <p:nvPr/>
        </p:nvPicPr>
        <p:blipFill>
          <a:blip r:embed="rId1"/>
          <a:stretch>
            <a:fillRect/>
          </a:stretch>
        </p:blipFill>
        <p:spPr>
          <a:xfrm>
            <a:off x="6520721" y="4364217"/>
            <a:ext cx="2578832" cy="365792"/>
          </a:xfrm>
          <a:prstGeom prst="rect">
            <a:avLst/>
          </a:prstGeom>
        </p:spPr>
      </p:pic>
      <p:sp>
        <p:nvSpPr>
          <p:cNvPr id="5" name="圆角矩形 4"/>
          <p:cNvSpPr/>
          <p:nvPr/>
        </p:nvSpPr>
        <p:spPr bwMode="auto">
          <a:xfrm>
            <a:off x="9218951" y="2923082"/>
            <a:ext cx="2638269" cy="1948721"/>
          </a:xfrm>
          <a:prstGeom prst="round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smtClean="0">
              <a:ln>
                <a:noFill/>
              </a:ln>
              <a:solidFill>
                <a:schemeClr val="tx1"/>
              </a:solidFill>
              <a:effectLst/>
              <a:latin typeface="Arial" panose="020B0604020202020204" pitchFamily="34" charset="0"/>
              <a:ea typeface="隶书" panose="02010509060101010101" pitchFamily="49" charset="-122"/>
            </a:endParaRPr>
          </a:p>
        </p:txBody>
      </p:sp>
      <p:sp>
        <p:nvSpPr>
          <p:cNvPr id="6" name="文本框 5"/>
          <p:cNvSpPr txBox="1"/>
          <p:nvPr/>
        </p:nvSpPr>
        <p:spPr>
          <a:xfrm>
            <a:off x="9368852" y="3543499"/>
            <a:ext cx="2338466" cy="707886"/>
          </a:xfrm>
          <a:prstGeom prst="rect">
            <a:avLst/>
          </a:prstGeom>
          <a:noFill/>
        </p:spPr>
        <p:txBody>
          <a:bodyPr wrap="square" rtlCol="0">
            <a:spAutoFit/>
          </a:bodyPr>
          <a:lstStyle/>
          <a:p>
            <a:r>
              <a:rPr lang="zh-CN" altLang="en-US" sz="4000" b="1" dirty="0" smtClean="0">
                <a:solidFill>
                  <a:schemeClr val="bg1"/>
                </a:solidFill>
                <a:latin typeface="华文新魏" panose="02010800040101010101" pitchFamily="2" charset="-122"/>
                <a:ea typeface="华文新魏" panose="02010800040101010101" pitchFamily="2" charset="-122"/>
              </a:rPr>
              <a:t>独立任务</a:t>
            </a:r>
            <a:endParaRPr lang="en-US" sz="4000" b="1" dirty="0">
              <a:solidFill>
                <a:schemeClr val="bg1"/>
              </a:solidFill>
              <a:latin typeface="华文新魏" panose="02010800040101010101" pitchFamily="2" charset="-122"/>
              <a:ea typeface="华文新魏" panose="02010800040101010101" pitchFamily="2" charset="-122"/>
            </a:endParaRPr>
          </a:p>
        </p:txBody>
      </p:sp>
      <p:sp>
        <p:nvSpPr>
          <p:cNvPr id="7" name="文本框 6"/>
          <p:cNvSpPr txBox="1"/>
          <p:nvPr/>
        </p:nvSpPr>
        <p:spPr>
          <a:xfrm>
            <a:off x="2683239" y="5351489"/>
            <a:ext cx="7075358" cy="954107"/>
          </a:xfrm>
          <a:prstGeom prst="rect">
            <a:avLst/>
          </a:prstGeom>
          <a:noFill/>
        </p:spPr>
        <p:txBody>
          <a:bodyPr wrap="square" rtlCol="0">
            <a:spAutoFit/>
          </a:bodyPr>
          <a:lstStyle/>
          <a:p>
            <a:r>
              <a:rPr lang="zh-CN" altLang="en-US" sz="2800" b="1" dirty="0">
                <a:solidFill>
                  <a:srgbClr val="6A247A"/>
                </a:solidFill>
                <a:latin typeface="华文隶书" panose="02010800040101010101" pitchFamily="2" charset="-122"/>
                <a:ea typeface="华文隶书" panose="02010800040101010101" pitchFamily="2" charset="-122"/>
              </a:rPr>
              <a:t>使用</a:t>
            </a:r>
            <a:r>
              <a:rPr lang="en-US" altLang="zh-CN" sz="2800" b="1" dirty="0">
                <a:solidFill>
                  <a:srgbClr val="6A247A"/>
                </a:solidFill>
                <a:latin typeface="华文隶书" panose="02010800040101010101" pitchFamily="2" charset="-122"/>
                <a:ea typeface="华文隶书" panose="02010800040101010101" pitchFamily="2" charset="-122"/>
              </a:rPr>
              <a:t>section</a:t>
            </a:r>
            <a:r>
              <a:rPr lang="zh-CN" altLang="en-US" sz="2800" b="1" dirty="0">
                <a:solidFill>
                  <a:srgbClr val="6A247A"/>
                </a:solidFill>
                <a:latin typeface="华文隶书" panose="02010800040101010101" pitchFamily="2" charset="-122"/>
                <a:ea typeface="华文隶书" panose="02010800040101010101" pitchFamily="2" charset="-122"/>
              </a:rPr>
              <a:t>来划分线程是一种手工划分线程的方式，最终并行性的</a:t>
            </a:r>
            <a:r>
              <a:rPr lang="zh-CN" altLang="en-US" sz="2800" b="1" dirty="0" smtClean="0">
                <a:solidFill>
                  <a:srgbClr val="6A247A"/>
                </a:solidFill>
                <a:latin typeface="华文隶书" panose="02010800040101010101" pitchFamily="2" charset="-122"/>
                <a:ea typeface="华文隶书" panose="02010800040101010101" pitchFamily="2" charset="-122"/>
              </a:rPr>
              <a:t>好坏依赖</a:t>
            </a:r>
            <a:r>
              <a:rPr lang="zh-CN" altLang="en-US" sz="2800" b="1" dirty="0">
                <a:solidFill>
                  <a:srgbClr val="6A247A"/>
                </a:solidFill>
                <a:latin typeface="华文隶书" panose="02010800040101010101" pitchFamily="2" charset="-122"/>
                <a:ea typeface="华文隶书" panose="02010800040101010101" pitchFamily="2" charset="-122"/>
              </a:rPr>
              <a:t>于程序员。</a:t>
            </a:r>
            <a:endParaRPr lang="en-US" sz="2800" b="1" dirty="0">
              <a:solidFill>
                <a:srgbClr val="6A247A"/>
              </a:solidFill>
              <a:latin typeface="华文隶书" panose="02010800040101010101" pitchFamily="2" charset="-122"/>
              <a:ea typeface="华文隶书" panose="02010800040101010101" pitchFamily="2" charset="-122"/>
            </a:endParaRPr>
          </a:p>
        </p:txBody>
      </p:sp>
    </p:spTree>
  </p:cSld>
  <p:clrMapOvr>
    <a:masterClrMapping/>
  </p:clrMapOvr>
  <p:transition spd="med" advTm="3025">
    <p:fad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14465" y="597216"/>
            <a:ext cx="10772931" cy="5201424"/>
          </a:xfrm>
          <a:prstGeom prst="rect">
            <a:avLst/>
          </a:prstGeom>
        </p:spPr>
        <p:txBody>
          <a:bodyPr wrap="square">
            <a:spAutoFit/>
          </a:bodyPr>
          <a:lstStyle/>
          <a:p>
            <a:pPr algn="ctr"/>
            <a:r>
              <a:rPr lang="en-US" altLang="zh-CN" sz="3200" b="1" dirty="0" smtClean="0">
                <a:solidFill>
                  <a:srgbClr val="2D0AC2"/>
                </a:solidFill>
                <a:latin typeface="华文新魏" panose="02010800040101010101" pitchFamily="2" charset="-122"/>
                <a:ea typeface="华文新魏" panose="02010800040101010101" pitchFamily="2" charset="-122"/>
              </a:rPr>
              <a:t>OpenMP</a:t>
            </a:r>
            <a:r>
              <a:rPr lang="zh-CN" altLang="en-US" sz="3200" b="1" dirty="0" smtClean="0">
                <a:solidFill>
                  <a:srgbClr val="2D0AC2"/>
                </a:solidFill>
                <a:latin typeface="华文新魏" panose="02010800040101010101" pitchFamily="2" charset="-122"/>
                <a:ea typeface="华文新魏" panose="02010800040101010101" pitchFamily="2" charset="-122"/>
              </a:rPr>
              <a:t>指导语句的子句</a:t>
            </a:r>
            <a:endParaRPr lang="zh-CN" altLang="en-US" sz="2800" b="1" dirty="0"/>
          </a:p>
          <a:p>
            <a:pPr marL="457200" indent="-457200">
              <a:lnSpc>
                <a:spcPts val="4500"/>
              </a:lnSpc>
              <a:buFont typeface="Arial" panose="020B0604020202020204" pitchFamily="34" charset="0"/>
              <a:buChar char="•"/>
            </a:pPr>
            <a:r>
              <a:rPr lang="en-US" altLang="zh-CN" sz="2800" b="1" dirty="0" smtClean="0"/>
              <a:t>private——</a:t>
            </a:r>
            <a:r>
              <a:rPr lang="zh-CN" altLang="en-US" sz="2800" b="1" dirty="0" smtClean="0"/>
              <a:t>指定一个或多个变量为线程私有变量</a:t>
            </a:r>
            <a:endParaRPr lang="zh-CN" altLang="en-US" sz="2800" b="1" dirty="0"/>
          </a:p>
          <a:p>
            <a:pPr marL="457200" indent="-457200">
              <a:lnSpc>
                <a:spcPts val="4500"/>
              </a:lnSpc>
              <a:buFont typeface="Arial" panose="020B0604020202020204" pitchFamily="34" charset="0"/>
              <a:buChar char="•"/>
            </a:pPr>
            <a:r>
              <a:rPr lang="en-US" altLang="zh-CN" sz="2800" b="1" dirty="0" err="1" smtClean="0"/>
              <a:t>firstprivate</a:t>
            </a:r>
            <a:r>
              <a:rPr lang="en-US" altLang="zh-CN" sz="2800" b="1" dirty="0" smtClean="0"/>
              <a:t>——</a:t>
            </a:r>
            <a:r>
              <a:rPr lang="zh-CN" altLang="en-US" sz="2800" b="1" dirty="0" smtClean="0"/>
              <a:t>指定私有变量的初始值通过外部的值初始化</a:t>
            </a:r>
            <a:endParaRPr lang="en-US" altLang="zh-CN" sz="2800" b="1" dirty="0" smtClean="0"/>
          </a:p>
          <a:p>
            <a:pPr marL="457200" indent="-457200">
              <a:lnSpc>
                <a:spcPts val="4500"/>
              </a:lnSpc>
              <a:buFont typeface="Arial" panose="020B0604020202020204" pitchFamily="34" charset="0"/>
              <a:buChar char="•"/>
            </a:pPr>
            <a:r>
              <a:rPr lang="en-US" altLang="zh-CN" sz="2800" b="1" dirty="0" err="1"/>
              <a:t>l</a:t>
            </a:r>
            <a:r>
              <a:rPr lang="en-US" altLang="zh-CN" sz="2800" b="1" dirty="0" err="1" smtClean="0"/>
              <a:t>astprivate</a:t>
            </a:r>
            <a:r>
              <a:rPr lang="en-US" altLang="zh-CN" sz="2800" b="1" dirty="0" smtClean="0"/>
              <a:t>——</a:t>
            </a:r>
            <a:r>
              <a:rPr lang="zh-CN" altLang="en-US" sz="2800" b="1" dirty="0" smtClean="0"/>
              <a:t>将私有变量的</a:t>
            </a:r>
            <a:r>
              <a:rPr lang="zh-CN" altLang="en-US" sz="2800" b="1" dirty="0" smtClean="0">
                <a:solidFill>
                  <a:srgbClr val="C00000"/>
                </a:solidFill>
              </a:rPr>
              <a:t>最终结果代出</a:t>
            </a:r>
            <a:r>
              <a:rPr lang="zh-CN" altLang="en-US" sz="2800" b="1" dirty="0" smtClean="0"/>
              <a:t>，使相应线程可以使用该变量的值。</a:t>
            </a:r>
            <a:r>
              <a:rPr lang="zh-CN" altLang="en-US" sz="2800" b="1" dirty="0" smtClean="0">
                <a:solidFill>
                  <a:srgbClr val="2D0AC2"/>
                </a:solidFill>
              </a:rPr>
              <a:t>（按串行执行）</a:t>
            </a:r>
            <a:r>
              <a:rPr lang="zh-CN" altLang="en-US" sz="3200" b="1" dirty="0" smtClean="0">
                <a:solidFill>
                  <a:srgbClr val="FF0000"/>
                </a:solidFill>
                <a:latin typeface="华文新魏" panose="02010800040101010101" pitchFamily="2" charset="-122"/>
                <a:ea typeface="华文新魏" panose="02010800040101010101" pitchFamily="2" charset="-122"/>
              </a:rPr>
              <a:t>最终不好判断，尽量少用！</a:t>
            </a:r>
            <a:endParaRPr lang="en-US" altLang="zh-CN" sz="3200" b="1" dirty="0" smtClean="0">
              <a:solidFill>
                <a:srgbClr val="FF0000"/>
              </a:solidFill>
              <a:latin typeface="华文新魏" panose="02010800040101010101" pitchFamily="2" charset="-122"/>
              <a:ea typeface="华文新魏" panose="02010800040101010101" pitchFamily="2" charset="-122"/>
            </a:endParaRPr>
          </a:p>
          <a:p>
            <a:pPr marL="457200" indent="-457200">
              <a:lnSpc>
                <a:spcPts val="4500"/>
              </a:lnSpc>
              <a:buFont typeface="Arial" panose="020B0604020202020204" pitchFamily="34" charset="0"/>
              <a:buChar char="•"/>
            </a:pPr>
            <a:r>
              <a:rPr lang="en-US" altLang="zh-CN" sz="2800" b="1" dirty="0" smtClean="0"/>
              <a:t>reduction——</a:t>
            </a:r>
            <a:r>
              <a:rPr lang="zh-CN" altLang="en-US" sz="2800" b="1" dirty="0" smtClean="0"/>
              <a:t>执行</a:t>
            </a:r>
            <a:r>
              <a:rPr lang="zh-CN" altLang="en-US" sz="2800" b="1" dirty="0"/>
              <a:t>指定</a:t>
            </a:r>
            <a:r>
              <a:rPr lang="zh-CN" altLang="en-US" sz="2800" b="1" dirty="0" smtClean="0"/>
              <a:t>的归约操作，</a:t>
            </a:r>
            <a:r>
              <a:rPr lang="en-US" altLang="zh-CN" sz="2800" b="1" dirty="0" smtClean="0"/>
              <a:t>+</a:t>
            </a:r>
            <a:r>
              <a:rPr lang="zh-CN" altLang="en-US" sz="2800" b="1" dirty="0" smtClean="0"/>
              <a:t>、</a:t>
            </a:r>
            <a:r>
              <a:rPr lang="en-US" altLang="zh-CN" sz="2800" b="1" dirty="0" smtClean="0"/>
              <a:t>*</a:t>
            </a:r>
            <a:r>
              <a:rPr lang="zh-CN" altLang="en-US" sz="2800" b="1" dirty="0" smtClean="0"/>
              <a:t>、</a:t>
            </a:r>
            <a:r>
              <a:rPr lang="en-US" altLang="zh-CN" sz="2800" b="1" dirty="0" smtClean="0"/>
              <a:t>max</a:t>
            </a:r>
            <a:r>
              <a:rPr lang="zh-CN" altLang="en-US" sz="2800" b="1" dirty="0" smtClean="0"/>
              <a:t>、</a:t>
            </a:r>
            <a:r>
              <a:rPr lang="en-US" altLang="zh-CN" sz="2800" b="1" dirty="0" smtClean="0"/>
              <a:t>min</a:t>
            </a:r>
            <a:r>
              <a:rPr lang="zh-CN" altLang="en-US" sz="2800" b="1" dirty="0" smtClean="0"/>
              <a:t>等</a:t>
            </a:r>
            <a:endParaRPr lang="en-US" altLang="zh-CN" sz="2800" b="1" dirty="0" smtClean="0"/>
          </a:p>
          <a:p>
            <a:pPr>
              <a:lnSpc>
                <a:spcPts val="4500"/>
              </a:lnSpc>
            </a:pPr>
            <a:r>
              <a:rPr lang="en-US" altLang="zh-CN" sz="2800" b="1" dirty="0" smtClean="0">
                <a:solidFill>
                  <a:srgbClr val="6A247A"/>
                </a:solidFill>
              </a:rPr>
              <a:t>               reduction(OP: list)  list</a:t>
            </a:r>
            <a:r>
              <a:rPr lang="zh-CN" altLang="en-US" sz="2800" b="1" dirty="0" smtClean="0">
                <a:solidFill>
                  <a:srgbClr val="6A247A"/>
                </a:solidFill>
              </a:rPr>
              <a:t>列出需要归约的变量</a:t>
            </a:r>
            <a:endParaRPr lang="zh-CN" altLang="en-US" sz="2800" b="1" dirty="0">
              <a:solidFill>
                <a:srgbClr val="6A247A"/>
              </a:solidFill>
            </a:endParaRPr>
          </a:p>
          <a:p>
            <a:pPr marL="457200" indent="-457200">
              <a:lnSpc>
                <a:spcPts val="4500"/>
              </a:lnSpc>
              <a:buFont typeface="Arial" panose="020B0604020202020204" pitchFamily="34" charset="0"/>
              <a:buChar char="•"/>
            </a:pPr>
            <a:r>
              <a:rPr lang="en-US" altLang="zh-CN" sz="2800" b="1" dirty="0" err="1"/>
              <a:t>n</a:t>
            </a:r>
            <a:r>
              <a:rPr lang="en-US" altLang="zh-CN" sz="2800" b="1" dirty="0" err="1" smtClean="0"/>
              <a:t>owait</a:t>
            </a:r>
            <a:r>
              <a:rPr lang="en-US" altLang="zh-CN" sz="2800" b="1" dirty="0" smtClean="0"/>
              <a:t>——</a:t>
            </a:r>
            <a:r>
              <a:rPr lang="zh-CN" altLang="en-US" sz="2800" b="1" dirty="0" smtClean="0"/>
              <a:t>去除隐含的同步等待</a:t>
            </a:r>
            <a:endParaRPr lang="zh-CN" altLang="en-US" sz="2800" b="1" dirty="0"/>
          </a:p>
          <a:p>
            <a:pPr marL="457200" indent="-457200">
              <a:lnSpc>
                <a:spcPts val="4500"/>
              </a:lnSpc>
              <a:buFont typeface="Arial" panose="020B0604020202020204" pitchFamily="34" charset="0"/>
              <a:buChar char="•"/>
            </a:pPr>
            <a:r>
              <a:rPr lang="en-US" altLang="zh-CN" sz="2800" b="1" dirty="0" err="1" smtClean="0"/>
              <a:t>num_threads</a:t>
            </a:r>
            <a:r>
              <a:rPr lang="en-US" altLang="zh-CN" sz="2800" b="1" dirty="0" smtClean="0"/>
              <a:t>——</a:t>
            </a:r>
            <a:r>
              <a:rPr lang="zh-CN" altLang="en-US" sz="2800" b="1" dirty="0" smtClean="0"/>
              <a:t>指定</a:t>
            </a:r>
            <a:r>
              <a:rPr lang="zh-CN" altLang="en-US" sz="2800" b="1" dirty="0"/>
              <a:t>线程的</a:t>
            </a:r>
            <a:r>
              <a:rPr lang="zh-CN" altLang="en-US" sz="2800" b="1" dirty="0" smtClean="0"/>
              <a:t>个数 </a:t>
            </a:r>
            <a:endParaRPr lang="en-US" sz="2800" b="1" dirty="0"/>
          </a:p>
        </p:txBody>
      </p:sp>
    </p:spTree>
  </p:cSld>
  <p:clrMapOvr>
    <a:masterClrMapping/>
  </p:clrMapOvr>
  <p:transition spd="med" advTm="3025">
    <p:fad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9744" y="597216"/>
            <a:ext cx="11452487" cy="5632311"/>
          </a:xfrm>
          <a:prstGeom prst="rect">
            <a:avLst/>
          </a:prstGeom>
        </p:spPr>
        <p:txBody>
          <a:bodyPr wrap="square">
            <a:spAutoFit/>
          </a:bodyPr>
          <a:lstStyle/>
          <a:p>
            <a:pPr algn="ctr"/>
            <a:r>
              <a:rPr lang="en-US" altLang="zh-CN" sz="3200" b="1" dirty="0" smtClean="0">
                <a:solidFill>
                  <a:srgbClr val="2D0AC2"/>
                </a:solidFill>
                <a:latin typeface="华文新魏" panose="02010800040101010101" pitchFamily="2" charset="-122"/>
                <a:ea typeface="华文新魏" panose="02010800040101010101" pitchFamily="2" charset="-122"/>
              </a:rPr>
              <a:t>OpenMP</a:t>
            </a:r>
            <a:r>
              <a:rPr lang="zh-CN" altLang="en-US" sz="3200" b="1" dirty="0" smtClean="0">
                <a:solidFill>
                  <a:srgbClr val="2D0AC2"/>
                </a:solidFill>
                <a:latin typeface="华文新魏" panose="02010800040101010101" pitchFamily="2" charset="-122"/>
                <a:ea typeface="华文新魏" panose="02010800040101010101" pitchFamily="2" charset="-122"/>
              </a:rPr>
              <a:t>指导语句的子句</a:t>
            </a:r>
            <a:endParaRPr lang="en-US" altLang="zh-CN" sz="3200" b="1" dirty="0" smtClean="0">
              <a:solidFill>
                <a:srgbClr val="2D0AC2"/>
              </a:solidFill>
              <a:latin typeface="华文新魏" panose="02010800040101010101" pitchFamily="2" charset="-122"/>
              <a:ea typeface="华文新魏" panose="02010800040101010101" pitchFamily="2" charset="-122"/>
            </a:endParaRPr>
          </a:p>
          <a:p>
            <a:pPr algn="ctr"/>
            <a:endParaRPr lang="zh-CN" altLang="en-US" sz="2800" b="1" dirty="0">
              <a:solidFill>
                <a:srgbClr val="000000"/>
              </a:solidFill>
            </a:endParaRPr>
          </a:p>
          <a:p>
            <a:pPr marL="457200" indent="-457200">
              <a:lnSpc>
                <a:spcPts val="4500"/>
              </a:lnSpc>
              <a:buFont typeface="Arial" panose="020B0604020202020204" pitchFamily="34" charset="0"/>
              <a:buChar char="•"/>
            </a:pPr>
            <a:r>
              <a:rPr lang="en-US" altLang="zh-CN" sz="2800" b="1" dirty="0" smtClean="0">
                <a:solidFill>
                  <a:srgbClr val="000000"/>
                </a:solidFill>
              </a:rPr>
              <a:t>schedule——</a:t>
            </a:r>
            <a:r>
              <a:rPr lang="zh-CN" altLang="en-US" sz="2800" b="1" dirty="0" smtClean="0">
                <a:solidFill>
                  <a:srgbClr val="000000"/>
                </a:solidFill>
              </a:rPr>
              <a:t>指定</a:t>
            </a:r>
            <a:r>
              <a:rPr lang="zh-CN" altLang="en-US" sz="2800" b="1" dirty="0">
                <a:solidFill>
                  <a:srgbClr val="000000"/>
                </a:solidFill>
              </a:rPr>
              <a:t>如何调度</a:t>
            </a:r>
            <a:r>
              <a:rPr lang="en-US" altLang="zh-CN" sz="2800" b="1" dirty="0">
                <a:solidFill>
                  <a:srgbClr val="000000"/>
                </a:solidFill>
              </a:rPr>
              <a:t>for</a:t>
            </a:r>
            <a:r>
              <a:rPr lang="zh-CN" altLang="en-US" sz="2800" b="1" dirty="0">
                <a:solidFill>
                  <a:srgbClr val="000000"/>
                </a:solidFill>
              </a:rPr>
              <a:t>循环</a:t>
            </a:r>
            <a:r>
              <a:rPr lang="zh-CN" altLang="en-US" sz="2800" b="1" dirty="0" smtClean="0">
                <a:solidFill>
                  <a:srgbClr val="000000"/>
                </a:solidFill>
              </a:rPr>
              <a:t>迭代</a:t>
            </a:r>
            <a:endParaRPr lang="zh-CN" altLang="en-US" sz="2800" b="1" dirty="0">
              <a:solidFill>
                <a:srgbClr val="000000"/>
              </a:solidFill>
            </a:endParaRPr>
          </a:p>
          <a:p>
            <a:pPr marL="457200" indent="-457200">
              <a:lnSpc>
                <a:spcPts val="4500"/>
              </a:lnSpc>
              <a:buFont typeface="Arial" panose="020B0604020202020204" pitchFamily="34" charset="0"/>
              <a:buChar char="•"/>
            </a:pPr>
            <a:r>
              <a:rPr lang="en-US" altLang="zh-CN" sz="2800" b="1" dirty="0">
                <a:solidFill>
                  <a:srgbClr val="000000"/>
                </a:solidFill>
              </a:rPr>
              <a:t>s</a:t>
            </a:r>
            <a:r>
              <a:rPr lang="en-US" altLang="zh-CN" sz="2800" b="1" dirty="0" smtClean="0">
                <a:solidFill>
                  <a:srgbClr val="000000"/>
                </a:solidFill>
              </a:rPr>
              <a:t>hared——</a:t>
            </a:r>
            <a:r>
              <a:rPr lang="zh-CN" altLang="en-US" sz="2800" b="1" dirty="0" smtClean="0">
                <a:solidFill>
                  <a:srgbClr val="000000"/>
                </a:solidFill>
                <a:highlight>
                  <a:srgbClr val="FFFF00"/>
                </a:highlight>
              </a:rPr>
              <a:t>指定</a:t>
            </a:r>
            <a:r>
              <a:rPr lang="zh-CN" altLang="en-US" sz="2800" b="1" dirty="0">
                <a:solidFill>
                  <a:srgbClr val="000000"/>
                </a:solidFill>
                <a:highlight>
                  <a:srgbClr val="FFFF00"/>
                </a:highlight>
              </a:rPr>
              <a:t>一个或多个变量为多个线程间的</a:t>
            </a:r>
            <a:r>
              <a:rPr lang="zh-CN" altLang="en-US" sz="2800" b="1" dirty="0" smtClean="0">
                <a:solidFill>
                  <a:srgbClr val="000000"/>
                </a:solidFill>
                <a:highlight>
                  <a:srgbClr val="FFFF00"/>
                </a:highlight>
              </a:rPr>
              <a:t>共享变量</a:t>
            </a:r>
            <a:endParaRPr lang="zh-CN" altLang="en-US" sz="2800" b="1" dirty="0">
              <a:solidFill>
                <a:srgbClr val="000000"/>
              </a:solidFill>
              <a:highlight>
                <a:srgbClr val="FFFF00"/>
              </a:highlight>
            </a:endParaRPr>
          </a:p>
          <a:p>
            <a:pPr marL="457200" indent="-457200">
              <a:lnSpc>
                <a:spcPts val="4500"/>
              </a:lnSpc>
              <a:buFont typeface="Arial" panose="020B0604020202020204" pitchFamily="34" charset="0"/>
              <a:buChar char="•"/>
            </a:pPr>
            <a:r>
              <a:rPr lang="en-US" altLang="zh-CN" sz="2800" b="1" dirty="0" smtClean="0">
                <a:solidFill>
                  <a:srgbClr val="000000"/>
                </a:solidFill>
              </a:rPr>
              <a:t>ordered——</a:t>
            </a:r>
            <a:r>
              <a:rPr lang="zh-CN" altLang="en-US" sz="2800" b="1" dirty="0" smtClean="0">
                <a:solidFill>
                  <a:srgbClr val="000000"/>
                </a:solidFill>
              </a:rPr>
              <a:t>用来</a:t>
            </a:r>
            <a:r>
              <a:rPr lang="zh-CN" altLang="en-US" sz="2800" b="1" dirty="0">
                <a:solidFill>
                  <a:srgbClr val="000000"/>
                </a:solidFill>
              </a:rPr>
              <a:t>指定</a:t>
            </a:r>
            <a:r>
              <a:rPr lang="en-US" altLang="zh-CN" sz="2800" b="1" dirty="0">
                <a:solidFill>
                  <a:srgbClr val="000000"/>
                </a:solidFill>
              </a:rPr>
              <a:t>for</a:t>
            </a:r>
            <a:r>
              <a:rPr lang="zh-CN" altLang="en-US" sz="2800" b="1" dirty="0">
                <a:solidFill>
                  <a:srgbClr val="000000"/>
                </a:solidFill>
              </a:rPr>
              <a:t>循环的执行要按顺序</a:t>
            </a:r>
            <a:r>
              <a:rPr lang="zh-CN" altLang="en-US" sz="2800" b="1" dirty="0" smtClean="0">
                <a:solidFill>
                  <a:srgbClr val="000000"/>
                </a:solidFill>
              </a:rPr>
              <a:t>执行</a:t>
            </a:r>
            <a:endParaRPr lang="zh-CN" altLang="en-US" sz="2800" b="1" dirty="0">
              <a:solidFill>
                <a:srgbClr val="000000"/>
              </a:solidFill>
            </a:endParaRPr>
          </a:p>
          <a:p>
            <a:pPr marL="457200" indent="-457200">
              <a:lnSpc>
                <a:spcPts val="4500"/>
              </a:lnSpc>
              <a:buFont typeface="Arial" panose="020B0604020202020204" pitchFamily="34" charset="0"/>
              <a:buChar char="•"/>
            </a:pPr>
            <a:r>
              <a:rPr lang="en-US" altLang="zh-CN" sz="2800" b="1" dirty="0">
                <a:solidFill>
                  <a:srgbClr val="000000"/>
                </a:solidFill>
              </a:rPr>
              <a:t>c</a:t>
            </a:r>
            <a:r>
              <a:rPr lang="en-US" altLang="zh-CN" sz="2800" b="1" dirty="0" smtClean="0">
                <a:solidFill>
                  <a:srgbClr val="000000"/>
                </a:solidFill>
              </a:rPr>
              <a:t>opyprivate——</a:t>
            </a:r>
            <a:r>
              <a:rPr lang="zh-CN" altLang="en-US" sz="2800" b="1" dirty="0" smtClean="0">
                <a:solidFill>
                  <a:srgbClr val="000000"/>
                </a:solidFill>
              </a:rPr>
              <a:t>用于</a:t>
            </a:r>
            <a:r>
              <a:rPr lang="en-US" altLang="zh-CN" sz="2800" b="1" dirty="0">
                <a:solidFill>
                  <a:srgbClr val="000000"/>
                </a:solidFill>
              </a:rPr>
              <a:t>single</a:t>
            </a:r>
            <a:r>
              <a:rPr lang="zh-CN" altLang="en-US" sz="2800" b="1" dirty="0">
                <a:solidFill>
                  <a:srgbClr val="000000"/>
                </a:solidFill>
              </a:rPr>
              <a:t>指令中</a:t>
            </a:r>
            <a:r>
              <a:rPr lang="zh-CN" altLang="en-US" sz="2800" b="1" dirty="0" smtClean="0">
                <a:solidFill>
                  <a:srgbClr val="000000"/>
                </a:solidFill>
              </a:rPr>
              <a:t>的</a:t>
            </a:r>
            <a:r>
              <a:rPr lang="zh-CN" altLang="en-US" sz="2800" b="1" dirty="0">
                <a:solidFill>
                  <a:srgbClr val="000000"/>
                </a:solidFill>
              </a:rPr>
              <a:t>私有</a:t>
            </a:r>
            <a:r>
              <a:rPr lang="zh-CN" altLang="en-US" sz="2800" b="1" dirty="0" smtClean="0">
                <a:solidFill>
                  <a:srgbClr val="000000"/>
                </a:solidFill>
              </a:rPr>
              <a:t>变量广播到其它线程</a:t>
            </a:r>
            <a:endParaRPr lang="zh-CN" altLang="en-US" sz="2800" b="1" dirty="0">
              <a:solidFill>
                <a:srgbClr val="000000"/>
              </a:solidFill>
            </a:endParaRPr>
          </a:p>
          <a:p>
            <a:pPr marL="457200" indent="-457200">
              <a:lnSpc>
                <a:spcPts val="4500"/>
              </a:lnSpc>
              <a:buFont typeface="Arial" panose="020B0604020202020204" pitchFamily="34" charset="0"/>
              <a:buChar char="•"/>
            </a:pPr>
            <a:r>
              <a:rPr lang="en-US" altLang="zh-CN" sz="2800" b="1" dirty="0">
                <a:solidFill>
                  <a:srgbClr val="000000"/>
                </a:solidFill>
              </a:rPr>
              <a:t>c</a:t>
            </a:r>
            <a:r>
              <a:rPr lang="en-US" altLang="zh-CN" sz="2800" b="1" dirty="0" smtClean="0">
                <a:solidFill>
                  <a:srgbClr val="000000"/>
                </a:solidFill>
              </a:rPr>
              <a:t>opyin——</a:t>
            </a:r>
            <a:r>
              <a:rPr lang="zh-CN" altLang="en-US" sz="2800" b="1" dirty="0" smtClean="0">
                <a:solidFill>
                  <a:srgbClr val="000000"/>
                </a:solidFill>
              </a:rPr>
              <a:t>用来为</a:t>
            </a:r>
            <a:r>
              <a:rPr lang="zh-CN" altLang="en-US" sz="2800" b="1" dirty="0">
                <a:solidFill>
                  <a:srgbClr val="000000"/>
                </a:solidFill>
              </a:rPr>
              <a:t>线程组中所有线程的</a:t>
            </a:r>
            <a:r>
              <a:rPr lang="en-US" altLang="zh-CN" sz="2800" b="1" dirty="0" err="1" smtClean="0">
                <a:solidFill>
                  <a:srgbClr val="000000"/>
                </a:solidFill>
              </a:rPr>
              <a:t>threadprivate</a:t>
            </a:r>
            <a:r>
              <a:rPr lang="zh-CN" altLang="en-US" sz="2800" b="1" dirty="0" smtClean="0">
                <a:solidFill>
                  <a:srgbClr val="000000"/>
                </a:solidFill>
              </a:rPr>
              <a:t>变量赋相同的值，一般用</a:t>
            </a:r>
            <a:r>
              <a:rPr lang="zh-CN" altLang="en-US" sz="2800" b="1" dirty="0">
                <a:solidFill>
                  <a:srgbClr val="000000"/>
                </a:solidFill>
              </a:rPr>
              <a:t>主</a:t>
            </a:r>
            <a:r>
              <a:rPr lang="zh-CN" altLang="en-US" sz="2800" b="1" dirty="0" smtClean="0">
                <a:solidFill>
                  <a:srgbClr val="000000"/>
                </a:solidFill>
              </a:rPr>
              <a:t>线程该变量的值</a:t>
            </a:r>
            <a:r>
              <a:rPr lang="zh-CN" altLang="en-US" sz="2800" b="1" dirty="0">
                <a:solidFill>
                  <a:srgbClr val="000000"/>
                </a:solidFill>
              </a:rPr>
              <a:t>作为</a:t>
            </a:r>
            <a:r>
              <a:rPr lang="zh-CN" altLang="en-US" sz="2800" b="1" dirty="0" smtClean="0">
                <a:solidFill>
                  <a:srgbClr val="000000"/>
                </a:solidFill>
              </a:rPr>
              <a:t>初始值。</a:t>
            </a:r>
            <a:endParaRPr lang="zh-CN" altLang="en-US" sz="2800" b="1" dirty="0">
              <a:solidFill>
                <a:srgbClr val="000000"/>
              </a:solidFill>
            </a:endParaRPr>
          </a:p>
          <a:p>
            <a:pPr marL="457200" indent="-457200">
              <a:lnSpc>
                <a:spcPts val="4500"/>
              </a:lnSpc>
              <a:buFont typeface="Arial" panose="020B0604020202020204" pitchFamily="34" charset="0"/>
              <a:buChar char="•"/>
            </a:pPr>
            <a:r>
              <a:rPr lang="en-US" altLang="zh-CN" sz="2800" b="1" dirty="0">
                <a:solidFill>
                  <a:srgbClr val="000000"/>
                </a:solidFill>
              </a:rPr>
              <a:t>d</a:t>
            </a:r>
            <a:r>
              <a:rPr lang="en-US" altLang="zh-CN" sz="2800" b="1" dirty="0" smtClean="0">
                <a:solidFill>
                  <a:srgbClr val="000000"/>
                </a:solidFill>
              </a:rPr>
              <a:t>efault——</a:t>
            </a:r>
            <a:r>
              <a:rPr lang="zh-CN" altLang="en-US" sz="2800" b="1" dirty="0" smtClean="0">
                <a:solidFill>
                  <a:srgbClr val="000000"/>
                </a:solidFill>
              </a:rPr>
              <a:t>用来指定变量的缺省数据共享属性</a:t>
            </a:r>
            <a:endParaRPr lang="en-US" altLang="zh-CN" sz="2800" b="1" dirty="0" smtClean="0">
              <a:solidFill>
                <a:srgbClr val="000000"/>
              </a:solidFill>
            </a:endParaRPr>
          </a:p>
          <a:p>
            <a:pPr>
              <a:lnSpc>
                <a:spcPts val="4500"/>
              </a:lnSpc>
            </a:pPr>
            <a:r>
              <a:rPr lang="en-US" sz="2800" b="1" dirty="0" smtClean="0">
                <a:solidFill>
                  <a:srgbClr val="000000"/>
                </a:solidFill>
              </a:rPr>
              <a:t>          </a:t>
            </a:r>
            <a:r>
              <a:rPr lang="zh-CN" altLang="en-US" sz="2800" b="1" dirty="0" smtClean="0">
                <a:solidFill>
                  <a:srgbClr val="000000"/>
                </a:solidFill>
              </a:rPr>
              <a:t>对于</a:t>
            </a:r>
            <a:r>
              <a:rPr lang="en-US" altLang="zh-CN" sz="2800" b="1" dirty="0" smtClean="0">
                <a:solidFill>
                  <a:srgbClr val="000000"/>
                </a:solidFill>
              </a:rPr>
              <a:t>C</a:t>
            </a:r>
            <a:r>
              <a:rPr lang="zh-CN" altLang="en-US" sz="2800" b="1" dirty="0" smtClean="0">
                <a:solidFill>
                  <a:srgbClr val="000000"/>
                </a:solidFill>
              </a:rPr>
              <a:t>程序，支持</a:t>
            </a:r>
            <a:r>
              <a:rPr lang="en-US" altLang="zh-CN" sz="2800" b="1" dirty="0" smtClean="0">
                <a:solidFill>
                  <a:srgbClr val="000000"/>
                </a:solidFill>
              </a:rPr>
              <a:t>default</a:t>
            </a:r>
            <a:r>
              <a:rPr lang="zh-CN" altLang="en-US" sz="2800" b="1" dirty="0" smtClean="0">
                <a:solidFill>
                  <a:srgbClr val="000000"/>
                </a:solidFill>
              </a:rPr>
              <a:t>（</a:t>
            </a:r>
            <a:r>
              <a:rPr lang="en-US" altLang="zh-CN" sz="2800" b="1" dirty="0" err="1" smtClean="0">
                <a:solidFill>
                  <a:srgbClr val="000000"/>
                </a:solidFill>
              </a:rPr>
              <a:t>shared|none</a:t>
            </a:r>
            <a:r>
              <a:rPr lang="zh-CN" altLang="en-US" sz="2800" b="1" dirty="0" smtClean="0">
                <a:solidFill>
                  <a:srgbClr val="000000"/>
                </a:solidFill>
              </a:rPr>
              <a:t>）</a:t>
            </a:r>
            <a:endParaRPr lang="en-US" sz="2800" b="1" dirty="0">
              <a:solidFill>
                <a:srgbClr val="000000"/>
              </a:solidFill>
            </a:endParaRPr>
          </a:p>
        </p:txBody>
      </p:sp>
    </p:spTree>
  </p:cSld>
  <p:clrMapOvr>
    <a:masterClrMapping/>
  </p:clrMapOvr>
  <p:transition spd="med" advTm="3025">
    <p:fad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26474" y="505692"/>
            <a:ext cx="10972800" cy="5604163"/>
          </a:xfrm>
        </p:spPr>
        <p:txBody>
          <a:bodyPr/>
          <a:lstStyle/>
          <a:p>
            <a:pPr marL="0" indent="0" algn="ctr">
              <a:buNone/>
            </a:pPr>
            <a:r>
              <a:rPr lang="en-US" altLang="zh-CN" sz="4400" b="1" dirty="0" smtClean="0">
                <a:solidFill>
                  <a:srgbClr val="2D0AC2"/>
                </a:solidFill>
              </a:rPr>
              <a:t>Single</a:t>
            </a:r>
            <a:r>
              <a:rPr lang="zh-CN" altLang="en-US" sz="4400" b="1" dirty="0" smtClean="0">
                <a:solidFill>
                  <a:srgbClr val="2D0AC2"/>
                </a:solidFill>
              </a:rPr>
              <a:t>指导语句</a:t>
            </a:r>
            <a:endParaRPr lang="en-US" altLang="zh-CN" sz="4400" b="1" dirty="0" smtClean="0">
              <a:solidFill>
                <a:srgbClr val="2D0AC2"/>
              </a:solidFill>
            </a:endParaRPr>
          </a:p>
          <a:p>
            <a:pPr>
              <a:lnSpc>
                <a:spcPct val="150000"/>
              </a:lnSpc>
              <a:buFont typeface="Wingdings" panose="05000000000000000000" pitchFamily="2" charset="2"/>
              <a:buChar char="v"/>
            </a:pPr>
            <a:r>
              <a:rPr lang="zh-CN" altLang="en-US" b="1" dirty="0" smtClean="0">
                <a:solidFill>
                  <a:srgbClr val="6A247A"/>
                </a:solidFill>
              </a:rPr>
              <a:t>单</a:t>
            </a:r>
            <a:r>
              <a:rPr lang="zh-CN" altLang="en-US" b="1" dirty="0">
                <a:solidFill>
                  <a:srgbClr val="6A247A"/>
                </a:solidFill>
              </a:rPr>
              <a:t>线程</a:t>
            </a:r>
            <a:r>
              <a:rPr lang="zh-CN" altLang="en-US" b="1" dirty="0" smtClean="0">
                <a:solidFill>
                  <a:srgbClr val="6A247A"/>
                </a:solidFill>
              </a:rPr>
              <a:t>执行</a:t>
            </a:r>
            <a:endParaRPr lang="en-US" altLang="zh-CN" b="1" dirty="0" smtClean="0">
              <a:solidFill>
                <a:srgbClr val="6A247A"/>
              </a:solidFill>
            </a:endParaRPr>
          </a:p>
          <a:p>
            <a:pPr marL="0" indent="0">
              <a:lnSpc>
                <a:spcPct val="150000"/>
              </a:lnSpc>
              <a:buNone/>
            </a:pPr>
            <a:r>
              <a:rPr lang="en-US" altLang="zh-CN" b="1" dirty="0" smtClean="0"/>
              <a:t>        single</a:t>
            </a:r>
            <a:r>
              <a:rPr lang="zh-CN" altLang="en-US" b="1" dirty="0" smtClean="0"/>
              <a:t>指导语句所</a:t>
            </a:r>
            <a:r>
              <a:rPr lang="zh-CN" altLang="en-US" b="1" dirty="0"/>
              <a:t>包含的代码只由一个线程执行，别的线程跳过这段代码</a:t>
            </a:r>
            <a:r>
              <a:rPr lang="zh-CN" altLang="en-US" b="1" dirty="0" smtClean="0"/>
              <a:t>。    </a:t>
            </a:r>
            <a:endParaRPr lang="en-US" altLang="zh-CN" b="1" dirty="0" smtClean="0"/>
          </a:p>
          <a:p>
            <a:pPr marL="0" indent="0">
              <a:lnSpc>
                <a:spcPct val="150000"/>
              </a:lnSpc>
              <a:buNone/>
            </a:pPr>
            <a:r>
              <a:rPr lang="en-US" altLang="zh-CN" b="1" dirty="0"/>
              <a:t> </a:t>
            </a:r>
            <a:r>
              <a:rPr lang="en-US" altLang="zh-CN" b="1" dirty="0" smtClean="0"/>
              <a:t>       </a:t>
            </a:r>
            <a:r>
              <a:rPr lang="zh-CN" altLang="en-US" b="1" dirty="0" smtClean="0"/>
              <a:t>如果</a:t>
            </a:r>
            <a:r>
              <a:rPr lang="zh-CN" altLang="en-US" b="1" dirty="0"/>
              <a:t>没有</a:t>
            </a:r>
            <a:r>
              <a:rPr lang="en-US" altLang="zh-CN" b="1" dirty="0" err="1"/>
              <a:t>nowait</a:t>
            </a:r>
            <a:r>
              <a:rPr lang="zh-CN" altLang="en-US" b="1" dirty="0"/>
              <a:t>从句，所有线程在</a:t>
            </a:r>
            <a:r>
              <a:rPr lang="en-US" altLang="zh-CN" b="1" dirty="0"/>
              <a:t>single</a:t>
            </a:r>
            <a:r>
              <a:rPr lang="zh-CN" altLang="en-US" b="1" dirty="0"/>
              <a:t>制导指令结束处隐式同步点同步。</a:t>
            </a:r>
            <a:r>
              <a:rPr lang="zh-CN" altLang="en-US" b="1" dirty="0" smtClean="0"/>
              <a:t>如果有</a:t>
            </a:r>
            <a:r>
              <a:rPr lang="en-US" altLang="zh-CN" b="1" dirty="0" err="1"/>
              <a:t>nowait</a:t>
            </a:r>
            <a:r>
              <a:rPr lang="zh-CN" altLang="en-US" b="1" dirty="0"/>
              <a:t>从句，则别的线程直接向下执行，不在隐式同步点</a:t>
            </a:r>
            <a:r>
              <a:rPr lang="zh-CN" altLang="en-US" b="1" dirty="0" smtClean="0"/>
              <a:t>等待。</a:t>
            </a:r>
            <a:endParaRPr lang="en-US" altLang="zh-CN" b="1" dirty="0" smtClean="0"/>
          </a:p>
        </p:txBody>
      </p:sp>
    </p:spTree>
  </p:cSld>
  <p:clrMapOvr>
    <a:masterClrMapping/>
  </p:clrMapOvr>
  <p:transition spd="med" advTm="3025">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69818" y="612845"/>
            <a:ext cx="10557164" cy="5632311"/>
          </a:xfrm>
          <a:prstGeom prst="rect">
            <a:avLst/>
          </a:prstGeom>
        </p:spPr>
        <p:txBody>
          <a:bodyPr wrap="square">
            <a:spAutoFit/>
          </a:bodyPr>
          <a:lstStyle/>
          <a:p>
            <a:r>
              <a:rPr lang="en-US" sz="2400" dirty="0"/>
              <a:t>#pragma </a:t>
            </a:r>
            <a:r>
              <a:rPr lang="en-US" sz="2400" dirty="0" err="1"/>
              <a:t>omp</a:t>
            </a:r>
            <a:r>
              <a:rPr lang="en-US" sz="2400" dirty="0"/>
              <a:t> parallel</a:t>
            </a:r>
            <a:endParaRPr lang="en-US" sz="2400" dirty="0"/>
          </a:p>
          <a:p>
            <a:r>
              <a:rPr lang="en-US" sz="2400" dirty="0"/>
              <a:t>		{</a:t>
            </a:r>
            <a:endParaRPr lang="en-US" sz="2400" dirty="0"/>
          </a:p>
          <a:p>
            <a:r>
              <a:rPr lang="en-US" sz="2400" dirty="0"/>
              <a:t>		</a:t>
            </a:r>
            <a:r>
              <a:rPr lang="en-US" sz="2400" dirty="0" smtClean="0"/>
              <a:t>        </a:t>
            </a:r>
            <a:r>
              <a:rPr lang="en-US" sz="2400" dirty="0" smtClean="0">
                <a:solidFill>
                  <a:srgbClr val="2D0AC2"/>
                </a:solidFill>
              </a:rPr>
              <a:t>#</a:t>
            </a:r>
            <a:r>
              <a:rPr lang="en-US" sz="2400" dirty="0">
                <a:solidFill>
                  <a:srgbClr val="2D0AC2"/>
                </a:solidFill>
              </a:rPr>
              <a:t>pragma </a:t>
            </a:r>
            <a:r>
              <a:rPr lang="en-US" sz="2400" dirty="0" err="1">
                <a:solidFill>
                  <a:srgbClr val="2D0AC2"/>
                </a:solidFill>
              </a:rPr>
              <a:t>omp</a:t>
            </a:r>
            <a:r>
              <a:rPr lang="en-US" sz="2400" dirty="0">
                <a:solidFill>
                  <a:srgbClr val="2D0AC2"/>
                </a:solidFill>
              </a:rPr>
              <a:t> single</a:t>
            </a:r>
            <a:endParaRPr lang="en-US" sz="2400" dirty="0">
              <a:solidFill>
                <a:srgbClr val="2D0AC2"/>
              </a:solidFill>
            </a:endParaRPr>
          </a:p>
          <a:p>
            <a:r>
              <a:rPr lang="en-US" sz="2400" dirty="0"/>
              <a:t>			</a:t>
            </a:r>
            <a:r>
              <a:rPr lang="en-US" sz="2400" dirty="0" err="1" smtClean="0"/>
              <a:t>printf</a:t>
            </a:r>
            <a:r>
              <a:rPr lang="en-US" sz="2400" dirty="0"/>
              <a:t>("Beginning work1.\n");</a:t>
            </a:r>
            <a:endParaRPr lang="en-US" sz="2400" dirty="0"/>
          </a:p>
          <a:p>
            <a:endParaRPr lang="en-US" sz="2400" dirty="0"/>
          </a:p>
          <a:p>
            <a:r>
              <a:rPr lang="en-US" sz="2400" dirty="0"/>
              <a:t>			</a:t>
            </a:r>
            <a:r>
              <a:rPr lang="en-US" sz="2400" dirty="0" err="1"/>
              <a:t>printf</a:t>
            </a:r>
            <a:r>
              <a:rPr lang="en-US" sz="2400" dirty="0"/>
              <a:t>("work on 1 </a:t>
            </a:r>
            <a:r>
              <a:rPr lang="en-US" sz="2400" dirty="0" err="1"/>
              <a:t>parallelly</a:t>
            </a:r>
            <a:r>
              <a:rPr lang="en-US" sz="2400" dirty="0"/>
              <a:t>.%d\n", </a:t>
            </a:r>
            <a:r>
              <a:rPr lang="en-US" sz="2400" dirty="0" err="1"/>
              <a:t>omp_get_thread_num</a:t>
            </a:r>
            <a:r>
              <a:rPr lang="en-US" sz="2400" dirty="0"/>
              <a:t>());</a:t>
            </a:r>
            <a:endParaRPr lang="en-US" sz="2400" dirty="0"/>
          </a:p>
          <a:p>
            <a:endParaRPr lang="en-US" sz="2400" dirty="0"/>
          </a:p>
          <a:p>
            <a:r>
              <a:rPr lang="en-US" sz="2400" dirty="0"/>
              <a:t>		</a:t>
            </a:r>
            <a:r>
              <a:rPr lang="en-US" sz="2400" dirty="0" smtClean="0"/>
              <a:t>        </a:t>
            </a:r>
            <a:r>
              <a:rPr lang="en-US" sz="2400" dirty="0" smtClean="0">
                <a:solidFill>
                  <a:srgbClr val="2D0AC2"/>
                </a:solidFill>
              </a:rPr>
              <a:t>#</a:t>
            </a:r>
            <a:r>
              <a:rPr lang="en-US" sz="2400" dirty="0">
                <a:solidFill>
                  <a:srgbClr val="2D0AC2"/>
                </a:solidFill>
              </a:rPr>
              <a:t>pragma </a:t>
            </a:r>
            <a:r>
              <a:rPr lang="en-US" sz="2400" dirty="0" err="1">
                <a:solidFill>
                  <a:srgbClr val="2D0AC2"/>
                </a:solidFill>
              </a:rPr>
              <a:t>omp</a:t>
            </a:r>
            <a:r>
              <a:rPr lang="en-US" sz="2400" dirty="0">
                <a:solidFill>
                  <a:srgbClr val="2D0AC2"/>
                </a:solidFill>
              </a:rPr>
              <a:t> single</a:t>
            </a:r>
            <a:endParaRPr lang="en-US" sz="2400" dirty="0">
              <a:solidFill>
                <a:srgbClr val="2D0AC2"/>
              </a:solidFill>
            </a:endParaRPr>
          </a:p>
          <a:p>
            <a:r>
              <a:rPr lang="en-US" sz="2400" dirty="0"/>
              <a:t>			</a:t>
            </a:r>
            <a:r>
              <a:rPr lang="en-US" sz="2400" dirty="0" err="1" smtClean="0"/>
              <a:t>printf</a:t>
            </a:r>
            <a:r>
              <a:rPr lang="en-US" sz="2400" dirty="0"/>
              <a:t>("Finishing work1.\n");</a:t>
            </a:r>
            <a:endParaRPr lang="en-US" sz="2400" dirty="0"/>
          </a:p>
          <a:p>
            <a:endParaRPr lang="en-US" sz="2400" dirty="0"/>
          </a:p>
          <a:p>
            <a:r>
              <a:rPr lang="en-US" sz="2400" dirty="0"/>
              <a:t>		</a:t>
            </a:r>
            <a:r>
              <a:rPr lang="en-US" sz="2400" dirty="0" smtClean="0">
                <a:solidFill>
                  <a:srgbClr val="2D0AC2"/>
                </a:solidFill>
              </a:rPr>
              <a:t>        #</a:t>
            </a:r>
            <a:r>
              <a:rPr lang="en-US" sz="2400" dirty="0">
                <a:solidFill>
                  <a:srgbClr val="2D0AC2"/>
                </a:solidFill>
              </a:rPr>
              <a:t>pragma </a:t>
            </a:r>
            <a:r>
              <a:rPr lang="en-US" sz="2400" dirty="0" err="1">
                <a:solidFill>
                  <a:srgbClr val="2D0AC2"/>
                </a:solidFill>
              </a:rPr>
              <a:t>omp</a:t>
            </a:r>
            <a:r>
              <a:rPr lang="en-US" sz="2400" dirty="0">
                <a:solidFill>
                  <a:srgbClr val="2D0AC2"/>
                </a:solidFill>
              </a:rPr>
              <a:t> single </a:t>
            </a:r>
            <a:r>
              <a:rPr lang="en-US" sz="2400" dirty="0" err="1">
                <a:solidFill>
                  <a:srgbClr val="2D0AC2"/>
                </a:solidFill>
              </a:rPr>
              <a:t>nowait</a:t>
            </a:r>
            <a:endParaRPr lang="en-US" sz="2400" dirty="0">
              <a:solidFill>
                <a:srgbClr val="2D0AC2"/>
              </a:solidFill>
            </a:endParaRPr>
          </a:p>
          <a:p>
            <a:r>
              <a:rPr lang="en-US" sz="2400" dirty="0"/>
              <a:t>			</a:t>
            </a:r>
            <a:r>
              <a:rPr lang="en-US" sz="2400" dirty="0" err="1" smtClean="0"/>
              <a:t>printf</a:t>
            </a:r>
            <a:r>
              <a:rPr lang="en-US" sz="2400" dirty="0"/>
              <a:t>("Beginning work2.\n");</a:t>
            </a:r>
            <a:endParaRPr lang="en-US" sz="2400" dirty="0"/>
          </a:p>
          <a:p>
            <a:endParaRPr lang="en-US" sz="2400" dirty="0"/>
          </a:p>
          <a:p>
            <a:r>
              <a:rPr lang="en-US" sz="2400" dirty="0"/>
              <a:t>			</a:t>
            </a:r>
            <a:r>
              <a:rPr lang="en-US" sz="2400" dirty="0" err="1"/>
              <a:t>printf</a:t>
            </a:r>
            <a:r>
              <a:rPr lang="en-US" sz="2400" dirty="0"/>
              <a:t>("work on 2 </a:t>
            </a:r>
            <a:r>
              <a:rPr lang="en-US" sz="2400" dirty="0" err="1"/>
              <a:t>parallelly</a:t>
            </a:r>
            <a:r>
              <a:rPr lang="en-US" sz="2400" dirty="0"/>
              <a:t>.%d\n", </a:t>
            </a:r>
            <a:r>
              <a:rPr lang="en-US" sz="2400" dirty="0" err="1"/>
              <a:t>omp_get_thread_num</a:t>
            </a:r>
            <a:r>
              <a:rPr lang="en-US" sz="2400" dirty="0"/>
              <a:t>());</a:t>
            </a:r>
            <a:endParaRPr lang="en-US" sz="2400" dirty="0"/>
          </a:p>
          <a:p>
            <a:r>
              <a:rPr lang="en-US" sz="2400" dirty="0"/>
              <a:t>		}</a:t>
            </a:r>
            <a:endParaRPr lang="en-US" sz="2400" dirty="0"/>
          </a:p>
        </p:txBody>
      </p:sp>
    </p:spTree>
  </p:cSld>
  <p:clrMapOvr>
    <a:masterClrMapping/>
  </p:clrMapOvr>
  <p:transition spd="med" advTm="3025">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140036" y="460491"/>
            <a:ext cx="3020291" cy="590931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r>
              <a:rPr lang="en-US" b="1" dirty="0"/>
              <a:t>Beginning work1. </a:t>
            </a:r>
            <a:endParaRPr lang="en-US" b="1" dirty="0"/>
          </a:p>
          <a:p>
            <a:r>
              <a:rPr lang="en-US" b="1" dirty="0"/>
              <a:t>work on 1 parallelly.2</a:t>
            </a:r>
            <a:endParaRPr lang="en-US" b="1" dirty="0"/>
          </a:p>
          <a:p>
            <a:endParaRPr lang="en-US" b="1" dirty="0"/>
          </a:p>
          <a:p>
            <a:r>
              <a:rPr lang="en-US" b="1" dirty="0"/>
              <a:t>Finishing work1.</a:t>
            </a:r>
            <a:endParaRPr lang="en-US" b="1" dirty="0"/>
          </a:p>
          <a:p>
            <a:endParaRPr lang="en-US" b="1" dirty="0"/>
          </a:p>
          <a:p>
            <a:r>
              <a:rPr lang="en-US" b="1" dirty="0"/>
              <a:t>work on 1 parallelly.1</a:t>
            </a:r>
            <a:endParaRPr lang="en-US" b="1" dirty="0"/>
          </a:p>
          <a:p>
            <a:endParaRPr lang="en-US" b="1" dirty="0"/>
          </a:p>
          <a:p>
            <a:r>
              <a:rPr lang="en-US" b="1" dirty="0"/>
              <a:t>work on 1 parallelly.0</a:t>
            </a:r>
            <a:endParaRPr lang="en-US" b="1" dirty="0"/>
          </a:p>
          <a:p>
            <a:endParaRPr lang="en-US" b="1" dirty="0"/>
          </a:p>
          <a:p>
            <a:r>
              <a:rPr lang="en-US" b="1" dirty="0"/>
              <a:t>work on 1 parallelly.3</a:t>
            </a:r>
            <a:endParaRPr lang="en-US" b="1" dirty="0"/>
          </a:p>
          <a:p>
            <a:endParaRPr lang="en-US" b="1" dirty="0"/>
          </a:p>
          <a:p>
            <a:r>
              <a:rPr lang="en-US" b="1" dirty="0"/>
              <a:t>Beginning work2.</a:t>
            </a:r>
            <a:endParaRPr lang="en-US" b="1" dirty="0"/>
          </a:p>
          <a:p>
            <a:endParaRPr lang="en-US" b="1" dirty="0"/>
          </a:p>
          <a:p>
            <a:endParaRPr lang="en-US" b="1" dirty="0"/>
          </a:p>
          <a:p>
            <a:r>
              <a:rPr lang="en-US" b="1" dirty="0"/>
              <a:t>work on 2 parallelly.1</a:t>
            </a:r>
            <a:endParaRPr lang="en-US" b="1" dirty="0"/>
          </a:p>
          <a:p>
            <a:endParaRPr lang="en-US" b="1" dirty="0"/>
          </a:p>
          <a:p>
            <a:r>
              <a:rPr lang="en-US" b="1" dirty="0"/>
              <a:t>work on 2 parallelly.0</a:t>
            </a:r>
            <a:endParaRPr lang="en-US" b="1" dirty="0"/>
          </a:p>
          <a:p>
            <a:endParaRPr lang="en-US" b="1" dirty="0"/>
          </a:p>
          <a:p>
            <a:r>
              <a:rPr lang="en-US" b="1" dirty="0"/>
              <a:t>work on 2 parallelly.2</a:t>
            </a:r>
            <a:endParaRPr lang="en-US" b="1" dirty="0"/>
          </a:p>
          <a:p>
            <a:endParaRPr lang="en-US" b="1" dirty="0"/>
          </a:p>
          <a:p>
            <a:r>
              <a:rPr lang="en-US" b="1" dirty="0"/>
              <a:t>work on 2 parallelly.3</a:t>
            </a:r>
            <a:endParaRPr lang="en-US" b="1" dirty="0"/>
          </a:p>
        </p:txBody>
      </p:sp>
      <p:sp>
        <p:nvSpPr>
          <p:cNvPr id="4" name="文本框 3"/>
          <p:cNvSpPr txBox="1"/>
          <p:nvPr/>
        </p:nvSpPr>
        <p:spPr>
          <a:xfrm>
            <a:off x="959370" y="839449"/>
            <a:ext cx="3267856" cy="646331"/>
          </a:xfrm>
          <a:prstGeom prst="rect">
            <a:avLst/>
          </a:prstGeom>
          <a:noFill/>
        </p:spPr>
        <p:txBody>
          <a:bodyPr wrap="square" rtlCol="0">
            <a:spAutoFit/>
          </a:bodyPr>
          <a:lstStyle/>
          <a:p>
            <a:r>
              <a:rPr lang="zh-CN" altLang="en-US" sz="3600" dirty="0" smtClean="0">
                <a:solidFill>
                  <a:srgbClr val="2D0AC2"/>
                </a:solidFill>
                <a:latin typeface="隶书" panose="02010509060101010101" pitchFamily="49" charset="-122"/>
                <a:ea typeface="隶书" panose="02010509060101010101" pitchFamily="49" charset="-122"/>
              </a:rPr>
              <a:t>运行结果：</a:t>
            </a:r>
            <a:endParaRPr lang="en-US" sz="3600" dirty="0">
              <a:solidFill>
                <a:srgbClr val="2D0AC2"/>
              </a:solidFill>
              <a:latin typeface="隶书" panose="02010509060101010101" pitchFamily="49" charset="-122"/>
              <a:ea typeface="隶书" panose="02010509060101010101" pitchFamily="49" charset="-122"/>
            </a:endParaRPr>
          </a:p>
        </p:txBody>
      </p:sp>
    </p:spTree>
  </p:cSld>
  <p:clrMapOvr>
    <a:masterClrMapping/>
  </p:clrMapOvr>
  <p:transition spd="med" advTm="3025">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26474" y="505692"/>
            <a:ext cx="10972800" cy="5604163"/>
          </a:xfrm>
        </p:spPr>
        <p:txBody>
          <a:bodyPr/>
          <a:lstStyle/>
          <a:p>
            <a:pPr marL="0" indent="0" algn="ctr">
              <a:buNone/>
            </a:pPr>
            <a:r>
              <a:rPr lang="en-US" altLang="zh-CN" sz="4400" b="1" dirty="0" smtClean="0">
                <a:solidFill>
                  <a:srgbClr val="2D0AC2"/>
                </a:solidFill>
              </a:rPr>
              <a:t>master</a:t>
            </a:r>
            <a:r>
              <a:rPr lang="zh-CN" altLang="en-US" sz="4400" b="1" dirty="0" smtClean="0">
                <a:solidFill>
                  <a:srgbClr val="2D0AC2"/>
                </a:solidFill>
              </a:rPr>
              <a:t>指导语句</a:t>
            </a:r>
            <a:endParaRPr lang="en-US" altLang="zh-CN" sz="4400" b="1" dirty="0" smtClean="0">
              <a:solidFill>
                <a:srgbClr val="2D0AC2"/>
              </a:solidFill>
            </a:endParaRPr>
          </a:p>
          <a:p>
            <a:pPr>
              <a:lnSpc>
                <a:spcPct val="150000"/>
              </a:lnSpc>
              <a:buFont typeface="Wingdings" panose="05000000000000000000" pitchFamily="2" charset="2"/>
              <a:buChar char="v"/>
            </a:pPr>
            <a:r>
              <a:rPr lang="en-US" altLang="zh-CN" b="1" dirty="0">
                <a:solidFill>
                  <a:srgbClr val="6A247A"/>
                </a:solidFill>
              </a:rPr>
              <a:t>m</a:t>
            </a:r>
            <a:r>
              <a:rPr lang="en-US" altLang="zh-CN" b="1" dirty="0" smtClean="0">
                <a:solidFill>
                  <a:srgbClr val="6A247A"/>
                </a:solidFill>
              </a:rPr>
              <a:t>aster</a:t>
            </a:r>
            <a:r>
              <a:rPr lang="zh-CN" altLang="en-US" b="1" dirty="0" smtClean="0">
                <a:solidFill>
                  <a:srgbClr val="6A247A"/>
                </a:solidFill>
              </a:rPr>
              <a:t>主线程执行</a:t>
            </a:r>
            <a:endParaRPr lang="en-US" altLang="zh-CN" b="1" dirty="0" smtClean="0">
              <a:solidFill>
                <a:srgbClr val="6A247A"/>
              </a:solidFill>
            </a:endParaRPr>
          </a:p>
          <a:p>
            <a:pPr marL="0" indent="0">
              <a:lnSpc>
                <a:spcPct val="150000"/>
              </a:lnSpc>
              <a:buNone/>
            </a:pPr>
            <a:r>
              <a:rPr lang="zh-CN" altLang="en-US" dirty="0" smtClean="0"/>
              <a:t>          </a:t>
            </a:r>
            <a:r>
              <a:rPr lang="zh-CN" altLang="en-US" b="1" dirty="0" smtClean="0"/>
              <a:t>用于</a:t>
            </a:r>
            <a:r>
              <a:rPr lang="zh-CN" altLang="en-US" b="1" dirty="0"/>
              <a:t>指定一段代码由主线程执行</a:t>
            </a:r>
            <a:r>
              <a:rPr lang="zh-CN" altLang="en-US" b="1" dirty="0" smtClean="0"/>
              <a:t>。</a:t>
            </a:r>
            <a:endParaRPr lang="en-US" altLang="zh-CN" b="1" dirty="0" smtClean="0"/>
          </a:p>
          <a:p>
            <a:pPr marL="0" indent="0">
              <a:lnSpc>
                <a:spcPct val="150000"/>
              </a:lnSpc>
              <a:buNone/>
            </a:pPr>
            <a:r>
              <a:rPr lang="en-US" altLang="zh-CN" b="1" dirty="0"/>
              <a:t> </a:t>
            </a:r>
            <a:r>
              <a:rPr lang="en-US" altLang="zh-CN" b="1" dirty="0" smtClean="0"/>
              <a:t>         master</a:t>
            </a:r>
            <a:r>
              <a:rPr lang="zh-CN" altLang="en-US" b="1" dirty="0" smtClean="0"/>
              <a:t>指导语句和</a:t>
            </a:r>
            <a:r>
              <a:rPr lang="en-US" altLang="zh-CN" b="1" dirty="0" smtClean="0"/>
              <a:t>single</a:t>
            </a:r>
            <a:r>
              <a:rPr lang="zh-CN" altLang="en-US" b="1" dirty="0">
                <a:solidFill>
                  <a:srgbClr val="000000"/>
                </a:solidFill>
              </a:rPr>
              <a:t>指导</a:t>
            </a:r>
            <a:r>
              <a:rPr lang="zh-CN" altLang="en-US" b="1" dirty="0" smtClean="0">
                <a:solidFill>
                  <a:srgbClr val="000000"/>
                </a:solidFill>
              </a:rPr>
              <a:t>语句</a:t>
            </a:r>
            <a:r>
              <a:rPr lang="zh-CN" altLang="en-US" b="1" dirty="0" smtClean="0"/>
              <a:t>类似</a:t>
            </a:r>
            <a:r>
              <a:rPr lang="zh-CN" altLang="en-US" b="1" dirty="0"/>
              <a:t>，区别在于，</a:t>
            </a:r>
            <a:r>
              <a:rPr lang="en-US" altLang="zh-CN" b="1" dirty="0" smtClean="0"/>
              <a:t>master</a:t>
            </a:r>
            <a:r>
              <a:rPr lang="zh-CN" altLang="en-US" b="1" dirty="0">
                <a:solidFill>
                  <a:srgbClr val="000000"/>
                </a:solidFill>
              </a:rPr>
              <a:t>指导语句</a:t>
            </a:r>
            <a:r>
              <a:rPr lang="zh-CN" altLang="en-US" b="1" dirty="0" smtClean="0"/>
              <a:t>包含</a:t>
            </a:r>
            <a:r>
              <a:rPr lang="zh-CN" altLang="en-US" b="1" dirty="0"/>
              <a:t>的代码段只由主线程执行，而</a:t>
            </a:r>
            <a:r>
              <a:rPr lang="en-US" altLang="zh-CN" b="1" dirty="0" smtClean="0"/>
              <a:t>single</a:t>
            </a:r>
            <a:r>
              <a:rPr lang="zh-CN" altLang="en-US" b="1" dirty="0">
                <a:solidFill>
                  <a:srgbClr val="000000"/>
                </a:solidFill>
              </a:rPr>
              <a:t>指导语句</a:t>
            </a:r>
            <a:r>
              <a:rPr lang="zh-CN" altLang="en-US" b="1" dirty="0" smtClean="0"/>
              <a:t>包含</a:t>
            </a:r>
            <a:r>
              <a:rPr lang="zh-CN" altLang="en-US" b="1" dirty="0"/>
              <a:t>的代码段可由任一线程</a:t>
            </a:r>
            <a:r>
              <a:rPr lang="zh-CN" altLang="en-US" b="1" dirty="0" smtClean="0"/>
              <a:t>执行</a:t>
            </a:r>
            <a:r>
              <a:rPr lang="zh-CN" altLang="en-US" b="1" dirty="0"/>
              <a:t>；</a:t>
            </a:r>
            <a:r>
              <a:rPr lang="zh-CN" altLang="en-US" b="1" dirty="0" smtClean="0"/>
              <a:t>并且</a:t>
            </a:r>
            <a:r>
              <a:rPr lang="en-US" altLang="zh-CN" b="1" dirty="0" smtClean="0"/>
              <a:t>master</a:t>
            </a:r>
            <a:r>
              <a:rPr lang="zh-CN" altLang="en-US" b="1" dirty="0">
                <a:solidFill>
                  <a:srgbClr val="000000"/>
                </a:solidFill>
              </a:rPr>
              <a:t>指导</a:t>
            </a:r>
            <a:r>
              <a:rPr lang="zh-CN" altLang="en-US" b="1" dirty="0" smtClean="0">
                <a:solidFill>
                  <a:srgbClr val="000000"/>
                </a:solidFill>
              </a:rPr>
              <a:t>语句</a:t>
            </a:r>
            <a:r>
              <a:rPr lang="zh-CN" altLang="en-US" b="1" dirty="0" smtClean="0"/>
              <a:t>在</a:t>
            </a:r>
            <a:r>
              <a:rPr lang="zh-CN" altLang="en-US" b="1" dirty="0"/>
              <a:t>结束处没有隐式同步，也不能指定</a:t>
            </a:r>
            <a:r>
              <a:rPr lang="en-US" altLang="zh-CN" b="1" dirty="0" err="1"/>
              <a:t>nowait</a:t>
            </a:r>
            <a:r>
              <a:rPr lang="zh-CN" altLang="en-US" b="1" dirty="0"/>
              <a:t>从句。</a:t>
            </a:r>
            <a:endParaRPr lang="en-US" altLang="zh-CN" b="1" dirty="0" smtClean="0">
              <a:solidFill>
                <a:srgbClr val="6A247A"/>
              </a:solidFill>
            </a:endParaRPr>
          </a:p>
        </p:txBody>
      </p:sp>
    </p:spTree>
  </p:cSld>
  <p:clrMapOvr>
    <a:masterClrMapping/>
  </p:clrMapOvr>
  <p:transition spd="med" advTm="3025">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25781" y="1443980"/>
            <a:ext cx="5056910" cy="4524315"/>
          </a:xfrm>
          <a:prstGeom prst="rect">
            <a:avLst/>
          </a:prstGeom>
          <a:blipFill>
            <a:blip r:embed="rId1"/>
            <a:tile tx="0" ty="0" sx="100000" sy="100000" flip="none" algn="tl"/>
          </a:blipFill>
        </p:spPr>
        <p:txBody>
          <a:bodyPr wrap="square">
            <a:spAutoFit/>
          </a:bodyPr>
          <a:lstStyle/>
          <a:p>
            <a:r>
              <a:rPr lang="en-US" sz="2400" b="1" dirty="0" err="1"/>
              <a:t>int</a:t>
            </a:r>
            <a:r>
              <a:rPr lang="en-US" sz="2400" b="1" dirty="0"/>
              <a:t> a[5], </a:t>
            </a:r>
            <a:r>
              <a:rPr lang="en-US" sz="2400" b="1" dirty="0" err="1"/>
              <a:t>i</a:t>
            </a:r>
            <a:r>
              <a:rPr lang="en-US" sz="2400" b="1" dirty="0" smtClean="0"/>
              <a:t>;</a:t>
            </a:r>
            <a:endParaRPr lang="en-US" sz="2400" b="1" dirty="0" smtClean="0"/>
          </a:p>
          <a:p>
            <a:endParaRPr lang="en-US" sz="2400" b="1" dirty="0"/>
          </a:p>
          <a:p>
            <a:r>
              <a:rPr lang="en-US" sz="2400" b="1" dirty="0" smtClean="0">
                <a:solidFill>
                  <a:srgbClr val="2D0AC2"/>
                </a:solidFill>
              </a:rPr>
              <a:t>#</a:t>
            </a:r>
            <a:r>
              <a:rPr lang="en-US" sz="2400" b="1" dirty="0">
                <a:solidFill>
                  <a:srgbClr val="2D0AC2"/>
                </a:solidFill>
              </a:rPr>
              <a:t>pragma </a:t>
            </a:r>
            <a:r>
              <a:rPr lang="en-US" sz="2400" b="1" dirty="0" err="1">
                <a:solidFill>
                  <a:srgbClr val="2D0AC2"/>
                </a:solidFill>
              </a:rPr>
              <a:t>omp</a:t>
            </a:r>
            <a:r>
              <a:rPr lang="en-US" sz="2400" b="1" dirty="0">
                <a:solidFill>
                  <a:srgbClr val="2D0AC2"/>
                </a:solidFill>
              </a:rPr>
              <a:t> parallel</a:t>
            </a:r>
            <a:endParaRPr lang="en-US" sz="2400" b="1" dirty="0">
              <a:solidFill>
                <a:srgbClr val="2D0AC2"/>
              </a:solidFill>
            </a:endParaRPr>
          </a:p>
          <a:p>
            <a:r>
              <a:rPr lang="en-US" sz="2400" b="1" dirty="0" smtClean="0"/>
              <a:t>   {</a:t>
            </a:r>
            <a:endParaRPr lang="en-US" sz="2400" b="1" dirty="0"/>
          </a:p>
          <a:p>
            <a:r>
              <a:rPr lang="en-US" sz="2400" b="1" dirty="0" smtClean="0">
                <a:solidFill>
                  <a:srgbClr val="6A247A"/>
                </a:solidFill>
              </a:rPr>
              <a:t>       #</a:t>
            </a:r>
            <a:r>
              <a:rPr lang="en-US" sz="2400" b="1" dirty="0">
                <a:solidFill>
                  <a:srgbClr val="6A247A"/>
                </a:solidFill>
              </a:rPr>
              <a:t>pragma </a:t>
            </a:r>
            <a:r>
              <a:rPr lang="en-US" sz="2400" b="1" dirty="0" err="1">
                <a:solidFill>
                  <a:srgbClr val="6A247A"/>
                </a:solidFill>
              </a:rPr>
              <a:t>omp</a:t>
            </a:r>
            <a:r>
              <a:rPr lang="en-US" sz="2400" b="1" dirty="0">
                <a:solidFill>
                  <a:srgbClr val="6A247A"/>
                </a:solidFill>
              </a:rPr>
              <a:t> for</a:t>
            </a:r>
            <a:endParaRPr lang="en-US" sz="2400" b="1" dirty="0">
              <a:solidFill>
                <a:srgbClr val="6A247A"/>
              </a:solidFill>
            </a:endParaRPr>
          </a:p>
          <a:p>
            <a:r>
              <a:rPr lang="en-US" sz="2400" b="1" dirty="0"/>
              <a:t>	</a:t>
            </a:r>
            <a:r>
              <a:rPr lang="en-US" sz="2400" b="1" dirty="0" smtClean="0"/>
              <a:t>for </a:t>
            </a:r>
            <a:r>
              <a:rPr lang="en-US" sz="2400" b="1" dirty="0"/>
              <a:t>(</a:t>
            </a:r>
            <a:r>
              <a:rPr lang="en-US" sz="2400" b="1" dirty="0" err="1"/>
              <a:t>i</a:t>
            </a:r>
            <a:r>
              <a:rPr lang="en-US" sz="2400" b="1" dirty="0"/>
              <a:t>=0; </a:t>
            </a:r>
            <a:r>
              <a:rPr lang="en-US" sz="2400" b="1" dirty="0" err="1"/>
              <a:t>i</a:t>
            </a:r>
            <a:r>
              <a:rPr lang="en-US" sz="2400" b="1" dirty="0"/>
              <a:t>&lt;5; ++</a:t>
            </a:r>
            <a:r>
              <a:rPr lang="en-US" sz="2400" b="1" dirty="0" err="1"/>
              <a:t>i</a:t>
            </a:r>
            <a:r>
              <a:rPr lang="en-US" sz="2400" b="1" dirty="0"/>
              <a:t>)</a:t>
            </a:r>
            <a:endParaRPr lang="en-US" sz="2400" b="1" dirty="0"/>
          </a:p>
          <a:p>
            <a:r>
              <a:rPr lang="en-US" sz="2400" b="1" dirty="0"/>
              <a:t>	</a:t>
            </a:r>
            <a:r>
              <a:rPr lang="en-US" sz="2400" b="1" dirty="0" smtClean="0"/>
              <a:t>       a[</a:t>
            </a:r>
            <a:r>
              <a:rPr lang="en-US" sz="2400" b="1" dirty="0" err="1" smtClean="0"/>
              <a:t>i</a:t>
            </a:r>
            <a:r>
              <a:rPr lang="en-US" sz="2400" b="1" dirty="0"/>
              <a:t>] = </a:t>
            </a:r>
            <a:r>
              <a:rPr lang="en-US" sz="2400" b="1" dirty="0" err="1"/>
              <a:t>i</a:t>
            </a:r>
            <a:r>
              <a:rPr lang="en-US" sz="2400" b="1" dirty="0"/>
              <a:t> * </a:t>
            </a:r>
            <a:r>
              <a:rPr lang="en-US" sz="2400" b="1" dirty="0" err="1"/>
              <a:t>i</a:t>
            </a:r>
            <a:r>
              <a:rPr lang="en-US" sz="2400" b="1" dirty="0"/>
              <a:t>;</a:t>
            </a:r>
            <a:endParaRPr lang="en-US" sz="2400" b="1" dirty="0"/>
          </a:p>
          <a:p>
            <a:r>
              <a:rPr lang="en-US" sz="2400" b="1" dirty="0"/>
              <a:t>		</a:t>
            </a:r>
            <a:endParaRPr lang="en-US" sz="2400" b="1" dirty="0"/>
          </a:p>
          <a:p>
            <a:r>
              <a:rPr lang="en-US" sz="2400" b="1" dirty="0" smtClean="0"/>
              <a:t>       </a:t>
            </a:r>
            <a:r>
              <a:rPr lang="en-US" sz="2400" b="1" dirty="0" smtClean="0">
                <a:solidFill>
                  <a:srgbClr val="C00000"/>
                </a:solidFill>
              </a:rPr>
              <a:t>#</a:t>
            </a:r>
            <a:r>
              <a:rPr lang="en-US" sz="2400" b="1" dirty="0">
                <a:solidFill>
                  <a:srgbClr val="C00000"/>
                </a:solidFill>
              </a:rPr>
              <a:t>pragma </a:t>
            </a:r>
            <a:r>
              <a:rPr lang="en-US" sz="2400" b="1" dirty="0" err="1">
                <a:solidFill>
                  <a:srgbClr val="C00000"/>
                </a:solidFill>
              </a:rPr>
              <a:t>omp</a:t>
            </a:r>
            <a:r>
              <a:rPr lang="en-US" sz="2400" b="1" dirty="0">
                <a:solidFill>
                  <a:srgbClr val="C00000"/>
                </a:solidFill>
              </a:rPr>
              <a:t> master</a:t>
            </a:r>
            <a:endParaRPr lang="en-US" sz="2400" b="1" dirty="0">
              <a:solidFill>
                <a:srgbClr val="C00000"/>
              </a:solidFill>
            </a:endParaRPr>
          </a:p>
          <a:p>
            <a:r>
              <a:rPr lang="en-US" sz="2400" b="1" dirty="0"/>
              <a:t>	</a:t>
            </a:r>
            <a:r>
              <a:rPr lang="en-US" sz="2400" b="1" dirty="0" smtClean="0"/>
              <a:t>for </a:t>
            </a:r>
            <a:r>
              <a:rPr lang="en-US" sz="2400" b="1" dirty="0"/>
              <a:t>(</a:t>
            </a:r>
            <a:r>
              <a:rPr lang="en-US" sz="2400" b="1" dirty="0" err="1"/>
              <a:t>i</a:t>
            </a:r>
            <a:r>
              <a:rPr lang="en-US" sz="2400" b="1" dirty="0"/>
              <a:t>=0; </a:t>
            </a:r>
            <a:r>
              <a:rPr lang="en-US" sz="2400" b="1" dirty="0" err="1"/>
              <a:t>i</a:t>
            </a:r>
            <a:r>
              <a:rPr lang="en-US" sz="2400" b="1" dirty="0"/>
              <a:t>&lt;5; ++</a:t>
            </a:r>
            <a:r>
              <a:rPr lang="en-US" sz="2400" b="1" dirty="0" err="1"/>
              <a:t>i</a:t>
            </a:r>
            <a:r>
              <a:rPr lang="en-US" sz="2400" b="1" dirty="0" smtClean="0"/>
              <a:t>)</a:t>
            </a:r>
            <a:endParaRPr lang="en-US" sz="2400" b="1" dirty="0"/>
          </a:p>
          <a:p>
            <a:r>
              <a:rPr lang="en-US" sz="2400" b="1" dirty="0"/>
              <a:t>	</a:t>
            </a:r>
            <a:r>
              <a:rPr lang="en-US" sz="2400" b="1" dirty="0" smtClean="0"/>
              <a:t>    </a:t>
            </a:r>
            <a:r>
              <a:rPr lang="en-US" sz="2400" b="1" dirty="0" err="1" smtClean="0"/>
              <a:t>printf</a:t>
            </a:r>
            <a:r>
              <a:rPr lang="en-US" sz="2400" b="1" dirty="0"/>
              <a:t>("a[%d]=%d\n", </a:t>
            </a:r>
            <a:r>
              <a:rPr lang="en-US" sz="2400" b="1" dirty="0" err="1"/>
              <a:t>i</a:t>
            </a:r>
            <a:r>
              <a:rPr lang="en-US" sz="2400" b="1" dirty="0"/>
              <a:t>, a[</a:t>
            </a:r>
            <a:r>
              <a:rPr lang="en-US" sz="2400" b="1" dirty="0" err="1"/>
              <a:t>i</a:t>
            </a:r>
            <a:r>
              <a:rPr lang="en-US" sz="2400" b="1" dirty="0" smtClean="0"/>
              <a:t>]);</a:t>
            </a:r>
            <a:endParaRPr lang="en-US" sz="2400" b="1" dirty="0"/>
          </a:p>
          <a:p>
            <a:r>
              <a:rPr lang="en-US" sz="2400" b="1" dirty="0" smtClean="0"/>
              <a:t>    }</a:t>
            </a:r>
            <a:endParaRPr lang="en-US" sz="2400" b="1" dirty="0"/>
          </a:p>
        </p:txBody>
      </p:sp>
      <p:sp>
        <p:nvSpPr>
          <p:cNvPr id="5" name="矩形 4"/>
          <p:cNvSpPr/>
          <p:nvPr/>
        </p:nvSpPr>
        <p:spPr>
          <a:xfrm>
            <a:off x="7966365" y="1443980"/>
            <a:ext cx="1856509" cy="3359061"/>
          </a:xfrm>
          <a:prstGeom prst="rect">
            <a:avLst/>
          </a:prstGeom>
        </p:spPr>
        <p:txBody>
          <a:bodyPr wrap="square">
            <a:spAutoFit/>
          </a:bodyPr>
          <a:lstStyle/>
          <a:p>
            <a:pPr>
              <a:lnSpc>
                <a:spcPct val="150000"/>
              </a:lnSpc>
            </a:pPr>
            <a:r>
              <a:rPr lang="zh-CN" altLang="en-US" sz="2400" b="1" dirty="0" smtClean="0"/>
              <a:t>运行结果：</a:t>
            </a:r>
            <a:endParaRPr lang="pt-BR" sz="2400" b="1" dirty="0" smtClean="0"/>
          </a:p>
          <a:p>
            <a:pPr>
              <a:lnSpc>
                <a:spcPct val="150000"/>
              </a:lnSpc>
            </a:pPr>
            <a:r>
              <a:rPr lang="pt-BR" sz="2400" b="1" dirty="0" smtClean="0"/>
              <a:t>a[0</a:t>
            </a:r>
            <a:r>
              <a:rPr lang="pt-BR" sz="2400" b="1" dirty="0"/>
              <a:t>]=0 </a:t>
            </a:r>
            <a:endParaRPr lang="pt-BR" sz="2400" b="1" dirty="0"/>
          </a:p>
          <a:p>
            <a:pPr>
              <a:lnSpc>
                <a:spcPct val="150000"/>
              </a:lnSpc>
            </a:pPr>
            <a:r>
              <a:rPr lang="pt-BR" sz="2400" b="1" dirty="0"/>
              <a:t>a[1]=</a:t>
            </a:r>
            <a:r>
              <a:rPr lang="pt-BR" sz="2400" b="1" dirty="0" smtClean="0"/>
              <a:t>1</a:t>
            </a:r>
            <a:endParaRPr lang="pt-BR" sz="2400" b="1" dirty="0"/>
          </a:p>
          <a:p>
            <a:pPr>
              <a:lnSpc>
                <a:spcPct val="150000"/>
              </a:lnSpc>
            </a:pPr>
            <a:r>
              <a:rPr lang="pt-BR" sz="2400" b="1" dirty="0"/>
              <a:t>a[2]=</a:t>
            </a:r>
            <a:r>
              <a:rPr lang="pt-BR" sz="2400" b="1" dirty="0" smtClean="0"/>
              <a:t>4</a:t>
            </a:r>
            <a:endParaRPr lang="pt-BR" sz="2400" b="1" dirty="0"/>
          </a:p>
          <a:p>
            <a:pPr>
              <a:lnSpc>
                <a:spcPct val="150000"/>
              </a:lnSpc>
            </a:pPr>
            <a:r>
              <a:rPr lang="pt-BR" sz="2400" b="1" dirty="0"/>
              <a:t>a[3]=</a:t>
            </a:r>
            <a:r>
              <a:rPr lang="pt-BR" sz="2400" b="1" dirty="0" smtClean="0"/>
              <a:t>9</a:t>
            </a:r>
            <a:endParaRPr lang="pt-BR" sz="2400" b="1" dirty="0"/>
          </a:p>
          <a:p>
            <a:pPr>
              <a:lnSpc>
                <a:spcPct val="150000"/>
              </a:lnSpc>
            </a:pPr>
            <a:r>
              <a:rPr lang="pt-BR" sz="2400" b="1" dirty="0"/>
              <a:t>a[4]=16</a:t>
            </a:r>
            <a:endParaRPr lang="pt-BR" sz="2400" b="1" dirty="0"/>
          </a:p>
        </p:txBody>
      </p:sp>
      <p:sp>
        <p:nvSpPr>
          <p:cNvPr id="6" name="矩形 5"/>
          <p:cNvSpPr/>
          <p:nvPr/>
        </p:nvSpPr>
        <p:spPr>
          <a:xfrm>
            <a:off x="4168650" y="550462"/>
            <a:ext cx="4076372" cy="769441"/>
          </a:xfrm>
          <a:prstGeom prst="rect">
            <a:avLst/>
          </a:prstGeom>
        </p:spPr>
        <p:txBody>
          <a:bodyPr wrap="none">
            <a:spAutoFit/>
          </a:bodyPr>
          <a:lstStyle/>
          <a:p>
            <a:pPr lvl="0" algn="ctr" eaLnBrk="0" fontAlgn="base" hangingPunct="0">
              <a:spcBef>
                <a:spcPct val="20000"/>
              </a:spcBef>
              <a:spcAft>
                <a:spcPct val="0"/>
              </a:spcAft>
            </a:pPr>
            <a:r>
              <a:rPr lang="en-US" altLang="zh-CN" sz="4400" b="1" dirty="0">
                <a:solidFill>
                  <a:srgbClr val="2D0AC2"/>
                </a:solidFill>
              </a:rPr>
              <a:t>master</a:t>
            </a:r>
            <a:r>
              <a:rPr lang="zh-CN" altLang="en-US" sz="4400" b="1" dirty="0">
                <a:solidFill>
                  <a:srgbClr val="2D0AC2"/>
                </a:solidFill>
              </a:rPr>
              <a:t>指导语句</a:t>
            </a:r>
            <a:endParaRPr lang="en-US" altLang="zh-CN" sz="4400" b="1" dirty="0">
              <a:solidFill>
                <a:srgbClr val="2D0AC2"/>
              </a:solidFill>
            </a:endParaRPr>
          </a:p>
        </p:txBody>
      </p:sp>
    </p:spTree>
  </p:cSld>
  <p:clrMapOvr>
    <a:masterClrMapping/>
  </p:clrMapOvr>
  <p:transition spd="med" advTm="3025">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26474" y="602674"/>
            <a:ext cx="10972800" cy="5604163"/>
          </a:xfrm>
        </p:spPr>
        <p:txBody>
          <a:bodyPr/>
          <a:lstStyle/>
          <a:p>
            <a:pPr marL="0" indent="0" algn="ctr">
              <a:buNone/>
            </a:pPr>
            <a:r>
              <a:rPr lang="en-US" altLang="zh-CN" sz="4400" b="1" dirty="0" smtClean="0">
                <a:solidFill>
                  <a:srgbClr val="2D0AC2"/>
                </a:solidFill>
              </a:rPr>
              <a:t>Ordered</a:t>
            </a:r>
            <a:r>
              <a:rPr lang="zh-CN" altLang="en-US" sz="4400" b="1" dirty="0" smtClean="0">
                <a:solidFill>
                  <a:srgbClr val="2D0AC2"/>
                </a:solidFill>
              </a:rPr>
              <a:t>顺序指导语句</a:t>
            </a:r>
            <a:endParaRPr lang="en-US" altLang="zh-CN" sz="4400" b="1" dirty="0" smtClean="0">
              <a:solidFill>
                <a:srgbClr val="2D0AC2"/>
              </a:solidFill>
            </a:endParaRPr>
          </a:p>
          <a:p>
            <a:pPr marL="0" indent="0">
              <a:lnSpc>
                <a:spcPct val="150000"/>
              </a:lnSpc>
              <a:buNone/>
            </a:pPr>
            <a:r>
              <a:rPr lang="zh-CN" altLang="en-US" sz="2800" b="1" dirty="0" smtClean="0"/>
              <a:t>        对于</a:t>
            </a:r>
            <a:r>
              <a:rPr lang="zh-CN" altLang="en-US" sz="2800" b="1" dirty="0"/>
              <a:t>循环代码的任务分担中，某些代码的执行需要按规定的顺序执行</a:t>
            </a:r>
            <a:r>
              <a:rPr lang="zh-CN" altLang="en-US" sz="2800" b="1" dirty="0" smtClean="0"/>
              <a:t>。</a:t>
            </a:r>
            <a:endParaRPr lang="en-US" altLang="zh-CN" sz="2800" b="1" dirty="0" smtClean="0"/>
          </a:p>
          <a:p>
            <a:pPr marL="0" indent="0">
              <a:lnSpc>
                <a:spcPct val="150000"/>
              </a:lnSpc>
              <a:buNone/>
            </a:pPr>
            <a:r>
              <a:rPr lang="en-US" altLang="zh-CN" sz="2800" b="1" dirty="0"/>
              <a:t> </a:t>
            </a:r>
            <a:r>
              <a:rPr lang="en-US" altLang="zh-CN" sz="2800" b="1" dirty="0" smtClean="0"/>
              <a:t>      </a:t>
            </a:r>
            <a:r>
              <a:rPr lang="zh-CN" altLang="en-US" sz="2800" b="1" dirty="0" smtClean="0"/>
              <a:t>典型</a:t>
            </a:r>
            <a:r>
              <a:rPr lang="zh-CN" altLang="en-US" sz="2800" b="1" dirty="0"/>
              <a:t>的情况如下：在一次循环的过程中大部分的工作是可以并行执行的，而特定部分代码的工作需要等到前面的工作全部完成之后才能够执行。这时，可以使用</a:t>
            </a:r>
            <a:r>
              <a:rPr lang="en-US" altLang="zh-CN" sz="2800" b="1" dirty="0"/>
              <a:t>ordered</a:t>
            </a:r>
            <a:r>
              <a:rPr lang="zh-CN" altLang="en-US" sz="2800" b="1" dirty="0"/>
              <a:t>子句使特定的代码按照串行循环的次序来执行</a:t>
            </a:r>
            <a:r>
              <a:rPr lang="zh-CN" altLang="en-US" sz="2800" b="1" dirty="0" smtClean="0"/>
              <a:t>。</a:t>
            </a:r>
            <a:endParaRPr lang="en-US" altLang="zh-CN" sz="2800" b="1" dirty="0" smtClean="0"/>
          </a:p>
          <a:p>
            <a:pPr marL="0" indent="0">
              <a:lnSpc>
                <a:spcPct val="150000"/>
              </a:lnSpc>
              <a:buNone/>
            </a:pPr>
            <a:endParaRPr lang="en-US" altLang="zh-CN" sz="2800" b="1" dirty="0" smtClean="0"/>
          </a:p>
        </p:txBody>
      </p:sp>
    </p:spTree>
  </p:cSld>
  <p:clrMapOvr>
    <a:masterClrMapping/>
  </p:clrMapOvr>
  <p:transition spd="med" advTm="3025">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65019" y="477983"/>
            <a:ext cx="10972800" cy="5908963"/>
          </a:xfrm>
          <a:blipFill>
            <a:blip r:embed="rId1"/>
            <a:tile tx="0" ty="0" sx="100000" sy="100000" flip="none" algn="tl"/>
          </a:blipFill>
        </p:spPr>
        <p:txBody>
          <a:bodyPr/>
          <a:lstStyle/>
          <a:p>
            <a:pPr marL="0" indent="0" algn="ctr">
              <a:buNone/>
            </a:pPr>
            <a:r>
              <a:rPr lang="en-US" altLang="zh-CN" sz="4400" b="1" dirty="0" smtClean="0">
                <a:solidFill>
                  <a:srgbClr val="2D0AC2"/>
                </a:solidFill>
              </a:rPr>
              <a:t>Ordered</a:t>
            </a:r>
            <a:r>
              <a:rPr lang="zh-CN" altLang="en-US" sz="4400" b="1" dirty="0" smtClean="0">
                <a:solidFill>
                  <a:srgbClr val="2D0AC2"/>
                </a:solidFill>
              </a:rPr>
              <a:t>顺序指导语句</a:t>
            </a:r>
            <a:endParaRPr lang="en-US" altLang="zh-CN" sz="4400" b="1" dirty="0" smtClean="0">
              <a:solidFill>
                <a:srgbClr val="2D0AC2"/>
              </a:solidFill>
            </a:endParaRPr>
          </a:p>
          <a:p>
            <a:pPr marL="0" indent="0">
              <a:lnSpc>
                <a:spcPts val="4000"/>
              </a:lnSpc>
              <a:buNone/>
            </a:pPr>
            <a:r>
              <a:rPr lang="zh-CN" altLang="en-US" sz="2400" b="1" dirty="0" smtClean="0"/>
              <a:t>        </a:t>
            </a:r>
            <a:r>
              <a:rPr lang="en-US" altLang="zh-CN" sz="2400" b="1" dirty="0"/>
              <a:t>#pragma </a:t>
            </a:r>
            <a:r>
              <a:rPr lang="en-US" altLang="zh-CN" sz="2400" b="1" dirty="0" err="1"/>
              <a:t>omp</a:t>
            </a:r>
            <a:r>
              <a:rPr lang="en-US" altLang="zh-CN" sz="2400" b="1" dirty="0"/>
              <a:t> parallel</a:t>
            </a:r>
            <a:endParaRPr lang="en-US" altLang="zh-CN" sz="2400" b="1" dirty="0"/>
          </a:p>
          <a:p>
            <a:pPr marL="0" indent="0">
              <a:lnSpc>
                <a:spcPts val="4000"/>
              </a:lnSpc>
              <a:buNone/>
            </a:pPr>
            <a:r>
              <a:rPr lang="en-US" altLang="zh-CN" sz="2400" b="1" dirty="0"/>
              <a:t>	</a:t>
            </a:r>
            <a:r>
              <a:rPr lang="en-US" altLang="zh-CN" sz="2400" b="1" dirty="0" smtClean="0"/>
              <a:t>{   #</a:t>
            </a:r>
            <a:r>
              <a:rPr lang="en-US" altLang="zh-CN" sz="2400" b="1" dirty="0"/>
              <a:t>pragma </a:t>
            </a:r>
            <a:r>
              <a:rPr lang="en-US" altLang="zh-CN" sz="2400" b="1" dirty="0" err="1"/>
              <a:t>omp</a:t>
            </a:r>
            <a:r>
              <a:rPr lang="en-US" altLang="zh-CN" sz="2400" b="1" dirty="0"/>
              <a:t> for</a:t>
            </a:r>
            <a:endParaRPr lang="en-US" altLang="zh-CN" sz="2400" b="1" dirty="0"/>
          </a:p>
          <a:p>
            <a:pPr marL="0" indent="0">
              <a:lnSpc>
                <a:spcPts val="4000"/>
              </a:lnSpc>
              <a:buNone/>
            </a:pPr>
            <a:r>
              <a:rPr lang="en-US" altLang="zh-CN" sz="2400" b="1" dirty="0"/>
              <a:t>		</a:t>
            </a:r>
            <a:r>
              <a:rPr lang="en-US" altLang="zh-CN" sz="2400" b="1" dirty="0" smtClean="0"/>
              <a:t>for </a:t>
            </a:r>
            <a:r>
              <a:rPr lang="en-US" altLang="zh-CN" sz="2400" b="1" dirty="0"/>
              <a:t>(</a:t>
            </a:r>
            <a:r>
              <a:rPr lang="en-US" altLang="zh-CN" sz="2400" b="1" dirty="0" err="1"/>
              <a:t>i</a:t>
            </a:r>
            <a:r>
              <a:rPr lang="en-US" altLang="zh-CN" sz="2400" b="1" dirty="0"/>
              <a:t>=0; </a:t>
            </a:r>
            <a:r>
              <a:rPr lang="en-US" altLang="zh-CN" sz="2400" b="1" dirty="0" err="1"/>
              <a:t>i</a:t>
            </a:r>
            <a:r>
              <a:rPr lang="en-US" altLang="zh-CN" sz="2400" b="1" dirty="0"/>
              <a:t>&lt;100; ++</a:t>
            </a:r>
            <a:r>
              <a:rPr lang="en-US" altLang="zh-CN" sz="2400" b="1" dirty="0" err="1"/>
              <a:t>i</a:t>
            </a:r>
            <a:r>
              <a:rPr lang="en-US" altLang="zh-CN" sz="2400" b="1" dirty="0"/>
              <a:t>)</a:t>
            </a:r>
            <a:endParaRPr lang="en-US" altLang="zh-CN" sz="2400" b="1" dirty="0"/>
          </a:p>
          <a:p>
            <a:pPr marL="0" indent="0">
              <a:lnSpc>
                <a:spcPts val="4000"/>
              </a:lnSpc>
              <a:buNone/>
            </a:pPr>
            <a:r>
              <a:rPr lang="en-US" altLang="zh-CN" sz="2400" b="1" dirty="0"/>
              <a:t>			</a:t>
            </a:r>
            <a:r>
              <a:rPr lang="en-US" altLang="zh-CN" sz="2400" b="1" dirty="0" smtClean="0"/>
              <a:t>{   //</a:t>
            </a:r>
            <a:r>
              <a:rPr lang="zh-CN" altLang="en-US" sz="2400" b="1" dirty="0"/>
              <a:t>一些无数据相关、可并行乱序执行的操作</a:t>
            </a:r>
            <a:endParaRPr lang="zh-CN" altLang="en-US" sz="2400" b="1" dirty="0"/>
          </a:p>
          <a:p>
            <a:pPr marL="0" indent="0">
              <a:lnSpc>
                <a:spcPts val="4000"/>
              </a:lnSpc>
              <a:buNone/>
            </a:pPr>
            <a:r>
              <a:rPr lang="zh-CN" altLang="en-US" sz="2400" b="1" dirty="0"/>
              <a:t>			</a:t>
            </a:r>
            <a:r>
              <a:rPr lang="zh-CN" altLang="en-US" sz="2400" b="1" dirty="0" smtClean="0"/>
              <a:t>    </a:t>
            </a:r>
            <a:r>
              <a:rPr lang="en-US" altLang="zh-CN" sz="2400" b="1" dirty="0" smtClean="0"/>
              <a:t>//</a:t>
            </a:r>
            <a:r>
              <a:rPr lang="en-US" altLang="zh-CN" sz="2400" b="1" dirty="0"/>
              <a:t>do </a:t>
            </a:r>
            <a:r>
              <a:rPr lang="en-US" altLang="zh-CN" sz="2400" b="1" dirty="0" err="1"/>
              <a:t>someting</a:t>
            </a:r>
            <a:endParaRPr lang="en-US" altLang="zh-CN" sz="2400" b="1" dirty="0"/>
          </a:p>
          <a:p>
            <a:pPr marL="0" indent="0">
              <a:lnSpc>
                <a:spcPts val="4000"/>
              </a:lnSpc>
              <a:buNone/>
            </a:pPr>
            <a:r>
              <a:rPr lang="en-US" altLang="zh-CN" sz="2400" b="1" dirty="0" smtClean="0">
                <a:solidFill>
                  <a:srgbClr val="C00000"/>
                </a:solidFill>
              </a:rPr>
              <a:t>                                      #</a:t>
            </a:r>
            <a:r>
              <a:rPr lang="en-US" altLang="zh-CN" sz="2400" b="1" dirty="0">
                <a:solidFill>
                  <a:srgbClr val="C00000"/>
                </a:solidFill>
              </a:rPr>
              <a:t>pragma </a:t>
            </a:r>
            <a:r>
              <a:rPr lang="en-US" altLang="zh-CN" sz="2400" b="1" dirty="0" err="1">
                <a:solidFill>
                  <a:srgbClr val="C00000"/>
                </a:solidFill>
              </a:rPr>
              <a:t>omp</a:t>
            </a:r>
            <a:r>
              <a:rPr lang="en-US" altLang="zh-CN" sz="2400" b="1" dirty="0">
                <a:solidFill>
                  <a:srgbClr val="C00000"/>
                </a:solidFill>
              </a:rPr>
              <a:t> ordered</a:t>
            </a:r>
            <a:endParaRPr lang="en-US" altLang="zh-CN" sz="2400" b="1" dirty="0">
              <a:solidFill>
                <a:srgbClr val="C00000"/>
              </a:solidFill>
            </a:endParaRPr>
          </a:p>
          <a:p>
            <a:pPr marL="0" indent="0">
              <a:lnSpc>
                <a:spcPts val="4000"/>
              </a:lnSpc>
              <a:buNone/>
            </a:pPr>
            <a:r>
              <a:rPr lang="en-US" altLang="zh-CN" sz="2400" b="1" dirty="0"/>
              <a:t>			</a:t>
            </a:r>
            <a:r>
              <a:rPr lang="en-US" altLang="zh-CN" sz="2400" b="1" dirty="0" smtClean="0"/>
              <a:t>      </a:t>
            </a:r>
            <a:r>
              <a:rPr lang="en-US" altLang="zh-CN" sz="2400" b="1" dirty="0" smtClean="0">
                <a:solidFill>
                  <a:srgbClr val="6A247A"/>
                </a:solidFill>
              </a:rPr>
              <a:t>//</a:t>
            </a:r>
            <a:r>
              <a:rPr lang="zh-CN" altLang="en-US" sz="2400" b="1" dirty="0">
                <a:solidFill>
                  <a:srgbClr val="6A247A"/>
                </a:solidFill>
              </a:rPr>
              <a:t>一些有数据相关、只能顺序执行的操作</a:t>
            </a:r>
            <a:endParaRPr lang="zh-CN" altLang="en-US" sz="2400" b="1" dirty="0">
              <a:solidFill>
                <a:srgbClr val="6A247A"/>
              </a:solidFill>
            </a:endParaRPr>
          </a:p>
          <a:p>
            <a:pPr marL="0" indent="0">
              <a:lnSpc>
                <a:spcPts val="4000"/>
              </a:lnSpc>
              <a:buNone/>
            </a:pPr>
            <a:r>
              <a:rPr lang="zh-CN" altLang="en-US" sz="2400" b="1" dirty="0"/>
              <a:t>			</a:t>
            </a:r>
            <a:r>
              <a:rPr lang="zh-CN" altLang="en-US" sz="2400" b="1" dirty="0" smtClean="0"/>
              <a:t>     </a:t>
            </a:r>
            <a:r>
              <a:rPr lang="en-US" altLang="zh-CN" sz="2400" b="1" dirty="0" smtClean="0">
                <a:solidFill>
                  <a:srgbClr val="6A247A"/>
                </a:solidFill>
              </a:rPr>
              <a:t>//</a:t>
            </a:r>
            <a:r>
              <a:rPr lang="en-US" altLang="zh-CN" sz="2400" b="1" dirty="0">
                <a:solidFill>
                  <a:srgbClr val="6A247A"/>
                </a:solidFill>
              </a:rPr>
              <a:t>do </a:t>
            </a:r>
            <a:r>
              <a:rPr lang="en-US" altLang="zh-CN" sz="2400" b="1" dirty="0" smtClean="0">
                <a:solidFill>
                  <a:srgbClr val="6A247A"/>
                </a:solidFill>
              </a:rPr>
              <a:t>something                                         </a:t>
            </a:r>
            <a:r>
              <a:rPr lang="en-US" altLang="zh-CN" sz="2400" b="1" dirty="0" smtClean="0"/>
              <a:t>}</a:t>
            </a:r>
            <a:endParaRPr lang="en-US" altLang="zh-CN" sz="2400" b="1" dirty="0"/>
          </a:p>
          <a:p>
            <a:pPr marL="0" indent="0">
              <a:lnSpc>
                <a:spcPts val="4000"/>
              </a:lnSpc>
              <a:buNone/>
            </a:pPr>
            <a:r>
              <a:rPr lang="en-US" altLang="zh-CN" sz="2400" b="1" dirty="0"/>
              <a:t>	</a:t>
            </a:r>
            <a:r>
              <a:rPr lang="en-US" altLang="zh-CN" sz="2400" b="1" dirty="0" smtClean="0"/>
              <a:t>}</a:t>
            </a:r>
            <a:endParaRPr lang="en-US" altLang="zh-CN" sz="2400" b="1" dirty="0" smtClean="0"/>
          </a:p>
        </p:txBody>
      </p:sp>
    </p:spTree>
  </p:cSld>
  <p:clrMapOvr>
    <a:masterClrMapping/>
  </p:clrMapOvr>
  <p:transition spd="med" advTm="3025">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26474" y="602674"/>
            <a:ext cx="10972800" cy="5604163"/>
          </a:xfrm>
        </p:spPr>
        <p:txBody>
          <a:bodyPr/>
          <a:lstStyle/>
          <a:p>
            <a:pPr marL="0" indent="0" algn="ctr">
              <a:buNone/>
            </a:pPr>
            <a:r>
              <a:rPr lang="en-US" altLang="zh-CN" sz="4400" b="1" dirty="0" smtClean="0">
                <a:solidFill>
                  <a:srgbClr val="2D0AC2"/>
                </a:solidFill>
              </a:rPr>
              <a:t>Ordered</a:t>
            </a:r>
            <a:r>
              <a:rPr lang="zh-CN" altLang="en-US" sz="4400" b="1" dirty="0" smtClean="0">
                <a:solidFill>
                  <a:srgbClr val="2D0AC2"/>
                </a:solidFill>
              </a:rPr>
              <a:t>顺序指导语句</a:t>
            </a:r>
            <a:endParaRPr lang="en-US" altLang="zh-CN" sz="4400" b="1" dirty="0" smtClean="0">
              <a:solidFill>
                <a:srgbClr val="2D0AC2"/>
              </a:solidFill>
            </a:endParaRPr>
          </a:p>
          <a:p>
            <a:pPr marL="0" indent="0">
              <a:lnSpc>
                <a:spcPct val="150000"/>
              </a:lnSpc>
              <a:buNone/>
            </a:pPr>
            <a:r>
              <a:rPr lang="zh-CN" altLang="en-US" sz="2800" b="1" dirty="0"/>
              <a:t>        </a:t>
            </a:r>
            <a:endParaRPr lang="en-US" altLang="zh-CN" sz="2800" b="1" dirty="0" smtClean="0"/>
          </a:p>
          <a:p>
            <a:pPr>
              <a:lnSpc>
                <a:spcPct val="150000"/>
              </a:lnSpc>
              <a:buFont typeface="Wingdings" panose="05000000000000000000" pitchFamily="2" charset="2"/>
              <a:buChar char="q"/>
            </a:pPr>
            <a:r>
              <a:rPr lang="en-US" altLang="zh-CN" sz="2800" b="1" dirty="0"/>
              <a:t> </a:t>
            </a:r>
            <a:r>
              <a:rPr lang="zh-CN" altLang="en-US" sz="2800" b="1" dirty="0" smtClean="0"/>
              <a:t>虽然</a:t>
            </a:r>
            <a:r>
              <a:rPr lang="zh-CN" altLang="en-US" sz="2800" b="1" dirty="0"/>
              <a:t>在</a:t>
            </a:r>
            <a:r>
              <a:rPr lang="en-US" altLang="zh-CN" sz="2800" b="1" dirty="0"/>
              <a:t>ordered</a:t>
            </a:r>
            <a:r>
              <a:rPr lang="zh-CN" altLang="en-US" sz="2800" b="1" dirty="0"/>
              <a:t>子句之前的工作是并行执行的，但是在遇到</a:t>
            </a:r>
            <a:r>
              <a:rPr lang="en-US" altLang="zh-CN" sz="2800" b="1" dirty="0"/>
              <a:t>ordered</a:t>
            </a:r>
            <a:r>
              <a:rPr lang="zh-CN" altLang="en-US" sz="2800" b="1" dirty="0"/>
              <a:t>子句的时候，只有前面的循环都执行完毕之后</a:t>
            </a:r>
            <a:r>
              <a:rPr lang="zh-CN" altLang="en-US" sz="2800" b="1" dirty="0" smtClean="0"/>
              <a:t>，才</a:t>
            </a:r>
            <a:r>
              <a:rPr lang="zh-CN" altLang="en-US" sz="2800" b="1" dirty="0"/>
              <a:t>能够进行下一步执行</a:t>
            </a:r>
            <a:r>
              <a:rPr lang="zh-CN" altLang="en-US" sz="2800" b="1" dirty="0" smtClean="0"/>
              <a:t>。</a:t>
            </a:r>
            <a:endParaRPr lang="en-US" altLang="zh-CN" sz="2800" b="1" dirty="0" smtClean="0"/>
          </a:p>
          <a:p>
            <a:pPr>
              <a:lnSpc>
                <a:spcPct val="150000"/>
              </a:lnSpc>
              <a:buFont typeface="Wingdings" panose="05000000000000000000" pitchFamily="2" charset="2"/>
              <a:buChar char="q"/>
            </a:pPr>
            <a:r>
              <a:rPr lang="zh-CN" altLang="en-US" sz="2800" b="1" dirty="0" smtClean="0"/>
              <a:t>有些</a:t>
            </a:r>
            <a:r>
              <a:rPr lang="zh-CN" altLang="en-US" sz="2800" b="1" dirty="0"/>
              <a:t>任务在并行</a:t>
            </a:r>
            <a:r>
              <a:rPr lang="zh-CN" altLang="en-US" sz="2800" b="1" dirty="0" smtClean="0"/>
              <a:t>执行的时候，</a:t>
            </a:r>
            <a:r>
              <a:rPr lang="zh-CN" altLang="en-US" sz="2800" b="1" dirty="0"/>
              <a:t>对于部分必须串行执行的部分才</a:t>
            </a:r>
            <a:r>
              <a:rPr lang="zh-CN" altLang="en-US" sz="2800" b="1" dirty="0">
                <a:solidFill>
                  <a:srgbClr val="C00000"/>
                </a:solidFill>
              </a:rPr>
              <a:t>启用</a:t>
            </a:r>
            <a:r>
              <a:rPr lang="en-US" altLang="zh-CN" sz="2800" b="1" dirty="0">
                <a:solidFill>
                  <a:srgbClr val="C00000"/>
                </a:solidFill>
              </a:rPr>
              <a:t>ordered</a:t>
            </a:r>
            <a:r>
              <a:rPr lang="zh-CN" altLang="en-US" sz="2800" b="1" dirty="0">
                <a:solidFill>
                  <a:srgbClr val="C00000"/>
                </a:solidFill>
              </a:rPr>
              <a:t>保护</a:t>
            </a:r>
            <a:r>
              <a:rPr lang="zh-CN" altLang="en-US" sz="2800" b="1" dirty="0"/>
              <a:t>。</a:t>
            </a:r>
            <a:endParaRPr lang="zh-CN" altLang="en-US" sz="2800" b="1" dirty="0"/>
          </a:p>
          <a:p>
            <a:pPr marL="0" indent="0">
              <a:lnSpc>
                <a:spcPct val="150000"/>
              </a:lnSpc>
              <a:buNone/>
            </a:pPr>
            <a:endParaRPr lang="en-US" altLang="zh-CN" sz="2800" b="1" dirty="0" smtClean="0"/>
          </a:p>
        </p:txBody>
      </p:sp>
    </p:spTree>
  </p:cSld>
  <p:clrMapOvr>
    <a:masterClrMapping/>
  </p:clrMapOvr>
  <p:transition spd="med" advTm="3025">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288472" y="422565"/>
            <a:ext cx="10224655" cy="5604163"/>
          </a:xfrm>
        </p:spPr>
        <p:txBody>
          <a:bodyPr/>
          <a:lstStyle/>
          <a:p>
            <a:pPr marL="0" indent="0" algn="ctr">
              <a:buNone/>
            </a:pPr>
            <a:r>
              <a:rPr lang="en-US" altLang="zh-CN" sz="4400" b="1" dirty="0" smtClean="0">
                <a:solidFill>
                  <a:srgbClr val="2D0AC2"/>
                </a:solidFill>
              </a:rPr>
              <a:t>OpenMP</a:t>
            </a:r>
            <a:r>
              <a:rPr lang="zh-CN" altLang="en-US" sz="4400" b="1" dirty="0" smtClean="0">
                <a:solidFill>
                  <a:srgbClr val="2D0AC2"/>
                </a:solidFill>
              </a:rPr>
              <a:t>中的同步与互斥</a:t>
            </a:r>
            <a:endParaRPr lang="en-US" altLang="zh-CN" sz="4400" b="1" dirty="0" smtClean="0">
              <a:solidFill>
                <a:srgbClr val="2D0AC2"/>
              </a:solidFill>
            </a:endParaRPr>
          </a:p>
          <a:p>
            <a:pPr marL="0" indent="0">
              <a:lnSpc>
                <a:spcPct val="150000"/>
              </a:lnSpc>
              <a:buNone/>
            </a:pPr>
            <a:r>
              <a:rPr lang="zh-CN" altLang="en-US" b="1" dirty="0" smtClean="0"/>
              <a:t>         在</a:t>
            </a:r>
            <a:r>
              <a:rPr lang="zh-CN" altLang="en-US" b="1" dirty="0"/>
              <a:t>正确产生并行域并用</a:t>
            </a:r>
            <a:r>
              <a:rPr lang="en-US" altLang="zh-CN" b="1" dirty="0"/>
              <a:t>for</a:t>
            </a:r>
            <a:r>
              <a:rPr lang="zh-CN" altLang="en-US" b="1" dirty="0"/>
              <a:t>、</a:t>
            </a:r>
            <a:r>
              <a:rPr lang="en-US" altLang="zh-CN" b="1" dirty="0"/>
              <a:t>sections</a:t>
            </a:r>
            <a:r>
              <a:rPr lang="zh-CN" altLang="en-US" b="1" dirty="0"/>
              <a:t>等语句进行任务分担后，还须考虑的是这些并发线程的同步互斥需求</a:t>
            </a:r>
            <a:r>
              <a:rPr lang="zh-CN" altLang="en-US" b="1" dirty="0" smtClean="0"/>
              <a:t>。</a:t>
            </a:r>
            <a:endParaRPr lang="en-US" altLang="zh-CN" b="1" dirty="0" smtClean="0"/>
          </a:p>
          <a:p>
            <a:pPr marL="0" indent="0">
              <a:lnSpc>
                <a:spcPct val="150000"/>
              </a:lnSpc>
              <a:buNone/>
            </a:pPr>
            <a:r>
              <a:rPr lang="en-US" altLang="zh-CN" b="1" dirty="0"/>
              <a:t> </a:t>
            </a:r>
            <a:r>
              <a:rPr lang="en-US" altLang="zh-CN" b="1" dirty="0" smtClean="0"/>
              <a:t>       </a:t>
            </a:r>
            <a:r>
              <a:rPr lang="zh-CN" altLang="en-US" b="1" dirty="0" smtClean="0"/>
              <a:t>在</a:t>
            </a:r>
            <a:r>
              <a:rPr lang="en-US" altLang="zh-CN" b="1" dirty="0"/>
              <a:t>OpenMP</a:t>
            </a:r>
            <a:r>
              <a:rPr lang="zh-CN" altLang="en-US" b="1" dirty="0"/>
              <a:t>应用程序中，由于是多</a:t>
            </a:r>
            <a:r>
              <a:rPr lang="zh-CN" altLang="en-US" b="1" dirty="0" smtClean="0"/>
              <a:t>线程并行执行</a:t>
            </a:r>
            <a:r>
              <a:rPr lang="zh-CN" altLang="en-US" b="1" dirty="0"/>
              <a:t>，所以必须有线程互斥机制以保证程序在出现数据竞争的时候能够得出正确的结果，并且能够控制线程执行的先后制约关系，以保证执行结果的正确性</a:t>
            </a:r>
            <a:r>
              <a:rPr lang="zh-CN" altLang="en-US" b="1" dirty="0" smtClean="0"/>
              <a:t>。</a:t>
            </a:r>
            <a:endParaRPr lang="en-US" altLang="zh-CN" b="1" dirty="0" smtClean="0"/>
          </a:p>
        </p:txBody>
      </p:sp>
    </p:spTree>
  </p:cSld>
  <p:clrMapOvr>
    <a:masterClrMapping/>
  </p:clrMapOvr>
  <p:transition spd="med" advTm="3025">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26473" y="422565"/>
            <a:ext cx="11180617" cy="5604163"/>
          </a:xfrm>
        </p:spPr>
        <p:txBody>
          <a:bodyPr/>
          <a:lstStyle/>
          <a:p>
            <a:pPr marL="0" indent="0" algn="ctr">
              <a:buNone/>
            </a:pPr>
            <a:r>
              <a:rPr lang="en-US" altLang="zh-CN" sz="4400" b="1" dirty="0" smtClean="0">
                <a:solidFill>
                  <a:srgbClr val="2D0AC2"/>
                </a:solidFill>
              </a:rPr>
              <a:t>OpenMP</a:t>
            </a:r>
            <a:r>
              <a:rPr lang="zh-CN" altLang="en-US" sz="4400" b="1" dirty="0" smtClean="0">
                <a:solidFill>
                  <a:srgbClr val="2D0AC2"/>
                </a:solidFill>
              </a:rPr>
              <a:t>中的同步与互斥</a:t>
            </a:r>
            <a:endParaRPr lang="en-US" altLang="zh-CN" sz="4400" b="1" dirty="0" smtClean="0">
              <a:solidFill>
                <a:srgbClr val="2D0AC2"/>
              </a:solidFill>
            </a:endParaRPr>
          </a:p>
          <a:p>
            <a:pPr marL="0" indent="0">
              <a:lnSpc>
                <a:spcPts val="4500"/>
              </a:lnSpc>
              <a:buNone/>
            </a:pPr>
            <a:r>
              <a:rPr lang="en-US" altLang="zh-CN" b="1" dirty="0" smtClean="0"/>
              <a:t>         </a:t>
            </a:r>
            <a:r>
              <a:rPr lang="en-US" altLang="zh-CN" b="1" dirty="0" err="1" smtClean="0"/>
              <a:t>OpenMP</a:t>
            </a:r>
            <a:r>
              <a:rPr lang="zh-CN" altLang="en-US" b="1" dirty="0"/>
              <a:t>支持两种不同类型的线程同步</a:t>
            </a:r>
            <a:r>
              <a:rPr lang="zh-CN" altLang="en-US" b="1" dirty="0" smtClean="0"/>
              <a:t>机制。</a:t>
            </a:r>
            <a:endParaRPr lang="en-US" altLang="zh-CN" b="1" dirty="0" smtClean="0"/>
          </a:p>
          <a:p>
            <a:pPr>
              <a:lnSpc>
                <a:spcPct val="150000"/>
              </a:lnSpc>
              <a:buFont typeface="Wingdings" panose="05000000000000000000" pitchFamily="2" charset="2"/>
              <a:buChar char="Ø"/>
            </a:pPr>
            <a:r>
              <a:rPr lang="zh-CN" altLang="en-US" b="1" dirty="0" smtClean="0"/>
              <a:t>一</a:t>
            </a:r>
            <a:r>
              <a:rPr lang="zh-CN" altLang="en-US" b="1" dirty="0"/>
              <a:t>种是</a:t>
            </a:r>
            <a:r>
              <a:rPr lang="zh-CN" altLang="en-US" b="1" dirty="0">
                <a:solidFill>
                  <a:srgbClr val="C00000"/>
                </a:solidFill>
              </a:rPr>
              <a:t>互斥锁</a:t>
            </a:r>
            <a:r>
              <a:rPr lang="zh-CN" altLang="en-US" b="1" dirty="0"/>
              <a:t>的机制，可以用来保护一块共享的存储空间，使任何时候访问这块共享内存空间的线程</a:t>
            </a:r>
            <a:r>
              <a:rPr lang="zh-CN" altLang="en-US" b="1" dirty="0">
                <a:solidFill>
                  <a:srgbClr val="C00000"/>
                </a:solidFill>
              </a:rPr>
              <a:t>最多只有一个</a:t>
            </a:r>
            <a:r>
              <a:rPr lang="zh-CN" altLang="en-US" b="1" dirty="0"/>
              <a:t>，从而保证了数据的</a:t>
            </a:r>
            <a:r>
              <a:rPr lang="zh-CN" altLang="en-US" b="1" dirty="0" smtClean="0"/>
              <a:t>完整性。</a:t>
            </a:r>
            <a:endParaRPr lang="en-US" altLang="zh-CN" b="1" dirty="0" smtClean="0"/>
          </a:p>
          <a:p>
            <a:pPr>
              <a:lnSpc>
                <a:spcPct val="150000"/>
              </a:lnSpc>
              <a:buFont typeface="Wingdings" panose="05000000000000000000" pitchFamily="2" charset="2"/>
              <a:buChar char="Ø"/>
            </a:pPr>
            <a:r>
              <a:rPr lang="zh-CN" altLang="en-US" b="1" dirty="0" smtClean="0"/>
              <a:t>另外</a:t>
            </a:r>
            <a:r>
              <a:rPr lang="zh-CN" altLang="en-US" b="1" dirty="0"/>
              <a:t>一种同步机制是</a:t>
            </a:r>
            <a:r>
              <a:rPr lang="zh-CN" altLang="en-US" b="1" dirty="0">
                <a:solidFill>
                  <a:srgbClr val="C00000"/>
                </a:solidFill>
              </a:rPr>
              <a:t>事件同步</a:t>
            </a:r>
            <a:r>
              <a:rPr lang="zh-CN" altLang="en-US" b="1" dirty="0"/>
              <a:t>机制，这种机制保证了多个线程之间的执行顺序</a:t>
            </a:r>
            <a:r>
              <a:rPr lang="zh-CN" altLang="en-US" b="1" dirty="0" smtClean="0"/>
              <a:t>。</a:t>
            </a:r>
            <a:endParaRPr lang="en-US" altLang="zh-CN" b="1" dirty="0" smtClean="0"/>
          </a:p>
        </p:txBody>
      </p:sp>
    </p:spTree>
  </p:cSld>
  <p:clrMapOvr>
    <a:masterClrMapping/>
  </p:clrMapOvr>
  <p:transition spd="med" advTm="3025">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26474" y="422565"/>
            <a:ext cx="10972800" cy="5604163"/>
          </a:xfrm>
        </p:spPr>
        <p:txBody>
          <a:bodyPr/>
          <a:lstStyle/>
          <a:p>
            <a:pPr marL="0" indent="0" algn="ctr">
              <a:buNone/>
            </a:pPr>
            <a:r>
              <a:rPr lang="en-US" altLang="zh-CN" sz="4400" b="1" dirty="0" smtClean="0">
                <a:solidFill>
                  <a:srgbClr val="2D0AC2"/>
                </a:solidFill>
              </a:rPr>
              <a:t>OpenMP</a:t>
            </a:r>
            <a:r>
              <a:rPr lang="zh-CN" altLang="en-US" sz="4400" b="1" dirty="0" smtClean="0">
                <a:solidFill>
                  <a:srgbClr val="2D0AC2"/>
                </a:solidFill>
              </a:rPr>
              <a:t>中的同步与互斥</a:t>
            </a:r>
            <a:endParaRPr lang="en-US" altLang="zh-CN" sz="4400" b="1" dirty="0" smtClean="0">
              <a:solidFill>
                <a:srgbClr val="2D0AC2"/>
              </a:solidFill>
            </a:endParaRPr>
          </a:p>
          <a:p>
            <a:pPr marL="0" indent="0" algn="ctr">
              <a:buNone/>
            </a:pPr>
            <a:endParaRPr lang="en-US" altLang="zh-CN" sz="1100" b="1" dirty="0" smtClean="0">
              <a:solidFill>
                <a:srgbClr val="2D0AC2"/>
              </a:solidFill>
            </a:endParaRPr>
          </a:p>
          <a:p>
            <a:pPr marL="0" indent="0">
              <a:lnSpc>
                <a:spcPct val="150000"/>
              </a:lnSpc>
              <a:buNone/>
            </a:pPr>
            <a:r>
              <a:rPr lang="zh-CN" altLang="en-US" b="1" dirty="0" smtClean="0"/>
              <a:t>        互斥</a:t>
            </a:r>
            <a:r>
              <a:rPr lang="zh-CN" altLang="en-US" b="1" dirty="0"/>
              <a:t>的操作针对需要保护的数据而言，在产生了数据竞争的内存区域加入互斥，可以使用包括</a:t>
            </a:r>
            <a:r>
              <a:rPr lang="en-US" altLang="zh-CN" b="1" dirty="0"/>
              <a:t>critical</a:t>
            </a:r>
            <a:r>
              <a:rPr lang="zh-CN" altLang="en-US" b="1" dirty="0"/>
              <a:t>、</a:t>
            </a:r>
            <a:r>
              <a:rPr lang="en-US" altLang="zh-CN" b="1" dirty="0"/>
              <a:t>atomic</a:t>
            </a:r>
            <a:r>
              <a:rPr lang="zh-CN" altLang="en-US" b="1" dirty="0" smtClean="0"/>
              <a:t>等指导语句以及</a:t>
            </a:r>
            <a:r>
              <a:rPr lang="en-US" altLang="zh-CN" b="1" dirty="0"/>
              <a:t>API</a:t>
            </a:r>
            <a:r>
              <a:rPr lang="zh-CN" altLang="en-US" b="1" dirty="0"/>
              <a:t>中的互斥函数</a:t>
            </a:r>
            <a:r>
              <a:rPr lang="zh-CN" altLang="en-US" b="1" dirty="0" smtClean="0"/>
              <a:t>。</a:t>
            </a:r>
            <a:endParaRPr lang="en-US" altLang="zh-CN" b="1" dirty="0" smtClean="0"/>
          </a:p>
          <a:p>
            <a:pPr marL="0" indent="0">
              <a:lnSpc>
                <a:spcPct val="150000"/>
              </a:lnSpc>
              <a:buNone/>
            </a:pPr>
            <a:r>
              <a:rPr lang="en-US" altLang="zh-CN" b="1" dirty="0"/>
              <a:t> </a:t>
            </a:r>
            <a:r>
              <a:rPr lang="en-US" altLang="zh-CN" b="1" dirty="0" smtClean="0"/>
              <a:t>        </a:t>
            </a:r>
            <a:r>
              <a:rPr lang="zh-CN" altLang="en-US" b="1" dirty="0" smtClean="0"/>
              <a:t>事件</a:t>
            </a:r>
            <a:r>
              <a:rPr lang="zh-CN" altLang="en-US" b="1" dirty="0"/>
              <a:t>机制则控制线程执行顺序，包括</a:t>
            </a:r>
            <a:r>
              <a:rPr lang="en-US" altLang="zh-CN" b="1" dirty="0"/>
              <a:t>barrier</a:t>
            </a:r>
            <a:r>
              <a:rPr lang="zh-CN" altLang="en-US" b="1" dirty="0"/>
              <a:t>同步路障、</a:t>
            </a:r>
            <a:r>
              <a:rPr lang="en-US" altLang="zh-CN" b="1" dirty="0"/>
              <a:t>ordered</a:t>
            </a:r>
            <a:r>
              <a:rPr lang="zh-CN" altLang="en-US" b="1" dirty="0"/>
              <a:t>定序区段、</a:t>
            </a:r>
            <a:r>
              <a:rPr lang="en-US" altLang="zh-CN" b="1" dirty="0"/>
              <a:t>master</a:t>
            </a:r>
            <a:r>
              <a:rPr lang="zh-CN" altLang="en-US" b="1" dirty="0"/>
              <a:t>主线程执行等。</a:t>
            </a:r>
            <a:endParaRPr lang="en-US" altLang="zh-CN" b="1" dirty="0" smtClean="0"/>
          </a:p>
        </p:txBody>
      </p:sp>
    </p:spTree>
  </p:cSld>
  <p:clrMapOvr>
    <a:masterClrMapping/>
  </p:clrMapOvr>
  <p:transition spd="med" advTm="3025">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44643" y="797987"/>
            <a:ext cx="6096000" cy="5078313"/>
          </a:xfrm>
          <a:prstGeom prst="rect">
            <a:avLst/>
          </a:prstGeom>
        </p:spPr>
        <p:txBody>
          <a:bodyPr>
            <a:spAutoFit/>
          </a:bodyPr>
          <a:lstStyle/>
          <a:p>
            <a:pPr algn="ctr"/>
            <a:r>
              <a:rPr lang="en-US" sz="4400" b="1" dirty="0">
                <a:solidFill>
                  <a:srgbClr val="2D0AC2"/>
                </a:solidFill>
                <a:ea typeface="华文行楷" panose="02010800040101010101" pitchFamily="2" charset="-122"/>
              </a:rPr>
              <a:t>c</a:t>
            </a:r>
            <a:r>
              <a:rPr lang="en-US" sz="4400" b="1" dirty="0" smtClean="0">
                <a:solidFill>
                  <a:srgbClr val="2D0AC2"/>
                </a:solidFill>
                <a:ea typeface="华文行楷" panose="02010800040101010101" pitchFamily="2" charset="-122"/>
              </a:rPr>
              <a:t>ritical</a:t>
            </a:r>
            <a:r>
              <a:rPr lang="zh-CN" altLang="en-US" sz="4400" b="1" dirty="0" smtClean="0">
                <a:solidFill>
                  <a:srgbClr val="2D0AC2"/>
                </a:solidFill>
                <a:ea typeface="华文行楷" panose="02010800040101010101" pitchFamily="2" charset="-122"/>
              </a:rPr>
              <a:t>指导语句</a:t>
            </a:r>
            <a:endParaRPr lang="en-US" altLang="zh-CN" sz="4400" b="1" dirty="0" smtClean="0">
              <a:solidFill>
                <a:srgbClr val="2D0AC2"/>
              </a:solidFill>
              <a:ea typeface="华文行楷" panose="02010800040101010101" pitchFamily="2" charset="-122"/>
            </a:endParaRPr>
          </a:p>
          <a:p>
            <a:r>
              <a:rPr lang="zh-CN" altLang="en-US" sz="2800" b="1" dirty="0" smtClean="0">
                <a:solidFill>
                  <a:srgbClr val="2D0AC2"/>
                </a:solidFill>
                <a:ea typeface="华文行楷" panose="02010800040101010101" pitchFamily="2" charset="-122"/>
              </a:rPr>
              <a:t>        在</a:t>
            </a:r>
            <a:r>
              <a:rPr lang="zh-CN" altLang="en-US" sz="2800" b="1" dirty="0">
                <a:solidFill>
                  <a:srgbClr val="2D0AC2"/>
                </a:solidFill>
                <a:ea typeface="华文行楷" panose="02010800040101010101" pitchFamily="2" charset="-122"/>
              </a:rPr>
              <a:t>可能产生内存数据访问竞争的地方，都需要插入相应的</a:t>
            </a:r>
            <a:r>
              <a:rPr lang="zh-CN" altLang="en-US" sz="2800" b="1" dirty="0" smtClean="0">
                <a:solidFill>
                  <a:srgbClr val="2D0AC2"/>
                </a:solidFill>
                <a:ea typeface="华文行楷" panose="02010800040101010101" pitchFamily="2" charset="-122"/>
              </a:rPr>
              <a:t>临界区语句 </a:t>
            </a:r>
            <a:endParaRPr lang="zh-CN" altLang="en-US" sz="2800" b="1" dirty="0">
              <a:solidFill>
                <a:srgbClr val="2D0AC2"/>
              </a:solidFill>
              <a:ea typeface="华文行楷" panose="02010800040101010101" pitchFamily="2" charset="-122"/>
            </a:endParaRPr>
          </a:p>
          <a:p>
            <a:pPr marL="457200" indent="-457200">
              <a:lnSpc>
                <a:spcPct val="150000"/>
              </a:lnSpc>
              <a:buFont typeface="Wingdings" panose="05000000000000000000" pitchFamily="2" charset="2"/>
              <a:buChar char="Ø"/>
            </a:pPr>
            <a:r>
              <a:rPr lang="en-US" sz="2800" b="1" dirty="0">
                <a:solidFill>
                  <a:srgbClr val="000000"/>
                </a:solidFill>
              </a:rPr>
              <a:t>c</a:t>
            </a:r>
            <a:r>
              <a:rPr lang="en-US" sz="2800" b="1" dirty="0" smtClean="0">
                <a:solidFill>
                  <a:srgbClr val="000000"/>
                </a:solidFill>
              </a:rPr>
              <a:t>ritical</a:t>
            </a:r>
            <a:r>
              <a:rPr lang="zh-CN" altLang="en-US" sz="2800" b="1" dirty="0" smtClean="0">
                <a:solidFill>
                  <a:srgbClr val="000000"/>
                </a:solidFill>
              </a:rPr>
              <a:t>指导语</a:t>
            </a:r>
            <a:r>
              <a:rPr lang="zh-CN" altLang="en-US" sz="2800" b="1" dirty="0">
                <a:solidFill>
                  <a:srgbClr val="000000"/>
                </a:solidFill>
              </a:rPr>
              <a:t>句表明域中的代码一次</a:t>
            </a:r>
            <a:r>
              <a:rPr lang="zh-CN" altLang="en-US" sz="2800" b="1" dirty="0" smtClean="0">
                <a:solidFill>
                  <a:srgbClr val="000000"/>
                </a:solidFill>
              </a:rPr>
              <a:t>只能</a:t>
            </a:r>
            <a:r>
              <a:rPr lang="zh-CN" altLang="en-US" sz="2800" b="1" dirty="0">
                <a:solidFill>
                  <a:srgbClr val="000000"/>
                </a:solidFill>
              </a:rPr>
              <a:t>被</a:t>
            </a:r>
            <a:r>
              <a:rPr lang="zh-CN" altLang="en-US" sz="2800" b="1" dirty="0" smtClean="0">
                <a:solidFill>
                  <a:srgbClr val="000000"/>
                </a:solidFill>
              </a:rPr>
              <a:t>一</a:t>
            </a:r>
            <a:r>
              <a:rPr lang="zh-CN" altLang="en-US" sz="2800" b="1" dirty="0">
                <a:solidFill>
                  <a:srgbClr val="000000"/>
                </a:solidFill>
              </a:rPr>
              <a:t>个</a:t>
            </a:r>
            <a:r>
              <a:rPr lang="zh-CN" altLang="en-US" sz="2800" b="1" dirty="0" smtClean="0">
                <a:solidFill>
                  <a:srgbClr val="000000"/>
                </a:solidFill>
              </a:rPr>
              <a:t>线程执行  </a:t>
            </a:r>
            <a:endParaRPr lang="zh-CN" altLang="en-US" sz="2800" b="1" dirty="0">
              <a:solidFill>
                <a:srgbClr val="000000"/>
              </a:solidFill>
            </a:endParaRPr>
          </a:p>
          <a:p>
            <a:pPr marL="457200" indent="-457200">
              <a:lnSpc>
                <a:spcPct val="150000"/>
              </a:lnSpc>
              <a:buFont typeface="Wingdings" panose="05000000000000000000" pitchFamily="2" charset="2"/>
              <a:buChar char="Ø"/>
            </a:pPr>
            <a:r>
              <a:rPr lang="zh-CN" altLang="en-US" sz="2800" b="1" dirty="0" smtClean="0">
                <a:solidFill>
                  <a:srgbClr val="000000"/>
                </a:solidFill>
              </a:rPr>
              <a:t>其它线程</a:t>
            </a:r>
            <a:r>
              <a:rPr lang="zh-CN" altLang="en-US" sz="2800" b="1" dirty="0">
                <a:solidFill>
                  <a:srgbClr val="000000"/>
                </a:solidFill>
              </a:rPr>
              <a:t>被阻塞在临界区 </a:t>
            </a:r>
            <a:endParaRPr lang="en-US" altLang="zh-CN" sz="2800" b="1" dirty="0" smtClean="0">
              <a:solidFill>
                <a:srgbClr val="000000"/>
              </a:solidFill>
            </a:endParaRPr>
          </a:p>
          <a:p>
            <a:pPr marL="457200" indent="-457200">
              <a:lnSpc>
                <a:spcPct val="150000"/>
              </a:lnSpc>
              <a:buFont typeface="Wingdings" panose="05000000000000000000" pitchFamily="2" charset="2"/>
              <a:buChar char="Ø"/>
            </a:pPr>
            <a:r>
              <a:rPr lang="en-US" altLang="zh-CN" sz="2800" b="1" dirty="0">
                <a:solidFill>
                  <a:srgbClr val="000000"/>
                </a:solidFill>
              </a:rPr>
              <a:t>critical</a:t>
            </a:r>
            <a:r>
              <a:rPr lang="zh-CN" altLang="en-US" sz="2800" b="1" dirty="0">
                <a:solidFill>
                  <a:srgbClr val="000000"/>
                </a:solidFill>
              </a:rPr>
              <a:t>语句不允许互相</a:t>
            </a:r>
            <a:r>
              <a:rPr lang="zh-CN" altLang="en-US" sz="2800" b="1" dirty="0" smtClean="0">
                <a:solidFill>
                  <a:srgbClr val="000000"/>
                </a:solidFill>
              </a:rPr>
              <a:t>嵌套</a:t>
            </a:r>
            <a:endParaRPr lang="en-US" altLang="zh-CN" sz="2800" b="1" dirty="0" smtClean="0">
              <a:solidFill>
                <a:srgbClr val="000000"/>
              </a:solidFill>
            </a:endParaRPr>
          </a:p>
          <a:p>
            <a:r>
              <a:rPr lang="zh-CN" altLang="en-US" sz="2800" b="1" dirty="0" smtClean="0">
                <a:solidFill>
                  <a:srgbClr val="000000"/>
                </a:solidFill>
              </a:rPr>
              <a:t>语句</a:t>
            </a:r>
            <a:r>
              <a:rPr lang="zh-CN" altLang="en-US" sz="2800" b="1" dirty="0">
                <a:solidFill>
                  <a:srgbClr val="000000"/>
                </a:solidFill>
              </a:rPr>
              <a:t>格式： </a:t>
            </a:r>
            <a:endParaRPr lang="zh-CN" altLang="en-US" sz="2800" b="1" dirty="0">
              <a:solidFill>
                <a:srgbClr val="000000"/>
              </a:solidFill>
            </a:endParaRPr>
          </a:p>
          <a:p>
            <a:r>
              <a:rPr lang="en-US" altLang="zh-CN" sz="2800" b="1" dirty="0" smtClean="0">
                <a:solidFill>
                  <a:srgbClr val="2D0AC2"/>
                </a:solidFill>
              </a:rPr>
              <a:t>#</a:t>
            </a:r>
            <a:r>
              <a:rPr lang="en-US" sz="2800" b="1" dirty="0">
                <a:solidFill>
                  <a:srgbClr val="2D0AC2"/>
                </a:solidFill>
              </a:rPr>
              <a:t>pragma </a:t>
            </a:r>
            <a:r>
              <a:rPr lang="en-US" sz="2800" b="1" dirty="0" err="1">
                <a:solidFill>
                  <a:srgbClr val="2D0AC2"/>
                </a:solidFill>
              </a:rPr>
              <a:t>omp</a:t>
            </a:r>
            <a:r>
              <a:rPr lang="en-US" sz="2800" b="1" dirty="0">
                <a:solidFill>
                  <a:srgbClr val="2D0AC2"/>
                </a:solidFill>
              </a:rPr>
              <a:t> critical [name] newline </a:t>
            </a:r>
            <a:endParaRPr lang="en-US" sz="2800" b="1" dirty="0">
              <a:solidFill>
                <a:srgbClr val="2D0AC2"/>
              </a:solidFill>
            </a:endParaRPr>
          </a:p>
        </p:txBody>
      </p:sp>
      <p:sp>
        <p:nvSpPr>
          <p:cNvPr id="3" name="矩形 2"/>
          <p:cNvSpPr/>
          <p:nvPr/>
        </p:nvSpPr>
        <p:spPr>
          <a:xfrm>
            <a:off x="6775554" y="797987"/>
            <a:ext cx="5126636" cy="483209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r>
              <a:rPr lang="en-US" sz="2800" b="1" dirty="0">
                <a:solidFill>
                  <a:srgbClr val="000000"/>
                </a:solidFill>
              </a:rPr>
              <a:t>#include &lt;</a:t>
            </a:r>
            <a:r>
              <a:rPr lang="en-US" sz="2800" b="1" dirty="0" err="1">
                <a:solidFill>
                  <a:srgbClr val="000000"/>
                </a:solidFill>
              </a:rPr>
              <a:t>omp.h</a:t>
            </a:r>
            <a:r>
              <a:rPr lang="en-US" sz="2800" b="1" dirty="0">
                <a:solidFill>
                  <a:srgbClr val="000000"/>
                </a:solidFill>
              </a:rPr>
              <a:t>&gt; </a:t>
            </a:r>
            <a:endParaRPr lang="en-US" sz="2800" b="1" dirty="0">
              <a:solidFill>
                <a:srgbClr val="000000"/>
              </a:solidFill>
            </a:endParaRPr>
          </a:p>
          <a:p>
            <a:r>
              <a:rPr lang="en-US" sz="2800" b="1" dirty="0">
                <a:solidFill>
                  <a:srgbClr val="000000"/>
                </a:solidFill>
              </a:rPr>
              <a:t>main() </a:t>
            </a:r>
            <a:endParaRPr lang="en-US" sz="2800" b="1" dirty="0">
              <a:solidFill>
                <a:srgbClr val="000000"/>
              </a:solidFill>
            </a:endParaRPr>
          </a:p>
          <a:p>
            <a:r>
              <a:rPr lang="en-US" sz="2800" b="1" dirty="0">
                <a:solidFill>
                  <a:srgbClr val="000000"/>
                </a:solidFill>
              </a:rPr>
              <a:t>{ </a:t>
            </a:r>
            <a:endParaRPr lang="en-US" sz="2800" b="1" dirty="0">
              <a:solidFill>
                <a:srgbClr val="000000"/>
              </a:solidFill>
            </a:endParaRPr>
          </a:p>
          <a:p>
            <a:r>
              <a:rPr lang="en-US" sz="2800" b="1" dirty="0">
                <a:solidFill>
                  <a:srgbClr val="000000"/>
                </a:solidFill>
              </a:rPr>
              <a:t>  </a:t>
            </a:r>
            <a:r>
              <a:rPr lang="en-US" sz="2800" b="1" dirty="0" err="1">
                <a:solidFill>
                  <a:srgbClr val="000000"/>
                </a:solidFill>
              </a:rPr>
              <a:t>int</a:t>
            </a:r>
            <a:r>
              <a:rPr lang="en-US" sz="2800" b="1" dirty="0">
                <a:solidFill>
                  <a:srgbClr val="000000"/>
                </a:solidFill>
              </a:rPr>
              <a:t> x; </a:t>
            </a:r>
            <a:endParaRPr lang="en-US" sz="2800" b="1" dirty="0">
              <a:solidFill>
                <a:srgbClr val="000000"/>
              </a:solidFill>
            </a:endParaRPr>
          </a:p>
          <a:p>
            <a:r>
              <a:rPr lang="en-US" sz="2800" b="1" dirty="0">
                <a:solidFill>
                  <a:srgbClr val="000000"/>
                </a:solidFill>
              </a:rPr>
              <a:t>  x = 0; </a:t>
            </a:r>
            <a:endParaRPr lang="en-US" sz="2800" b="1" dirty="0">
              <a:solidFill>
                <a:srgbClr val="000000"/>
              </a:solidFill>
            </a:endParaRPr>
          </a:p>
          <a:p>
            <a:r>
              <a:rPr lang="en-US" sz="2800" b="1" dirty="0">
                <a:solidFill>
                  <a:srgbClr val="000000"/>
                </a:solidFill>
              </a:rPr>
              <a:t>  #pragma </a:t>
            </a:r>
            <a:r>
              <a:rPr lang="en-US" sz="2800" b="1" dirty="0" err="1">
                <a:solidFill>
                  <a:srgbClr val="000000"/>
                </a:solidFill>
              </a:rPr>
              <a:t>omp</a:t>
            </a:r>
            <a:r>
              <a:rPr lang="en-US" sz="2800" b="1" dirty="0">
                <a:solidFill>
                  <a:srgbClr val="000000"/>
                </a:solidFill>
              </a:rPr>
              <a:t> parallel shared(x)    </a:t>
            </a:r>
            <a:endParaRPr lang="en-US" sz="2800" b="1" dirty="0">
              <a:solidFill>
                <a:srgbClr val="000000"/>
              </a:solidFill>
            </a:endParaRPr>
          </a:p>
          <a:p>
            <a:r>
              <a:rPr lang="en-US" sz="2800" b="1" dirty="0">
                <a:solidFill>
                  <a:srgbClr val="000000"/>
                </a:solidFill>
              </a:rPr>
              <a:t>      {   </a:t>
            </a:r>
            <a:endParaRPr lang="en-US" sz="2800" b="1" dirty="0">
              <a:solidFill>
                <a:srgbClr val="000000"/>
              </a:solidFill>
            </a:endParaRPr>
          </a:p>
          <a:p>
            <a:r>
              <a:rPr lang="en-US" sz="2800" b="1" dirty="0">
                <a:solidFill>
                  <a:srgbClr val="000000"/>
                </a:solidFill>
              </a:rPr>
              <a:t>     </a:t>
            </a:r>
            <a:r>
              <a:rPr lang="en-US" sz="2800" b="1" dirty="0" smtClean="0">
                <a:solidFill>
                  <a:srgbClr val="000000"/>
                </a:solidFill>
              </a:rPr>
              <a:t>    </a:t>
            </a:r>
            <a:r>
              <a:rPr lang="en-US" sz="2800" b="1" dirty="0">
                <a:solidFill>
                  <a:srgbClr val="2D0AC2"/>
                </a:solidFill>
              </a:rPr>
              <a:t>#pragma </a:t>
            </a:r>
            <a:r>
              <a:rPr lang="en-US" sz="2800" b="1" dirty="0" err="1">
                <a:solidFill>
                  <a:srgbClr val="2D0AC2"/>
                </a:solidFill>
              </a:rPr>
              <a:t>omp</a:t>
            </a:r>
            <a:r>
              <a:rPr lang="en-US" sz="2800" b="1" dirty="0">
                <a:solidFill>
                  <a:srgbClr val="2D0AC2"/>
                </a:solidFill>
              </a:rPr>
              <a:t> </a:t>
            </a:r>
            <a:r>
              <a:rPr lang="en-US" sz="2800" b="1" dirty="0">
                <a:solidFill>
                  <a:srgbClr val="C00000"/>
                </a:solidFill>
              </a:rPr>
              <a:t>critical </a:t>
            </a:r>
            <a:r>
              <a:rPr lang="en-US" sz="2800" b="1" dirty="0">
                <a:solidFill>
                  <a:srgbClr val="2D0AC2"/>
                </a:solidFill>
              </a:rPr>
              <a:t>   </a:t>
            </a:r>
            <a:endParaRPr lang="en-US" sz="2800" b="1" dirty="0">
              <a:solidFill>
                <a:srgbClr val="2D0AC2"/>
              </a:solidFill>
            </a:endParaRPr>
          </a:p>
          <a:p>
            <a:r>
              <a:rPr lang="en-US" sz="2800" b="1" dirty="0">
                <a:solidFill>
                  <a:srgbClr val="000000"/>
                </a:solidFill>
              </a:rPr>
              <a:t>      </a:t>
            </a:r>
            <a:r>
              <a:rPr lang="en-US" sz="2800" b="1" dirty="0" smtClean="0">
                <a:solidFill>
                  <a:srgbClr val="000000"/>
                </a:solidFill>
              </a:rPr>
              <a:t>     </a:t>
            </a:r>
            <a:r>
              <a:rPr lang="en-US" sz="2800" b="1" dirty="0">
                <a:solidFill>
                  <a:srgbClr val="000000"/>
                </a:solidFill>
              </a:rPr>
              <a:t>x = x + 1;   </a:t>
            </a:r>
            <a:endParaRPr lang="en-US" sz="2800" b="1" dirty="0">
              <a:solidFill>
                <a:srgbClr val="000000"/>
              </a:solidFill>
            </a:endParaRPr>
          </a:p>
          <a:p>
            <a:r>
              <a:rPr lang="en-US" sz="2800" b="1" dirty="0">
                <a:solidFill>
                  <a:srgbClr val="000000"/>
                </a:solidFill>
              </a:rPr>
              <a:t>   </a:t>
            </a:r>
            <a:r>
              <a:rPr lang="en-US" sz="2800" b="1" dirty="0" smtClean="0">
                <a:solidFill>
                  <a:srgbClr val="000000"/>
                </a:solidFill>
              </a:rPr>
              <a:t>   }</a:t>
            </a:r>
            <a:endParaRPr lang="en-US" sz="2800" b="1" dirty="0">
              <a:solidFill>
                <a:srgbClr val="000000"/>
              </a:solidFill>
            </a:endParaRPr>
          </a:p>
          <a:p>
            <a:r>
              <a:rPr lang="en-US" sz="2800" b="1" dirty="0">
                <a:solidFill>
                  <a:srgbClr val="000000"/>
                </a:solidFill>
              </a:rPr>
              <a:t>}</a:t>
            </a:r>
            <a:endParaRPr lang="en-US" sz="2800" b="1" dirty="0">
              <a:solidFill>
                <a:srgbClr val="000000"/>
              </a:solidFill>
            </a:endParaRPr>
          </a:p>
        </p:txBody>
      </p:sp>
    </p:spTree>
  </p:cSld>
  <p:clrMapOvr>
    <a:masterClrMapping/>
  </p:clrMapOvr>
  <p:transition spd="med" advTm="3025">
    <p:fade/>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54181" y="797987"/>
            <a:ext cx="5033515" cy="5078313"/>
          </a:xfrm>
          <a:prstGeom prst="rect">
            <a:avLst/>
          </a:prstGeom>
        </p:spPr>
        <p:txBody>
          <a:bodyPr wrap="square">
            <a:spAutoFit/>
          </a:bodyPr>
          <a:lstStyle/>
          <a:p>
            <a:pPr algn="ctr"/>
            <a:r>
              <a:rPr lang="en-US" sz="4400" b="1" dirty="0">
                <a:solidFill>
                  <a:srgbClr val="2D0AC2"/>
                </a:solidFill>
                <a:ea typeface="华文行楷" panose="02010800040101010101" pitchFamily="2" charset="-122"/>
              </a:rPr>
              <a:t>c</a:t>
            </a:r>
            <a:r>
              <a:rPr lang="en-US" sz="4400" b="1" dirty="0" smtClean="0">
                <a:solidFill>
                  <a:srgbClr val="2D0AC2"/>
                </a:solidFill>
                <a:ea typeface="华文行楷" panose="02010800040101010101" pitchFamily="2" charset="-122"/>
              </a:rPr>
              <a:t>ritical</a:t>
            </a:r>
            <a:r>
              <a:rPr lang="zh-CN" altLang="en-US" sz="4400" b="1" dirty="0" smtClean="0">
                <a:solidFill>
                  <a:srgbClr val="2D0AC2"/>
                </a:solidFill>
                <a:ea typeface="华文行楷" panose="02010800040101010101" pitchFamily="2" charset="-122"/>
              </a:rPr>
              <a:t>指导语句</a:t>
            </a:r>
            <a:endParaRPr lang="en-US" altLang="zh-CN" sz="4400" b="1" dirty="0" smtClean="0">
              <a:solidFill>
                <a:srgbClr val="2D0AC2"/>
              </a:solidFill>
              <a:ea typeface="华文行楷" panose="02010800040101010101" pitchFamily="2" charset="-122"/>
            </a:endParaRPr>
          </a:p>
          <a:p>
            <a:r>
              <a:rPr lang="zh-CN" altLang="en-US" sz="2800" b="1" dirty="0" smtClean="0">
                <a:solidFill>
                  <a:srgbClr val="2D0AC2"/>
                </a:solidFill>
                <a:ea typeface="华文行楷" panose="02010800040101010101" pitchFamily="2" charset="-122"/>
              </a:rPr>
              <a:t>        </a:t>
            </a:r>
            <a:endParaRPr lang="en-US" altLang="zh-CN" sz="2800" b="1" dirty="0" smtClean="0">
              <a:solidFill>
                <a:srgbClr val="2D0AC2"/>
              </a:solidFill>
              <a:ea typeface="华文行楷" panose="02010800040101010101" pitchFamily="2" charset="-122"/>
            </a:endParaRPr>
          </a:p>
          <a:p>
            <a:pPr>
              <a:lnSpc>
                <a:spcPct val="150000"/>
              </a:lnSpc>
            </a:pPr>
            <a:r>
              <a:rPr lang="zh-CN" altLang="en-US" sz="2800" b="1" dirty="0" smtClean="0">
                <a:solidFill>
                  <a:srgbClr val="2D0AC2"/>
                </a:solidFill>
              </a:rPr>
              <a:t>           </a:t>
            </a:r>
            <a:r>
              <a:rPr lang="zh-CN" altLang="en-US" sz="2800" b="1" dirty="0" smtClean="0"/>
              <a:t>在</a:t>
            </a:r>
            <a:r>
              <a:rPr lang="zh-CN" altLang="en-US" sz="2800" b="1" dirty="0"/>
              <a:t>一个并行域内的</a:t>
            </a:r>
            <a:r>
              <a:rPr lang="en-US" altLang="zh-CN" sz="2800" b="1" dirty="0" smtClean="0"/>
              <a:t>for</a:t>
            </a:r>
            <a:r>
              <a:rPr lang="zh-CN" altLang="en-US" sz="2800" b="1" dirty="0"/>
              <a:t>循环</a:t>
            </a:r>
            <a:r>
              <a:rPr lang="zh-CN" altLang="en-US" sz="2800" b="1" dirty="0" smtClean="0"/>
              <a:t>中</a:t>
            </a:r>
            <a:r>
              <a:rPr lang="zh-CN" altLang="en-US" sz="2800" b="1" dirty="0"/>
              <a:t>，各个线程逐个进入到</a:t>
            </a:r>
            <a:r>
              <a:rPr lang="en-US" altLang="zh-CN" sz="2800" b="1" dirty="0"/>
              <a:t>critical</a:t>
            </a:r>
            <a:r>
              <a:rPr lang="zh-CN" altLang="en-US" sz="2800" b="1" dirty="0"/>
              <a:t>保护的区域内，比较当前元素和最大值的关系并可能进行最大值的更替，从而避免了数据竞争的情况。</a:t>
            </a:r>
            <a:endParaRPr lang="en-US" sz="2800" b="1" dirty="0"/>
          </a:p>
        </p:txBody>
      </p:sp>
      <p:sp>
        <p:nvSpPr>
          <p:cNvPr id="3" name="矩形 2"/>
          <p:cNvSpPr/>
          <p:nvPr/>
        </p:nvSpPr>
        <p:spPr>
          <a:xfrm>
            <a:off x="5874328" y="797987"/>
            <a:ext cx="5791199" cy="452431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r>
              <a:rPr lang="en-US" sz="2400" b="1" dirty="0" smtClean="0">
                <a:solidFill>
                  <a:srgbClr val="000000"/>
                </a:solidFill>
              </a:rPr>
              <a:t>      </a:t>
            </a:r>
            <a:r>
              <a:rPr lang="en-US" sz="2400" b="1" dirty="0" err="1" smtClean="0">
                <a:solidFill>
                  <a:srgbClr val="000000"/>
                </a:solidFill>
              </a:rPr>
              <a:t>int</a:t>
            </a:r>
            <a:r>
              <a:rPr lang="en-US" sz="2400" b="1" dirty="0" smtClean="0">
                <a:solidFill>
                  <a:srgbClr val="000000"/>
                </a:solidFill>
              </a:rPr>
              <a:t> </a:t>
            </a:r>
            <a:r>
              <a:rPr lang="en-US" sz="2400" b="1" dirty="0" err="1" smtClean="0">
                <a:solidFill>
                  <a:srgbClr val="000000"/>
                </a:solidFill>
              </a:rPr>
              <a:t>i</a:t>
            </a:r>
            <a:r>
              <a:rPr lang="en-US" sz="2400" b="1" dirty="0" smtClean="0">
                <a:solidFill>
                  <a:srgbClr val="000000"/>
                </a:solidFill>
              </a:rPr>
              <a:t>;</a:t>
            </a:r>
            <a:endParaRPr lang="en-US" sz="2400" b="1" dirty="0" smtClean="0">
              <a:solidFill>
                <a:srgbClr val="000000"/>
              </a:solidFill>
            </a:endParaRPr>
          </a:p>
          <a:p>
            <a:r>
              <a:rPr lang="en-US" sz="2400" b="1" dirty="0">
                <a:solidFill>
                  <a:srgbClr val="000000"/>
                </a:solidFill>
              </a:rPr>
              <a:t> </a:t>
            </a:r>
            <a:r>
              <a:rPr lang="en-US" sz="2400" b="1" dirty="0" smtClean="0">
                <a:solidFill>
                  <a:srgbClr val="000000"/>
                </a:solidFill>
              </a:rPr>
              <a:t>     </a:t>
            </a:r>
            <a:r>
              <a:rPr lang="en-US" sz="2400" b="1" dirty="0" err="1" smtClean="0">
                <a:solidFill>
                  <a:srgbClr val="000000"/>
                </a:solidFill>
              </a:rPr>
              <a:t>int</a:t>
            </a:r>
            <a:r>
              <a:rPr lang="en-US" sz="2400" b="1" dirty="0" smtClean="0">
                <a:solidFill>
                  <a:srgbClr val="000000"/>
                </a:solidFill>
              </a:rPr>
              <a:t> </a:t>
            </a:r>
            <a:r>
              <a:rPr lang="en-US" sz="2400" b="1" dirty="0" err="1">
                <a:solidFill>
                  <a:srgbClr val="000000"/>
                </a:solidFill>
              </a:rPr>
              <a:t>max_num_x</a:t>
            </a:r>
            <a:r>
              <a:rPr lang="en-US" sz="2400" b="1" dirty="0">
                <a:solidFill>
                  <a:srgbClr val="000000"/>
                </a:solidFill>
              </a:rPr>
              <a:t>=</a:t>
            </a:r>
            <a:r>
              <a:rPr lang="en-US" sz="2400" b="1" dirty="0" err="1">
                <a:solidFill>
                  <a:srgbClr val="000000"/>
                </a:solidFill>
              </a:rPr>
              <a:t>max_num_y</a:t>
            </a:r>
            <a:r>
              <a:rPr lang="en-US" sz="2400" b="1" dirty="0">
                <a:solidFill>
                  <a:srgbClr val="000000"/>
                </a:solidFill>
              </a:rPr>
              <a:t>=-1</a:t>
            </a:r>
            <a:r>
              <a:rPr lang="en-US" sz="2400" b="1" dirty="0" smtClean="0">
                <a:solidFill>
                  <a:srgbClr val="000000"/>
                </a:solidFill>
              </a:rPr>
              <a:t>;</a:t>
            </a:r>
            <a:endParaRPr lang="en-US" sz="2400" b="1" dirty="0">
              <a:solidFill>
                <a:srgbClr val="000000"/>
              </a:solidFill>
            </a:endParaRPr>
          </a:p>
          <a:p>
            <a:r>
              <a:rPr lang="en-US" sz="2400" b="1" dirty="0" smtClean="0">
                <a:solidFill>
                  <a:srgbClr val="000000"/>
                </a:solidFill>
              </a:rPr>
              <a:t>      </a:t>
            </a:r>
            <a:r>
              <a:rPr lang="en-US" sz="2400" b="1" dirty="0" smtClean="0">
                <a:solidFill>
                  <a:srgbClr val="C00000"/>
                </a:solidFill>
              </a:rPr>
              <a:t>#</a:t>
            </a:r>
            <a:r>
              <a:rPr lang="en-US" sz="2400" b="1" dirty="0">
                <a:solidFill>
                  <a:srgbClr val="C00000"/>
                </a:solidFill>
              </a:rPr>
              <a:t>pragma </a:t>
            </a:r>
            <a:r>
              <a:rPr lang="en-US" sz="2400" b="1" dirty="0" err="1">
                <a:solidFill>
                  <a:srgbClr val="C00000"/>
                </a:solidFill>
              </a:rPr>
              <a:t>omp</a:t>
            </a:r>
            <a:r>
              <a:rPr lang="en-US" sz="2400" b="1" dirty="0">
                <a:solidFill>
                  <a:srgbClr val="C00000"/>
                </a:solidFill>
              </a:rPr>
              <a:t> parallel for</a:t>
            </a:r>
            <a:endParaRPr lang="en-US" sz="2400" b="1" dirty="0">
              <a:solidFill>
                <a:srgbClr val="C00000"/>
              </a:solidFill>
            </a:endParaRPr>
          </a:p>
          <a:p>
            <a:r>
              <a:rPr lang="en-US" sz="2400" b="1" dirty="0" smtClean="0">
                <a:solidFill>
                  <a:srgbClr val="000000"/>
                </a:solidFill>
              </a:rPr>
              <a:t>        for </a:t>
            </a:r>
            <a:r>
              <a:rPr lang="en-US" sz="2400" b="1" dirty="0">
                <a:solidFill>
                  <a:srgbClr val="000000"/>
                </a:solidFill>
              </a:rPr>
              <a:t>(</a:t>
            </a:r>
            <a:r>
              <a:rPr lang="en-US" sz="2400" b="1" dirty="0" err="1">
                <a:solidFill>
                  <a:srgbClr val="000000"/>
                </a:solidFill>
              </a:rPr>
              <a:t>i</a:t>
            </a:r>
            <a:r>
              <a:rPr lang="en-US" sz="2400" b="1" dirty="0">
                <a:solidFill>
                  <a:srgbClr val="000000"/>
                </a:solidFill>
              </a:rPr>
              <a:t>=0; </a:t>
            </a:r>
            <a:r>
              <a:rPr lang="en-US" sz="2400" b="1" dirty="0" err="1">
                <a:solidFill>
                  <a:srgbClr val="000000"/>
                </a:solidFill>
              </a:rPr>
              <a:t>i</a:t>
            </a:r>
            <a:r>
              <a:rPr lang="en-US" sz="2400" b="1" dirty="0">
                <a:solidFill>
                  <a:srgbClr val="000000"/>
                </a:solidFill>
              </a:rPr>
              <a:t>&lt;n; ++</a:t>
            </a:r>
            <a:r>
              <a:rPr lang="en-US" sz="2400" b="1" dirty="0" err="1">
                <a:solidFill>
                  <a:srgbClr val="000000"/>
                </a:solidFill>
              </a:rPr>
              <a:t>i</a:t>
            </a:r>
            <a:r>
              <a:rPr lang="en-US" sz="2400" b="1" dirty="0">
                <a:solidFill>
                  <a:srgbClr val="000000"/>
                </a:solidFill>
              </a:rPr>
              <a:t>)</a:t>
            </a:r>
            <a:endParaRPr lang="en-US" sz="2400" b="1" dirty="0">
              <a:solidFill>
                <a:srgbClr val="000000"/>
              </a:solidFill>
            </a:endParaRPr>
          </a:p>
          <a:p>
            <a:r>
              <a:rPr lang="en-US" sz="2400" b="1" dirty="0">
                <a:solidFill>
                  <a:srgbClr val="000000"/>
                </a:solidFill>
              </a:rPr>
              <a:t>	</a:t>
            </a:r>
            <a:r>
              <a:rPr lang="en-US" sz="2400" b="1" dirty="0" smtClean="0">
                <a:solidFill>
                  <a:srgbClr val="000000"/>
                </a:solidFill>
              </a:rPr>
              <a:t>{   </a:t>
            </a:r>
            <a:r>
              <a:rPr lang="en-US" sz="2400" b="1" dirty="0" smtClean="0">
                <a:solidFill>
                  <a:srgbClr val="C00000"/>
                </a:solidFill>
              </a:rPr>
              <a:t>#</a:t>
            </a:r>
            <a:r>
              <a:rPr lang="en-US" sz="2400" b="1" dirty="0">
                <a:solidFill>
                  <a:srgbClr val="C00000"/>
                </a:solidFill>
              </a:rPr>
              <a:t>pragma </a:t>
            </a:r>
            <a:r>
              <a:rPr lang="en-US" sz="2400" b="1" dirty="0" err="1">
                <a:solidFill>
                  <a:srgbClr val="C00000"/>
                </a:solidFill>
              </a:rPr>
              <a:t>omp</a:t>
            </a:r>
            <a:r>
              <a:rPr lang="en-US" sz="2400" b="1" dirty="0">
                <a:solidFill>
                  <a:srgbClr val="C00000"/>
                </a:solidFill>
              </a:rPr>
              <a:t> critical(</a:t>
            </a:r>
            <a:r>
              <a:rPr lang="en-US" sz="2400" b="1" dirty="0" err="1">
                <a:solidFill>
                  <a:srgbClr val="C00000"/>
                </a:solidFill>
              </a:rPr>
              <a:t>max_arx</a:t>
            </a:r>
            <a:r>
              <a:rPr lang="en-US" sz="2400" b="1" dirty="0">
                <a:solidFill>
                  <a:srgbClr val="C00000"/>
                </a:solidFill>
              </a:rPr>
              <a:t>);</a:t>
            </a:r>
            <a:endParaRPr lang="en-US" sz="2400" b="1" dirty="0">
              <a:solidFill>
                <a:srgbClr val="C00000"/>
              </a:solidFill>
            </a:endParaRPr>
          </a:p>
          <a:p>
            <a:r>
              <a:rPr lang="en-US" sz="2400" b="1" dirty="0">
                <a:solidFill>
                  <a:srgbClr val="000000"/>
                </a:solidFill>
              </a:rPr>
              <a:t>	</a:t>
            </a:r>
            <a:r>
              <a:rPr lang="en-US" sz="2400" b="1" dirty="0" smtClean="0">
                <a:solidFill>
                  <a:srgbClr val="000000"/>
                </a:solidFill>
              </a:rPr>
              <a:t>           if </a:t>
            </a:r>
            <a:r>
              <a:rPr lang="en-US" sz="2400" b="1" dirty="0">
                <a:solidFill>
                  <a:srgbClr val="000000"/>
                </a:solidFill>
              </a:rPr>
              <a:t>(</a:t>
            </a:r>
            <a:r>
              <a:rPr lang="en-US" sz="2400" b="1" dirty="0" err="1">
                <a:solidFill>
                  <a:srgbClr val="000000"/>
                </a:solidFill>
              </a:rPr>
              <a:t>arx</a:t>
            </a:r>
            <a:r>
              <a:rPr lang="en-US" sz="2400" b="1" dirty="0">
                <a:solidFill>
                  <a:srgbClr val="000000"/>
                </a:solidFill>
              </a:rPr>
              <a:t>[</a:t>
            </a:r>
            <a:r>
              <a:rPr lang="en-US" sz="2400" b="1" dirty="0" err="1">
                <a:solidFill>
                  <a:srgbClr val="000000"/>
                </a:solidFill>
              </a:rPr>
              <a:t>i</a:t>
            </a:r>
            <a:r>
              <a:rPr lang="en-US" sz="2400" b="1" dirty="0">
                <a:solidFill>
                  <a:srgbClr val="000000"/>
                </a:solidFill>
              </a:rPr>
              <a:t>] &gt;</a:t>
            </a:r>
            <a:r>
              <a:rPr lang="en-US" sz="2400" b="1" dirty="0" err="1">
                <a:solidFill>
                  <a:srgbClr val="000000"/>
                </a:solidFill>
              </a:rPr>
              <a:t>max_num_x</a:t>
            </a:r>
            <a:r>
              <a:rPr lang="en-US" sz="2400" b="1" dirty="0">
                <a:solidFill>
                  <a:srgbClr val="000000"/>
                </a:solidFill>
              </a:rPr>
              <a:t>)</a:t>
            </a:r>
            <a:endParaRPr lang="en-US" sz="2400" b="1" dirty="0">
              <a:solidFill>
                <a:srgbClr val="000000"/>
              </a:solidFill>
            </a:endParaRPr>
          </a:p>
          <a:p>
            <a:r>
              <a:rPr lang="en-US" sz="2400" b="1" dirty="0">
                <a:solidFill>
                  <a:srgbClr val="000000"/>
                </a:solidFill>
              </a:rPr>
              <a:t>		</a:t>
            </a:r>
            <a:r>
              <a:rPr lang="en-US" sz="2400" b="1" dirty="0" smtClean="0">
                <a:solidFill>
                  <a:srgbClr val="000000"/>
                </a:solidFill>
              </a:rPr>
              <a:t>   {  </a:t>
            </a:r>
            <a:r>
              <a:rPr lang="en-US" sz="2400" b="1" dirty="0" err="1" smtClean="0">
                <a:solidFill>
                  <a:srgbClr val="000000"/>
                </a:solidFill>
              </a:rPr>
              <a:t>max_num_x</a:t>
            </a:r>
            <a:r>
              <a:rPr lang="en-US" sz="2400" b="1" dirty="0" smtClean="0">
                <a:solidFill>
                  <a:srgbClr val="000000"/>
                </a:solidFill>
              </a:rPr>
              <a:t> </a:t>
            </a:r>
            <a:r>
              <a:rPr lang="en-US" sz="2400" b="1" dirty="0">
                <a:solidFill>
                  <a:srgbClr val="000000"/>
                </a:solidFill>
              </a:rPr>
              <a:t>= </a:t>
            </a:r>
            <a:r>
              <a:rPr lang="en-US" sz="2400" b="1" dirty="0" err="1">
                <a:solidFill>
                  <a:srgbClr val="000000"/>
                </a:solidFill>
              </a:rPr>
              <a:t>arx</a:t>
            </a:r>
            <a:r>
              <a:rPr lang="en-US" sz="2400" b="1" dirty="0">
                <a:solidFill>
                  <a:srgbClr val="000000"/>
                </a:solidFill>
              </a:rPr>
              <a:t>[</a:t>
            </a:r>
            <a:r>
              <a:rPr lang="en-US" sz="2400" b="1" dirty="0" err="1">
                <a:solidFill>
                  <a:srgbClr val="000000"/>
                </a:solidFill>
              </a:rPr>
              <a:t>i</a:t>
            </a:r>
            <a:r>
              <a:rPr lang="en-US" sz="2400" b="1" dirty="0" smtClean="0">
                <a:solidFill>
                  <a:srgbClr val="000000"/>
                </a:solidFill>
              </a:rPr>
              <a:t>];  }</a:t>
            </a:r>
            <a:endParaRPr lang="en-US" sz="2400" b="1" dirty="0">
              <a:solidFill>
                <a:srgbClr val="000000"/>
              </a:solidFill>
            </a:endParaRPr>
          </a:p>
          <a:p>
            <a:endParaRPr lang="en-US" sz="2400" b="1" dirty="0">
              <a:solidFill>
                <a:srgbClr val="000000"/>
              </a:solidFill>
            </a:endParaRPr>
          </a:p>
          <a:p>
            <a:r>
              <a:rPr lang="en-US" sz="2400" b="1" dirty="0">
                <a:solidFill>
                  <a:srgbClr val="000000"/>
                </a:solidFill>
              </a:rPr>
              <a:t>	</a:t>
            </a:r>
            <a:r>
              <a:rPr lang="en-US" sz="2400" b="1" dirty="0" smtClean="0">
                <a:solidFill>
                  <a:srgbClr val="000000"/>
                </a:solidFill>
              </a:rPr>
              <a:t>     </a:t>
            </a:r>
            <a:r>
              <a:rPr lang="en-US" sz="2400" b="1" dirty="0" smtClean="0">
                <a:solidFill>
                  <a:srgbClr val="C00000"/>
                </a:solidFill>
              </a:rPr>
              <a:t>#</a:t>
            </a:r>
            <a:r>
              <a:rPr lang="en-US" sz="2400" b="1" dirty="0">
                <a:solidFill>
                  <a:srgbClr val="C00000"/>
                </a:solidFill>
              </a:rPr>
              <a:t>pragma </a:t>
            </a:r>
            <a:r>
              <a:rPr lang="en-US" sz="2400" b="1" dirty="0" err="1">
                <a:solidFill>
                  <a:srgbClr val="C00000"/>
                </a:solidFill>
              </a:rPr>
              <a:t>omp</a:t>
            </a:r>
            <a:r>
              <a:rPr lang="en-US" sz="2400" b="1" dirty="0">
                <a:solidFill>
                  <a:srgbClr val="C00000"/>
                </a:solidFill>
              </a:rPr>
              <a:t> critical(</a:t>
            </a:r>
            <a:r>
              <a:rPr lang="en-US" sz="2400" b="1" dirty="0" err="1">
                <a:solidFill>
                  <a:srgbClr val="C00000"/>
                </a:solidFill>
              </a:rPr>
              <a:t>max_ary</a:t>
            </a:r>
            <a:r>
              <a:rPr lang="en-US" sz="2400" b="1" dirty="0">
                <a:solidFill>
                  <a:srgbClr val="C00000"/>
                </a:solidFill>
              </a:rPr>
              <a:t>)</a:t>
            </a:r>
            <a:endParaRPr lang="en-US" sz="2400" b="1" dirty="0">
              <a:solidFill>
                <a:srgbClr val="C00000"/>
              </a:solidFill>
            </a:endParaRPr>
          </a:p>
          <a:p>
            <a:r>
              <a:rPr lang="en-US" sz="2400" b="1" dirty="0">
                <a:solidFill>
                  <a:srgbClr val="000000"/>
                </a:solidFill>
              </a:rPr>
              <a:t>	</a:t>
            </a:r>
            <a:r>
              <a:rPr lang="en-US" sz="2400" b="1" dirty="0" smtClean="0">
                <a:solidFill>
                  <a:srgbClr val="000000"/>
                </a:solidFill>
              </a:rPr>
              <a:t>           if </a:t>
            </a:r>
            <a:r>
              <a:rPr lang="en-US" sz="2400" b="1" dirty="0">
                <a:solidFill>
                  <a:srgbClr val="000000"/>
                </a:solidFill>
              </a:rPr>
              <a:t>(</a:t>
            </a:r>
            <a:r>
              <a:rPr lang="en-US" sz="2400" b="1" dirty="0" err="1">
                <a:solidFill>
                  <a:srgbClr val="000000"/>
                </a:solidFill>
              </a:rPr>
              <a:t>ary</a:t>
            </a:r>
            <a:r>
              <a:rPr lang="en-US" sz="2400" b="1" dirty="0">
                <a:solidFill>
                  <a:srgbClr val="000000"/>
                </a:solidFill>
              </a:rPr>
              <a:t>[</a:t>
            </a:r>
            <a:r>
              <a:rPr lang="en-US" sz="2400" b="1" dirty="0" err="1">
                <a:solidFill>
                  <a:srgbClr val="000000"/>
                </a:solidFill>
              </a:rPr>
              <a:t>i</a:t>
            </a:r>
            <a:r>
              <a:rPr lang="en-US" sz="2400" b="1" dirty="0">
                <a:solidFill>
                  <a:srgbClr val="000000"/>
                </a:solidFill>
              </a:rPr>
              <a:t>]&gt;</a:t>
            </a:r>
            <a:r>
              <a:rPr lang="en-US" sz="2400" b="1" dirty="0" err="1">
                <a:solidFill>
                  <a:srgbClr val="000000"/>
                </a:solidFill>
              </a:rPr>
              <a:t>max_num_y</a:t>
            </a:r>
            <a:r>
              <a:rPr lang="en-US" sz="2400" b="1" dirty="0">
                <a:solidFill>
                  <a:srgbClr val="000000"/>
                </a:solidFill>
              </a:rPr>
              <a:t>)</a:t>
            </a:r>
            <a:endParaRPr lang="en-US" sz="2400" b="1" dirty="0">
              <a:solidFill>
                <a:srgbClr val="000000"/>
              </a:solidFill>
            </a:endParaRPr>
          </a:p>
          <a:p>
            <a:r>
              <a:rPr lang="en-US" sz="2400" b="1" dirty="0">
                <a:solidFill>
                  <a:srgbClr val="000000"/>
                </a:solidFill>
              </a:rPr>
              <a:t>		</a:t>
            </a:r>
            <a:r>
              <a:rPr lang="en-US" sz="2400" b="1" dirty="0" smtClean="0">
                <a:solidFill>
                  <a:srgbClr val="000000"/>
                </a:solidFill>
              </a:rPr>
              <a:t>   {   </a:t>
            </a:r>
            <a:r>
              <a:rPr lang="en-US" sz="2400" b="1" dirty="0" err="1" smtClean="0">
                <a:solidFill>
                  <a:srgbClr val="000000"/>
                </a:solidFill>
              </a:rPr>
              <a:t>max_num_y</a:t>
            </a:r>
            <a:r>
              <a:rPr lang="en-US" sz="2400" b="1" dirty="0" smtClean="0">
                <a:solidFill>
                  <a:srgbClr val="000000"/>
                </a:solidFill>
              </a:rPr>
              <a:t> </a:t>
            </a:r>
            <a:r>
              <a:rPr lang="en-US" sz="2400" b="1" dirty="0">
                <a:solidFill>
                  <a:srgbClr val="000000"/>
                </a:solidFill>
              </a:rPr>
              <a:t>= </a:t>
            </a:r>
            <a:r>
              <a:rPr lang="en-US" sz="2400" b="1" dirty="0" err="1">
                <a:solidFill>
                  <a:srgbClr val="000000"/>
                </a:solidFill>
              </a:rPr>
              <a:t>ary</a:t>
            </a:r>
            <a:r>
              <a:rPr lang="en-US" sz="2400" b="1" dirty="0">
                <a:solidFill>
                  <a:srgbClr val="000000"/>
                </a:solidFill>
              </a:rPr>
              <a:t>[</a:t>
            </a:r>
            <a:r>
              <a:rPr lang="en-US" sz="2400" b="1" dirty="0" err="1">
                <a:solidFill>
                  <a:srgbClr val="000000"/>
                </a:solidFill>
              </a:rPr>
              <a:t>i</a:t>
            </a:r>
            <a:r>
              <a:rPr lang="en-US" sz="2400" b="1" dirty="0" smtClean="0">
                <a:solidFill>
                  <a:srgbClr val="000000"/>
                </a:solidFill>
              </a:rPr>
              <a:t>];  }</a:t>
            </a:r>
            <a:endParaRPr lang="en-US" sz="2400" b="1" dirty="0">
              <a:solidFill>
                <a:srgbClr val="000000"/>
              </a:solidFill>
            </a:endParaRPr>
          </a:p>
          <a:p>
            <a:r>
              <a:rPr lang="en-US" sz="2400" b="1" dirty="0">
                <a:solidFill>
                  <a:srgbClr val="000000"/>
                </a:solidFill>
              </a:rPr>
              <a:t>	</a:t>
            </a:r>
            <a:r>
              <a:rPr lang="en-US" sz="2400" b="1" dirty="0" smtClean="0">
                <a:solidFill>
                  <a:srgbClr val="000000"/>
                </a:solidFill>
              </a:rPr>
              <a:t>}</a:t>
            </a:r>
            <a:endParaRPr lang="en-US" sz="2400" b="1" dirty="0">
              <a:solidFill>
                <a:srgbClr val="000000"/>
              </a:solidFill>
            </a:endParaRPr>
          </a:p>
        </p:txBody>
      </p:sp>
    </p:spTree>
  </p:cSld>
  <p:clrMapOvr>
    <a:masterClrMapping/>
  </p:clrMapOvr>
  <p:transition spd="med" advTm="3025">
    <p:fade/>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26474" y="422565"/>
            <a:ext cx="10972800" cy="5604163"/>
          </a:xfrm>
        </p:spPr>
        <p:txBody>
          <a:bodyPr/>
          <a:lstStyle/>
          <a:p>
            <a:pPr marL="0" indent="0" algn="ctr">
              <a:buNone/>
            </a:pPr>
            <a:r>
              <a:rPr lang="en-US" altLang="zh-CN" sz="4400" b="1" dirty="0" smtClean="0">
                <a:solidFill>
                  <a:srgbClr val="2D0AC2"/>
                </a:solidFill>
              </a:rPr>
              <a:t>OpenMP</a:t>
            </a:r>
            <a:r>
              <a:rPr lang="zh-CN" altLang="en-US" sz="4400" b="1" dirty="0" smtClean="0">
                <a:solidFill>
                  <a:srgbClr val="2D0AC2"/>
                </a:solidFill>
              </a:rPr>
              <a:t>中的</a:t>
            </a:r>
            <a:r>
              <a:rPr lang="en-US" altLang="zh-CN" sz="4400" b="1" dirty="0">
                <a:solidFill>
                  <a:srgbClr val="2D0AC2"/>
                </a:solidFill>
              </a:rPr>
              <a:t>atomic</a:t>
            </a:r>
            <a:r>
              <a:rPr lang="zh-CN" altLang="en-US" sz="4400" b="1" dirty="0">
                <a:solidFill>
                  <a:srgbClr val="2D0AC2"/>
                </a:solidFill>
              </a:rPr>
              <a:t>原子操作</a:t>
            </a:r>
            <a:endParaRPr lang="en-US" altLang="zh-CN" sz="4400" b="1" dirty="0" smtClean="0">
              <a:solidFill>
                <a:srgbClr val="2D0AC2"/>
              </a:solidFill>
            </a:endParaRPr>
          </a:p>
          <a:p>
            <a:pPr marL="0" indent="0" algn="ctr">
              <a:buNone/>
            </a:pPr>
            <a:endParaRPr lang="en-US" altLang="zh-CN" sz="1100" b="1" dirty="0" smtClean="0">
              <a:solidFill>
                <a:srgbClr val="2D0AC2"/>
              </a:solidFill>
            </a:endParaRPr>
          </a:p>
          <a:p>
            <a:pPr marL="0" indent="0">
              <a:lnSpc>
                <a:spcPct val="150000"/>
              </a:lnSpc>
              <a:buNone/>
            </a:pPr>
            <a:r>
              <a:rPr lang="zh-CN" altLang="en-US" b="1" dirty="0" smtClean="0"/>
              <a:t>         </a:t>
            </a:r>
            <a:r>
              <a:rPr lang="en-US" altLang="zh-CN" b="1" dirty="0" smtClean="0"/>
              <a:t>critical</a:t>
            </a:r>
            <a:r>
              <a:rPr lang="zh-CN" altLang="en-US" b="1" dirty="0"/>
              <a:t>临界区操作能够作用在任意大小的代码块上，而原子操作只能作用在</a:t>
            </a:r>
            <a:r>
              <a:rPr lang="zh-CN" altLang="en-US" b="1" dirty="0">
                <a:solidFill>
                  <a:srgbClr val="C00000"/>
                </a:solidFill>
              </a:rPr>
              <a:t>单条赋值语句中</a:t>
            </a:r>
            <a:r>
              <a:rPr lang="zh-CN" altLang="en-US" b="1" dirty="0" smtClean="0"/>
              <a:t>。</a:t>
            </a:r>
            <a:endParaRPr lang="en-US" altLang="zh-CN" b="1" dirty="0" smtClean="0"/>
          </a:p>
          <a:p>
            <a:pPr marL="0" indent="0">
              <a:lnSpc>
                <a:spcPct val="150000"/>
              </a:lnSpc>
              <a:buNone/>
            </a:pPr>
            <a:r>
              <a:rPr lang="en-US" altLang="zh-CN" b="1" dirty="0"/>
              <a:t> </a:t>
            </a:r>
            <a:r>
              <a:rPr lang="en-US" altLang="zh-CN" b="1" dirty="0" smtClean="0"/>
              <a:t>        </a:t>
            </a:r>
            <a:r>
              <a:rPr lang="zh-CN" altLang="en-US" b="1" dirty="0" smtClean="0">
                <a:solidFill>
                  <a:srgbClr val="2D0AC2"/>
                </a:solidFill>
              </a:rPr>
              <a:t>能够</a:t>
            </a:r>
            <a:r>
              <a:rPr lang="zh-CN" altLang="en-US" b="1" dirty="0">
                <a:solidFill>
                  <a:srgbClr val="2D0AC2"/>
                </a:solidFill>
              </a:rPr>
              <a:t>使用原子语句的前提条件是相应的语句能够转化成一条机器指令，</a:t>
            </a:r>
            <a:r>
              <a:rPr lang="zh-CN" altLang="en-US" b="1" dirty="0"/>
              <a:t>使得相应的功能能够一次执行完毕而不会被打断</a:t>
            </a:r>
            <a:r>
              <a:rPr lang="zh-CN" altLang="en-US" b="1" dirty="0" smtClean="0"/>
              <a:t>。</a:t>
            </a:r>
            <a:endParaRPr lang="en-US" altLang="zh-CN" b="1" dirty="0" smtClean="0"/>
          </a:p>
        </p:txBody>
      </p:sp>
    </p:spTree>
  </p:cSld>
  <p:clrMapOvr>
    <a:masterClrMapping/>
  </p:clrMapOvr>
  <p:transition spd="med" advTm="3025">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03564" y="436419"/>
            <a:ext cx="10654145" cy="5604163"/>
          </a:xfrm>
        </p:spPr>
        <p:txBody>
          <a:bodyPr/>
          <a:lstStyle/>
          <a:p>
            <a:pPr marL="0" indent="0" algn="ctr">
              <a:buNone/>
            </a:pPr>
            <a:r>
              <a:rPr lang="en-US" altLang="zh-CN" sz="4400" b="1" dirty="0" smtClean="0">
                <a:solidFill>
                  <a:srgbClr val="2D0AC2"/>
                </a:solidFill>
              </a:rPr>
              <a:t>OpenMP</a:t>
            </a:r>
            <a:r>
              <a:rPr lang="zh-CN" altLang="en-US" sz="4400" b="1" dirty="0" smtClean="0">
                <a:solidFill>
                  <a:srgbClr val="2D0AC2"/>
                </a:solidFill>
              </a:rPr>
              <a:t>中的</a:t>
            </a:r>
            <a:r>
              <a:rPr lang="en-US" altLang="zh-CN" sz="4400" b="1" dirty="0">
                <a:solidFill>
                  <a:srgbClr val="2D0AC2"/>
                </a:solidFill>
              </a:rPr>
              <a:t>atomic</a:t>
            </a:r>
            <a:r>
              <a:rPr lang="zh-CN" altLang="en-US" sz="4400" b="1" dirty="0">
                <a:solidFill>
                  <a:srgbClr val="2D0AC2"/>
                </a:solidFill>
              </a:rPr>
              <a:t>原子操作</a:t>
            </a:r>
            <a:endParaRPr lang="en-US" altLang="zh-CN" sz="4400" b="1" dirty="0" smtClean="0">
              <a:solidFill>
                <a:srgbClr val="2D0AC2"/>
              </a:solidFill>
            </a:endParaRPr>
          </a:p>
          <a:p>
            <a:pPr marL="0" indent="0" algn="ctr">
              <a:buNone/>
            </a:pPr>
            <a:endParaRPr lang="en-US" altLang="zh-CN" sz="1100" b="1" dirty="0" smtClean="0">
              <a:solidFill>
                <a:srgbClr val="2D0AC2"/>
              </a:solidFill>
            </a:endParaRPr>
          </a:p>
          <a:p>
            <a:pPr marL="0" indent="0">
              <a:lnSpc>
                <a:spcPct val="150000"/>
              </a:lnSpc>
              <a:buNone/>
            </a:pPr>
            <a:r>
              <a:rPr lang="en-US" altLang="zh-CN" b="1" dirty="0" smtClean="0">
                <a:solidFill>
                  <a:srgbClr val="C00000"/>
                </a:solidFill>
              </a:rPr>
              <a:t>  C/C</a:t>
            </a:r>
            <a:r>
              <a:rPr lang="en-US" altLang="zh-CN" b="1" dirty="0">
                <a:solidFill>
                  <a:srgbClr val="C00000"/>
                </a:solidFill>
              </a:rPr>
              <a:t>++</a:t>
            </a:r>
            <a:r>
              <a:rPr lang="zh-CN" altLang="en-US" b="1" dirty="0">
                <a:solidFill>
                  <a:srgbClr val="C00000"/>
                </a:solidFill>
              </a:rPr>
              <a:t>中可用的原子操作</a:t>
            </a:r>
            <a:r>
              <a:rPr lang="zh-CN" altLang="en-US" b="1" dirty="0" smtClean="0">
                <a:solidFill>
                  <a:srgbClr val="C00000"/>
                </a:solidFill>
              </a:rPr>
              <a:t>：</a:t>
            </a:r>
            <a:r>
              <a:rPr lang="en-US" altLang="zh-CN" b="1" dirty="0" smtClean="0">
                <a:solidFill>
                  <a:srgbClr val="C00000"/>
                </a:solidFill>
              </a:rPr>
              <a:t>+</a:t>
            </a:r>
            <a:r>
              <a:rPr lang="zh-CN" altLang="en-US" b="1" dirty="0">
                <a:solidFill>
                  <a:srgbClr val="C00000"/>
                </a:solidFill>
              </a:rPr>
              <a:t>、</a:t>
            </a:r>
            <a:r>
              <a:rPr lang="en-US" altLang="zh-CN" b="1" dirty="0">
                <a:solidFill>
                  <a:srgbClr val="C00000"/>
                </a:solidFill>
              </a:rPr>
              <a:t>-</a:t>
            </a:r>
            <a:r>
              <a:rPr lang="zh-CN" altLang="en-US" b="1" dirty="0">
                <a:solidFill>
                  <a:srgbClr val="C00000"/>
                </a:solidFill>
              </a:rPr>
              <a:t>、*、</a:t>
            </a:r>
            <a:r>
              <a:rPr lang="en-US" altLang="zh-CN" b="1" dirty="0">
                <a:solidFill>
                  <a:srgbClr val="C00000"/>
                </a:solidFill>
              </a:rPr>
              <a:t>/</a:t>
            </a:r>
            <a:r>
              <a:rPr lang="zh-CN" altLang="en-US" b="1" dirty="0">
                <a:solidFill>
                  <a:srgbClr val="C00000"/>
                </a:solidFill>
              </a:rPr>
              <a:t>、</a:t>
            </a:r>
            <a:r>
              <a:rPr lang="en-US" altLang="zh-CN" b="1" dirty="0">
                <a:solidFill>
                  <a:srgbClr val="C00000"/>
                </a:solidFill>
              </a:rPr>
              <a:t>&amp;</a:t>
            </a:r>
            <a:r>
              <a:rPr lang="zh-CN" altLang="en-US" b="1" dirty="0">
                <a:solidFill>
                  <a:srgbClr val="C00000"/>
                </a:solidFill>
              </a:rPr>
              <a:t>、</a:t>
            </a:r>
            <a:r>
              <a:rPr lang="en-US" altLang="zh-CN" b="1" dirty="0">
                <a:solidFill>
                  <a:srgbClr val="C00000"/>
                </a:solidFill>
              </a:rPr>
              <a:t>^</a:t>
            </a:r>
            <a:r>
              <a:rPr lang="zh-CN" altLang="en-US" b="1" dirty="0">
                <a:solidFill>
                  <a:srgbClr val="C00000"/>
                </a:solidFill>
              </a:rPr>
              <a:t>、</a:t>
            </a:r>
            <a:r>
              <a:rPr lang="en-US" altLang="zh-CN" b="1" dirty="0">
                <a:solidFill>
                  <a:srgbClr val="C00000"/>
                </a:solidFill>
              </a:rPr>
              <a:t>&lt;&lt;</a:t>
            </a:r>
            <a:r>
              <a:rPr lang="zh-CN" altLang="en-US" b="1" dirty="0">
                <a:solidFill>
                  <a:srgbClr val="C00000"/>
                </a:solidFill>
              </a:rPr>
              <a:t>、</a:t>
            </a:r>
            <a:r>
              <a:rPr lang="en-US" altLang="zh-CN" b="1" dirty="0" smtClean="0">
                <a:solidFill>
                  <a:srgbClr val="C00000"/>
                </a:solidFill>
              </a:rPr>
              <a:t>&gt;&gt;</a:t>
            </a:r>
            <a:r>
              <a:rPr lang="zh-CN" altLang="en-US" b="1" dirty="0">
                <a:solidFill>
                  <a:srgbClr val="C00000"/>
                </a:solidFill>
              </a:rPr>
              <a:t>等</a:t>
            </a:r>
            <a:endParaRPr lang="en-US" altLang="zh-CN" b="1" dirty="0" smtClean="0">
              <a:solidFill>
                <a:srgbClr val="C00000"/>
              </a:solidFill>
            </a:endParaRPr>
          </a:p>
          <a:p>
            <a:pPr marL="0" indent="0">
              <a:lnSpc>
                <a:spcPct val="150000"/>
              </a:lnSpc>
              <a:buNone/>
            </a:pPr>
            <a:r>
              <a:rPr lang="zh-CN" altLang="en-US" b="1" dirty="0" smtClean="0"/>
              <a:t>         值得</a:t>
            </a:r>
            <a:r>
              <a:rPr lang="zh-CN" altLang="en-US" b="1" dirty="0"/>
              <a:t>注意的是，当对一个数据进行原子操作保护的时候，就不能对数据进行临界区的保护，</a:t>
            </a:r>
            <a:r>
              <a:rPr lang="en-US" altLang="zh-CN" b="1" dirty="0"/>
              <a:t>OpenMP</a:t>
            </a:r>
            <a:r>
              <a:rPr lang="zh-CN" altLang="en-US" b="1" dirty="0"/>
              <a:t>运行时并不能在这两种保护机制之间建立配合机制</a:t>
            </a:r>
            <a:r>
              <a:rPr lang="zh-CN" altLang="en-US" b="1" dirty="0" smtClean="0"/>
              <a:t>。用户</a:t>
            </a:r>
            <a:r>
              <a:rPr lang="zh-CN" altLang="en-US" b="1" dirty="0"/>
              <a:t>在针对同一个内存单元使用原子操作的时候，需要在程序所有涉及到该变量并行赋值的部位都加入原子操作的保护。</a:t>
            </a:r>
            <a:endParaRPr lang="en-US" altLang="zh-CN" b="1" dirty="0" smtClean="0"/>
          </a:p>
        </p:txBody>
      </p:sp>
    </p:spTree>
  </p:cSld>
  <p:clrMapOvr>
    <a:masterClrMapping/>
  </p:clrMapOvr>
  <p:transition spd="med" advTm="3025">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28512" y="1447260"/>
            <a:ext cx="4302858" cy="4698707"/>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r>
              <a:rPr lang="en-US" sz="2400" b="1" dirty="0" err="1"/>
              <a:t>int</a:t>
            </a:r>
            <a:r>
              <a:rPr lang="en-US" sz="2400" b="1" dirty="0"/>
              <a:t> counter = 0</a:t>
            </a:r>
            <a:r>
              <a:rPr lang="en-US" sz="2400" b="1" dirty="0" smtClean="0"/>
              <a:t>;</a:t>
            </a:r>
            <a:endParaRPr lang="en-US" sz="2400" b="1" dirty="0"/>
          </a:p>
          <a:p>
            <a:r>
              <a:rPr lang="en-US" sz="2400" b="1" dirty="0" smtClean="0"/>
              <a:t>#</a:t>
            </a:r>
            <a:r>
              <a:rPr lang="en-US" sz="2400" b="1" dirty="0"/>
              <a:t>pragma </a:t>
            </a:r>
            <a:r>
              <a:rPr lang="en-US" sz="2400" b="1" dirty="0" err="1"/>
              <a:t>omp</a:t>
            </a:r>
            <a:r>
              <a:rPr lang="en-US" sz="2400" b="1" dirty="0"/>
              <a:t> parallel</a:t>
            </a:r>
            <a:endParaRPr lang="en-US" sz="2400" b="1" dirty="0"/>
          </a:p>
          <a:p>
            <a:r>
              <a:rPr lang="en-US" sz="2400" b="1" dirty="0" smtClean="0"/>
              <a:t>{</a:t>
            </a:r>
            <a:endParaRPr lang="en-US" sz="2400" b="1" dirty="0"/>
          </a:p>
          <a:p>
            <a:r>
              <a:rPr lang="en-US" sz="2400" b="1" dirty="0" smtClean="0"/>
              <a:t>    for </a:t>
            </a:r>
            <a:r>
              <a:rPr lang="en-US" sz="2400" b="1" dirty="0"/>
              <a:t>(</a:t>
            </a:r>
            <a:r>
              <a:rPr lang="en-US" sz="2400" b="1" dirty="0" err="1"/>
              <a:t>int</a:t>
            </a:r>
            <a:r>
              <a:rPr lang="en-US" sz="2400" b="1" dirty="0"/>
              <a:t> </a:t>
            </a:r>
            <a:r>
              <a:rPr lang="en-US" sz="2400" b="1" dirty="0" err="1"/>
              <a:t>i</a:t>
            </a:r>
            <a:r>
              <a:rPr lang="en-US" sz="2400" b="1" dirty="0"/>
              <a:t>=0; </a:t>
            </a:r>
            <a:r>
              <a:rPr lang="en-US" sz="2400" b="1" dirty="0" err="1"/>
              <a:t>i</a:t>
            </a:r>
            <a:r>
              <a:rPr lang="en-US" sz="2400" b="1" dirty="0"/>
              <a:t>&lt;10000; ++</a:t>
            </a:r>
            <a:r>
              <a:rPr lang="en-US" sz="2400" b="1" dirty="0" err="1"/>
              <a:t>i</a:t>
            </a:r>
            <a:r>
              <a:rPr lang="en-US" sz="2400" b="1" dirty="0"/>
              <a:t>)</a:t>
            </a:r>
            <a:endParaRPr lang="en-US" sz="2400" b="1" dirty="0"/>
          </a:p>
          <a:p>
            <a:r>
              <a:rPr lang="en-US" sz="2400" b="1" dirty="0" smtClean="0"/>
              <a:t>      {</a:t>
            </a:r>
            <a:endParaRPr lang="en-US" sz="2400" b="1" dirty="0"/>
          </a:p>
          <a:p>
            <a:r>
              <a:rPr lang="en-US" sz="2400" b="1" dirty="0" smtClean="0"/>
              <a:t>          </a:t>
            </a:r>
            <a:r>
              <a:rPr lang="en-US" sz="2400" b="1" dirty="0" smtClean="0">
                <a:solidFill>
                  <a:srgbClr val="2D0AC2"/>
                </a:solidFill>
              </a:rPr>
              <a:t>#</a:t>
            </a:r>
            <a:r>
              <a:rPr lang="en-US" sz="2400" b="1" dirty="0">
                <a:solidFill>
                  <a:srgbClr val="2D0AC2"/>
                </a:solidFill>
              </a:rPr>
              <a:t>pragma </a:t>
            </a:r>
            <a:r>
              <a:rPr lang="en-US" sz="2400" b="1" dirty="0" err="1">
                <a:solidFill>
                  <a:srgbClr val="2D0AC2"/>
                </a:solidFill>
              </a:rPr>
              <a:t>omp</a:t>
            </a:r>
            <a:r>
              <a:rPr lang="en-US" sz="2400" b="1" dirty="0">
                <a:solidFill>
                  <a:srgbClr val="2D0AC2"/>
                </a:solidFill>
              </a:rPr>
              <a:t> </a:t>
            </a:r>
            <a:r>
              <a:rPr lang="en-US" sz="2400" b="1" dirty="0" smtClean="0">
                <a:solidFill>
                  <a:srgbClr val="2D0AC2"/>
                </a:solidFill>
              </a:rPr>
              <a:t>atomic</a:t>
            </a:r>
            <a:endParaRPr lang="en-US" sz="2400" b="1" dirty="0">
              <a:solidFill>
                <a:srgbClr val="2D0AC2"/>
              </a:solidFill>
            </a:endParaRPr>
          </a:p>
          <a:p>
            <a:r>
              <a:rPr lang="en-US" sz="2400" b="1" dirty="0"/>
              <a:t>	</a:t>
            </a:r>
            <a:r>
              <a:rPr lang="en-US" sz="2400" b="1" dirty="0" smtClean="0"/>
              <a:t>counter</a:t>
            </a:r>
            <a:r>
              <a:rPr lang="en-US" sz="2400" b="1" dirty="0"/>
              <a:t>++;</a:t>
            </a:r>
            <a:endParaRPr lang="en-US" sz="2400" b="1" dirty="0"/>
          </a:p>
          <a:p>
            <a:r>
              <a:rPr lang="en-US" sz="2400" b="1" dirty="0" smtClean="0"/>
              <a:t>       }</a:t>
            </a:r>
            <a:endParaRPr lang="en-US" sz="2400" b="1" dirty="0"/>
          </a:p>
          <a:p>
            <a:r>
              <a:rPr lang="en-US" sz="2400" b="1" dirty="0" smtClean="0"/>
              <a:t> }</a:t>
            </a:r>
            <a:endParaRPr lang="en-US" sz="2400" b="1" dirty="0"/>
          </a:p>
          <a:p>
            <a:endParaRPr lang="en-US" sz="2400" b="1" dirty="0"/>
          </a:p>
          <a:p>
            <a:r>
              <a:rPr lang="en-US" sz="2400" b="1" dirty="0" err="1" smtClean="0"/>
              <a:t>printf</a:t>
            </a:r>
            <a:r>
              <a:rPr lang="en-US" sz="2400" b="1" dirty="0"/>
              <a:t>("counter=%d\n", counter);</a:t>
            </a:r>
            <a:endParaRPr lang="en-US" sz="2400" b="1" dirty="0"/>
          </a:p>
        </p:txBody>
      </p:sp>
      <p:sp>
        <p:nvSpPr>
          <p:cNvPr id="5" name="矩形 4"/>
          <p:cNvSpPr/>
          <p:nvPr/>
        </p:nvSpPr>
        <p:spPr>
          <a:xfrm>
            <a:off x="2380711" y="423359"/>
            <a:ext cx="8382000" cy="769441"/>
          </a:xfrm>
          <a:prstGeom prst="rect">
            <a:avLst/>
          </a:prstGeom>
        </p:spPr>
        <p:txBody>
          <a:bodyPr wrap="square">
            <a:spAutoFit/>
          </a:bodyPr>
          <a:lstStyle/>
          <a:p>
            <a:pPr lvl="0" algn="ctr" eaLnBrk="0" fontAlgn="base" hangingPunct="0">
              <a:spcBef>
                <a:spcPct val="20000"/>
              </a:spcBef>
              <a:spcAft>
                <a:spcPct val="0"/>
              </a:spcAft>
            </a:pPr>
            <a:r>
              <a:rPr lang="en-US" altLang="zh-CN" sz="4400" b="1" dirty="0">
                <a:solidFill>
                  <a:srgbClr val="2D0AC2"/>
                </a:solidFill>
              </a:rPr>
              <a:t>OpenMP</a:t>
            </a:r>
            <a:r>
              <a:rPr lang="zh-CN" altLang="en-US" sz="4400" b="1" dirty="0">
                <a:solidFill>
                  <a:srgbClr val="2D0AC2"/>
                </a:solidFill>
              </a:rPr>
              <a:t>中的</a:t>
            </a:r>
            <a:r>
              <a:rPr lang="en-US" altLang="zh-CN" sz="4400" b="1" dirty="0">
                <a:solidFill>
                  <a:srgbClr val="2D0AC2"/>
                </a:solidFill>
              </a:rPr>
              <a:t>atomic</a:t>
            </a:r>
            <a:r>
              <a:rPr lang="zh-CN" altLang="en-US" sz="4400" b="1" dirty="0">
                <a:solidFill>
                  <a:srgbClr val="2D0AC2"/>
                </a:solidFill>
              </a:rPr>
              <a:t>原子操作</a:t>
            </a:r>
            <a:endParaRPr lang="en-US" altLang="zh-CN" sz="4400" b="1" dirty="0">
              <a:solidFill>
                <a:srgbClr val="2D0AC2"/>
              </a:solidFill>
            </a:endParaRPr>
          </a:p>
        </p:txBody>
      </p:sp>
      <p:sp>
        <p:nvSpPr>
          <p:cNvPr id="6" name="矩形 5"/>
          <p:cNvSpPr/>
          <p:nvPr/>
        </p:nvSpPr>
        <p:spPr>
          <a:xfrm>
            <a:off x="6302681" y="1165123"/>
            <a:ext cx="5509567" cy="4616648"/>
          </a:xfrm>
          <a:prstGeom prst="rect">
            <a:avLst/>
          </a:prstGeom>
        </p:spPr>
        <p:txBody>
          <a:bodyPr wrap="square">
            <a:spAutoFit/>
          </a:bodyPr>
          <a:lstStyle/>
          <a:p>
            <a:pPr>
              <a:lnSpc>
                <a:spcPct val="150000"/>
              </a:lnSpc>
            </a:pPr>
            <a:r>
              <a:rPr lang="en-US" altLang="zh-CN" sz="2800" dirty="0" smtClean="0">
                <a:solidFill>
                  <a:srgbClr val="6A247A"/>
                </a:solidFill>
              </a:rPr>
              <a:t>         </a:t>
            </a:r>
            <a:r>
              <a:rPr lang="zh-CN" altLang="en-US" sz="2800" b="1" dirty="0" smtClean="0">
                <a:latin typeface="华文新魏" panose="02010800040101010101" pitchFamily="2" charset="-122"/>
                <a:ea typeface="华文新魏" panose="02010800040101010101" pitchFamily="2" charset="-122"/>
              </a:rPr>
              <a:t>由于</a:t>
            </a:r>
            <a:r>
              <a:rPr lang="zh-CN" altLang="en-US" sz="2800" b="1" dirty="0">
                <a:latin typeface="华文新魏" panose="02010800040101010101" pitchFamily="2" charset="-122"/>
                <a:ea typeface="华文新魏" panose="02010800040101010101" pitchFamily="2" charset="-122"/>
              </a:rPr>
              <a:t>使用</a:t>
            </a:r>
            <a:r>
              <a:rPr lang="en-US" altLang="zh-CN" sz="2800" b="1" dirty="0">
                <a:latin typeface="华文新魏" panose="02010800040101010101" pitchFamily="2" charset="-122"/>
                <a:ea typeface="华文新魏" panose="02010800040101010101" pitchFamily="2" charset="-122"/>
              </a:rPr>
              <a:t>atomic</a:t>
            </a:r>
            <a:r>
              <a:rPr lang="zh-CN" altLang="en-US" sz="2800" b="1" dirty="0">
                <a:latin typeface="华文新魏" panose="02010800040101010101" pitchFamily="2" charset="-122"/>
                <a:ea typeface="华文新魏" panose="02010800040101010101" pitchFamily="2" charset="-122"/>
              </a:rPr>
              <a:t>语句，则避免了可能出现的数据访问竞争情况，最后的执行结果都是一致的</a:t>
            </a:r>
            <a:r>
              <a:rPr lang="zh-CN" altLang="en-US" sz="2800" b="1" dirty="0" smtClean="0">
                <a:latin typeface="华文新魏" panose="02010800040101010101" pitchFamily="2" charset="-122"/>
                <a:ea typeface="华文新魏" panose="02010800040101010101" pitchFamily="2" charset="-122"/>
              </a:rPr>
              <a:t>。</a:t>
            </a:r>
            <a:endParaRPr lang="en-US" altLang="zh-CN" sz="2800" b="1" dirty="0" smtClean="0">
              <a:latin typeface="华文新魏" panose="02010800040101010101" pitchFamily="2" charset="-122"/>
              <a:ea typeface="华文新魏" panose="02010800040101010101" pitchFamily="2" charset="-122"/>
            </a:endParaRPr>
          </a:p>
          <a:p>
            <a:pPr>
              <a:lnSpc>
                <a:spcPct val="150000"/>
              </a:lnSpc>
            </a:pPr>
            <a:r>
              <a:rPr lang="en-US" altLang="zh-CN" sz="2800" b="1" dirty="0">
                <a:latin typeface="华文新魏" panose="02010800040101010101" pitchFamily="2" charset="-122"/>
                <a:ea typeface="华文新魏" panose="02010800040101010101" pitchFamily="2" charset="-122"/>
              </a:rPr>
              <a:t> </a:t>
            </a:r>
            <a:r>
              <a:rPr lang="en-US" altLang="zh-CN" sz="2800" b="1" dirty="0" smtClean="0">
                <a:latin typeface="华文新魏" panose="02010800040101010101" pitchFamily="2" charset="-122"/>
                <a:ea typeface="华文新魏" panose="02010800040101010101" pitchFamily="2" charset="-122"/>
              </a:rPr>
              <a:t>       </a:t>
            </a:r>
            <a:r>
              <a:rPr lang="zh-CN" altLang="en-US" sz="2800" b="1" dirty="0" smtClean="0">
                <a:latin typeface="华文新魏" panose="02010800040101010101" pitchFamily="2" charset="-122"/>
                <a:ea typeface="华文新魏" panose="02010800040101010101" pitchFamily="2" charset="-122"/>
              </a:rPr>
              <a:t>而</a:t>
            </a:r>
            <a:r>
              <a:rPr lang="zh-CN" altLang="en-US" sz="2800" b="1" dirty="0">
                <a:latin typeface="华文新魏" panose="02010800040101010101" pitchFamily="2" charset="-122"/>
                <a:ea typeface="华文新魏" panose="02010800040101010101" pitchFamily="2" charset="-122"/>
              </a:rPr>
              <a:t>将</a:t>
            </a:r>
            <a:r>
              <a:rPr lang="en-US" altLang="zh-CN" sz="2800" b="1" dirty="0">
                <a:latin typeface="华文新魏" panose="02010800040101010101" pitchFamily="2" charset="-122"/>
                <a:ea typeface="华文新魏" panose="02010800040101010101" pitchFamily="2" charset="-122"/>
              </a:rPr>
              <a:t>atomic</a:t>
            </a:r>
            <a:r>
              <a:rPr lang="zh-CN" altLang="en-US" sz="2800" b="1" dirty="0">
                <a:latin typeface="华文新魏" panose="02010800040101010101" pitchFamily="2" charset="-122"/>
                <a:ea typeface="华文新魏" panose="02010800040101010101" pitchFamily="2" charset="-122"/>
              </a:rPr>
              <a:t>这一行语句从源程序中删除时，由于有了数据访问的竞争情况，所以最后的</a:t>
            </a:r>
            <a:r>
              <a:rPr lang="zh-CN" altLang="en-US" sz="2800" b="1" dirty="0">
                <a:solidFill>
                  <a:srgbClr val="6A247A"/>
                </a:solidFill>
                <a:latin typeface="华文新魏" panose="02010800040101010101" pitchFamily="2" charset="-122"/>
                <a:ea typeface="华文新魏" panose="02010800040101010101" pitchFamily="2" charset="-122"/>
              </a:rPr>
              <a:t>执行结果是不确定的</a:t>
            </a:r>
            <a:r>
              <a:rPr lang="zh-CN" altLang="en-US" sz="2800" b="1" dirty="0">
                <a:latin typeface="华文新魏" panose="02010800040101010101" pitchFamily="2" charset="-122"/>
                <a:ea typeface="华文新魏" panose="02010800040101010101" pitchFamily="2" charset="-122"/>
              </a:rPr>
              <a:t>。</a:t>
            </a:r>
            <a:endParaRPr lang="zh-CN" altLang="en-US" sz="2800" b="1" dirty="0">
              <a:latin typeface="华文新魏" panose="02010800040101010101" pitchFamily="2" charset="-122"/>
              <a:ea typeface="华文新魏" panose="02010800040101010101" pitchFamily="2" charset="-122"/>
            </a:endParaRPr>
          </a:p>
        </p:txBody>
      </p:sp>
    </p:spTree>
  </p:cSld>
  <p:clrMapOvr>
    <a:masterClrMapping/>
  </p:clrMapOvr>
  <p:transition spd="med" advTm="3025">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99278" y="633095"/>
            <a:ext cx="10203305" cy="3170099"/>
          </a:xfrm>
          <a:prstGeom prst="rect">
            <a:avLst/>
          </a:prstGeom>
        </p:spPr>
        <p:txBody>
          <a:bodyPr wrap="square">
            <a:spAutoFit/>
          </a:bodyPr>
          <a:lstStyle/>
          <a:p>
            <a:pPr algn="ctr">
              <a:lnSpc>
                <a:spcPts val="4000"/>
              </a:lnSpc>
            </a:pPr>
            <a:r>
              <a:rPr lang="en-US" sz="4000" b="1" dirty="0">
                <a:solidFill>
                  <a:srgbClr val="2D0AC2"/>
                </a:solidFill>
                <a:latin typeface="+mj-lt"/>
                <a:ea typeface="华文行楷" panose="02010800040101010101" pitchFamily="2" charset="-122"/>
              </a:rPr>
              <a:t>b</a:t>
            </a:r>
            <a:r>
              <a:rPr lang="en-US" sz="4000" b="1" dirty="0" smtClean="0">
                <a:solidFill>
                  <a:srgbClr val="2D0AC2"/>
                </a:solidFill>
                <a:latin typeface="+mj-lt"/>
                <a:ea typeface="华文行楷" panose="02010800040101010101" pitchFamily="2" charset="-122"/>
              </a:rPr>
              <a:t>arrier</a:t>
            </a:r>
            <a:r>
              <a:rPr lang="zh-CN" altLang="en-US" sz="4000" b="1" dirty="0" smtClean="0">
                <a:solidFill>
                  <a:srgbClr val="2D0AC2"/>
                </a:solidFill>
                <a:latin typeface="+mj-lt"/>
                <a:ea typeface="华文行楷" panose="02010800040101010101" pitchFamily="2" charset="-122"/>
              </a:rPr>
              <a:t>指导语</a:t>
            </a:r>
            <a:r>
              <a:rPr lang="zh-CN" altLang="en-US" sz="4000" b="1" dirty="0">
                <a:solidFill>
                  <a:srgbClr val="2D0AC2"/>
                </a:solidFill>
                <a:latin typeface="+mj-lt"/>
                <a:ea typeface="华文行楷" panose="02010800040101010101" pitchFamily="2" charset="-122"/>
              </a:rPr>
              <a:t>句 </a:t>
            </a:r>
            <a:endParaRPr lang="en-US" altLang="zh-CN" sz="4000" b="1" dirty="0" smtClean="0">
              <a:solidFill>
                <a:srgbClr val="2D0AC2"/>
              </a:solidFill>
              <a:latin typeface="+mj-lt"/>
              <a:ea typeface="华文行楷" panose="02010800040101010101" pitchFamily="2" charset="-122"/>
            </a:endParaRPr>
          </a:p>
          <a:p>
            <a:pPr marL="457200" indent="-457200">
              <a:lnSpc>
                <a:spcPts val="4000"/>
              </a:lnSpc>
              <a:buFont typeface="Arial" panose="020B0604020202020204" pitchFamily="34" charset="0"/>
              <a:buChar char="•"/>
            </a:pPr>
            <a:r>
              <a:rPr lang="en-US" sz="2800" b="1" dirty="0"/>
              <a:t>b</a:t>
            </a:r>
            <a:r>
              <a:rPr lang="en-US" sz="2800" b="1" dirty="0" smtClean="0"/>
              <a:t>arrier</a:t>
            </a:r>
            <a:r>
              <a:rPr lang="zh-CN" altLang="en-US" sz="2800" b="1" dirty="0" smtClean="0"/>
              <a:t>指导语</a:t>
            </a:r>
            <a:r>
              <a:rPr lang="zh-CN" altLang="en-US" sz="2800" b="1" dirty="0"/>
              <a:t>句用来同步一个线程组中所有的线程 </a:t>
            </a:r>
            <a:endParaRPr lang="zh-CN" altLang="en-US" sz="2800" b="1" dirty="0"/>
          </a:p>
          <a:p>
            <a:pPr marL="457200" indent="-457200">
              <a:lnSpc>
                <a:spcPts val="4000"/>
              </a:lnSpc>
              <a:buFont typeface="Arial" panose="020B0604020202020204" pitchFamily="34" charset="0"/>
              <a:buChar char="•"/>
            </a:pPr>
            <a:r>
              <a:rPr lang="zh-CN" altLang="en-US" sz="2800" b="1" dirty="0" smtClean="0"/>
              <a:t>先</a:t>
            </a:r>
            <a:r>
              <a:rPr lang="zh-CN" altLang="en-US" sz="2800" b="1" dirty="0"/>
              <a:t>到达的线程在此阻塞，等待</a:t>
            </a:r>
            <a:r>
              <a:rPr lang="zh-CN" altLang="en-US" sz="2800" b="1" dirty="0" smtClean="0"/>
              <a:t>其它线程 </a:t>
            </a:r>
            <a:endParaRPr lang="zh-CN" altLang="en-US" sz="2800" b="1" dirty="0"/>
          </a:p>
          <a:p>
            <a:pPr marL="457200" indent="-457200">
              <a:lnSpc>
                <a:spcPts val="4000"/>
              </a:lnSpc>
              <a:buFont typeface="Arial" panose="020B0604020202020204" pitchFamily="34" charset="0"/>
              <a:buChar char="•"/>
            </a:pPr>
            <a:r>
              <a:rPr lang="en-US" sz="2800" b="1" dirty="0" smtClean="0"/>
              <a:t>barrier</a:t>
            </a:r>
            <a:r>
              <a:rPr lang="zh-CN" altLang="en-US" sz="2800" b="1" dirty="0"/>
              <a:t>语句最小代码必须是一个结构化的块 </a:t>
            </a:r>
            <a:endParaRPr lang="zh-CN" altLang="en-US" sz="2800" b="1" dirty="0"/>
          </a:p>
          <a:p>
            <a:pPr>
              <a:lnSpc>
                <a:spcPts val="4000"/>
              </a:lnSpc>
            </a:pPr>
            <a:r>
              <a:rPr lang="zh-CN" altLang="en-US" sz="2800" b="1" dirty="0" smtClean="0"/>
              <a:t>语句</a:t>
            </a:r>
            <a:r>
              <a:rPr lang="zh-CN" altLang="en-US" sz="2800" b="1" dirty="0"/>
              <a:t>格式 </a:t>
            </a:r>
            <a:endParaRPr lang="zh-CN" altLang="en-US" sz="2800" b="1" dirty="0"/>
          </a:p>
          <a:p>
            <a:pPr>
              <a:lnSpc>
                <a:spcPts val="4000"/>
              </a:lnSpc>
            </a:pPr>
            <a:r>
              <a:rPr lang="en-US" altLang="zh-CN" sz="2800" b="1" dirty="0" smtClean="0">
                <a:solidFill>
                  <a:srgbClr val="6A247A"/>
                </a:solidFill>
              </a:rPr>
              <a:t>#</a:t>
            </a:r>
            <a:r>
              <a:rPr lang="en-US" sz="2800" b="1" dirty="0">
                <a:solidFill>
                  <a:srgbClr val="6A247A"/>
                </a:solidFill>
              </a:rPr>
              <a:t>pragma </a:t>
            </a:r>
            <a:r>
              <a:rPr lang="en-US" sz="2800" b="1" dirty="0" err="1">
                <a:solidFill>
                  <a:srgbClr val="6A247A"/>
                </a:solidFill>
              </a:rPr>
              <a:t>omp</a:t>
            </a:r>
            <a:r>
              <a:rPr lang="en-US" sz="2800" b="1" dirty="0">
                <a:solidFill>
                  <a:srgbClr val="6A247A"/>
                </a:solidFill>
              </a:rPr>
              <a:t> barrier newline </a:t>
            </a:r>
            <a:endParaRPr lang="en-US" sz="2800" b="1" dirty="0">
              <a:solidFill>
                <a:srgbClr val="6A247A"/>
              </a:solidFill>
            </a:endParaRPr>
          </a:p>
        </p:txBody>
      </p:sp>
      <p:pic>
        <p:nvPicPr>
          <p:cNvPr id="3" name="图片 2"/>
          <p:cNvPicPr>
            <a:picLocks noChangeAspect="1"/>
          </p:cNvPicPr>
          <p:nvPr/>
        </p:nvPicPr>
        <p:blipFill>
          <a:blip r:embed="rId1"/>
          <a:stretch>
            <a:fillRect/>
          </a:stretch>
        </p:blipFill>
        <p:spPr>
          <a:xfrm>
            <a:off x="1530870" y="3803194"/>
            <a:ext cx="8197746" cy="2552636"/>
          </a:xfrm>
          <a:prstGeom prst="rect">
            <a:avLst/>
          </a:prstGeom>
        </p:spPr>
      </p:pic>
    </p:spTree>
  </p:cSld>
  <p:clrMapOvr>
    <a:masterClrMapping/>
  </p:clrMapOvr>
  <p:transition spd="med" advTm="3025">
    <p:fade/>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94509" y="709274"/>
            <a:ext cx="10418618" cy="4893647"/>
          </a:xfrm>
          <a:prstGeom prst="rect">
            <a:avLst/>
          </a:prstGeom>
        </p:spPr>
        <p:txBody>
          <a:bodyPr wrap="square">
            <a:spAutoFit/>
          </a:bodyPr>
          <a:lstStyle/>
          <a:p>
            <a:pPr algn="ctr">
              <a:lnSpc>
                <a:spcPct val="150000"/>
              </a:lnSpc>
            </a:pPr>
            <a:r>
              <a:rPr lang="en-US" sz="4000" b="1" dirty="0">
                <a:solidFill>
                  <a:srgbClr val="2D0AC2"/>
                </a:solidFill>
                <a:ea typeface="华文行楷" panose="02010800040101010101" pitchFamily="2" charset="-122"/>
              </a:rPr>
              <a:t>barrier</a:t>
            </a:r>
            <a:r>
              <a:rPr lang="zh-CN" altLang="en-US" sz="4000" b="1" dirty="0">
                <a:solidFill>
                  <a:srgbClr val="2D0AC2"/>
                </a:solidFill>
                <a:ea typeface="华文行楷" panose="02010800040101010101" pitchFamily="2" charset="-122"/>
              </a:rPr>
              <a:t>指导语句</a:t>
            </a:r>
            <a:endParaRPr lang="en-US" altLang="zh-CN" sz="2800" b="1" dirty="0" smtClean="0"/>
          </a:p>
          <a:p>
            <a:pPr>
              <a:lnSpc>
                <a:spcPct val="150000"/>
              </a:lnSpc>
            </a:pPr>
            <a:r>
              <a:rPr lang="zh-CN" altLang="en-US" sz="2800" b="1" dirty="0" smtClean="0"/>
              <a:t>         在</a:t>
            </a:r>
            <a:r>
              <a:rPr lang="zh-CN" altLang="en-US" sz="2800" b="1" dirty="0"/>
              <a:t>每一个并行域和任务分担域的结束处</a:t>
            </a:r>
            <a:r>
              <a:rPr lang="zh-CN" altLang="en-US" sz="2800" b="1" dirty="0">
                <a:solidFill>
                  <a:srgbClr val="C00000"/>
                </a:solidFill>
              </a:rPr>
              <a:t>都会有一个隐含的同步路障</a:t>
            </a:r>
            <a:r>
              <a:rPr lang="zh-CN" altLang="en-US" sz="2800" b="1" dirty="0"/>
              <a:t>，执行此并行域</a:t>
            </a:r>
            <a:r>
              <a:rPr lang="en-US" altLang="zh-CN" sz="2800" b="1" dirty="0"/>
              <a:t>/</a:t>
            </a:r>
            <a:r>
              <a:rPr lang="zh-CN" altLang="en-US" sz="2800" b="1" dirty="0"/>
              <a:t>任务分担域的线程组在执行完毕本区域代码之前，都需要同步并行域的所有线程。也就是说在</a:t>
            </a:r>
            <a:r>
              <a:rPr lang="en-US" altLang="zh-CN" sz="2800" b="1" dirty="0"/>
              <a:t>parallel</a:t>
            </a:r>
            <a:r>
              <a:rPr lang="zh-CN" altLang="en-US" sz="2800" b="1" dirty="0"/>
              <a:t>、</a:t>
            </a:r>
            <a:r>
              <a:rPr lang="en-US" altLang="zh-CN" sz="2800" b="1" dirty="0"/>
              <a:t>for</a:t>
            </a:r>
            <a:r>
              <a:rPr lang="zh-CN" altLang="en-US" sz="2800" b="1" dirty="0"/>
              <a:t>、</a:t>
            </a:r>
            <a:r>
              <a:rPr lang="en-US" altLang="zh-CN" sz="2800" b="1" dirty="0"/>
              <a:t>sections</a:t>
            </a:r>
            <a:r>
              <a:rPr lang="zh-CN" altLang="en-US" sz="2800" b="1" dirty="0"/>
              <a:t>和</a:t>
            </a:r>
            <a:r>
              <a:rPr lang="en-US" altLang="zh-CN" sz="2800" b="1" dirty="0"/>
              <a:t>single</a:t>
            </a:r>
            <a:r>
              <a:rPr lang="zh-CN" altLang="en-US" sz="2800" b="1" dirty="0"/>
              <a:t>构造的最后，会有一个隐式的路障</a:t>
            </a:r>
            <a:r>
              <a:rPr lang="zh-CN" altLang="en-US" sz="2800" b="1" dirty="0" smtClean="0"/>
              <a:t>。</a:t>
            </a:r>
            <a:endParaRPr lang="en-US" altLang="zh-CN" sz="2800" b="1" dirty="0" smtClean="0"/>
          </a:p>
          <a:p>
            <a:pPr>
              <a:lnSpc>
                <a:spcPct val="150000"/>
              </a:lnSpc>
            </a:pPr>
            <a:r>
              <a:rPr lang="en-US" altLang="zh-CN" sz="2800" b="1" dirty="0"/>
              <a:t> </a:t>
            </a:r>
            <a:r>
              <a:rPr lang="en-US" altLang="zh-CN" sz="2800" b="1" dirty="0" smtClean="0"/>
              <a:t>         </a:t>
            </a:r>
            <a:r>
              <a:rPr lang="zh-CN" altLang="en-US" sz="2800" b="1" dirty="0" smtClean="0"/>
              <a:t>在</a:t>
            </a:r>
            <a:r>
              <a:rPr lang="zh-CN" altLang="en-US" sz="2800" b="1" dirty="0"/>
              <a:t>有些情况下，隐含的同步路障并不能提供有效的同步措施。这时，需要程序员插入明确的同步路障语句</a:t>
            </a:r>
            <a:r>
              <a:rPr lang="en-US" altLang="zh-CN" sz="2800" b="1" dirty="0"/>
              <a:t>#pragma </a:t>
            </a:r>
            <a:r>
              <a:rPr lang="en-US" altLang="zh-CN" sz="2800" b="1" dirty="0" err="1"/>
              <a:t>omp</a:t>
            </a:r>
            <a:r>
              <a:rPr lang="en-US" altLang="zh-CN" sz="2800" b="1" dirty="0"/>
              <a:t> barrier</a:t>
            </a:r>
            <a:r>
              <a:rPr lang="zh-CN" altLang="en-US" sz="2800" b="1" dirty="0" smtClean="0"/>
              <a:t>。</a:t>
            </a:r>
            <a:endParaRPr lang="en-US" sz="2800" b="1" dirty="0"/>
          </a:p>
        </p:txBody>
      </p:sp>
    </p:spTree>
  </p:cSld>
  <p:clrMapOvr>
    <a:masterClrMapping/>
  </p:clrMapOvr>
  <p:transition spd="med" advTm="3025">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44248" y="753017"/>
            <a:ext cx="10038413" cy="3662541"/>
          </a:xfrm>
          <a:prstGeom prst="rect">
            <a:avLst/>
          </a:prstGeom>
        </p:spPr>
        <p:txBody>
          <a:bodyPr wrap="square">
            <a:spAutoFit/>
          </a:bodyPr>
          <a:lstStyle/>
          <a:p>
            <a:pPr algn="ctr"/>
            <a:r>
              <a:rPr lang="en-US" altLang="zh-CN" sz="4400" b="1" dirty="0">
                <a:solidFill>
                  <a:srgbClr val="2D0AC2"/>
                </a:solidFill>
                <a:latin typeface="+mj-lt"/>
                <a:ea typeface="华文行楷" panose="02010800040101010101" pitchFamily="2" charset="-122"/>
              </a:rPr>
              <a:t>f</a:t>
            </a:r>
            <a:r>
              <a:rPr lang="en-US" altLang="zh-CN" sz="4400" b="1" dirty="0" smtClean="0">
                <a:solidFill>
                  <a:srgbClr val="2D0AC2"/>
                </a:solidFill>
                <a:latin typeface="+mj-lt"/>
                <a:ea typeface="华文行楷" panose="02010800040101010101" pitchFamily="2" charset="-122"/>
              </a:rPr>
              <a:t>lush</a:t>
            </a:r>
            <a:r>
              <a:rPr lang="zh-CN" altLang="en-US" sz="4400" b="1" dirty="0" smtClean="0">
                <a:solidFill>
                  <a:srgbClr val="2D0AC2"/>
                </a:solidFill>
                <a:latin typeface="+mj-lt"/>
                <a:ea typeface="华文行楷" panose="02010800040101010101" pitchFamily="2" charset="-122"/>
              </a:rPr>
              <a:t>指导语</a:t>
            </a:r>
            <a:r>
              <a:rPr lang="zh-CN" altLang="en-US" sz="4400" b="1" dirty="0">
                <a:solidFill>
                  <a:srgbClr val="2D0AC2"/>
                </a:solidFill>
                <a:latin typeface="+mj-lt"/>
                <a:ea typeface="华文行楷" panose="02010800040101010101" pitchFamily="2" charset="-122"/>
              </a:rPr>
              <a:t>句 </a:t>
            </a:r>
            <a:endParaRPr lang="zh-CN" altLang="en-US" sz="4400" b="1" dirty="0">
              <a:solidFill>
                <a:srgbClr val="2D0AC2"/>
              </a:solidFill>
              <a:latin typeface="+mj-lt"/>
              <a:ea typeface="华文行楷" panose="02010800040101010101" pitchFamily="2" charset="-122"/>
            </a:endParaRPr>
          </a:p>
          <a:p>
            <a:r>
              <a:rPr lang="zh-CN" altLang="en-US" sz="2800" b="1" dirty="0" smtClean="0"/>
              <a:t>         </a:t>
            </a:r>
            <a:r>
              <a:rPr lang="en-US" altLang="zh-CN" sz="2800" b="1" dirty="0" smtClean="0"/>
              <a:t>flush</a:t>
            </a:r>
            <a:r>
              <a:rPr lang="zh-CN" altLang="en-US" sz="2800" b="1" dirty="0"/>
              <a:t>制导语句用以标识一个同步点，用以确保所有</a:t>
            </a:r>
            <a:r>
              <a:rPr lang="zh-CN" altLang="en-US" sz="2800" b="1" dirty="0" smtClean="0"/>
              <a:t>的线程</a:t>
            </a:r>
            <a:r>
              <a:rPr lang="zh-CN" altLang="en-US" sz="2800" b="1" dirty="0"/>
              <a:t>看到一致的存储器视图 </a:t>
            </a:r>
            <a:r>
              <a:rPr lang="zh-CN" altLang="en-US" sz="2800" b="1" dirty="0" smtClean="0"/>
              <a:t>。</a:t>
            </a:r>
            <a:endParaRPr lang="zh-CN" altLang="en-US" sz="2800" b="1" dirty="0"/>
          </a:p>
          <a:p>
            <a:r>
              <a:rPr lang="zh-CN" altLang="en-US" sz="2800" b="1" dirty="0" smtClean="0"/>
              <a:t> </a:t>
            </a:r>
            <a:r>
              <a:rPr lang="zh-CN" altLang="en-US" sz="2800" b="1" dirty="0"/>
              <a:t>语句格式 </a:t>
            </a:r>
            <a:endParaRPr lang="zh-CN" altLang="en-US" sz="2800" b="1" dirty="0"/>
          </a:p>
          <a:p>
            <a:r>
              <a:rPr lang="zh-CN" altLang="en-US" sz="2800" b="1" dirty="0" smtClean="0"/>
              <a:t> </a:t>
            </a:r>
            <a:r>
              <a:rPr lang="en-US" altLang="zh-CN" sz="2800" b="1" dirty="0">
                <a:solidFill>
                  <a:srgbClr val="2D0AC2"/>
                </a:solidFill>
              </a:rPr>
              <a:t>#pragma </a:t>
            </a:r>
            <a:r>
              <a:rPr lang="en-US" altLang="zh-CN" sz="2800" b="1" dirty="0" err="1">
                <a:solidFill>
                  <a:srgbClr val="2D0AC2"/>
                </a:solidFill>
              </a:rPr>
              <a:t>omp</a:t>
            </a:r>
            <a:r>
              <a:rPr lang="en-US" altLang="zh-CN" sz="2800" b="1" dirty="0">
                <a:solidFill>
                  <a:srgbClr val="2D0AC2"/>
                </a:solidFill>
              </a:rPr>
              <a:t> flush (list) newline  </a:t>
            </a:r>
            <a:endParaRPr lang="en-US" altLang="zh-CN" sz="2800" b="1" dirty="0" smtClean="0">
              <a:solidFill>
                <a:srgbClr val="2D0AC2"/>
              </a:solidFill>
            </a:endParaRPr>
          </a:p>
          <a:p>
            <a:endParaRPr lang="en-US" altLang="zh-CN" sz="2800" b="1" dirty="0">
              <a:solidFill>
                <a:srgbClr val="2D0AC2"/>
              </a:solidFill>
            </a:endParaRPr>
          </a:p>
          <a:p>
            <a:pPr marL="342900" indent="-342900">
              <a:buFont typeface="Wingdings" panose="05000000000000000000" pitchFamily="2" charset="2"/>
              <a:buChar char="q"/>
            </a:pPr>
            <a:r>
              <a:rPr lang="en-US" altLang="zh-CN" sz="2400" b="1" dirty="0" smtClean="0"/>
              <a:t> </a:t>
            </a:r>
            <a:r>
              <a:rPr lang="en-US" altLang="zh-CN" sz="2400" b="1" dirty="0"/>
              <a:t>flush</a:t>
            </a:r>
            <a:r>
              <a:rPr lang="zh-CN" altLang="en-US" sz="2400" b="1" dirty="0"/>
              <a:t>将在下面几种情形下隐含运行</a:t>
            </a:r>
            <a:r>
              <a:rPr lang="zh-CN" altLang="en-US" sz="2400" b="1" dirty="0" smtClean="0"/>
              <a:t>，</a:t>
            </a:r>
            <a:endParaRPr lang="en-US" altLang="zh-CN" sz="2400" b="1" dirty="0" smtClean="0"/>
          </a:p>
          <a:p>
            <a:r>
              <a:rPr lang="zh-CN" altLang="en-US" sz="2400" b="1" dirty="0"/>
              <a:t>遇</a:t>
            </a:r>
            <a:r>
              <a:rPr lang="en-US" altLang="zh-CN" sz="2400" b="1" dirty="0" err="1" smtClean="0"/>
              <a:t>nowait</a:t>
            </a:r>
            <a:r>
              <a:rPr lang="zh-CN" altLang="en-US" sz="2400" b="1" dirty="0"/>
              <a:t>子句除外 </a:t>
            </a:r>
            <a:endParaRPr lang="en-US" sz="2400" b="1" dirty="0"/>
          </a:p>
        </p:txBody>
      </p:sp>
      <p:pic>
        <p:nvPicPr>
          <p:cNvPr id="3" name="图片 2"/>
          <p:cNvPicPr>
            <a:picLocks noChangeAspect="1"/>
          </p:cNvPicPr>
          <p:nvPr/>
        </p:nvPicPr>
        <p:blipFill>
          <a:blip r:embed="rId1"/>
          <a:stretch>
            <a:fillRect/>
          </a:stretch>
        </p:blipFill>
        <p:spPr>
          <a:xfrm>
            <a:off x="7182785" y="2252828"/>
            <a:ext cx="4542461" cy="3608325"/>
          </a:xfrm>
          <a:prstGeom prst="rect">
            <a:avLst/>
          </a:prstGeom>
        </p:spPr>
      </p:pic>
    </p:spTree>
  </p:cSld>
  <p:clrMapOvr>
    <a:masterClrMapping/>
  </p:clrMapOvr>
  <p:transition spd="med" advTm="3025">
    <p:fade/>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59568" y="458639"/>
            <a:ext cx="10658006" cy="5878532"/>
          </a:xfrm>
          <a:prstGeom prst="rect">
            <a:avLst/>
          </a:prstGeom>
        </p:spPr>
        <p:txBody>
          <a:bodyPr wrap="square">
            <a:spAutoFit/>
          </a:bodyPr>
          <a:lstStyle/>
          <a:p>
            <a:pPr algn="ctr"/>
            <a:r>
              <a:rPr lang="zh-CN" altLang="en-US" sz="4000" b="1" dirty="0">
                <a:solidFill>
                  <a:srgbClr val="2D0AC2"/>
                </a:solidFill>
                <a:latin typeface="华文新魏" panose="02010800040101010101" pitchFamily="2" charset="-122"/>
                <a:ea typeface="华文新魏" panose="02010800040101010101" pitchFamily="2" charset="-122"/>
              </a:rPr>
              <a:t>数据环境</a:t>
            </a:r>
            <a:r>
              <a:rPr lang="zh-CN" altLang="en-US" sz="4000" b="1" dirty="0" smtClean="0">
                <a:solidFill>
                  <a:srgbClr val="2D0AC2"/>
                </a:solidFill>
                <a:latin typeface="华文新魏" panose="02010800040101010101" pitchFamily="2" charset="-122"/>
                <a:ea typeface="华文新魏" panose="02010800040101010101" pitchFamily="2" charset="-122"/>
              </a:rPr>
              <a:t>控制</a:t>
            </a:r>
            <a:endParaRPr lang="en-US" altLang="zh-CN" sz="4000" b="1" dirty="0" smtClean="0">
              <a:solidFill>
                <a:srgbClr val="2D0AC2"/>
              </a:solidFill>
              <a:latin typeface="华文新魏" panose="02010800040101010101" pitchFamily="2" charset="-122"/>
              <a:ea typeface="华文新魏" panose="02010800040101010101" pitchFamily="2" charset="-122"/>
            </a:endParaRPr>
          </a:p>
          <a:p>
            <a:pPr>
              <a:lnSpc>
                <a:spcPct val="150000"/>
              </a:lnSpc>
            </a:pPr>
            <a:r>
              <a:rPr lang="zh-CN" altLang="en-US" sz="2800" b="1" dirty="0" smtClean="0">
                <a:solidFill>
                  <a:srgbClr val="000000"/>
                </a:solidFill>
              </a:rPr>
              <a:t>         通常</a:t>
            </a:r>
            <a:r>
              <a:rPr lang="zh-CN" altLang="en-US" sz="2800" b="1" dirty="0">
                <a:solidFill>
                  <a:srgbClr val="000000"/>
                </a:solidFill>
              </a:rPr>
              <a:t>来说，</a:t>
            </a:r>
            <a:r>
              <a:rPr lang="en-US" altLang="zh-CN" sz="2800" b="1" dirty="0">
                <a:solidFill>
                  <a:srgbClr val="000000"/>
                </a:solidFill>
              </a:rPr>
              <a:t>OpenMP</a:t>
            </a:r>
            <a:r>
              <a:rPr lang="zh-CN" altLang="en-US" sz="2800" b="1" dirty="0">
                <a:solidFill>
                  <a:srgbClr val="000000"/>
                </a:solidFill>
              </a:rPr>
              <a:t>是建立在共享存储结构的计算机之上，使用操作系统提供的线程作为并发执行的基础，所以线程间的全局变量和静态变量是共享的，而局部变量、自动变量是私有的</a:t>
            </a:r>
            <a:r>
              <a:rPr lang="zh-CN" altLang="en-US" sz="2800" b="1" dirty="0" smtClean="0">
                <a:solidFill>
                  <a:srgbClr val="000000"/>
                </a:solidFill>
              </a:rPr>
              <a:t>。</a:t>
            </a:r>
            <a:endParaRPr lang="en-US" altLang="zh-CN" sz="2800" b="1" dirty="0" smtClean="0">
              <a:solidFill>
                <a:srgbClr val="000000"/>
              </a:solidFill>
            </a:endParaRPr>
          </a:p>
          <a:p>
            <a:pPr>
              <a:lnSpc>
                <a:spcPct val="150000"/>
              </a:lnSpc>
            </a:pPr>
            <a:r>
              <a:rPr lang="en-US" altLang="zh-CN" sz="2800" b="1" dirty="0">
                <a:solidFill>
                  <a:srgbClr val="000000"/>
                </a:solidFill>
              </a:rPr>
              <a:t> </a:t>
            </a:r>
            <a:r>
              <a:rPr lang="en-US" altLang="zh-CN" sz="2800" b="1" dirty="0" smtClean="0">
                <a:solidFill>
                  <a:srgbClr val="000000"/>
                </a:solidFill>
              </a:rPr>
              <a:t>         </a:t>
            </a:r>
            <a:r>
              <a:rPr lang="zh-CN" altLang="en-US" sz="2800" b="1" dirty="0" smtClean="0">
                <a:solidFill>
                  <a:srgbClr val="000000"/>
                </a:solidFill>
              </a:rPr>
              <a:t>但是</a:t>
            </a:r>
            <a:r>
              <a:rPr lang="zh-CN" altLang="en-US" sz="2800" b="1" dirty="0">
                <a:solidFill>
                  <a:srgbClr val="000000"/>
                </a:solidFill>
              </a:rPr>
              <a:t>对</a:t>
            </a:r>
            <a:r>
              <a:rPr lang="en-US" altLang="zh-CN" sz="2800" b="1" dirty="0">
                <a:solidFill>
                  <a:srgbClr val="000000"/>
                </a:solidFill>
              </a:rPr>
              <a:t>OpenMP</a:t>
            </a:r>
            <a:r>
              <a:rPr lang="zh-CN" altLang="en-US" sz="2800" b="1" dirty="0">
                <a:solidFill>
                  <a:srgbClr val="000000"/>
                </a:solidFill>
              </a:rPr>
              <a:t>编程而言，</a:t>
            </a:r>
            <a:r>
              <a:rPr lang="zh-CN" altLang="en-US" sz="2800" b="1" dirty="0">
                <a:solidFill>
                  <a:srgbClr val="2D0AC2"/>
                </a:solidFill>
              </a:rPr>
              <a:t>缺省变量往往是共享变量</a:t>
            </a:r>
            <a:r>
              <a:rPr lang="zh-CN" altLang="en-US" sz="2800" b="1" dirty="0">
                <a:solidFill>
                  <a:srgbClr val="000000"/>
                </a:solidFill>
              </a:rPr>
              <a:t>，而不管它是不是全局静态变量还是局部自动变量</a:t>
            </a:r>
            <a:r>
              <a:rPr lang="zh-CN" altLang="en-US" sz="2800" b="1" dirty="0" smtClean="0">
                <a:solidFill>
                  <a:srgbClr val="000000"/>
                </a:solidFill>
              </a:rPr>
              <a:t>。</a:t>
            </a:r>
            <a:br>
              <a:rPr lang="en-US" altLang="zh-CN" sz="2800" b="1" dirty="0" smtClean="0">
                <a:solidFill>
                  <a:srgbClr val="000000"/>
                </a:solidFill>
              </a:rPr>
            </a:br>
            <a:r>
              <a:rPr lang="en-US" altLang="zh-CN" sz="2800" b="1" dirty="0" smtClean="0">
                <a:solidFill>
                  <a:srgbClr val="000000"/>
                </a:solidFill>
              </a:rPr>
              <a:t>          </a:t>
            </a:r>
            <a:r>
              <a:rPr lang="zh-CN" altLang="en-US" sz="2800" b="1" dirty="0" smtClean="0">
                <a:solidFill>
                  <a:srgbClr val="000000"/>
                </a:solidFill>
              </a:rPr>
              <a:t>也就是说</a:t>
            </a:r>
            <a:r>
              <a:rPr lang="en-US" altLang="zh-CN" sz="2800" b="1" dirty="0">
                <a:solidFill>
                  <a:srgbClr val="000000"/>
                </a:solidFill>
              </a:rPr>
              <a:t>OpenMP</a:t>
            </a:r>
            <a:r>
              <a:rPr lang="zh-CN" altLang="en-US" sz="2800" b="1" dirty="0">
                <a:solidFill>
                  <a:srgbClr val="000000"/>
                </a:solidFill>
              </a:rPr>
              <a:t>各个线程的变量是共享还是私有，是</a:t>
            </a:r>
            <a:r>
              <a:rPr lang="zh-CN" altLang="en-US" sz="2800" b="1" dirty="0">
                <a:solidFill>
                  <a:srgbClr val="C00000"/>
                </a:solidFill>
              </a:rPr>
              <a:t>依据</a:t>
            </a:r>
            <a:r>
              <a:rPr lang="en-US" altLang="zh-CN" sz="2800" b="1" dirty="0">
                <a:solidFill>
                  <a:srgbClr val="C00000"/>
                </a:solidFill>
              </a:rPr>
              <a:t>OpenMP</a:t>
            </a:r>
            <a:r>
              <a:rPr lang="zh-CN" altLang="en-US" sz="2800" b="1" dirty="0">
                <a:solidFill>
                  <a:srgbClr val="C00000"/>
                </a:solidFill>
              </a:rPr>
              <a:t>自身的规则和相关的数据子句而定</a:t>
            </a:r>
            <a:r>
              <a:rPr lang="zh-CN" altLang="en-US" sz="2800" b="1" dirty="0">
                <a:solidFill>
                  <a:srgbClr val="000000"/>
                </a:solidFill>
              </a:rPr>
              <a:t>，而不是依据操作系统线程或进程上的变量特性而定</a:t>
            </a:r>
            <a:r>
              <a:rPr lang="zh-CN" altLang="en-US" sz="2800" b="1" dirty="0" smtClean="0">
                <a:solidFill>
                  <a:srgbClr val="000000"/>
                </a:solidFill>
              </a:rPr>
              <a:t>。</a:t>
            </a:r>
            <a:endParaRPr lang="en-US" sz="2800" b="1" dirty="0">
              <a:solidFill>
                <a:srgbClr val="000000"/>
              </a:solidFill>
            </a:endParaRPr>
          </a:p>
        </p:txBody>
      </p:sp>
    </p:spTree>
  </p:cSld>
  <p:clrMapOvr>
    <a:masterClrMapping/>
  </p:clrMapOvr>
  <p:transition spd="med" advTm="3025">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44578" y="548580"/>
            <a:ext cx="10658006" cy="5232202"/>
          </a:xfrm>
          <a:prstGeom prst="rect">
            <a:avLst/>
          </a:prstGeom>
        </p:spPr>
        <p:txBody>
          <a:bodyPr wrap="square">
            <a:spAutoFit/>
          </a:bodyPr>
          <a:lstStyle/>
          <a:p>
            <a:pPr algn="ctr"/>
            <a:r>
              <a:rPr lang="zh-CN" altLang="en-US" sz="4000" b="1" dirty="0">
                <a:solidFill>
                  <a:srgbClr val="2D0AC2"/>
                </a:solidFill>
                <a:latin typeface="华文新魏" panose="02010800040101010101" pitchFamily="2" charset="-122"/>
                <a:ea typeface="华文新魏" panose="02010800040101010101" pitchFamily="2" charset="-122"/>
              </a:rPr>
              <a:t>数据环境</a:t>
            </a:r>
            <a:r>
              <a:rPr lang="zh-CN" altLang="en-US" sz="4000" b="1" dirty="0" smtClean="0">
                <a:solidFill>
                  <a:srgbClr val="2D0AC2"/>
                </a:solidFill>
                <a:latin typeface="华文新魏" panose="02010800040101010101" pitchFamily="2" charset="-122"/>
                <a:ea typeface="华文新魏" panose="02010800040101010101" pitchFamily="2" charset="-122"/>
              </a:rPr>
              <a:t>控制</a:t>
            </a:r>
            <a:endParaRPr lang="en-US" altLang="zh-CN" sz="4000" b="1" dirty="0" smtClean="0">
              <a:solidFill>
                <a:srgbClr val="2D0AC2"/>
              </a:solidFill>
              <a:latin typeface="华文新魏" panose="02010800040101010101" pitchFamily="2" charset="-122"/>
              <a:ea typeface="华文新魏" panose="02010800040101010101" pitchFamily="2" charset="-122"/>
            </a:endParaRPr>
          </a:p>
          <a:p>
            <a:pPr marL="457200" indent="-457200">
              <a:lnSpc>
                <a:spcPct val="150000"/>
              </a:lnSpc>
              <a:buFont typeface="Wingdings" panose="05000000000000000000" pitchFamily="2" charset="2"/>
              <a:buChar char="v"/>
            </a:pPr>
            <a:r>
              <a:rPr lang="en-US" altLang="zh-CN" sz="2800" b="1" dirty="0" smtClean="0">
                <a:solidFill>
                  <a:srgbClr val="000000"/>
                </a:solidFill>
              </a:rPr>
              <a:t>OpenMP</a:t>
            </a:r>
            <a:r>
              <a:rPr lang="zh-CN" altLang="en-US" sz="2800" b="1" dirty="0">
                <a:solidFill>
                  <a:srgbClr val="000000"/>
                </a:solidFill>
              </a:rPr>
              <a:t>的数据处理子句包括</a:t>
            </a:r>
            <a:r>
              <a:rPr lang="en-US" altLang="zh-CN" sz="2800" b="1" dirty="0">
                <a:solidFill>
                  <a:srgbClr val="000000"/>
                </a:solidFill>
              </a:rPr>
              <a:t>private</a:t>
            </a:r>
            <a:r>
              <a:rPr lang="zh-CN" altLang="en-US" sz="2800" b="1" dirty="0">
                <a:solidFill>
                  <a:srgbClr val="000000"/>
                </a:solidFill>
              </a:rPr>
              <a:t>、</a:t>
            </a:r>
            <a:r>
              <a:rPr lang="en-US" altLang="zh-CN" sz="2800" b="1" dirty="0" err="1">
                <a:solidFill>
                  <a:srgbClr val="000000"/>
                </a:solidFill>
              </a:rPr>
              <a:t>firstprivate</a:t>
            </a:r>
            <a:r>
              <a:rPr lang="zh-CN" altLang="en-US" sz="2800" b="1" dirty="0">
                <a:solidFill>
                  <a:srgbClr val="000000"/>
                </a:solidFill>
              </a:rPr>
              <a:t>、</a:t>
            </a:r>
            <a:r>
              <a:rPr lang="en-US" altLang="zh-CN" sz="2800" b="1" dirty="0" err="1">
                <a:solidFill>
                  <a:srgbClr val="000000"/>
                </a:solidFill>
              </a:rPr>
              <a:t>lastprivate</a:t>
            </a:r>
            <a:r>
              <a:rPr lang="zh-CN" altLang="en-US" sz="2800" b="1" dirty="0">
                <a:solidFill>
                  <a:srgbClr val="000000"/>
                </a:solidFill>
              </a:rPr>
              <a:t>、</a:t>
            </a:r>
            <a:r>
              <a:rPr lang="en-US" altLang="zh-CN" sz="2800" b="1" dirty="0">
                <a:solidFill>
                  <a:srgbClr val="000000"/>
                </a:solidFill>
              </a:rPr>
              <a:t>shared</a:t>
            </a:r>
            <a:r>
              <a:rPr lang="zh-CN" altLang="en-US" sz="2800" b="1" dirty="0">
                <a:solidFill>
                  <a:srgbClr val="000000"/>
                </a:solidFill>
              </a:rPr>
              <a:t>、</a:t>
            </a:r>
            <a:r>
              <a:rPr lang="en-US" altLang="zh-CN" sz="2800" b="1" dirty="0">
                <a:solidFill>
                  <a:srgbClr val="000000"/>
                </a:solidFill>
              </a:rPr>
              <a:t>default</a:t>
            </a:r>
            <a:r>
              <a:rPr lang="zh-CN" altLang="en-US" sz="2800" b="1" dirty="0">
                <a:solidFill>
                  <a:srgbClr val="000000"/>
                </a:solidFill>
              </a:rPr>
              <a:t>、</a:t>
            </a:r>
            <a:r>
              <a:rPr lang="en-US" altLang="zh-CN" sz="2800" b="1" dirty="0" smtClean="0">
                <a:solidFill>
                  <a:srgbClr val="000000"/>
                </a:solidFill>
              </a:rPr>
              <a:t>reduction</a:t>
            </a:r>
            <a:r>
              <a:rPr lang="zh-CN" altLang="en-US" sz="2800" b="1" dirty="0" smtClean="0">
                <a:solidFill>
                  <a:srgbClr val="000000"/>
                </a:solidFill>
              </a:rPr>
              <a:t>、</a:t>
            </a:r>
            <a:r>
              <a:rPr lang="en-US" altLang="zh-CN" sz="2800" b="1" dirty="0" smtClean="0">
                <a:solidFill>
                  <a:srgbClr val="000000"/>
                </a:solidFill>
              </a:rPr>
              <a:t> </a:t>
            </a:r>
            <a:r>
              <a:rPr lang="en-US" altLang="zh-CN" sz="2800" b="1" dirty="0" err="1">
                <a:solidFill>
                  <a:srgbClr val="000000"/>
                </a:solidFill>
              </a:rPr>
              <a:t>copyin</a:t>
            </a:r>
            <a:r>
              <a:rPr lang="zh-CN" altLang="en-US" sz="2800" b="1" dirty="0">
                <a:solidFill>
                  <a:srgbClr val="000000"/>
                </a:solidFill>
              </a:rPr>
              <a:t>和</a:t>
            </a:r>
            <a:r>
              <a:rPr lang="en-US" altLang="zh-CN" sz="2800" b="1" dirty="0" err="1" smtClean="0">
                <a:solidFill>
                  <a:srgbClr val="000000"/>
                </a:solidFill>
              </a:rPr>
              <a:t>copyprivate</a:t>
            </a:r>
            <a:r>
              <a:rPr lang="zh-CN" altLang="en-US" sz="2800" b="1" dirty="0" smtClean="0">
                <a:solidFill>
                  <a:srgbClr val="000000"/>
                </a:solidFill>
              </a:rPr>
              <a:t>。它们与指导语句</a:t>
            </a:r>
            <a:r>
              <a:rPr lang="en-US" altLang="zh-CN" sz="2800" b="1" dirty="0" smtClean="0">
                <a:solidFill>
                  <a:srgbClr val="000000"/>
                </a:solidFill>
              </a:rPr>
              <a:t>parallel</a:t>
            </a:r>
            <a:r>
              <a:rPr lang="zh-CN" altLang="en-US" sz="2800" b="1" dirty="0">
                <a:solidFill>
                  <a:srgbClr val="000000"/>
                </a:solidFill>
              </a:rPr>
              <a:t>、</a:t>
            </a:r>
            <a:r>
              <a:rPr lang="en-US" altLang="zh-CN" sz="2800" b="1" dirty="0">
                <a:solidFill>
                  <a:srgbClr val="000000"/>
                </a:solidFill>
              </a:rPr>
              <a:t>for</a:t>
            </a:r>
            <a:r>
              <a:rPr lang="zh-CN" altLang="en-US" sz="2800" b="1" dirty="0">
                <a:solidFill>
                  <a:srgbClr val="000000"/>
                </a:solidFill>
              </a:rPr>
              <a:t>和</a:t>
            </a:r>
            <a:r>
              <a:rPr lang="en-US" altLang="zh-CN" sz="2800" b="1" dirty="0">
                <a:solidFill>
                  <a:srgbClr val="000000"/>
                </a:solidFill>
              </a:rPr>
              <a:t>sections</a:t>
            </a:r>
            <a:r>
              <a:rPr lang="zh-CN" altLang="en-US" sz="2800" b="1" dirty="0">
                <a:solidFill>
                  <a:srgbClr val="000000"/>
                </a:solidFill>
              </a:rPr>
              <a:t>相结合用来控制变量的作用范围</a:t>
            </a:r>
            <a:r>
              <a:rPr lang="zh-CN" altLang="en-US" sz="2800" b="1" dirty="0" smtClean="0">
                <a:solidFill>
                  <a:srgbClr val="000000"/>
                </a:solidFill>
              </a:rPr>
              <a:t>。</a:t>
            </a:r>
            <a:endParaRPr lang="en-US" altLang="zh-CN" sz="2800" b="1" dirty="0" smtClean="0">
              <a:solidFill>
                <a:srgbClr val="000000"/>
              </a:solidFill>
            </a:endParaRPr>
          </a:p>
          <a:p>
            <a:pPr marL="457200" indent="-457200">
              <a:lnSpc>
                <a:spcPct val="150000"/>
              </a:lnSpc>
              <a:buFont typeface="Wingdings" panose="05000000000000000000" pitchFamily="2" charset="2"/>
              <a:buChar char="v"/>
            </a:pPr>
            <a:endParaRPr lang="en-US" altLang="zh-CN" sz="2800" b="1" dirty="0" smtClean="0">
              <a:solidFill>
                <a:srgbClr val="000000"/>
              </a:solidFill>
            </a:endParaRPr>
          </a:p>
          <a:p>
            <a:pPr>
              <a:lnSpc>
                <a:spcPct val="150000"/>
              </a:lnSpc>
            </a:pPr>
            <a:r>
              <a:rPr lang="zh-CN" altLang="en-US" sz="2800" b="1" dirty="0" smtClean="0">
                <a:solidFill>
                  <a:srgbClr val="000000"/>
                </a:solidFill>
              </a:rPr>
              <a:t>        </a:t>
            </a:r>
            <a:r>
              <a:rPr lang="en-US" altLang="zh-CN" sz="2800" b="1" dirty="0" smtClean="0">
                <a:solidFill>
                  <a:srgbClr val="000000"/>
                </a:solidFill>
              </a:rPr>
              <a:t>——</a:t>
            </a:r>
            <a:r>
              <a:rPr lang="zh-CN" altLang="en-US" sz="2800" b="1" dirty="0" smtClean="0">
                <a:solidFill>
                  <a:srgbClr val="000000"/>
                </a:solidFill>
              </a:rPr>
              <a:t>它们</a:t>
            </a:r>
            <a:r>
              <a:rPr lang="zh-CN" altLang="en-US" sz="2800" b="1" dirty="0">
                <a:solidFill>
                  <a:srgbClr val="000000"/>
                </a:solidFill>
              </a:rPr>
              <a:t>控制数据变量，比如，哪些串行部分中的数据变量被传递到程序的并行部分以及如何传送，哪些变量对所有并行部分的线程是可见的，哪些变量对所有并行部分的线程是私有的，等等。</a:t>
            </a:r>
            <a:endParaRPr lang="en-US" sz="2800" b="1" dirty="0">
              <a:solidFill>
                <a:srgbClr val="000000"/>
              </a:solidFill>
            </a:endParaRPr>
          </a:p>
        </p:txBody>
      </p:sp>
    </p:spTree>
  </p:cSld>
  <p:clrMapOvr>
    <a:masterClrMapping/>
  </p:clrMapOvr>
  <p:transition spd="med" advTm="3025">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69037" y="917909"/>
            <a:ext cx="9863528" cy="4462760"/>
          </a:xfrm>
          <a:prstGeom prst="rect">
            <a:avLst/>
          </a:prstGeom>
        </p:spPr>
        <p:txBody>
          <a:bodyPr wrap="square">
            <a:spAutoFit/>
          </a:bodyPr>
          <a:lstStyle/>
          <a:p>
            <a:pPr algn="ctr"/>
            <a:r>
              <a:rPr lang="en-US" sz="4400" b="1" dirty="0" err="1">
                <a:solidFill>
                  <a:srgbClr val="2D0AC2"/>
                </a:solidFill>
              </a:rPr>
              <a:t>threadprivate</a:t>
            </a:r>
            <a:r>
              <a:rPr lang="zh-CN" altLang="en-US" sz="4400" b="1" dirty="0" smtClean="0">
                <a:solidFill>
                  <a:srgbClr val="2D0AC2"/>
                </a:solidFill>
              </a:rPr>
              <a:t>编译指导语</a:t>
            </a:r>
            <a:r>
              <a:rPr lang="zh-CN" altLang="en-US" sz="4400" b="1" dirty="0">
                <a:solidFill>
                  <a:srgbClr val="2D0AC2"/>
                </a:solidFill>
              </a:rPr>
              <a:t>句 </a:t>
            </a:r>
            <a:endParaRPr lang="zh-CN" altLang="en-US" sz="4400" b="1" dirty="0">
              <a:solidFill>
                <a:srgbClr val="2D0AC2"/>
              </a:solidFill>
            </a:endParaRPr>
          </a:p>
          <a:p>
            <a:pPr marL="457200" indent="-457200">
              <a:lnSpc>
                <a:spcPct val="150000"/>
              </a:lnSpc>
              <a:buFont typeface="Arial" panose="020B0604020202020204" pitchFamily="34" charset="0"/>
              <a:buChar char="•"/>
            </a:pPr>
            <a:r>
              <a:rPr lang="zh-CN" altLang="en-US" sz="3200" b="1" dirty="0" smtClean="0"/>
              <a:t> </a:t>
            </a:r>
            <a:r>
              <a:rPr lang="en-US" sz="3200" b="1" dirty="0" err="1"/>
              <a:t>threadprivate</a:t>
            </a:r>
            <a:r>
              <a:rPr lang="zh-CN" altLang="en-US" sz="3200" b="1" dirty="0"/>
              <a:t>语句使一个全局文件作用域的变量在</a:t>
            </a:r>
            <a:r>
              <a:rPr lang="zh-CN" altLang="en-US" sz="3200" b="1" dirty="0" smtClean="0"/>
              <a:t>并行</a:t>
            </a:r>
            <a:r>
              <a:rPr lang="zh-CN" altLang="en-US" sz="3200" b="1" dirty="0"/>
              <a:t>域内变成每个线程</a:t>
            </a:r>
            <a:r>
              <a:rPr lang="zh-CN" altLang="en-US" sz="3200" b="1" dirty="0" smtClean="0"/>
              <a:t>私有的 </a:t>
            </a:r>
            <a:r>
              <a:rPr lang="en-US" altLang="zh-CN" sz="3200" b="1" dirty="0" smtClean="0"/>
              <a:t>——</a:t>
            </a:r>
            <a:r>
              <a:rPr lang="zh-CN" altLang="en-US" sz="3200" b="1" dirty="0" smtClean="0">
                <a:solidFill>
                  <a:srgbClr val="C00000"/>
                </a:solidFill>
              </a:rPr>
              <a:t>私有化全局变量</a:t>
            </a:r>
            <a:endParaRPr lang="zh-CN" altLang="en-US" sz="3200" b="1" dirty="0">
              <a:solidFill>
                <a:srgbClr val="C00000"/>
              </a:solidFill>
            </a:endParaRPr>
          </a:p>
          <a:p>
            <a:pPr marL="457200" indent="-457200">
              <a:lnSpc>
                <a:spcPct val="150000"/>
              </a:lnSpc>
              <a:buFont typeface="Arial" panose="020B0604020202020204" pitchFamily="34" charset="0"/>
              <a:buChar char="•"/>
            </a:pPr>
            <a:r>
              <a:rPr lang="zh-CN" altLang="en-US" sz="3200" b="1" dirty="0" smtClean="0"/>
              <a:t> </a:t>
            </a:r>
            <a:r>
              <a:rPr lang="zh-CN" altLang="en-US" sz="3200" b="1" dirty="0"/>
              <a:t>每个线程对该变量复制一份私有拷贝 </a:t>
            </a:r>
            <a:endParaRPr lang="zh-CN" altLang="en-US" sz="3200" b="1" dirty="0"/>
          </a:p>
          <a:p>
            <a:endParaRPr lang="en-US" altLang="zh-CN" sz="3200" b="1" dirty="0" smtClean="0"/>
          </a:p>
          <a:p>
            <a:r>
              <a:rPr lang="zh-CN" altLang="en-US" sz="3200" b="1" dirty="0" smtClean="0"/>
              <a:t> </a:t>
            </a:r>
            <a:r>
              <a:rPr lang="zh-CN" altLang="en-US" sz="3200" b="1" dirty="0"/>
              <a:t>语句格式</a:t>
            </a:r>
            <a:r>
              <a:rPr lang="en-US" altLang="zh-CN" sz="3200" b="1" dirty="0"/>
              <a:t>: </a:t>
            </a:r>
            <a:endParaRPr lang="en-US" altLang="zh-CN" sz="3200" b="1" dirty="0"/>
          </a:p>
          <a:p>
            <a:r>
              <a:rPr lang="en-US" altLang="zh-CN" sz="3200" b="1" dirty="0" smtClean="0">
                <a:solidFill>
                  <a:srgbClr val="2D0AC2"/>
                </a:solidFill>
              </a:rPr>
              <a:t> </a:t>
            </a:r>
            <a:r>
              <a:rPr lang="en-US" altLang="zh-CN" sz="3200" b="1" dirty="0">
                <a:solidFill>
                  <a:srgbClr val="2D0AC2"/>
                </a:solidFill>
              </a:rPr>
              <a:t>#</a:t>
            </a:r>
            <a:r>
              <a:rPr lang="en-US" sz="3200" b="1" dirty="0">
                <a:solidFill>
                  <a:srgbClr val="2D0AC2"/>
                </a:solidFill>
              </a:rPr>
              <a:t>pragma </a:t>
            </a:r>
            <a:r>
              <a:rPr lang="en-US" sz="3200" b="1" dirty="0" err="1">
                <a:solidFill>
                  <a:srgbClr val="2D0AC2"/>
                </a:solidFill>
              </a:rPr>
              <a:t>omp</a:t>
            </a:r>
            <a:r>
              <a:rPr lang="en-US" sz="3200" b="1" dirty="0">
                <a:solidFill>
                  <a:srgbClr val="2D0AC2"/>
                </a:solidFill>
              </a:rPr>
              <a:t> </a:t>
            </a:r>
            <a:r>
              <a:rPr lang="en-US" sz="3200" b="1" dirty="0" err="1">
                <a:solidFill>
                  <a:srgbClr val="2D0AC2"/>
                </a:solidFill>
              </a:rPr>
              <a:t>threadprivate</a:t>
            </a:r>
            <a:r>
              <a:rPr lang="en-US" sz="3200" b="1" dirty="0">
                <a:solidFill>
                  <a:srgbClr val="2D0AC2"/>
                </a:solidFill>
              </a:rPr>
              <a:t> (list) newline </a:t>
            </a:r>
            <a:endParaRPr lang="en-US" sz="3200" b="1" dirty="0">
              <a:solidFill>
                <a:srgbClr val="2D0AC2"/>
              </a:solidFill>
            </a:endParaRPr>
          </a:p>
        </p:txBody>
      </p:sp>
    </p:spTree>
  </p:cSld>
  <p:clrMapOvr>
    <a:masterClrMapping/>
  </p:clrMapOvr>
  <p:transition spd="med" advTm="3025">
    <p:fade/>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89154" y="531753"/>
            <a:ext cx="9893507" cy="2708434"/>
          </a:xfrm>
          <a:prstGeom prst="rect">
            <a:avLst/>
          </a:prstGeom>
        </p:spPr>
        <p:txBody>
          <a:bodyPr wrap="square">
            <a:spAutoFit/>
          </a:bodyPr>
          <a:lstStyle/>
          <a:p>
            <a:pPr algn="ctr"/>
            <a:r>
              <a:rPr lang="en-US" sz="4400" b="1" dirty="0">
                <a:solidFill>
                  <a:srgbClr val="2D0AC2"/>
                </a:solidFill>
              </a:rPr>
              <a:t>private</a:t>
            </a:r>
            <a:r>
              <a:rPr lang="zh-CN" altLang="en-US" sz="4400" b="1" dirty="0">
                <a:solidFill>
                  <a:srgbClr val="2D0AC2"/>
                </a:solidFill>
              </a:rPr>
              <a:t>子句 </a:t>
            </a:r>
            <a:endParaRPr lang="zh-CN" altLang="en-US" sz="4400" b="1" dirty="0">
              <a:solidFill>
                <a:srgbClr val="2D0AC2"/>
              </a:solidFill>
            </a:endParaRPr>
          </a:p>
          <a:p>
            <a:pPr>
              <a:lnSpc>
                <a:spcPct val="150000"/>
              </a:lnSpc>
            </a:pPr>
            <a:r>
              <a:rPr lang="en-US" sz="2800" b="1" dirty="0" smtClean="0"/>
              <a:t>private</a:t>
            </a:r>
            <a:r>
              <a:rPr lang="zh-CN" altLang="en-US" sz="2800" b="1" dirty="0"/>
              <a:t>子句表示它列出的变量对于每个线程</a:t>
            </a:r>
            <a:r>
              <a:rPr lang="zh-CN" altLang="en-US" sz="2800" b="1" dirty="0" smtClean="0"/>
              <a:t>是</a:t>
            </a:r>
            <a:r>
              <a:rPr lang="zh-CN" altLang="en-US" sz="2800" b="1" dirty="0"/>
              <a:t>私有</a:t>
            </a:r>
            <a:r>
              <a:rPr lang="zh-CN" altLang="en-US" sz="2800" b="1" dirty="0" smtClean="0"/>
              <a:t>的 </a:t>
            </a:r>
            <a:r>
              <a:rPr lang="zh-CN" altLang="en-US" sz="2800" b="1" dirty="0"/>
              <a:t>。 </a:t>
            </a:r>
            <a:endParaRPr lang="zh-CN" altLang="en-US" sz="2800" b="1" dirty="0"/>
          </a:p>
          <a:p>
            <a:pPr>
              <a:lnSpc>
                <a:spcPct val="150000"/>
              </a:lnSpc>
            </a:pPr>
            <a:r>
              <a:rPr lang="zh-CN" altLang="en-US" sz="2800" b="1" dirty="0" smtClean="0"/>
              <a:t>语句</a:t>
            </a:r>
            <a:r>
              <a:rPr lang="zh-CN" altLang="en-US" sz="2800" b="1" dirty="0"/>
              <a:t>格式 </a:t>
            </a:r>
            <a:r>
              <a:rPr lang="zh-CN" altLang="en-US" sz="2800" b="1" dirty="0" smtClean="0"/>
              <a:t>：</a:t>
            </a:r>
            <a:r>
              <a:rPr lang="en-US" sz="2800" b="1" dirty="0" smtClean="0"/>
              <a:t>private(list</a:t>
            </a:r>
            <a:r>
              <a:rPr lang="en-US" sz="2800" b="1" dirty="0"/>
              <a:t>) </a:t>
            </a:r>
            <a:endParaRPr lang="en-US" sz="2800" b="1" dirty="0"/>
          </a:p>
          <a:p>
            <a:pPr>
              <a:lnSpc>
                <a:spcPct val="150000"/>
              </a:lnSpc>
            </a:pPr>
            <a:r>
              <a:rPr lang="en-US" sz="2800" b="1" dirty="0" smtClean="0"/>
              <a:t>private</a:t>
            </a:r>
            <a:r>
              <a:rPr lang="zh-CN" altLang="en-US" sz="2800" b="1" dirty="0"/>
              <a:t>和</a:t>
            </a:r>
            <a:r>
              <a:rPr lang="en-US" sz="2800" b="1" dirty="0" err="1"/>
              <a:t>threadprivate</a:t>
            </a:r>
            <a:r>
              <a:rPr lang="zh-CN" altLang="en-US" sz="2800" b="1" dirty="0"/>
              <a:t>区别</a:t>
            </a:r>
            <a:endParaRPr lang="en-US" sz="2800" b="1" dirty="0"/>
          </a:p>
        </p:txBody>
      </p:sp>
      <p:pic>
        <p:nvPicPr>
          <p:cNvPr id="3" name="图片 2"/>
          <p:cNvPicPr>
            <a:picLocks noChangeAspect="1"/>
          </p:cNvPicPr>
          <p:nvPr/>
        </p:nvPicPr>
        <p:blipFill>
          <a:blip r:embed="rId1"/>
          <a:stretch>
            <a:fillRect/>
          </a:stretch>
        </p:blipFill>
        <p:spPr>
          <a:xfrm>
            <a:off x="1083184" y="3240187"/>
            <a:ext cx="9949576" cy="2992646"/>
          </a:xfrm>
          <a:prstGeom prst="rect">
            <a:avLst/>
          </a:prstGeom>
        </p:spPr>
      </p:pic>
    </p:spTree>
  </p:cSld>
  <p:clrMapOvr>
    <a:masterClrMapping/>
  </p:clrMapOvr>
  <p:transition spd="med" advTm="3025">
    <p:fade/>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29389" y="824459"/>
            <a:ext cx="10702977" cy="5262979"/>
          </a:xfrm>
          <a:prstGeom prst="rect">
            <a:avLst/>
          </a:prstGeom>
        </p:spPr>
        <p:txBody>
          <a:bodyPr wrap="square">
            <a:spAutoFit/>
          </a:bodyPr>
          <a:lstStyle/>
          <a:p>
            <a:pPr marL="457200" indent="-457200">
              <a:buFont typeface="Wingdings" panose="05000000000000000000" pitchFamily="2" charset="2"/>
              <a:buChar char="Ø"/>
            </a:pPr>
            <a:r>
              <a:rPr lang="en-US" sz="2800" b="1" dirty="0" err="1"/>
              <a:t>threadprivate</a:t>
            </a:r>
            <a:r>
              <a:rPr lang="zh-CN" altLang="en-US" sz="2800" b="1" dirty="0"/>
              <a:t>和</a:t>
            </a:r>
            <a:r>
              <a:rPr lang="en-US" sz="2800" b="1" dirty="0"/>
              <a:t>private</a:t>
            </a:r>
            <a:r>
              <a:rPr lang="zh-CN" altLang="en-US" sz="2800" b="1" dirty="0"/>
              <a:t>的区别在于</a:t>
            </a:r>
            <a:r>
              <a:rPr lang="en-US" sz="2800" b="1" dirty="0" err="1"/>
              <a:t>threadprivate</a:t>
            </a:r>
            <a:r>
              <a:rPr lang="zh-CN" altLang="en-US" sz="2800" b="1" dirty="0"/>
              <a:t>声明的变量通常是全局范围内有效的，而</a:t>
            </a:r>
            <a:r>
              <a:rPr lang="en-US" sz="2800" b="1" dirty="0"/>
              <a:t>private</a:t>
            </a:r>
            <a:r>
              <a:rPr lang="zh-CN" altLang="en-US" sz="2800" b="1" dirty="0"/>
              <a:t>声明的变量只在它所属的并行构造中有效。</a:t>
            </a:r>
            <a:endParaRPr lang="zh-CN" altLang="en-US" sz="2800" b="1" dirty="0"/>
          </a:p>
          <a:p>
            <a:pPr marL="457200" indent="-457200">
              <a:buFont typeface="Wingdings" panose="05000000000000000000" pitchFamily="2" charset="2"/>
              <a:buChar char="Ø"/>
            </a:pPr>
            <a:endParaRPr lang="zh-CN" altLang="en-US" sz="2800" b="1" dirty="0"/>
          </a:p>
          <a:p>
            <a:pPr marL="457200" indent="-457200">
              <a:buFont typeface="Wingdings" panose="05000000000000000000" pitchFamily="2" charset="2"/>
              <a:buChar char="Ø"/>
            </a:pPr>
            <a:r>
              <a:rPr lang="en-US" sz="2800" b="1" dirty="0" err="1"/>
              <a:t>threadprivate</a:t>
            </a:r>
            <a:r>
              <a:rPr lang="zh-CN" altLang="en-US" sz="2800" b="1" dirty="0"/>
              <a:t>的对应只能用于</a:t>
            </a:r>
            <a:r>
              <a:rPr lang="en-US" sz="2800" b="1" dirty="0" err="1"/>
              <a:t>copyin，copyprivate，schedule，num_threads</a:t>
            </a:r>
            <a:r>
              <a:rPr lang="zh-CN" altLang="en-US" sz="2800" b="1" dirty="0"/>
              <a:t>和</a:t>
            </a:r>
            <a:r>
              <a:rPr lang="en-US" sz="2800" b="1" dirty="0"/>
              <a:t>if</a:t>
            </a:r>
            <a:r>
              <a:rPr lang="zh-CN" altLang="en-US" sz="2800" b="1" dirty="0"/>
              <a:t>子句中，不能用于任何其他子句中。</a:t>
            </a:r>
            <a:endParaRPr lang="zh-CN" altLang="en-US" sz="2800" b="1" dirty="0"/>
          </a:p>
          <a:p>
            <a:pPr marL="457200" indent="-457200">
              <a:buFont typeface="Wingdings" panose="05000000000000000000" pitchFamily="2" charset="2"/>
              <a:buChar char="Ø"/>
            </a:pPr>
            <a:endParaRPr lang="zh-CN" altLang="en-US" sz="2800" b="1" dirty="0"/>
          </a:p>
          <a:p>
            <a:pPr marL="457200" indent="-457200">
              <a:buFont typeface="Wingdings" panose="05000000000000000000" pitchFamily="2" charset="2"/>
              <a:buChar char="Ø"/>
            </a:pPr>
            <a:r>
              <a:rPr lang="zh-CN" altLang="en-US" sz="2800" b="1" dirty="0"/>
              <a:t>用作</a:t>
            </a:r>
            <a:r>
              <a:rPr lang="en-US" sz="2800" b="1" dirty="0" err="1"/>
              <a:t>threadprivate</a:t>
            </a:r>
            <a:r>
              <a:rPr lang="zh-CN" altLang="en-US" sz="2800" b="1" dirty="0"/>
              <a:t>的变量的地址不能是常数。</a:t>
            </a:r>
            <a:endParaRPr lang="zh-CN" altLang="en-US" sz="2800" b="1" dirty="0"/>
          </a:p>
          <a:p>
            <a:pPr marL="457200" indent="-457200">
              <a:buFont typeface="Wingdings" panose="05000000000000000000" pitchFamily="2" charset="2"/>
              <a:buChar char="Ø"/>
            </a:pPr>
            <a:endParaRPr lang="zh-CN" altLang="en-US" sz="2800" b="1" dirty="0"/>
          </a:p>
          <a:p>
            <a:pPr marL="457200" indent="-457200">
              <a:buFont typeface="Wingdings" panose="05000000000000000000" pitchFamily="2" charset="2"/>
              <a:buChar char="Ø"/>
            </a:pPr>
            <a:r>
              <a:rPr lang="zh-CN" altLang="en-US" sz="2800" b="1" dirty="0"/>
              <a:t>对于</a:t>
            </a:r>
            <a:r>
              <a:rPr lang="en-US" sz="2800" b="1" dirty="0"/>
              <a:t>C++</a:t>
            </a:r>
            <a:r>
              <a:rPr lang="zh-CN" altLang="en-US" sz="2800" b="1" dirty="0"/>
              <a:t>的类（</a:t>
            </a:r>
            <a:r>
              <a:rPr lang="en-US" sz="2800" b="1" dirty="0"/>
              <a:t>class）</a:t>
            </a:r>
            <a:r>
              <a:rPr lang="zh-CN" altLang="en-US" sz="2800" b="1" dirty="0"/>
              <a:t>类型变量，用作</a:t>
            </a:r>
            <a:r>
              <a:rPr lang="en-US" sz="2800" b="1" dirty="0" err="1"/>
              <a:t>threadprivate</a:t>
            </a:r>
            <a:r>
              <a:rPr lang="zh-CN" altLang="en-US" sz="2800" b="1" dirty="0"/>
              <a:t>的参数时有些限制，当定义时带有外部初始化时，必须具有明确的拷贝构造函数。</a:t>
            </a:r>
            <a:endParaRPr lang="en-US" sz="2800" b="1" dirty="0"/>
          </a:p>
        </p:txBody>
      </p:sp>
    </p:spTree>
  </p:cSld>
  <p:clrMapOvr>
    <a:masterClrMapping/>
  </p:clrMapOvr>
  <p:transition spd="med" advTm="3025">
    <p:fade/>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27220" y="900608"/>
            <a:ext cx="5531370" cy="4401205"/>
          </a:xfrm>
          <a:prstGeom prst="rect">
            <a:avLst/>
          </a:prstGeom>
        </p:spPr>
        <p:txBody>
          <a:bodyPr wrap="square">
            <a:spAutoFit/>
          </a:bodyPr>
          <a:lstStyle/>
          <a:p>
            <a:r>
              <a:rPr lang="en-US" sz="2800" b="1" dirty="0" err="1"/>
              <a:t>int</a:t>
            </a:r>
            <a:r>
              <a:rPr lang="en-US" sz="2800" b="1" dirty="0"/>
              <a:t> k = 100</a:t>
            </a:r>
            <a:r>
              <a:rPr lang="en-US" sz="2800" b="1" dirty="0" smtClean="0"/>
              <a:t>;</a:t>
            </a:r>
            <a:endParaRPr lang="en-US" sz="2800" b="1" dirty="0"/>
          </a:p>
          <a:p>
            <a:r>
              <a:rPr lang="en-US" sz="2800" b="1" dirty="0"/>
              <a:t>#pragma </a:t>
            </a:r>
            <a:r>
              <a:rPr lang="en-US" sz="2800" b="1" dirty="0" err="1"/>
              <a:t>omp</a:t>
            </a:r>
            <a:r>
              <a:rPr lang="en-US" sz="2800" b="1" dirty="0"/>
              <a:t> parallel for private(k)</a:t>
            </a:r>
            <a:endParaRPr lang="en-US" sz="2800" b="1" dirty="0"/>
          </a:p>
          <a:p>
            <a:endParaRPr lang="en-US" sz="2800" b="1" dirty="0"/>
          </a:p>
          <a:p>
            <a:r>
              <a:rPr lang="en-US" sz="2800" b="1" dirty="0"/>
              <a:t>         for ( k=0; k &lt; 10; k</a:t>
            </a:r>
            <a:r>
              <a:rPr lang="en-US" sz="2800" b="1" dirty="0" smtClean="0"/>
              <a:t>++)</a:t>
            </a:r>
            <a:endParaRPr lang="en-US" sz="2800" b="1" dirty="0"/>
          </a:p>
          <a:p>
            <a:r>
              <a:rPr lang="en-US" sz="2800" b="1" dirty="0"/>
              <a:t>         {</a:t>
            </a:r>
            <a:endParaRPr lang="en-US" sz="2800" b="1" dirty="0"/>
          </a:p>
          <a:p>
            <a:endParaRPr lang="en-US" sz="2800" b="1" dirty="0"/>
          </a:p>
          <a:p>
            <a:r>
              <a:rPr lang="en-US" sz="2800" b="1" dirty="0"/>
              <a:t>                   </a:t>
            </a:r>
            <a:r>
              <a:rPr lang="en-US" sz="2800" b="1" dirty="0" err="1"/>
              <a:t>printf</a:t>
            </a:r>
            <a:r>
              <a:rPr lang="en-US" sz="2800" b="1" dirty="0" smtClean="0"/>
              <a:t>(“k</a:t>
            </a:r>
            <a:r>
              <a:rPr lang="en-US" sz="2800" b="1" dirty="0"/>
              <a:t>=%</a:t>
            </a:r>
            <a:r>
              <a:rPr lang="en-US" sz="2800" b="1" dirty="0" smtClean="0"/>
              <a:t>d</a:t>
            </a:r>
            <a:r>
              <a:rPr lang="en-US" sz="2800" b="1" dirty="0"/>
              <a:t>\</a:t>
            </a:r>
            <a:r>
              <a:rPr lang="en-US" sz="2800" b="1" dirty="0" smtClean="0"/>
              <a:t>n</a:t>
            </a:r>
            <a:r>
              <a:rPr lang="en-US" sz="2800" b="1" dirty="0"/>
              <a:t>", k);</a:t>
            </a:r>
            <a:endParaRPr lang="en-US" sz="2800" b="1" dirty="0"/>
          </a:p>
          <a:p>
            <a:endParaRPr lang="en-US" sz="2800" b="1" dirty="0"/>
          </a:p>
          <a:p>
            <a:r>
              <a:rPr lang="en-US" sz="2800" b="1" dirty="0"/>
              <a:t>         </a:t>
            </a:r>
            <a:r>
              <a:rPr lang="en-US" sz="2800" b="1" dirty="0" smtClean="0"/>
              <a:t>}</a:t>
            </a:r>
            <a:endParaRPr lang="en-US" sz="2800" b="1" dirty="0"/>
          </a:p>
          <a:p>
            <a:r>
              <a:rPr lang="en-US" sz="2800" b="1" dirty="0"/>
              <a:t>         </a:t>
            </a:r>
            <a:r>
              <a:rPr lang="en-US" sz="2800" b="1" dirty="0" err="1"/>
              <a:t>printf</a:t>
            </a:r>
            <a:r>
              <a:rPr lang="en-US" sz="2800" b="1" dirty="0"/>
              <a:t>("last k=%</a:t>
            </a:r>
            <a:r>
              <a:rPr lang="en-US" sz="2800" b="1" dirty="0" smtClean="0"/>
              <a:t>d\n</a:t>
            </a:r>
            <a:r>
              <a:rPr lang="en-US" sz="2800" b="1" dirty="0"/>
              <a:t>", k);</a:t>
            </a:r>
            <a:endParaRPr lang="en-US" sz="2800" b="1" dirty="0"/>
          </a:p>
        </p:txBody>
      </p:sp>
      <p:sp>
        <p:nvSpPr>
          <p:cNvPr id="3" name="矩形 2"/>
          <p:cNvSpPr/>
          <p:nvPr/>
        </p:nvSpPr>
        <p:spPr>
          <a:xfrm>
            <a:off x="6103495" y="1275362"/>
            <a:ext cx="1782467" cy="452431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r>
              <a:rPr lang="zh-CN" altLang="en-US" sz="2400" b="1" dirty="0" smtClean="0">
                <a:solidFill>
                  <a:srgbClr val="C00000"/>
                </a:solidFill>
              </a:rPr>
              <a:t>运行结果：</a:t>
            </a:r>
            <a:endParaRPr lang="en-US" sz="2400" b="1" dirty="0" smtClean="0">
              <a:solidFill>
                <a:srgbClr val="C00000"/>
              </a:solidFill>
            </a:endParaRPr>
          </a:p>
          <a:p>
            <a:r>
              <a:rPr lang="en-US" sz="2400" b="1" dirty="0" smtClean="0"/>
              <a:t>k=6</a:t>
            </a:r>
            <a:endParaRPr lang="en-US" sz="2400" b="1" dirty="0"/>
          </a:p>
          <a:p>
            <a:r>
              <a:rPr lang="en-US" sz="2400" b="1" dirty="0" smtClean="0"/>
              <a:t>k=7</a:t>
            </a:r>
            <a:endParaRPr lang="en-US" sz="2400" b="1" dirty="0"/>
          </a:p>
          <a:p>
            <a:r>
              <a:rPr lang="en-US" sz="2400" b="1" dirty="0" smtClean="0"/>
              <a:t>k=8</a:t>
            </a:r>
            <a:endParaRPr lang="en-US" sz="2400" b="1" dirty="0"/>
          </a:p>
          <a:p>
            <a:r>
              <a:rPr lang="en-US" sz="2400" b="1" dirty="0" smtClean="0"/>
              <a:t>k=9</a:t>
            </a:r>
            <a:endParaRPr lang="en-US" sz="2400" b="1" dirty="0"/>
          </a:p>
          <a:p>
            <a:r>
              <a:rPr lang="en-US" sz="2400" b="1" dirty="0" smtClean="0"/>
              <a:t>k=0</a:t>
            </a:r>
            <a:endParaRPr lang="en-US" sz="2400" b="1" dirty="0"/>
          </a:p>
          <a:p>
            <a:r>
              <a:rPr lang="en-US" sz="2400" b="1" dirty="0" smtClean="0"/>
              <a:t>k=1</a:t>
            </a:r>
            <a:endParaRPr lang="en-US" sz="2400" b="1" dirty="0"/>
          </a:p>
          <a:p>
            <a:r>
              <a:rPr lang="en-US" sz="2400" b="1" dirty="0" smtClean="0"/>
              <a:t>k=2</a:t>
            </a:r>
            <a:endParaRPr lang="en-US" sz="2400" b="1" dirty="0"/>
          </a:p>
          <a:p>
            <a:r>
              <a:rPr lang="en-US" sz="2400" b="1" dirty="0" smtClean="0"/>
              <a:t>k=3</a:t>
            </a:r>
            <a:endParaRPr lang="en-US" sz="2400" b="1" dirty="0"/>
          </a:p>
          <a:p>
            <a:r>
              <a:rPr lang="en-US" sz="2400" b="1" dirty="0" smtClean="0"/>
              <a:t>k=4</a:t>
            </a:r>
            <a:endParaRPr lang="en-US" sz="2400" b="1" dirty="0"/>
          </a:p>
          <a:p>
            <a:r>
              <a:rPr lang="en-US" sz="2400" b="1" dirty="0" smtClean="0"/>
              <a:t>k=5</a:t>
            </a:r>
            <a:endParaRPr lang="en-US" sz="2400" b="1" dirty="0"/>
          </a:p>
          <a:p>
            <a:r>
              <a:rPr lang="en-US" sz="2400" b="1" dirty="0"/>
              <a:t>last k=100</a:t>
            </a:r>
            <a:endParaRPr lang="en-US" sz="2400" b="1" dirty="0"/>
          </a:p>
        </p:txBody>
      </p:sp>
      <p:sp>
        <p:nvSpPr>
          <p:cNvPr id="4" name="矩形 3"/>
          <p:cNvSpPr/>
          <p:nvPr/>
        </p:nvSpPr>
        <p:spPr>
          <a:xfrm>
            <a:off x="8172136" y="906030"/>
            <a:ext cx="3565162" cy="4893647"/>
          </a:xfrm>
          <a:prstGeom prst="rect">
            <a:avLst/>
          </a:prstGeom>
        </p:spPr>
        <p:txBody>
          <a:bodyPr wrap="square">
            <a:spAutoFit/>
          </a:bodyPr>
          <a:lstStyle/>
          <a:p>
            <a:pPr marL="342900" indent="-342900">
              <a:buFont typeface="Wingdings" panose="05000000000000000000" pitchFamily="2" charset="2"/>
              <a:buChar char="Ø"/>
            </a:pPr>
            <a:r>
              <a:rPr lang="en-US" altLang="zh-CN" sz="2400" b="1" dirty="0"/>
              <a:t>for</a:t>
            </a:r>
            <a:r>
              <a:rPr lang="zh-CN" altLang="en-US" sz="2400" b="1" dirty="0"/>
              <a:t>循环前的变量</a:t>
            </a:r>
            <a:r>
              <a:rPr lang="en-US" altLang="zh-CN" sz="2400" b="1" dirty="0"/>
              <a:t>k</a:t>
            </a:r>
            <a:r>
              <a:rPr lang="zh-CN" altLang="en-US" sz="2400" b="1" dirty="0"/>
              <a:t>和循环区域内的变量</a:t>
            </a:r>
            <a:r>
              <a:rPr lang="en-US" altLang="zh-CN" sz="2400" b="1" dirty="0"/>
              <a:t>k</a:t>
            </a:r>
            <a:r>
              <a:rPr lang="zh-CN" altLang="en-US" sz="2400" b="1" dirty="0"/>
              <a:t>其实是两个不同的变量。</a:t>
            </a:r>
            <a:endParaRPr lang="zh-CN" altLang="en-US" sz="2400" b="1" dirty="0"/>
          </a:p>
          <a:p>
            <a:pPr marL="342900" indent="-342900">
              <a:buFont typeface="Wingdings" panose="05000000000000000000" pitchFamily="2" charset="2"/>
              <a:buChar char="Ø"/>
            </a:pPr>
            <a:endParaRPr lang="zh-CN" altLang="en-US" sz="2400" b="1" dirty="0"/>
          </a:p>
          <a:p>
            <a:pPr marL="342900" indent="-342900">
              <a:buFont typeface="Wingdings" panose="05000000000000000000" pitchFamily="2" charset="2"/>
              <a:buChar char="Ø"/>
            </a:pPr>
            <a:r>
              <a:rPr lang="zh-CN" altLang="en-US" sz="2400" b="1" dirty="0"/>
              <a:t>用</a:t>
            </a:r>
            <a:r>
              <a:rPr lang="en-US" altLang="zh-CN" sz="2400" b="1" dirty="0"/>
              <a:t>private</a:t>
            </a:r>
            <a:r>
              <a:rPr lang="zh-CN" altLang="en-US" sz="2400" b="1" dirty="0"/>
              <a:t>子句声明的私有变量的初始值在并行区域的入口处是未定义的，它并不会继承同名共享变量的值。</a:t>
            </a:r>
            <a:endParaRPr lang="zh-CN" altLang="en-US" sz="2400" b="1" dirty="0"/>
          </a:p>
          <a:p>
            <a:pPr marL="342900" indent="-342900">
              <a:buFont typeface="Wingdings" panose="05000000000000000000" pitchFamily="2" charset="2"/>
              <a:buChar char="Ø"/>
            </a:pPr>
            <a:endParaRPr lang="zh-CN" altLang="en-US" sz="2400" b="1" dirty="0"/>
          </a:p>
          <a:p>
            <a:pPr marL="342900" indent="-342900">
              <a:buFont typeface="Wingdings" panose="05000000000000000000" pitchFamily="2" charset="2"/>
              <a:buChar char="Ø"/>
            </a:pPr>
            <a:r>
              <a:rPr lang="zh-CN" altLang="en-US" sz="2400" b="1" dirty="0">
                <a:solidFill>
                  <a:srgbClr val="C00000"/>
                </a:solidFill>
              </a:rPr>
              <a:t>出现在</a:t>
            </a:r>
            <a:r>
              <a:rPr lang="en-US" altLang="zh-CN" sz="2400" b="1" dirty="0">
                <a:solidFill>
                  <a:srgbClr val="C00000"/>
                </a:solidFill>
              </a:rPr>
              <a:t>reduction</a:t>
            </a:r>
            <a:r>
              <a:rPr lang="zh-CN" altLang="en-US" sz="2400" b="1" dirty="0">
                <a:solidFill>
                  <a:srgbClr val="C00000"/>
                </a:solidFill>
              </a:rPr>
              <a:t>子句中的参数不能出现在</a:t>
            </a:r>
            <a:r>
              <a:rPr lang="en-US" altLang="zh-CN" sz="2400" b="1" dirty="0">
                <a:solidFill>
                  <a:srgbClr val="C00000"/>
                </a:solidFill>
              </a:rPr>
              <a:t>private</a:t>
            </a:r>
            <a:r>
              <a:rPr lang="zh-CN" altLang="en-US" sz="2400" b="1" dirty="0">
                <a:solidFill>
                  <a:srgbClr val="C00000"/>
                </a:solidFill>
              </a:rPr>
              <a:t>子句中。</a:t>
            </a:r>
            <a:endParaRPr lang="en-US" sz="2400" b="1" dirty="0">
              <a:solidFill>
                <a:srgbClr val="C00000"/>
              </a:solidFill>
            </a:endParaRPr>
          </a:p>
        </p:txBody>
      </p:sp>
    </p:spTree>
  </p:cSld>
  <p:clrMapOvr>
    <a:masterClrMapping/>
  </p:clrMapOvr>
  <p:transition spd="med" advTm="3025">
    <p:fade/>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4741" y="811304"/>
            <a:ext cx="5316511" cy="5324535"/>
          </a:xfrm>
          <a:prstGeom prst="rect">
            <a:avLst/>
          </a:prstGeom>
        </p:spPr>
        <p:txBody>
          <a:bodyPr wrap="square">
            <a:spAutoFit/>
          </a:bodyPr>
          <a:lstStyle/>
          <a:p>
            <a:r>
              <a:rPr lang="en-US" sz="2400" b="1" dirty="0" err="1"/>
              <a:t>int</a:t>
            </a:r>
            <a:r>
              <a:rPr lang="en-US" sz="2400" b="1" dirty="0"/>
              <a:t> k = 100</a:t>
            </a:r>
            <a:r>
              <a:rPr lang="en-US" sz="2400" b="1" dirty="0" smtClean="0"/>
              <a:t>;</a:t>
            </a:r>
            <a:endParaRPr lang="en-US" sz="2400" b="1" dirty="0"/>
          </a:p>
          <a:p>
            <a:r>
              <a:rPr lang="en-US" sz="2400" b="1" dirty="0">
                <a:solidFill>
                  <a:srgbClr val="C00000"/>
                </a:solidFill>
              </a:rPr>
              <a:t>#pragma </a:t>
            </a:r>
            <a:r>
              <a:rPr lang="en-US" sz="2400" b="1" dirty="0" err="1">
                <a:solidFill>
                  <a:srgbClr val="C00000"/>
                </a:solidFill>
              </a:rPr>
              <a:t>omp</a:t>
            </a:r>
            <a:r>
              <a:rPr lang="en-US" sz="2400" b="1" dirty="0">
                <a:solidFill>
                  <a:srgbClr val="C00000"/>
                </a:solidFill>
              </a:rPr>
              <a:t> parallel for </a:t>
            </a:r>
            <a:r>
              <a:rPr lang="en-US" sz="2400" b="1" dirty="0" err="1">
                <a:solidFill>
                  <a:srgbClr val="C00000"/>
                </a:solidFill>
              </a:rPr>
              <a:t>firstprivate</a:t>
            </a:r>
            <a:r>
              <a:rPr lang="en-US" sz="2400" b="1" dirty="0">
                <a:solidFill>
                  <a:srgbClr val="C00000"/>
                </a:solidFill>
              </a:rPr>
              <a:t>(k</a:t>
            </a:r>
            <a:r>
              <a:rPr lang="en-US" sz="2400" b="1" dirty="0" smtClean="0">
                <a:solidFill>
                  <a:srgbClr val="C00000"/>
                </a:solidFill>
              </a:rPr>
              <a:t>)</a:t>
            </a:r>
            <a:endParaRPr lang="en-US" sz="2400" b="1" dirty="0"/>
          </a:p>
          <a:p>
            <a:r>
              <a:rPr lang="en-US" sz="2400" b="1" dirty="0"/>
              <a:t>         for ( </a:t>
            </a:r>
            <a:r>
              <a:rPr lang="en-US" sz="2400" b="1" dirty="0" err="1"/>
              <a:t>i</a:t>
            </a:r>
            <a:r>
              <a:rPr lang="en-US" sz="2400" b="1" dirty="0"/>
              <a:t>=0; </a:t>
            </a:r>
            <a:r>
              <a:rPr lang="en-US" sz="2400" b="1" dirty="0" err="1"/>
              <a:t>i</a:t>
            </a:r>
            <a:r>
              <a:rPr lang="en-US" sz="2400" b="1" dirty="0"/>
              <a:t> &lt; 4; </a:t>
            </a:r>
            <a:r>
              <a:rPr lang="en-US" sz="2400" b="1" dirty="0" err="1"/>
              <a:t>i</a:t>
            </a:r>
            <a:r>
              <a:rPr lang="en-US" sz="2400" b="1" dirty="0" smtClean="0"/>
              <a:t>++)</a:t>
            </a:r>
            <a:endParaRPr lang="en-US" sz="2400" b="1" dirty="0"/>
          </a:p>
          <a:p>
            <a:r>
              <a:rPr lang="en-US" sz="2400" b="1" dirty="0"/>
              <a:t>         </a:t>
            </a:r>
            <a:r>
              <a:rPr lang="en-US" sz="2400" b="1" dirty="0" smtClean="0"/>
              <a:t>{</a:t>
            </a:r>
            <a:endParaRPr lang="en-US" sz="2400" b="1" dirty="0"/>
          </a:p>
          <a:p>
            <a:r>
              <a:rPr lang="en-US" sz="2400" b="1" dirty="0"/>
              <a:t>                   k+=</a:t>
            </a:r>
            <a:r>
              <a:rPr lang="en-US" sz="2400" b="1" dirty="0" err="1"/>
              <a:t>i</a:t>
            </a:r>
            <a:r>
              <a:rPr lang="en-US" sz="2400" b="1" dirty="0" smtClean="0"/>
              <a:t>;</a:t>
            </a:r>
            <a:endParaRPr lang="en-US" sz="2400" b="1" dirty="0"/>
          </a:p>
          <a:p>
            <a:r>
              <a:rPr lang="en-US" sz="2400" b="1" dirty="0"/>
              <a:t>                   </a:t>
            </a:r>
            <a:r>
              <a:rPr lang="en-US" sz="2400" b="1" dirty="0" err="1"/>
              <a:t>printf</a:t>
            </a:r>
            <a:r>
              <a:rPr lang="en-US" sz="2400" b="1" dirty="0"/>
              <a:t>("k=%d/</a:t>
            </a:r>
            <a:r>
              <a:rPr lang="en-US" sz="2400" b="1" dirty="0" err="1"/>
              <a:t>n",k</a:t>
            </a:r>
            <a:r>
              <a:rPr lang="en-US" sz="2400" b="1" dirty="0" smtClean="0"/>
              <a:t>);</a:t>
            </a:r>
            <a:endParaRPr lang="en-US" sz="2400" b="1" dirty="0"/>
          </a:p>
          <a:p>
            <a:r>
              <a:rPr lang="en-US" sz="2400" b="1" dirty="0"/>
              <a:t>         </a:t>
            </a:r>
            <a:r>
              <a:rPr lang="en-US" sz="2400" b="1" dirty="0" smtClean="0"/>
              <a:t>}</a:t>
            </a:r>
            <a:endParaRPr lang="en-US" sz="2400" b="1" dirty="0"/>
          </a:p>
          <a:p>
            <a:r>
              <a:rPr lang="en-US" sz="2400" b="1" dirty="0"/>
              <a:t>         </a:t>
            </a:r>
            <a:r>
              <a:rPr lang="en-US" sz="2400" b="1" dirty="0" err="1"/>
              <a:t>printf</a:t>
            </a:r>
            <a:r>
              <a:rPr lang="en-US" sz="2400" b="1" dirty="0"/>
              <a:t>("last k=%d/n", k);</a:t>
            </a:r>
            <a:endParaRPr lang="en-US" sz="2400" b="1" dirty="0"/>
          </a:p>
          <a:p>
            <a:endParaRPr lang="en-US" sz="2400" b="1" dirty="0" smtClean="0"/>
          </a:p>
          <a:p>
            <a:r>
              <a:rPr lang="zh-CN" altLang="en-US" sz="2400" b="1" dirty="0" smtClean="0"/>
              <a:t>运行结果：</a:t>
            </a:r>
            <a:endParaRPr lang="en-US" sz="2400" b="1" dirty="0"/>
          </a:p>
          <a:p>
            <a:r>
              <a:rPr lang="en-US" sz="2000" b="1" dirty="0" smtClean="0"/>
              <a:t>k=100</a:t>
            </a:r>
            <a:endParaRPr lang="en-US" sz="2000" b="1" dirty="0"/>
          </a:p>
          <a:p>
            <a:r>
              <a:rPr lang="en-US" sz="2000" b="1" dirty="0" smtClean="0"/>
              <a:t>k=101</a:t>
            </a:r>
            <a:endParaRPr lang="en-US" sz="2000" b="1" dirty="0"/>
          </a:p>
          <a:p>
            <a:r>
              <a:rPr lang="en-US" sz="2000" b="1" dirty="0" smtClean="0"/>
              <a:t>k=103</a:t>
            </a:r>
            <a:endParaRPr lang="en-US" sz="2000" b="1" dirty="0"/>
          </a:p>
          <a:p>
            <a:r>
              <a:rPr lang="en-US" sz="2000" b="1" dirty="0" smtClean="0"/>
              <a:t>k=102</a:t>
            </a:r>
            <a:endParaRPr lang="en-US" sz="2000" b="1" dirty="0"/>
          </a:p>
          <a:p>
            <a:r>
              <a:rPr lang="en-US" sz="2000" b="1" dirty="0"/>
              <a:t>last k=100</a:t>
            </a:r>
            <a:endParaRPr lang="en-US" sz="2000" b="1" dirty="0"/>
          </a:p>
        </p:txBody>
      </p:sp>
      <p:sp>
        <p:nvSpPr>
          <p:cNvPr id="3" name="矩形 2"/>
          <p:cNvSpPr/>
          <p:nvPr/>
        </p:nvSpPr>
        <p:spPr>
          <a:xfrm>
            <a:off x="5936105" y="606119"/>
            <a:ext cx="5741232" cy="5734903"/>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pPr marL="457200" indent="-457200">
              <a:lnSpc>
                <a:spcPts val="4000"/>
              </a:lnSpc>
              <a:buFont typeface="Wingdings" panose="05000000000000000000" pitchFamily="2" charset="2"/>
              <a:buChar char="Ø"/>
            </a:pPr>
            <a:r>
              <a:rPr lang="en-US" altLang="zh-CN" sz="2800" b="1" dirty="0"/>
              <a:t>private</a:t>
            </a:r>
            <a:r>
              <a:rPr lang="zh-CN" altLang="en-US" sz="2800" b="1" dirty="0"/>
              <a:t>声明的私有变量不能继承同名变量的值，但实际情况中有时需要继承原有共享变量的值，</a:t>
            </a:r>
            <a:r>
              <a:rPr lang="en-US" altLang="zh-CN" sz="2800" b="1" dirty="0"/>
              <a:t>OpenMP</a:t>
            </a:r>
            <a:r>
              <a:rPr lang="zh-CN" altLang="en-US" sz="2800" b="1" dirty="0"/>
              <a:t>提供了</a:t>
            </a:r>
            <a:r>
              <a:rPr lang="en-US" altLang="zh-CN" sz="2800" b="1" dirty="0" err="1"/>
              <a:t>firstprivate</a:t>
            </a:r>
            <a:r>
              <a:rPr lang="zh-CN" altLang="en-US" sz="2800" b="1" dirty="0"/>
              <a:t>子句来实现这个功能</a:t>
            </a:r>
            <a:r>
              <a:rPr lang="zh-CN" altLang="en-US" sz="2800" b="1" dirty="0" smtClean="0"/>
              <a:t>。</a:t>
            </a:r>
            <a:endParaRPr lang="en-US" altLang="zh-CN" sz="2800" b="1" dirty="0" smtClean="0"/>
          </a:p>
          <a:p>
            <a:pPr marL="457200" indent="-457200">
              <a:lnSpc>
                <a:spcPts val="4000"/>
              </a:lnSpc>
              <a:buFont typeface="Wingdings" panose="05000000000000000000" pitchFamily="2" charset="2"/>
              <a:buChar char="Ø"/>
            </a:pPr>
            <a:endParaRPr lang="en-US" altLang="zh-CN" sz="2800" b="1" dirty="0" smtClean="0"/>
          </a:p>
          <a:p>
            <a:pPr marL="457200" indent="-457200">
              <a:lnSpc>
                <a:spcPts val="4000"/>
              </a:lnSpc>
              <a:buFont typeface="Wingdings" panose="05000000000000000000" pitchFamily="2" charset="2"/>
              <a:buChar char="Ø"/>
            </a:pPr>
            <a:r>
              <a:rPr lang="zh-CN" altLang="en-US" sz="2800" b="1" dirty="0"/>
              <a:t>从打印结果可以看出，并行区域内的私有变量</a:t>
            </a:r>
            <a:r>
              <a:rPr lang="en-US" altLang="zh-CN" sz="2800" b="1" dirty="0"/>
              <a:t>k</a:t>
            </a:r>
            <a:r>
              <a:rPr lang="zh-CN" altLang="en-US" sz="2800" b="1" dirty="0"/>
              <a:t>继承了外面共享变量</a:t>
            </a:r>
            <a:r>
              <a:rPr lang="en-US" altLang="zh-CN" sz="2800" b="1" dirty="0"/>
              <a:t>k</a:t>
            </a:r>
            <a:r>
              <a:rPr lang="zh-CN" altLang="en-US" sz="2800" b="1" dirty="0"/>
              <a:t>的值</a:t>
            </a:r>
            <a:r>
              <a:rPr lang="en-US" altLang="zh-CN" sz="2800" b="1" dirty="0"/>
              <a:t>100</a:t>
            </a:r>
            <a:r>
              <a:rPr lang="zh-CN" altLang="en-US" sz="2800" b="1" dirty="0"/>
              <a:t>作为初始值，并且在退出并行区域后，共享变量</a:t>
            </a:r>
            <a:r>
              <a:rPr lang="en-US" altLang="zh-CN" sz="2800" b="1" dirty="0"/>
              <a:t>k</a:t>
            </a:r>
            <a:r>
              <a:rPr lang="zh-CN" altLang="en-US" sz="2800" b="1" dirty="0"/>
              <a:t>的值保持为</a:t>
            </a:r>
            <a:r>
              <a:rPr lang="en-US" altLang="zh-CN" sz="2800" b="1" dirty="0"/>
              <a:t>100</a:t>
            </a:r>
            <a:r>
              <a:rPr lang="zh-CN" altLang="en-US" sz="2800" b="1" dirty="0"/>
              <a:t>未变。</a:t>
            </a:r>
            <a:endParaRPr lang="en-US" sz="2800" b="1" dirty="0"/>
          </a:p>
        </p:txBody>
      </p:sp>
      <p:sp>
        <p:nvSpPr>
          <p:cNvPr id="4" name="右大括号 3"/>
          <p:cNvSpPr/>
          <p:nvPr/>
        </p:nvSpPr>
        <p:spPr bwMode="auto">
          <a:xfrm>
            <a:off x="4512039" y="1588958"/>
            <a:ext cx="314793" cy="1768839"/>
          </a:xfrm>
          <a:prstGeom prst="rightBrace">
            <a:avLst/>
          </a:prstGeom>
          <a:noFill/>
          <a:ln w="9525" cap="flat" cmpd="sng" algn="ctr">
            <a:solidFill>
              <a:srgbClr val="2D0AC2"/>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smtClean="0">
              <a:ln>
                <a:noFill/>
              </a:ln>
              <a:solidFill>
                <a:schemeClr val="tx1"/>
              </a:solidFill>
              <a:effectLst/>
              <a:latin typeface="Arial" panose="020B0604020202020204" pitchFamily="34" charset="0"/>
              <a:ea typeface="隶书" panose="02010509060101010101" pitchFamily="49" charset="-122"/>
            </a:endParaRPr>
          </a:p>
        </p:txBody>
      </p:sp>
    </p:spTree>
  </p:cSld>
  <p:clrMapOvr>
    <a:masterClrMapping/>
  </p:clrMapOvr>
  <p:transition spd="med" advTm="3025">
    <p:fade/>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4741" y="811304"/>
            <a:ext cx="5316511" cy="5693866"/>
          </a:xfrm>
          <a:prstGeom prst="rect">
            <a:avLst/>
          </a:prstGeom>
        </p:spPr>
        <p:txBody>
          <a:bodyPr wrap="square">
            <a:spAutoFit/>
          </a:bodyPr>
          <a:lstStyle/>
          <a:p>
            <a:r>
              <a:rPr lang="en-US" sz="2400" b="1" dirty="0" err="1">
                <a:solidFill>
                  <a:srgbClr val="000000"/>
                </a:solidFill>
              </a:rPr>
              <a:t>int</a:t>
            </a:r>
            <a:r>
              <a:rPr lang="en-US" sz="2400" b="1" dirty="0">
                <a:solidFill>
                  <a:srgbClr val="000000"/>
                </a:solidFill>
              </a:rPr>
              <a:t> k = 100</a:t>
            </a:r>
            <a:r>
              <a:rPr lang="en-US" sz="2400" b="1" dirty="0" smtClean="0">
                <a:solidFill>
                  <a:srgbClr val="000000"/>
                </a:solidFill>
              </a:rPr>
              <a:t>;</a:t>
            </a:r>
            <a:endParaRPr lang="en-US" sz="2400" b="1" dirty="0">
              <a:solidFill>
                <a:srgbClr val="000000"/>
              </a:solidFill>
            </a:endParaRPr>
          </a:p>
          <a:p>
            <a:r>
              <a:rPr lang="en-US" sz="2400" b="1" dirty="0">
                <a:solidFill>
                  <a:srgbClr val="C00000"/>
                </a:solidFill>
              </a:rPr>
              <a:t>#pragma </a:t>
            </a:r>
            <a:r>
              <a:rPr lang="en-US" sz="2400" b="1" dirty="0" err="1">
                <a:solidFill>
                  <a:srgbClr val="C00000"/>
                </a:solidFill>
              </a:rPr>
              <a:t>omp</a:t>
            </a:r>
            <a:r>
              <a:rPr lang="en-US" sz="2400" b="1" dirty="0">
                <a:solidFill>
                  <a:srgbClr val="C00000"/>
                </a:solidFill>
              </a:rPr>
              <a:t> parallel for </a:t>
            </a:r>
            <a:r>
              <a:rPr lang="en-US" sz="2400" b="1" dirty="0" err="1">
                <a:solidFill>
                  <a:srgbClr val="C00000"/>
                </a:solidFill>
              </a:rPr>
              <a:t>firstprivate</a:t>
            </a:r>
            <a:r>
              <a:rPr lang="en-US" sz="2400" b="1" dirty="0">
                <a:solidFill>
                  <a:srgbClr val="C00000"/>
                </a:solidFill>
              </a:rPr>
              <a:t>(k</a:t>
            </a:r>
            <a:r>
              <a:rPr lang="en-US" sz="2400" b="1" dirty="0" smtClean="0">
                <a:solidFill>
                  <a:srgbClr val="C00000"/>
                </a:solidFill>
              </a:rPr>
              <a:t>)</a:t>
            </a:r>
            <a:r>
              <a:rPr lang="zh-CN" altLang="en-US" sz="2400" b="1" dirty="0" smtClean="0">
                <a:solidFill>
                  <a:srgbClr val="C00000"/>
                </a:solidFill>
              </a:rPr>
              <a:t>，</a:t>
            </a:r>
            <a:endParaRPr lang="en-US" altLang="zh-CN" sz="2400" b="1" dirty="0" smtClean="0">
              <a:solidFill>
                <a:srgbClr val="C00000"/>
              </a:solidFill>
            </a:endParaRPr>
          </a:p>
          <a:p>
            <a:r>
              <a:rPr lang="en-US" sz="2400" b="1" dirty="0" err="1">
                <a:solidFill>
                  <a:srgbClr val="C00000"/>
                </a:solidFill>
              </a:rPr>
              <a:t>l</a:t>
            </a:r>
            <a:r>
              <a:rPr lang="en-US" sz="2400" b="1" dirty="0" err="1" smtClean="0">
                <a:solidFill>
                  <a:srgbClr val="C00000"/>
                </a:solidFill>
              </a:rPr>
              <a:t>astprivate</a:t>
            </a:r>
            <a:r>
              <a:rPr lang="en-US" sz="2400" b="1" dirty="0" smtClean="0">
                <a:solidFill>
                  <a:srgbClr val="C00000"/>
                </a:solidFill>
              </a:rPr>
              <a:t>(k)</a:t>
            </a:r>
            <a:endParaRPr lang="en-US" sz="2400" b="1" dirty="0">
              <a:solidFill>
                <a:srgbClr val="000000"/>
              </a:solidFill>
            </a:endParaRPr>
          </a:p>
          <a:p>
            <a:r>
              <a:rPr lang="en-US" sz="2400" b="1" dirty="0">
                <a:solidFill>
                  <a:srgbClr val="000000"/>
                </a:solidFill>
              </a:rPr>
              <a:t>         for ( </a:t>
            </a:r>
            <a:r>
              <a:rPr lang="en-US" sz="2400" b="1" dirty="0" err="1">
                <a:solidFill>
                  <a:srgbClr val="000000"/>
                </a:solidFill>
              </a:rPr>
              <a:t>i</a:t>
            </a:r>
            <a:r>
              <a:rPr lang="en-US" sz="2400" b="1" dirty="0">
                <a:solidFill>
                  <a:srgbClr val="000000"/>
                </a:solidFill>
              </a:rPr>
              <a:t>=0; </a:t>
            </a:r>
            <a:r>
              <a:rPr lang="en-US" sz="2400" b="1" dirty="0" err="1">
                <a:solidFill>
                  <a:srgbClr val="000000"/>
                </a:solidFill>
              </a:rPr>
              <a:t>i</a:t>
            </a:r>
            <a:r>
              <a:rPr lang="en-US" sz="2400" b="1" dirty="0">
                <a:solidFill>
                  <a:srgbClr val="000000"/>
                </a:solidFill>
              </a:rPr>
              <a:t> &lt; 4; </a:t>
            </a:r>
            <a:r>
              <a:rPr lang="en-US" sz="2400" b="1" dirty="0" err="1">
                <a:solidFill>
                  <a:srgbClr val="000000"/>
                </a:solidFill>
              </a:rPr>
              <a:t>i</a:t>
            </a:r>
            <a:r>
              <a:rPr lang="en-US" sz="2400" b="1" dirty="0" smtClean="0">
                <a:solidFill>
                  <a:srgbClr val="000000"/>
                </a:solidFill>
              </a:rPr>
              <a:t>++)</a:t>
            </a:r>
            <a:endParaRPr lang="en-US" sz="2400" b="1" dirty="0">
              <a:solidFill>
                <a:srgbClr val="000000"/>
              </a:solidFill>
            </a:endParaRPr>
          </a:p>
          <a:p>
            <a:r>
              <a:rPr lang="en-US" sz="2400" b="1" dirty="0">
                <a:solidFill>
                  <a:srgbClr val="000000"/>
                </a:solidFill>
              </a:rPr>
              <a:t>         </a:t>
            </a:r>
            <a:r>
              <a:rPr lang="en-US" sz="2400" b="1" dirty="0" smtClean="0">
                <a:solidFill>
                  <a:srgbClr val="000000"/>
                </a:solidFill>
              </a:rPr>
              <a:t>{</a:t>
            </a:r>
            <a:endParaRPr lang="en-US" sz="2400" b="1" dirty="0">
              <a:solidFill>
                <a:srgbClr val="000000"/>
              </a:solidFill>
            </a:endParaRPr>
          </a:p>
          <a:p>
            <a:r>
              <a:rPr lang="en-US" sz="2400" b="1" dirty="0">
                <a:solidFill>
                  <a:srgbClr val="000000"/>
                </a:solidFill>
              </a:rPr>
              <a:t>                   k+=</a:t>
            </a:r>
            <a:r>
              <a:rPr lang="en-US" sz="2400" b="1" dirty="0" err="1">
                <a:solidFill>
                  <a:srgbClr val="000000"/>
                </a:solidFill>
              </a:rPr>
              <a:t>i</a:t>
            </a:r>
            <a:r>
              <a:rPr lang="en-US" sz="2400" b="1" dirty="0" smtClean="0">
                <a:solidFill>
                  <a:srgbClr val="000000"/>
                </a:solidFill>
              </a:rPr>
              <a:t>;</a:t>
            </a:r>
            <a:endParaRPr lang="en-US" sz="2400" b="1" dirty="0">
              <a:solidFill>
                <a:srgbClr val="000000"/>
              </a:solidFill>
            </a:endParaRPr>
          </a:p>
          <a:p>
            <a:r>
              <a:rPr lang="en-US" sz="2400" b="1" dirty="0">
                <a:solidFill>
                  <a:srgbClr val="000000"/>
                </a:solidFill>
              </a:rPr>
              <a:t>                   </a:t>
            </a:r>
            <a:r>
              <a:rPr lang="en-US" sz="2400" b="1" dirty="0" err="1">
                <a:solidFill>
                  <a:srgbClr val="000000"/>
                </a:solidFill>
              </a:rPr>
              <a:t>printf</a:t>
            </a:r>
            <a:r>
              <a:rPr lang="en-US" sz="2400" b="1" dirty="0">
                <a:solidFill>
                  <a:srgbClr val="000000"/>
                </a:solidFill>
              </a:rPr>
              <a:t>("k=%d/</a:t>
            </a:r>
            <a:r>
              <a:rPr lang="en-US" sz="2400" b="1" dirty="0" err="1">
                <a:solidFill>
                  <a:srgbClr val="000000"/>
                </a:solidFill>
              </a:rPr>
              <a:t>n",k</a:t>
            </a:r>
            <a:r>
              <a:rPr lang="en-US" sz="2400" b="1" dirty="0" smtClean="0">
                <a:solidFill>
                  <a:srgbClr val="000000"/>
                </a:solidFill>
              </a:rPr>
              <a:t>);</a:t>
            </a:r>
            <a:endParaRPr lang="en-US" sz="2400" b="1" dirty="0">
              <a:solidFill>
                <a:srgbClr val="000000"/>
              </a:solidFill>
            </a:endParaRPr>
          </a:p>
          <a:p>
            <a:r>
              <a:rPr lang="en-US" sz="2400" b="1" dirty="0">
                <a:solidFill>
                  <a:srgbClr val="000000"/>
                </a:solidFill>
              </a:rPr>
              <a:t>         </a:t>
            </a:r>
            <a:r>
              <a:rPr lang="en-US" sz="2400" b="1" dirty="0" smtClean="0">
                <a:solidFill>
                  <a:srgbClr val="000000"/>
                </a:solidFill>
              </a:rPr>
              <a:t>}</a:t>
            </a:r>
            <a:endParaRPr lang="en-US" sz="2400" b="1" dirty="0">
              <a:solidFill>
                <a:srgbClr val="000000"/>
              </a:solidFill>
            </a:endParaRPr>
          </a:p>
          <a:p>
            <a:r>
              <a:rPr lang="en-US" sz="2400" b="1" dirty="0">
                <a:solidFill>
                  <a:srgbClr val="000000"/>
                </a:solidFill>
              </a:rPr>
              <a:t>         </a:t>
            </a:r>
            <a:r>
              <a:rPr lang="en-US" sz="2400" b="1" dirty="0" err="1">
                <a:solidFill>
                  <a:srgbClr val="000000"/>
                </a:solidFill>
              </a:rPr>
              <a:t>printf</a:t>
            </a:r>
            <a:r>
              <a:rPr lang="en-US" sz="2400" b="1" dirty="0">
                <a:solidFill>
                  <a:srgbClr val="000000"/>
                </a:solidFill>
              </a:rPr>
              <a:t>("last k=%d/n", k);</a:t>
            </a:r>
            <a:endParaRPr lang="en-US" sz="2400" b="1" dirty="0">
              <a:solidFill>
                <a:srgbClr val="000000"/>
              </a:solidFill>
            </a:endParaRPr>
          </a:p>
          <a:p>
            <a:endParaRPr lang="en-US" sz="2400" b="1" dirty="0" smtClean="0">
              <a:solidFill>
                <a:srgbClr val="000000"/>
              </a:solidFill>
            </a:endParaRPr>
          </a:p>
          <a:p>
            <a:r>
              <a:rPr lang="zh-CN" altLang="en-US" sz="2400" b="1" dirty="0" smtClean="0">
                <a:solidFill>
                  <a:srgbClr val="000000"/>
                </a:solidFill>
              </a:rPr>
              <a:t>运行结果：</a:t>
            </a:r>
            <a:endParaRPr lang="en-US" sz="2400" b="1" dirty="0">
              <a:solidFill>
                <a:srgbClr val="000000"/>
              </a:solidFill>
            </a:endParaRPr>
          </a:p>
          <a:p>
            <a:r>
              <a:rPr lang="en-US" sz="2000" b="1" dirty="0" smtClean="0">
                <a:solidFill>
                  <a:srgbClr val="000000"/>
                </a:solidFill>
              </a:rPr>
              <a:t>k=100</a:t>
            </a:r>
            <a:endParaRPr lang="en-US" sz="2000" b="1" dirty="0">
              <a:solidFill>
                <a:srgbClr val="000000"/>
              </a:solidFill>
            </a:endParaRPr>
          </a:p>
          <a:p>
            <a:r>
              <a:rPr lang="en-US" sz="2000" b="1" dirty="0" smtClean="0">
                <a:solidFill>
                  <a:srgbClr val="000000"/>
                </a:solidFill>
              </a:rPr>
              <a:t>k=101</a:t>
            </a:r>
            <a:endParaRPr lang="en-US" sz="2000" b="1" dirty="0">
              <a:solidFill>
                <a:srgbClr val="000000"/>
              </a:solidFill>
            </a:endParaRPr>
          </a:p>
          <a:p>
            <a:r>
              <a:rPr lang="en-US" sz="2000" b="1" dirty="0" smtClean="0">
                <a:solidFill>
                  <a:srgbClr val="000000"/>
                </a:solidFill>
              </a:rPr>
              <a:t>k=103</a:t>
            </a:r>
            <a:endParaRPr lang="en-US" sz="2000" b="1" dirty="0">
              <a:solidFill>
                <a:srgbClr val="000000"/>
              </a:solidFill>
            </a:endParaRPr>
          </a:p>
          <a:p>
            <a:r>
              <a:rPr lang="en-US" sz="2000" b="1" dirty="0" smtClean="0">
                <a:solidFill>
                  <a:srgbClr val="000000"/>
                </a:solidFill>
              </a:rPr>
              <a:t>k=102</a:t>
            </a:r>
            <a:endParaRPr lang="en-US" sz="2000" b="1" dirty="0">
              <a:solidFill>
                <a:srgbClr val="000000"/>
              </a:solidFill>
            </a:endParaRPr>
          </a:p>
          <a:p>
            <a:r>
              <a:rPr lang="en-US" sz="2000" b="1" dirty="0">
                <a:solidFill>
                  <a:srgbClr val="000000"/>
                </a:solidFill>
              </a:rPr>
              <a:t>last </a:t>
            </a:r>
            <a:r>
              <a:rPr lang="en-US" sz="2000" b="1" dirty="0" smtClean="0">
                <a:solidFill>
                  <a:srgbClr val="000000"/>
                </a:solidFill>
              </a:rPr>
              <a:t>k=103</a:t>
            </a:r>
            <a:endParaRPr lang="en-US" sz="2000" b="1" dirty="0">
              <a:solidFill>
                <a:srgbClr val="000000"/>
              </a:solidFill>
            </a:endParaRPr>
          </a:p>
        </p:txBody>
      </p:sp>
      <p:sp>
        <p:nvSpPr>
          <p:cNvPr id="3" name="矩形 2"/>
          <p:cNvSpPr/>
          <p:nvPr/>
        </p:nvSpPr>
        <p:spPr>
          <a:xfrm>
            <a:off x="5983572" y="1023536"/>
            <a:ext cx="5921115" cy="466852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pPr marL="457200" indent="-457200">
              <a:lnSpc>
                <a:spcPts val="4000"/>
              </a:lnSpc>
              <a:buFont typeface="Wingdings" panose="05000000000000000000" pitchFamily="2" charset="2"/>
              <a:buChar char="Ø"/>
            </a:pPr>
            <a:r>
              <a:rPr lang="zh-CN" altLang="en-US" sz="2800" b="1" dirty="0">
                <a:solidFill>
                  <a:srgbClr val="000000"/>
                </a:solidFill>
              </a:rPr>
              <a:t>有时在并行区域内的私有变量的值经过计算后，在退出并行区域时，需要将它的值赋给同名的共享变量，前面的</a:t>
            </a:r>
            <a:r>
              <a:rPr lang="en-US" altLang="zh-CN" sz="2800" b="1" dirty="0">
                <a:solidFill>
                  <a:srgbClr val="000000"/>
                </a:solidFill>
              </a:rPr>
              <a:t>private</a:t>
            </a:r>
            <a:r>
              <a:rPr lang="zh-CN" altLang="en-US" sz="2800" b="1" dirty="0">
                <a:solidFill>
                  <a:srgbClr val="000000"/>
                </a:solidFill>
              </a:rPr>
              <a:t>和</a:t>
            </a:r>
            <a:r>
              <a:rPr lang="en-US" altLang="zh-CN" sz="2800" b="1" dirty="0" err="1">
                <a:solidFill>
                  <a:srgbClr val="000000"/>
                </a:solidFill>
              </a:rPr>
              <a:t>firstprivate</a:t>
            </a:r>
            <a:r>
              <a:rPr lang="zh-CN" altLang="en-US" sz="2800" b="1" dirty="0">
                <a:solidFill>
                  <a:srgbClr val="000000"/>
                </a:solidFill>
              </a:rPr>
              <a:t>子句在退出并行区域时都没有将私有变量的最后取值赋给对应的共享变量，</a:t>
            </a:r>
            <a:r>
              <a:rPr lang="en-US" altLang="zh-CN" sz="2800" b="1" dirty="0" err="1">
                <a:solidFill>
                  <a:srgbClr val="000000"/>
                </a:solidFill>
              </a:rPr>
              <a:t>lastprivate</a:t>
            </a:r>
            <a:r>
              <a:rPr lang="zh-CN" altLang="en-US" sz="2800" b="1" dirty="0">
                <a:solidFill>
                  <a:srgbClr val="000000"/>
                </a:solidFill>
              </a:rPr>
              <a:t>子句就是用来实现在退出并行区域时将私有变量的值赋给共享变量</a:t>
            </a:r>
            <a:r>
              <a:rPr lang="zh-CN" altLang="en-US" sz="2800" b="1" dirty="0" smtClean="0">
                <a:solidFill>
                  <a:srgbClr val="000000"/>
                </a:solidFill>
              </a:rPr>
              <a:t>。</a:t>
            </a:r>
            <a:endParaRPr lang="en-US" altLang="zh-CN" sz="2800" b="1" dirty="0" smtClean="0">
              <a:solidFill>
                <a:srgbClr val="000000"/>
              </a:solidFill>
            </a:endParaRPr>
          </a:p>
        </p:txBody>
      </p:sp>
      <p:sp>
        <p:nvSpPr>
          <p:cNvPr id="4" name="右大括号 3"/>
          <p:cNvSpPr/>
          <p:nvPr/>
        </p:nvSpPr>
        <p:spPr bwMode="auto">
          <a:xfrm>
            <a:off x="4512039" y="1588958"/>
            <a:ext cx="314793" cy="1768839"/>
          </a:xfrm>
          <a:prstGeom prst="rightBrace">
            <a:avLst/>
          </a:prstGeom>
          <a:noFill/>
          <a:ln w="9525" cap="flat" cmpd="sng" algn="ctr">
            <a:solidFill>
              <a:srgbClr val="2D0AC2"/>
            </a:solidFill>
            <a:prstDash val="solid"/>
            <a:round/>
            <a:headEnd type="none" w="med" len="med"/>
            <a:tailEnd type="none" w="med" len="med"/>
          </a:ln>
        </p:spPr>
        <p:txBody>
          <a:bodyPr vert="horz" wrap="square" lIns="91440" tIns="45720" rIns="91440" bIns="45720" numCol="1" rtlCol="0" anchor="t" anchorCtr="0" compatLnSpc="1"/>
          <a:lstStyle/>
          <a:p>
            <a:pPr algn="ctr" fontAlgn="base">
              <a:spcBef>
                <a:spcPct val="0"/>
              </a:spcBef>
              <a:spcAft>
                <a:spcPct val="0"/>
              </a:spcAft>
            </a:pPr>
            <a:endParaRPr lang="en-US" smtClean="0">
              <a:solidFill>
                <a:srgbClr val="000000"/>
              </a:solidFill>
              <a:latin typeface="Arial" panose="020B0604020202020204" pitchFamily="34" charset="0"/>
              <a:ea typeface="隶书" panose="02010509060101010101" pitchFamily="49" charset="-122"/>
            </a:endParaRPr>
          </a:p>
        </p:txBody>
      </p:sp>
    </p:spTree>
  </p:cSld>
  <p:clrMapOvr>
    <a:masterClrMapping/>
  </p:clrMapOvr>
  <p:transition spd="med" advTm="3025">
    <p:fade/>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44249" y="742891"/>
            <a:ext cx="10128354" cy="5693866"/>
          </a:xfrm>
          <a:prstGeom prst="rect">
            <a:avLst/>
          </a:prstGeom>
        </p:spPr>
        <p:txBody>
          <a:bodyPr wrap="square">
            <a:spAutoFit/>
          </a:bodyPr>
          <a:lstStyle/>
          <a:p>
            <a:pPr marL="457200" indent="-457200">
              <a:buFont typeface="Wingdings" panose="05000000000000000000" pitchFamily="2" charset="2"/>
              <a:buChar char="v"/>
            </a:pPr>
            <a:r>
              <a:rPr lang="zh-CN" altLang="en-US" sz="2800" b="1" dirty="0">
                <a:solidFill>
                  <a:srgbClr val="2D0AC2"/>
                </a:solidFill>
              </a:rPr>
              <a:t>由于在并行区域内是多个线程并行执行的，最后到底是将那个线程的最终计算结果赋给了对应的共享变量呢</a:t>
            </a:r>
            <a:r>
              <a:rPr lang="zh-CN" altLang="en-US" sz="2800" b="1" dirty="0" smtClean="0">
                <a:solidFill>
                  <a:srgbClr val="2D0AC2"/>
                </a:solidFill>
              </a:rPr>
              <a:t>？</a:t>
            </a:r>
            <a:endParaRPr lang="en-US" altLang="zh-CN" sz="2800" b="1" dirty="0" smtClean="0">
              <a:solidFill>
                <a:srgbClr val="2D0AC2"/>
              </a:solidFill>
            </a:endParaRPr>
          </a:p>
          <a:p>
            <a:r>
              <a:rPr lang="en-US" altLang="zh-CN" sz="2800" b="1" dirty="0" smtClean="0"/>
              <a:t>       ——OpenMP</a:t>
            </a:r>
            <a:r>
              <a:rPr lang="zh-CN" altLang="en-US" sz="2800" b="1" dirty="0"/>
              <a:t>规范中指出，如果是循环迭代，那么是将最后一次循环迭代中的值赋给对应的共享变量；如果是</a:t>
            </a:r>
            <a:r>
              <a:rPr lang="en-US" altLang="zh-CN" sz="2800" b="1" dirty="0"/>
              <a:t>section</a:t>
            </a:r>
            <a:r>
              <a:rPr lang="zh-CN" altLang="en-US" sz="2800" b="1" dirty="0"/>
              <a:t>构造，那么是最后一个</a:t>
            </a:r>
            <a:r>
              <a:rPr lang="en-US" altLang="zh-CN" sz="2800" b="1" dirty="0"/>
              <a:t>section</a:t>
            </a:r>
            <a:r>
              <a:rPr lang="zh-CN" altLang="en-US" sz="2800" b="1" dirty="0"/>
              <a:t>语句中的值赋给对应的共享变量。注意这里说的最后一个</a:t>
            </a:r>
            <a:r>
              <a:rPr lang="en-US" altLang="zh-CN" sz="2800" b="1" dirty="0"/>
              <a:t>section</a:t>
            </a:r>
            <a:r>
              <a:rPr lang="zh-CN" altLang="en-US" sz="2800" b="1" dirty="0"/>
              <a:t>是指程序语法上的最后一个，而不是实际运行时的最后一个运行完的。</a:t>
            </a:r>
            <a:endParaRPr lang="zh-CN" altLang="en-US" sz="2800" b="1" dirty="0"/>
          </a:p>
          <a:p>
            <a:pPr marL="457200" indent="-457200">
              <a:buFont typeface="Wingdings" panose="05000000000000000000" pitchFamily="2" charset="2"/>
              <a:buChar char="v"/>
            </a:pPr>
            <a:endParaRPr lang="zh-CN" altLang="en-US" sz="2800" b="1" dirty="0"/>
          </a:p>
          <a:p>
            <a:pPr marL="457200" indent="-457200">
              <a:buFont typeface="Wingdings" panose="05000000000000000000" pitchFamily="2" charset="2"/>
              <a:buChar char="v"/>
            </a:pPr>
            <a:r>
              <a:rPr lang="zh-CN" altLang="en-US" sz="2800" b="1" dirty="0"/>
              <a:t>如果是类（</a:t>
            </a:r>
            <a:r>
              <a:rPr lang="en-US" altLang="zh-CN" sz="2800" b="1" dirty="0"/>
              <a:t>class</a:t>
            </a:r>
            <a:r>
              <a:rPr lang="zh-CN" altLang="en-US" sz="2800" b="1" dirty="0"/>
              <a:t>）类型的变量使用在</a:t>
            </a:r>
            <a:r>
              <a:rPr lang="en-US" altLang="zh-CN" sz="2800" b="1" dirty="0" err="1"/>
              <a:t>lastprivate</a:t>
            </a:r>
            <a:r>
              <a:rPr lang="zh-CN" altLang="en-US" sz="2800" b="1" dirty="0"/>
              <a:t>参数中，那么使用时有些限制，需要一个可访问</a:t>
            </a:r>
            <a:r>
              <a:rPr lang="zh-CN" altLang="en-US" sz="2800" b="1" dirty="0" smtClean="0"/>
              <a:t>的、明确</a:t>
            </a:r>
            <a:r>
              <a:rPr lang="zh-CN" altLang="en-US" sz="2800" b="1" dirty="0"/>
              <a:t>的缺省构造函数，除非变量也被使用作为</a:t>
            </a:r>
            <a:r>
              <a:rPr lang="en-US" altLang="zh-CN" sz="2800" b="1" dirty="0" err="1"/>
              <a:t>firstprivate</a:t>
            </a:r>
            <a:r>
              <a:rPr lang="zh-CN" altLang="en-US" sz="2800" b="1" dirty="0"/>
              <a:t>子句的参数；还需要一个拷贝赋值操作符，并且这个拷贝赋值操作符对于不同对象的操作顺序是未指定的，依赖于编译器的定义。</a:t>
            </a:r>
            <a:endParaRPr lang="en-US" sz="2800" b="1" dirty="0"/>
          </a:p>
        </p:txBody>
      </p:sp>
    </p:spTree>
  </p:cSld>
  <p:clrMapOvr>
    <a:masterClrMapping/>
  </p:clrMapOvr>
  <p:transition spd="med" advTm="3025">
    <p:fade/>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24326" y="536618"/>
            <a:ext cx="10353207" cy="5586145"/>
          </a:xfrm>
          <a:prstGeom prst="rect">
            <a:avLst/>
          </a:prstGeom>
        </p:spPr>
        <p:txBody>
          <a:bodyPr wrap="square">
            <a:spAutoFit/>
          </a:bodyPr>
          <a:lstStyle/>
          <a:p>
            <a:pPr algn="ctr"/>
            <a:r>
              <a:rPr lang="en-US" altLang="zh-CN" sz="4800" b="1" dirty="0">
                <a:solidFill>
                  <a:srgbClr val="2D0AC2"/>
                </a:solidFill>
              </a:rPr>
              <a:t>shared</a:t>
            </a:r>
            <a:r>
              <a:rPr lang="zh-CN" altLang="en-US" sz="4800" b="1" dirty="0" smtClean="0">
                <a:solidFill>
                  <a:srgbClr val="2D0AC2"/>
                </a:solidFill>
              </a:rPr>
              <a:t>子句</a:t>
            </a:r>
            <a:endParaRPr lang="en-US" altLang="zh-CN" sz="2800" dirty="0">
              <a:solidFill>
                <a:srgbClr val="000000"/>
              </a:solidFill>
            </a:endParaRPr>
          </a:p>
          <a:p>
            <a:pPr marL="457200" indent="-457200">
              <a:buFont typeface="Wingdings" panose="05000000000000000000" pitchFamily="2" charset="2"/>
              <a:buChar char="v"/>
            </a:pPr>
            <a:r>
              <a:rPr lang="en-US" altLang="zh-CN" sz="2800" b="1" dirty="0" smtClean="0">
                <a:solidFill>
                  <a:srgbClr val="000000"/>
                </a:solidFill>
              </a:rPr>
              <a:t>shared</a:t>
            </a:r>
            <a:r>
              <a:rPr lang="zh-CN" altLang="en-US" sz="2800" b="1" dirty="0">
                <a:solidFill>
                  <a:srgbClr val="000000"/>
                </a:solidFill>
              </a:rPr>
              <a:t>子句用来声明一个或多个变量是共享变量</a:t>
            </a:r>
            <a:r>
              <a:rPr lang="zh-CN" altLang="en-US" sz="2800" b="1" dirty="0" smtClean="0">
                <a:solidFill>
                  <a:srgbClr val="000000"/>
                </a:solidFill>
              </a:rPr>
              <a:t>。</a:t>
            </a:r>
            <a:endParaRPr lang="zh-CN" altLang="en-US" sz="2800" b="1" dirty="0">
              <a:solidFill>
                <a:srgbClr val="000000"/>
              </a:solidFill>
            </a:endParaRPr>
          </a:p>
          <a:p>
            <a:r>
              <a:rPr lang="zh-CN" altLang="en-US" sz="2800" b="1" dirty="0">
                <a:solidFill>
                  <a:srgbClr val="000000"/>
                </a:solidFill>
              </a:rPr>
              <a:t>用法如下</a:t>
            </a:r>
            <a:r>
              <a:rPr lang="zh-CN" altLang="en-US" sz="2800" b="1" dirty="0" smtClean="0">
                <a:solidFill>
                  <a:srgbClr val="000000"/>
                </a:solidFill>
              </a:rPr>
              <a:t>： </a:t>
            </a:r>
            <a:r>
              <a:rPr lang="en-US" altLang="zh-CN" sz="2800" b="1" dirty="0" smtClean="0">
                <a:solidFill>
                  <a:srgbClr val="000000"/>
                </a:solidFill>
              </a:rPr>
              <a:t>shared(list</a:t>
            </a:r>
            <a:r>
              <a:rPr lang="en-US" altLang="zh-CN" sz="2800" b="1" dirty="0">
                <a:solidFill>
                  <a:srgbClr val="000000"/>
                </a:solidFill>
              </a:rPr>
              <a:t>)</a:t>
            </a:r>
            <a:endParaRPr lang="en-US" altLang="zh-CN" sz="2800" b="1" dirty="0">
              <a:solidFill>
                <a:srgbClr val="000000"/>
              </a:solidFill>
            </a:endParaRPr>
          </a:p>
          <a:p>
            <a:endParaRPr lang="en-US" altLang="zh-CN" sz="2800" b="1" dirty="0">
              <a:solidFill>
                <a:srgbClr val="000000"/>
              </a:solidFill>
            </a:endParaRPr>
          </a:p>
          <a:p>
            <a:pPr marL="457200" indent="-457200">
              <a:lnSpc>
                <a:spcPts val="4500"/>
              </a:lnSpc>
              <a:buFont typeface="Wingdings" panose="05000000000000000000" pitchFamily="2" charset="2"/>
              <a:buChar char="v"/>
            </a:pPr>
            <a:r>
              <a:rPr lang="zh-CN" altLang="en-US" sz="2800" b="1" dirty="0">
                <a:solidFill>
                  <a:srgbClr val="C00000"/>
                </a:solidFill>
              </a:rPr>
              <a:t>需要注意的是，在并行区域内使用共享变量时，如果存在写操作，必须对共享变量加以保护，否则不要轻易使用共享变量，尽量将共享变量的访问转化为私有变量的访问。</a:t>
            </a:r>
            <a:endParaRPr lang="zh-CN" altLang="en-US" sz="2800" b="1" dirty="0">
              <a:solidFill>
                <a:srgbClr val="C00000"/>
              </a:solidFill>
            </a:endParaRPr>
          </a:p>
          <a:p>
            <a:pPr marL="457200" indent="-457200">
              <a:lnSpc>
                <a:spcPts val="4500"/>
              </a:lnSpc>
              <a:buFont typeface="Wingdings" panose="05000000000000000000" pitchFamily="2" charset="2"/>
              <a:buChar char="v"/>
            </a:pPr>
            <a:endParaRPr lang="zh-CN" altLang="en-US" sz="2800" b="1" dirty="0">
              <a:solidFill>
                <a:srgbClr val="000000"/>
              </a:solidFill>
            </a:endParaRPr>
          </a:p>
          <a:p>
            <a:pPr marL="457200" indent="-457200">
              <a:lnSpc>
                <a:spcPts val="4500"/>
              </a:lnSpc>
              <a:buFont typeface="Wingdings" panose="05000000000000000000" pitchFamily="2" charset="2"/>
              <a:buChar char="v"/>
            </a:pPr>
            <a:r>
              <a:rPr lang="zh-CN" altLang="en-US" sz="2800" b="1" dirty="0">
                <a:solidFill>
                  <a:srgbClr val="000000"/>
                </a:solidFill>
              </a:rPr>
              <a:t>循环迭代变量在循环构造区域里是私有的。声明在循环构造区域内的自动变量都是私有的。</a:t>
            </a:r>
            <a:endParaRPr lang="en-US" sz="2800" b="1" dirty="0">
              <a:solidFill>
                <a:srgbClr val="000000"/>
              </a:solidFill>
            </a:endParaRPr>
          </a:p>
        </p:txBody>
      </p:sp>
    </p:spTree>
  </p:cSld>
  <p:clrMapOvr>
    <a:masterClrMapping/>
  </p:clrMapOvr>
  <p:transition spd="med" advTm="3025">
    <p:fade/>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29193" y="381851"/>
            <a:ext cx="9653665" cy="5770811"/>
          </a:xfrm>
          <a:prstGeom prst="rect">
            <a:avLst/>
          </a:prstGeom>
        </p:spPr>
        <p:txBody>
          <a:bodyPr wrap="square">
            <a:spAutoFit/>
          </a:bodyPr>
          <a:lstStyle/>
          <a:p>
            <a:pPr algn="ctr">
              <a:lnSpc>
                <a:spcPct val="150000"/>
              </a:lnSpc>
            </a:pPr>
            <a:r>
              <a:rPr lang="zh-CN" altLang="en-US" sz="5400" b="1" dirty="0" smtClean="0">
                <a:solidFill>
                  <a:srgbClr val="2D0AC2"/>
                </a:solidFill>
                <a:latin typeface="华文行楷" panose="02010800040101010101" pitchFamily="2" charset="-122"/>
                <a:ea typeface="华文行楷" panose="02010800040101010101" pitchFamily="2" charset="-122"/>
              </a:rPr>
              <a:t>总结</a:t>
            </a:r>
            <a:endParaRPr lang="en-US" altLang="zh-CN" sz="5400" b="1" dirty="0" smtClean="0">
              <a:solidFill>
                <a:srgbClr val="2D0AC2"/>
              </a:solidFill>
              <a:latin typeface="华文行楷" panose="02010800040101010101" pitchFamily="2" charset="-122"/>
              <a:ea typeface="华文行楷" panose="02010800040101010101" pitchFamily="2" charset="-122"/>
            </a:endParaRPr>
          </a:p>
          <a:p>
            <a:pPr marL="457200" indent="-457200">
              <a:lnSpc>
                <a:spcPct val="150000"/>
              </a:lnSpc>
              <a:buFont typeface="Wingdings" panose="05000000000000000000" pitchFamily="2" charset="2"/>
              <a:buChar char="Ø"/>
            </a:pPr>
            <a:r>
              <a:rPr lang="zh-CN" altLang="en-US" sz="3200" b="1" dirty="0" smtClean="0">
                <a:solidFill>
                  <a:srgbClr val="6A247A"/>
                </a:solidFill>
              </a:rPr>
              <a:t>如果</a:t>
            </a:r>
            <a:r>
              <a:rPr lang="zh-CN" altLang="en-US" sz="3200" b="1" dirty="0">
                <a:solidFill>
                  <a:srgbClr val="6A247A"/>
                </a:solidFill>
              </a:rPr>
              <a:t>在并行区域内不加锁保护就直接对共享变量进行写操作，存在数据竞争问题，会导致不可预测的异常结果</a:t>
            </a:r>
            <a:r>
              <a:rPr lang="zh-CN" altLang="en-US" sz="3200" b="1" dirty="0" smtClean="0">
                <a:solidFill>
                  <a:srgbClr val="6A247A"/>
                </a:solidFill>
              </a:rPr>
              <a:t>。</a:t>
            </a:r>
            <a:endParaRPr lang="en-US" altLang="zh-CN" sz="3200" b="1" dirty="0" smtClean="0">
              <a:solidFill>
                <a:srgbClr val="6A247A"/>
              </a:solidFill>
            </a:endParaRPr>
          </a:p>
          <a:p>
            <a:pPr marL="457200" indent="-457200">
              <a:lnSpc>
                <a:spcPct val="150000"/>
              </a:lnSpc>
              <a:buFont typeface="Wingdings" panose="05000000000000000000" pitchFamily="2" charset="2"/>
              <a:buChar char="Ø"/>
            </a:pPr>
            <a:r>
              <a:rPr lang="zh-CN" altLang="en-US" sz="3200" b="1" dirty="0" smtClean="0">
                <a:solidFill>
                  <a:srgbClr val="000000"/>
                </a:solidFill>
              </a:rPr>
              <a:t>共享</a:t>
            </a:r>
            <a:r>
              <a:rPr lang="zh-CN" altLang="en-US" sz="3200" b="1" dirty="0">
                <a:solidFill>
                  <a:srgbClr val="000000"/>
                </a:solidFill>
              </a:rPr>
              <a:t>数据作为</a:t>
            </a:r>
            <a:r>
              <a:rPr lang="en-US" altLang="zh-CN" sz="3200" b="1" dirty="0">
                <a:solidFill>
                  <a:srgbClr val="000000"/>
                </a:solidFill>
              </a:rPr>
              <a:t>private</a:t>
            </a:r>
            <a:r>
              <a:rPr lang="zh-CN" altLang="en-US" sz="3200" b="1" dirty="0">
                <a:solidFill>
                  <a:srgbClr val="000000"/>
                </a:solidFill>
              </a:rPr>
              <a:t>、</a:t>
            </a:r>
            <a:r>
              <a:rPr lang="en-US" altLang="zh-CN" sz="3200" b="1" dirty="0" err="1">
                <a:solidFill>
                  <a:srgbClr val="000000"/>
                </a:solidFill>
              </a:rPr>
              <a:t>firstprivate</a:t>
            </a:r>
            <a:r>
              <a:rPr lang="zh-CN" altLang="en-US" sz="3200" b="1" dirty="0">
                <a:solidFill>
                  <a:srgbClr val="000000"/>
                </a:solidFill>
              </a:rPr>
              <a:t>、</a:t>
            </a:r>
            <a:r>
              <a:rPr lang="en-US" altLang="zh-CN" sz="3200" b="1" dirty="0" err="1">
                <a:solidFill>
                  <a:srgbClr val="000000"/>
                </a:solidFill>
              </a:rPr>
              <a:t>lastprivate</a:t>
            </a:r>
            <a:r>
              <a:rPr lang="zh-CN" altLang="en-US" sz="3200" b="1" dirty="0">
                <a:solidFill>
                  <a:srgbClr val="000000"/>
                </a:solidFill>
              </a:rPr>
              <a:t>、</a:t>
            </a:r>
            <a:r>
              <a:rPr lang="en-US" altLang="zh-CN" sz="3200" b="1" dirty="0" err="1">
                <a:solidFill>
                  <a:srgbClr val="000000"/>
                </a:solidFill>
              </a:rPr>
              <a:t>threadprivate</a:t>
            </a:r>
            <a:r>
              <a:rPr lang="zh-CN" altLang="en-US" sz="3200" b="1" dirty="0">
                <a:solidFill>
                  <a:srgbClr val="000000"/>
                </a:solidFill>
              </a:rPr>
              <a:t>、</a:t>
            </a:r>
            <a:r>
              <a:rPr lang="en-US" altLang="zh-CN" sz="3200" b="1" dirty="0">
                <a:solidFill>
                  <a:srgbClr val="000000"/>
                </a:solidFill>
              </a:rPr>
              <a:t>reduction</a:t>
            </a:r>
            <a:r>
              <a:rPr lang="zh-CN" altLang="en-US" sz="3200" b="1" dirty="0">
                <a:solidFill>
                  <a:srgbClr val="000000"/>
                </a:solidFill>
              </a:rPr>
              <a:t>子句的参数进入并行区域后，就变成线程私有了，不需要加锁保护了。</a:t>
            </a:r>
            <a:endParaRPr lang="en-US" sz="3200" b="1" dirty="0">
              <a:solidFill>
                <a:srgbClr val="000000"/>
              </a:solidFill>
            </a:endParaRPr>
          </a:p>
        </p:txBody>
      </p:sp>
    </p:spTree>
  </p:cSld>
  <p:clrMapOvr>
    <a:masterClrMapping/>
  </p:clrMapOvr>
  <p:transition spd="med" advTm="3025">
    <p:fade/>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19199" y="731489"/>
            <a:ext cx="9873521" cy="4431983"/>
          </a:xfrm>
          <a:prstGeom prst="rect">
            <a:avLst/>
          </a:prstGeom>
        </p:spPr>
        <p:txBody>
          <a:bodyPr wrap="square">
            <a:spAutoFit/>
          </a:bodyPr>
          <a:lstStyle/>
          <a:p>
            <a:pPr algn="ctr"/>
            <a:r>
              <a:rPr lang="en-US" altLang="zh-CN" sz="4400" b="1" dirty="0">
                <a:solidFill>
                  <a:srgbClr val="2D0AC2"/>
                </a:solidFill>
                <a:latin typeface="+mj-lt"/>
                <a:ea typeface="华文行楷" panose="02010800040101010101" pitchFamily="2" charset="-122"/>
              </a:rPr>
              <a:t>copyin</a:t>
            </a:r>
            <a:r>
              <a:rPr lang="zh-CN" altLang="en-US" sz="4400" b="1" dirty="0">
                <a:solidFill>
                  <a:srgbClr val="2D0AC2"/>
                </a:solidFill>
                <a:latin typeface="+mj-lt"/>
                <a:ea typeface="华文行楷" panose="02010800040101010101" pitchFamily="2" charset="-122"/>
              </a:rPr>
              <a:t>子句</a:t>
            </a:r>
            <a:endParaRPr lang="en-US" altLang="zh-CN" sz="4400" b="1" dirty="0" smtClean="0">
              <a:solidFill>
                <a:srgbClr val="2D0AC2"/>
              </a:solidFill>
              <a:latin typeface="+mj-lt"/>
              <a:ea typeface="华文行楷" panose="02010800040101010101" pitchFamily="2" charset="-122"/>
            </a:endParaRPr>
          </a:p>
          <a:p>
            <a:pPr>
              <a:lnSpc>
                <a:spcPct val="150000"/>
              </a:lnSpc>
            </a:pPr>
            <a:r>
              <a:rPr lang="en-US" altLang="zh-CN" sz="2800" b="1" dirty="0" smtClean="0"/>
              <a:t>        copyin</a:t>
            </a:r>
            <a:r>
              <a:rPr lang="zh-CN" altLang="en-US" sz="2800" b="1" dirty="0"/>
              <a:t>子句用来将主线程中</a:t>
            </a:r>
            <a:r>
              <a:rPr lang="en-US" altLang="zh-CN" sz="2800" b="1" dirty="0" err="1"/>
              <a:t>threadprivate</a:t>
            </a:r>
            <a:r>
              <a:rPr lang="zh-CN" altLang="en-US" sz="2800" b="1" dirty="0"/>
              <a:t>变量的值拷贝到执行并行区域的各个线程的</a:t>
            </a:r>
            <a:r>
              <a:rPr lang="en-US" altLang="zh-CN" sz="2800" b="1" dirty="0" err="1"/>
              <a:t>threadprivate</a:t>
            </a:r>
            <a:r>
              <a:rPr lang="zh-CN" altLang="en-US" sz="2800" b="1" dirty="0"/>
              <a:t>变量中，便于线程可以访问主线程中的变量</a:t>
            </a:r>
            <a:r>
              <a:rPr lang="zh-CN" altLang="en-US" sz="2800" b="1" dirty="0" smtClean="0"/>
              <a:t>值。</a:t>
            </a:r>
            <a:endParaRPr lang="zh-CN" altLang="en-US" sz="2800" b="1" dirty="0"/>
          </a:p>
          <a:p>
            <a:r>
              <a:rPr lang="zh-CN" altLang="en-US" sz="2800" b="1" dirty="0"/>
              <a:t>用法如下</a:t>
            </a:r>
            <a:r>
              <a:rPr lang="zh-CN" altLang="en-US" sz="2800" b="1" dirty="0" smtClean="0"/>
              <a:t>：</a:t>
            </a:r>
            <a:r>
              <a:rPr lang="en-US" altLang="zh-CN" sz="2800" b="1" dirty="0" smtClean="0"/>
              <a:t>copyin(list</a:t>
            </a:r>
            <a:r>
              <a:rPr lang="en-US" altLang="zh-CN" sz="2800" b="1" dirty="0"/>
              <a:t>)</a:t>
            </a:r>
            <a:endParaRPr lang="en-US" altLang="zh-CN" sz="2800" b="1" dirty="0"/>
          </a:p>
          <a:p>
            <a:endParaRPr lang="en-US" altLang="zh-CN" sz="2800" b="1" dirty="0"/>
          </a:p>
          <a:p>
            <a:pPr marL="457200" indent="-457200">
              <a:buFont typeface="Arial" panose="020B0604020202020204" pitchFamily="34" charset="0"/>
              <a:buChar char="•"/>
            </a:pPr>
            <a:r>
              <a:rPr lang="en-US" altLang="zh-CN" sz="2800" b="1" dirty="0"/>
              <a:t>copyin</a:t>
            </a:r>
            <a:r>
              <a:rPr lang="zh-CN" altLang="en-US" sz="2800" b="1" dirty="0"/>
              <a:t>中的参数必须被声明成</a:t>
            </a:r>
            <a:r>
              <a:rPr lang="en-US" altLang="zh-CN" sz="2800" b="1" dirty="0" err="1"/>
              <a:t>threadprivate</a:t>
            </a:r>
            <a:r>
              <a:rPr lang="zh-CN" altLang="en-US" sz="2800" b="1" dirty="0" smtClean="0"/>
              <a:t>的</a:t>
            </a:r>
            <a:endParaRPr lang="en-US" altLang="zh-CN" sz="2800" b="1" dirty="0" smtClean="0"/>
          </a:p>
          <a:p>
            <a:pPr marL="457200" indent="-457200">
              <a:buFont typeface="Arial" panose="020B0604020202020204" pitchFamily="34" charset="0"/>
              <a:buChar char="•"/>
            </a:pPr>
            <a:r>
              <a:rPr lang="zh-CN" altLang="en-US" sz="2800" b="1" dirty="0" smtClean="0"/>
              <a:t>对于“类”类型</a:t>
            </a:r>
            <a:r>
              <a:rPr lang="zh-CN" altLang="en-US" sz="2800" b="1" dirty="0"/>
              <a:t>的变量，必须带有明确的拷贝赋值操作符。</a:t>
            </a:r>
            <a:endParaRPr lang="en-US" sz="2800" b="1" dirty="0"/>
          </a:p>
        </p:txBody>
      </p:sp>
    </p:spTree>
  </p:cSld>
  <p:clrMapOvr>
    <a:masterClrMapping/>
  </p:clrMapOvr>
  <p:transition spd="med" advTm="3025">
    <p:fade/>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533992" y="914960"/>
            <a:ext cx="7984761" cy="4832092"/>
          </a:xfrm>
          <a:prstGeom prst="rect">
            <a:avLst/>
          </a:prstGeom>
        </p:spPr>
        <p:txBody>
          <a:bodyPr wrap="square">
            <a:spAutoFit/>
          </a:bodyPr>
          <a:lstStyle/>
          <a:p>
            <a:r>
              <a:rPr lang="en-US" sz="2800" b="1" dirty="0" err="1"/>
              <a:t>int</a:t>
            </a:r>
            <a:r>
              <a:rPr lang="en-US" sz="2800" b="1" dirty="0"/>
              <a:t> counter = 0;</a:t>
            </a:r>
            <a:endParaRPr lang="en-US" sz="2800" b="1" dirty="0"/>
          </a:p>
          <a:p>
            <a:endParaRPr lang="en-US" sz="2800" b="1" dirty="0"/>
          </a:p>
          <a:p>
            <a:r>
              <a:rPr lang="en-US" sz="2800" b="1" dirty="0">
                <a:solidFill>
                  <a:srgbClr val="2D0AC2"/>
                </a:solidFill>
              </a:rPr>
              <a:t>#pragma </a:t>
            </a:r>
            <a:r>
              <a:rPr lang="en-US" sz="2800" b="1" dirty="0" err="1">
                <a:solidFill>
                  <a:srgbClr val="2D0AC2"/>
                </a:solidFill>
              </a:rPr>
              <a:t>omp</a:t>
            </a:r>
            <a:r>
              <a:rPr lang="en-US" sz="2800" b="1" dirty="0">
                <a:solidFill>
                  <a:srgbClr val="2D0AC2"/>
                </a:solidFill>
              </a:rPr>
              <a:t> </a:t>
            </a:r>
            <a:r>
              <a:rPr lang="en-US" sz="2800" b="1" dirty="0" err="1">
                <a:solidFill>
                  <a:srgbClr val="2D0AC2"/>
                </a:solidFill>
              </a:rPr>
              <a:t>threadprivate</a:t>
            </a:r>
            <a:r>
              <a:rPr lang="en-US" sz="2800" b="1" dirty="0">
                <a:solidFill>
                  <a:srgbClr val="2D0AC2"/>
                </a:solidFill>
              </a:rPr>
              <a:t>(counter)</a:t>
            </a:r>
            <a:endParaRPr lang="en-US" sz="2800" b="1" dirty="0">
              <a:solidFill>
                <a:srgbClr val="2D0AC2"/>
              </a:solidFill>
            </a:endParaRPr>
          </a:p>
          <a:p>
            <a:endParaRPr lang="en-US" sz="2800" b="1" dirty="0"/>
          </a:p>
          <a:p>
            <a:r>
              <a:rPr lang="en-US" sz="2800" b="1" dirty="0" err="1"/>
              <a:t>int</a:t>
            </a:r>
            <a:r>
              <a:rPr lang="en-US" sz="2800" b="1" dirty="0"/>
              <a:t> </a:t>
            </a:r>
            <a:r>
              <a:rPr lang="en-US" sz="2800" b="1" dirty="0" err="1"/>
              <a:t>increment_counter</a:t>
            </a:r>
            <a:r>
              <a:rPr lang="en-US" sz="2800" b="1" dirty="0"/>
              <a:t>()</a:t>
            </a:r>
            <a:endParaRPr lang="en-US" sz="2800" b="1" dirty="0"/>
          </a:p>
          <a:p>
            <a:endParaRPr lang="en-US" sz="2800" b="1" dirty="0"/>
          </a:p>
          <a:p>
            <a:r>
              <a:rPr lang="en-US" sz="2800" b="1" dirty="0" smtClean="0"/>
              <a:t>{</a:t>
            </a:r>
            <a:endParaRPr lang="en-US" sz="2800" b="1" dirty="0"/>
          </a:p>
          <a:p>
            <a:r>
              <a:rPr lang="en-US" sz="2800" b="1" dirty="0"/>
              <a:t>         counter++;</a:t>
            </a:r>
            <a:endParaRPr lang="en-US" sz="2800" b="1" dirty="0"/>
          </a:p>
          <a:p>
            <a:endParaRPr lang="en-US" sz="2800" b="1" dirty="0"/>
          </a:p>
          <a:p>
            <a:r>
              <a:rPr lang="en-US" sz="2800" b="1" dirty="0"/>
              <a:t>         return(counter</a:t>
            </a:r>
            <a:r>
              <a:rPr lang="en-US" sz="2800" b="1" dirty="0" smtClean="0"/>
              <a:t>);</a:t>
            </a:r>
            <a:endParaRPr lang="en-US" sz="2800" b="1" dirty="0" smtClean="0"/>
          </a:p>
          <a:p>
            <a:r>
              <a:rPr lang="en-US" sz="2800" b="1" dirty="0" smtClean="0"/>
              <a:t>}</a:t>
            </a:r>
            <a:endParaRPr lang="en-US" sz="2800" b="1" dirty="0"/>
          </a:p>
        </p:txBody>
      </p:sp>
    </p:spTree>
  </p:cSld>
  <p:clrMapOvr>
    <a:masterClrMapping/>
  </p:clrMapOvr>
  <p:transition spd="med" advTm="3025">
    <p:fade/>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79554" y="827572"/>
            <a:ext cx="10458138" cy="5262979"/>
          </a:xfrm>
          <a:prstGeom prst="rect">
            <a:avLst/>
          </a:prstGeom>
        </p:spPr>
        <p:txBody>
          <a:bodyPr wrap="square">
            <a:spAutoFit/>
          </a:bodyPr>
          <a:lstStyle/>
          <a:p>
            <a:r>
              <a:rPr lang="en-US" sz="2800" b="1" dirty="0" err="1"/>
              <a:t>int</a:t>
            </a:r>
            <a:r>
              <a:rPr lang="en-US" sz="2800" b="1" dirty="0"/>
              <a:t> main(</a:t>
            </a:r>
            <a:r>
              <a:rPr lang="en-US" sz="2800" b="1" dirty="0" err="1"/>
              <a:t>int</a:t>
            </a:r>
            <a:r>
              <a:rPr lang="en-US" sz="2800" b="1" dirty="0"/>
              <a:t> </a:t>
            </a:r>
            <a:r>
              <a:rPr lang="en-US" sz="2800" b="1" dirty="0" err="1"/>
              <a:t>argc</a:t>
            </a:r>
            <a:r>
              <a:rPr lang="en-US" sz="2800" b="1" dirty="0"/>
              <a:t>, char* </a:t>
            </a:r>
            <a:r>
              <a:rPr lang="en-US" sz="2800" b="1" dirty="0" err="1"/>
              <a:t>argv</a:t>
            </a:r>
            <a:r>
              <a:rPr lang="en-US" sz="2800" b="1" dirty="0" smtClean="0"/>
              <a:t>[])</a:t>
            </a:r>
            <a:endParaRPr lang="en-US" sz="2800" b="1" dirty="0"/>
          </a:p>
          <a:p>
            <a:r>
              <a:rPr lang="en-US" sz="2800" b="1" dirty="0" smtClean="0"/>
              <a:t>{ </a:t>
            </a:r>
            <a:r>
              <a:rPr lang="en-US" sz="2800" b="1" dirty="0" err="1"/>
              <a:t>int</a:t>
            </a:r>
            <a:r>
              <a:rPr lang="en-US" sz="2800" b="1" dirty="0"/>
              <a:t> iterator</a:t>
            </a:r>
            <a:r>
              <a:rPr lang="en-US" sz="2800" b="1" dirty="0" smtClean="0"/>
              <a:t>;</a:t>
            </a:r>
            <a:endParaRPr lang="en-US" sz="2800" b="1" dirty="0"/>
          </a:p>
          <a:p>
            <a:r>
              <a:rPr lang="en-US" sz="2800" b="1" dirty="0" smtClean="0"/>
              <a:t>  </a:t>
            </a:r>
            <a:r>
              <a:rPr lang="en-US" sz="2800" b="1" dirty="0" smtClean="0">
                <a:solidFill>
                  <a:srgbClr val="2D0AC2"/>
                </a:solidFill>
              </a:rPr>
              <a:t>#</a:t>
            </a:r>
            <a:r>
              <a:rPr lang="en-US" sz="2800" b="1" dirty="0">
                <a:solidFill>
                  <a:srgbClr val="2D0AC2"/>
                </a:solidFill>
              </a:rPr>
              <a:t>pragma </a:t>
            </a:r>
            <a:r>
              <a:rPr lang="en-US" sz="2800" b="1" dirty="0" err="1">
                <a:solidFill>
                  <a:srgbClr val="2D0AC2"/>
                </a:solidFill>
              </a:rPr>
              <a:t>omp</a:t>
            </a:r>
            <a:r>
              <a:rPr lang="en-US" sz="2800" b="1" dirty="0">
                <a:solidFill>
                  <a:srgbClr val="2D0AC2"/>
                </a:solidFill>
              </a:rPr>
              <a:t> parallel sections copyin(counter</a:t>
            </a:r>
            <a:r>
              <a:rPr lang="en-US" sz="2800" b="1" dirty="0" smtClean="0">
                <a:solidFill>
                  <a:srgbClr val="2D0AC2"/>
                </a:solidFill>
              </a:rPr>
              <a:t>)</a:t>
            </a:r>
            <a:endParaRPr lang="en-US" sz="2800" b="1" dirty="0">
              <a:solidFill>
                <a:srgbClr val="2D0AC2"/>
              </a:solidFill>
            </a:endParaRPr>
          </a:p>
          <a:p>
            <a:r>
              <a:rPr lang="en-US" sz="2800" b="1" dirty="0"/>
              <a:t>         </a:t>
            </a:r>
            <a:r>
              <a:rPr lang="en-US" sz="2800" b="1" dirty="0" smtClean="0"/>
              <a:t>{</a:t>
            </a:r>
            <a:endParaRPr lang="en-US" sz="2800" b="1" dirty="0"/>
          </a:p>
          <a:p>
            <a:r>
              <a:rPr lang="en-US" sz="2800" b="1" dirty="0" smtClean="0"/>
              <a:t>            #</a:t>
            </a:r>
            <a:r>
              <a:rPr lang="en-US" sz="2800" b="1" dirty="0"/>
              <a:t>pragma </a:t>
            </a:r>
            <a:r>
              <a:rPr lang="en-US" sz="2800" b="1" dirty="0" err="1"/>
              <a:t>omp</a:t>
            </a:r>
            <a:r>
              <a:rPr lang="en-US" sz="2800" b="1" dirty="0"/>
              <a:t> </a:t>
            </a:r>
            <a:r>
              <a:rPr lang="en-US" sz="2800" b="1" dirty="0" smtClean="0"/>
              <a:t>section</a:t>
            </a:r>
            <a:endParaRPr lang="en-US" sz="2800" b="1" dirty="0"/>
          </a:p>
          <a:p>
            <a:r>
              <a:rPr lang="en-US" sz="2800" b="1" dirty="0"/>
              <a:t>            </a:t>
            </a:r>
            <a:r>
              <a:rPr lang="en-US" sz="2800" b="1" dirty="0" smtClean="0"/>
              <a:t> {  </a:t>
            </a:r>
            <a:r>
              <a:rPr lang="en-US" sz="2800" b="1" dirty="0" err="1"/>
              <a:t>int</a:t>
            </a:r>
            <a:r>
              <a:rPr lang="en-US" sz="2800" b="1" dirty="0"/>
              <a:t> count1</a:t>
            </a:r>
            <a:r>
              <a:rPr lang="en-US" sz="2800" b="1" dirty="0" smtClean="0"/>
              <a:t>;</a:t>
            </a:r>
            <a:endParaRPr lang="en-US" sz="2800" b="1" dirty="0"/>
          </a:p>
          <a:p>
            <a:r>
              <a:rPr lang="en-US" sz="2800" b="1" dirty="0"/>
              <a:t>         </a:t>
            </a:r>
            <a:r>
              <a:rPr lang="en-US" sz="2800" b="1" dirty="0" smtClean="0"/>
              <a:t>        </a:t>
            </a:r>
            <a:r>
              <a:rPr lang="en-US" sz="2800" b="1" dirty="0"/>
              <a:t>for ( iterator = 0; iterator </a:t>
            </a:r>
            <a:r>
              <a:rPr lang="en-US" sz="2800" b="1" dirty="0">
                <a:solidFill>
                  <a:srgbClr val="C00000"/>
                </a:solidFill>
              </a:rPr>
              <a:t>&lt; 100</a:t>
            </a:r>
            <a:r>
              <a:rPr lang="en-US" sz="2800" b="1" dirty="0"/>
              <a:t>; iterator++ </a:t>
            </a:r>
            <a:r>
              <a:rPr lang="en-US" sz="2800" b="1" dirty="0" smtClean="0"/>
              <a:t>)</a:t>
            </a:r>
            <a:endParaRPr lang="en-US" sz="2800" b="1" dirty="0"/>
          </a:p>
          <a:p>
            <a:r>
              <a:rPr lang="en-US" sz="2800" b="1" dirty="0"/>
              <a:t>                            </a:t>
            </a:r>
            <a:r>
              <a:rPr lang="en-US" sz="2800" b="1" dirty="0" smtClean="0"/>
              <a:t>{</a:t>
            </a:r>
            <a:endParaRPr lang="en-US" sz="2800" b="1" dirty="0"/>
          </a:p>
          <a:p>
            <a:r>
              <a:rPr lang="en-US" sz="2800" b="1" dirty="0"/>
              <a:t>                                     count1 = </a:t>
            </a:r>
            <a:r>
              <a:rPr lang="en-US" sz="2800" b="1" dirty="0" err="1"/>
              <a:t>increment_counter</a:t>
            </a:r>
            <a:r>
              <a:rPr lang="en-US" sz="2800" b="1" dirty="0" smtClean="0"/>
              <a:t>();</a:t>
            </a:r>
            <a:endParaRPr lang="en-US" sz="2800" b="1" dirty="0"/>
          </a:p>
          <a:p>
            <a:r>
              <a:rPr lang="en-US" sz="2800" b="1" dirty="0"/>
              <a:t>                            </a:t>
            </a:r>
            <a:r>
              <a:rPr lang="en-US" sz="2800" b="1" dirty="0" smtClean="0"/>
              <a:t>}</a:t>
            </a:r>
            <a:endParaRPr lang="en-US" sz="2800" b="1" dirty="0"/>
          </a:p>
          <a:p>
            <a:r>
              <a:rPr lang="en-US" sz="2800" b="1" dirty="0"/>
              <a:t>                            </a:t>
            </a:r>
            <a:r>
              <a:rPr lang="en-US" sz="2800" b="1" dirty="0" err="1"/>
              <a:t>printf</a:t>
            </a:r>
            <a:r>
              <a:rPr lang="en-US" sz="2800" b="1" dirty="0" smtClean="0"/>
              <a:t>(“count1 </a:t>
            </a:r>
            <a:r>
              <a:rPr lang="en-US" sz="2800" b="1" dirty="0"/>
              <a:t>= </a:t>
            </a:r>
            <a:r>
              <a:rPr lang="en-US" sz="2800" b="1" dirty="0" smtClean="0"/>
              <a:t>%d</a:t>
            </a:r>
            <a:r>
              <a:rPr lang="en-US" sz="2800" b="1" dirty="0"/>
              <a:t>\</a:t>
            </a:r>
            <a:r>
              <a:rPr lang="en-US" sz="2800" b="1" dirty="0" smtClean="0"/>
              <a:t>n</a:t>
            </a:r>
            <a:r>
              <a:rPr lang="en-US" sz="2800" b="1" dirty="0"/>
              <a:t>", count1</a:t>
            </a:r>
            <a:r>
              <a:rPr lang="en-US" sz="2800" b="1" dirty="0" smtClean="0"/>
              <a:t>);</a:t>
            </a:r>
            <a:endParaRPr lang="en-US" sz="2800" b="1" dirty="0"/>
          </a:p>
          <a:p>
            <a:r>
              <a:rPr lang="en-US" sz="2800" b="1" dirty="0"/>
              <a:t>                   }</a:t>
            </a:r>
            <a:endParaRPr lang="en-US" sz="2800" b="1" dirty="0"/>
          </a:p>
        </p:txBody>
      </p:sp>
    </p:spTree>
  </p:cSld>
  <p:clrMapOvr>
    <a:masterClrMapping/>
  </p:clrMapOvr>
  <p:transition spd="med" advTm="3025">
    <p:fade/>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29062" y="841923"/>
            <a:ext cx="8659318" cy="5262979"/>
          </a:xfrm>
          <a:prstGeom prst="rect">
            <a:avLst/>
          </a:prstGeom>
        </p:spPr>
        <p:txBody>
          <a:bodyPr wrap="square">
            <a:spAutoFit/>
          </a:bodyPr>
          <a:lstStyle/>
          <a:p>
            <a:r>
              <a:rPr lang="en-US" sz="2800" b="1" dirty="0"/>
              <a:t>#pragma </a:t>
            </a:r>
            <a:r>
              <a:rPr lang="en-US" sz="2800" b="1" dirty="0" err="1"/>
              <a:t>omp</a:t>
            </a:r>
            <a:r>
              <a:rPr lang="en-US" sz="2800" b="1" dirty="0"/>
              <a:t> </a:t>
            </a:r>
            <a:r>
              <a:rPr lang="en-US" sz="2800" b="1" dirty="0" smtClean="0"/>
              <a:t>section</a:t>
            </a:r>
            <a:endParaRPr lang="en-US" sz="2800" b="1" dirty="0"/>
          </a:p>
          <a:p>
            <a:r>
              <a:rPr lang="en-US" sz="2800" b="1" dirty="0"/>
              <a:t>     </a:t>
            </a:r>
            <a:r>
              <a:rPr lang="en-US" sz="2800" b="1" dirty="0" smtClean="0"/>
              <a:t> {</a:t>
            </a:r>
            <a:endParaRPr lang="en-US" sz="2800" b="1" dirty="0"/>
          </a:p>
          <a:p>
            <a:r>
              <a:rPr lang="en-US" sz="2800" b="1" dirty="0"/>
              <a:t>          </a:t>
            </a:r>
            <a:r>
              <a:rPr lang="en-US" sz="2800" b="1" dirty="0" smtClean="0"/>
              <a:t> </a:t>
            </a:r>
            <a:r>
              <a:rPr lang="en-US" sz="2800" b="1" dirty="0" err="1"/>
              <a:t>int</a:t>
            </a:r>
            <a:r>
              <a:rPr lang="en-US" sz="2800" b="1" dirty="0"/>
              <a:t> count2</a:t>
            </a:r>
            <a:r>
              <a:rPr lang="en-US" sz="2800" b="1" dirty="0" smtClean="0"/>
              <a:t>;</a:t>
            </a:r>
            <a:endParaRPr lang="en-US" sz="2800" b="1" dirty="0"/>
          </a:p>
          <a:p>
            <a:r>
              <a:rPr lang="en-US" sz="2800" b="1" dirty="0"/>
              <a:t>           </a:t>
            </a:r>
            <a:r>
              <a:rPr lang="en-US" sz="2800" b="1" dirty="0" smtClean="0"/>
              <a:t> </a:t>
            </a:r>
            <a:r>
              <a:rPr lang="en-US" sz="2800" b="1" dirty="0"/>
              <a:t>for ( iterator = 0; iterator </a:t>
            </a:r>
            <a:r>
              <a:rPr lang="en-US" sz="2800" b="1" dirty="0">
                <a:solidFill>
                  <a:srgbClr val="C00000"/>
                </a:solidFill>
              </a:rPr>
              <a:t>&lt; 200</a:t>
            </a:r>
            <a:r>
              <a:rPr lang="en-US" sz="2800" b="1" dirty="0"/>
              <a:t>; iterator++ </a:t>
            </a:r>
            <a:r>
              <a:rPr lang="en-US" sz="2800" b="1" dirty="0" smtClean="0"/>
              <a:t>)</a:t>
            </a:r>
            <a:endParaRPr lang="en-US" sz="2800" b="1" dirty="0"/>
          </a:p>
          <a:p>
            <a:r>
              <a:rPr lang="en-US" sz="2800" b="1" dirty="0"/>
              <a:t>                            </a:t>
            </a:r>
            <a:r>
              <a:rPr lang="en-US" sz="2800" b="1" dirty="0" smtClean="0"/>
              <a:t>{</a:t>
            </a:r>
            <a:endParaRPr lang="en-US" sz="2800" b="1" dirty="0"/>
          </a:p>
          <a:p>
            <a:r>
              <a:rPr lang="en-US" sz="2800" b="1" dirty="0"/>
              <a:t>                                     count2 = </a:t>
            </a:r>
            <a:r>
              <a:rPr lang="en-US" sz="2800" b="1" dirty="0" err="1"/>
              <a:t>increment_counter</a:t>
            </a:r>
            <a:r>
              <a:rPr lang="en-US" sz="2800" b="1" dirty="0" smtClean="0"/>
              <a:t>();</a:t>
            </a:r>
            <a:endParaRPr lang="en-US" sz="2800" b="1" dirty="0"/>
          </a:p>
          <a:p>
            <a:r>
              <a:rPr lang="en-US" sz="2800" b="1" dirty="0"/>
              <a:t>                            </a:t>
            </a:r>
            <a:r>
              <a:rPr lang="en-US" sz="2800" b="1" dirty="0" smtClean="0"/>
              <a:t>}</a:t>
            </a:r>
            <a:endParaRPr lang="en-US" sz="2800" b="1" dirty="0"/>
          </a:p>
          <a:p>
            <a:r>
              <a:rPr lang="en-US" sz="2800" b="1" dirty="0"/>
              <a:t>             </a:t>
            </a:r>
            <a:r>
              <a:rPr lang="en-US" sz="2800" b="1" dirty="0" smtClean="0"/>
              <a:t> </a:t>
            </a:r>
            <a:r>
              <a:rPr lang="en-US" sz="2800" b="1" dirty="0" err="1"/>
              <a:t>printf</a:t>
            </a:r>
            <a:r>
              <a:rPr lang="en-US" sz="2800" b="1" dirty="0"/>
              <a:t>("count2 = </a:t>
            </a:r>
            <a:r>
              <a:rPr lang="en-US" sz="2800" b="1" dirty="0" smtClean="0"/>
              <a:t>%d\n</a:t>
            </a:r>
            <a:r>
              <a:rPr lang="en-US" sz="2800" b="1" dirty="0"/>
              <a:t>", count2</a:t>
            </a:r>
            <a:r>
              <a:rPr lang="en-US" sz="2800" b="1" dirty="0" smtClean="0"/>
              <a:t>);</a:t>
            </a:r>
            <a:endParaRPr lang="en-US" sz="2800" b="1" dirty="0"/>
          </a:p>
          <a:p>
            <a:r>
              <a:rPr lang="en-US" sz="2800" b="1" dirty="0"/>
              <a:t>          </a:t>
            </a:r>
            <a:r>
              <a:rPr lang="en-US" sz="2800" b="1" dirty="0" smtClean="0"/>
              <a:t>}</a:t>
            </a:r>
            <a:endParaRPr lang="en-US" sz="2800" b="1" dirty="0"/>
          </a:p>
          <a:p>
            <a:r>
              <a:rPr lang="en-US" sz="2800" b="1" dirty="0"/>
              <a:t>      </a:t>
            </a:r>
            <a:r>
              <a:rPr lang="en-US" sz="2800" b="1" dirty="0" smtClean="0"/>
              <a:t>}</a:t>
            </a:r>
            <a:endParaRPr lang="en-US" sz="2800" b="1" dirty="0"/>
          </a:p>
          <a:p>
            <a:r>
              <a:rPr lang="en-US" sz="2800" b="1" dirty="0"/>
              <a:t>         </a:t>
            </a:r>
            <a:r>
              <a:rPr lang="en-US" sz="2800" b="1" dirty="0" err="1"/>
              <a:t>printf</a:t>
            </a:r>
            <a:r>
              <a:rPr lang="en-US" sz="2800" b="1" dirty="0"/>
              <a:t>("counter = </a:t>
            </a:r>
            <a:r>
              <a:rPr lang="en-US" sz="2800" b="1" dirty="0" smtClean="0"/>
              <a:t>%d\n</a:t>
            </a:r>
            <a:r>
              <a:rPr lang="en-US" sz="2800" b="1" dirty="0"/>
              <a:t>", counter</a:t>
            </a:r>
            <a:r>
              <a:rPr lang="en-US" sz="2800" b="1" dirty="0" smtClean="0"/>
              <a:t>);</a:t>
            </a:r>
            <a:endParaRPr lang="en-US" sz="2800" b="1" dirty="0"/>
          </a:p>
          <a:p>
            <a:r>
              <a:rPr lang="en-US" sz="2800" b="1" dirty="0"/>
              <a:t>}</a:t>
            </a:r>
            <a:endParaRPr lang="en-US" sz="2800" b="1" dirty="0"/>
          </a:p>
        </p:txBody>
      </p:sp>
    </p:spTree>
  </p:cSld>
  <p:clrMapOvr>
    <a:masterClrMapping/>
  </p:clrMapOvr>
  <p:transition spd="med" advTm="3025">
    <p:fade/>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668905" y="929950"/>
            <a:ext cx="10143344" cy="4708981"/>
          </a:xfrm>
          <a:prstGeom prst="rect">
            <a:avLst/>
          </a:prstGeom>
        </p:spPr>
        <p:txBody>
          <a:bodyPr wrap="square">
            <a:spAutoFit/>
          </a:bodyPr>
          <a:lstStyle/>
          <a:p>
            <a:r>
              <a:rPr lang="zh-CN" altLang="en-US" sz="2400" b="1" dirty="0"/>
              <a:t>运行</a:t>
            </a:r>
            <a:r>
              <a:rPr lang="zh-CN" altLang="en-US" sz="2400" b="1" dirty="0" smtClean="0"/>
              <a:t>结果</a:t>
            </a:r>
            <a:r>
              <a:rPr lang="zh-CN" altLang="en-US" sz="2400" b="1" dirty="0"/>
              <a:t>如下：</a:t>
            </a:r>
            <a:endParaRPr lang="zh-CN" altLang="en-US" sz="2400" b="1" dirty="0"/>
          </a:p>
          <a:p>
            <a:endParaRPr lang="zh-CN" altLang="en-US" sz="2400" b="1" dirty="0"/>
          </a:p>
          <a:p>
            <a:r>
              <a:rPr lang="en-US" sz="2400" b="1" dirty="0"/>
              <a:t>count1 = 100</a:t>
            </a:r>
            <a:endParaRPr lang="en-US" sz="2400" b="1" dirty="0"/>
          </a:p>
          <a:p>
            <a:endParaRPr lang="en-US" sz="2400" b="1" dirty="0"/>
          </a:p>
          <a:p>
            <a:r>
              <a:rPr lang="en-US" sz="2400" b="1" dirty="0"/>
              <a:t>count2 = 200</a:t>
            </a:r>
            <a:endParaRPr lang="en-US" sz="2400" b="1" dirty="0"/>
          </a:p>
          <a:p>
            <a:endParaRPr lang="en-US" sz="2400" b="1" dirty="0"/>
          </a:p>
          <a:p>
            <a:r>
              <a:rPr lang="en-US" sz="2400" b="1" dirty="0"/>
              <a:t>counter = 0</a:t>
            </a:r>
            <a:endParaRPr lang="en-US" sz="2400" b="1" dirty="0"/>
          </a:p>
          <a:p>
            <a:endParaRPr lang="en-US" sz="2400" b="1" dirty="0"/>
          </a:p>
          <a:p>
            <a:pPr>
              <a:lnSpc>
                <a:spcPct val="150000"/>
              </a:lnSpc>
            </a:pPr>
            <a:r>
              <a:rPr lang="en-US" sz="2400" b="1" dirty="0"/>
              <a:t> </a:t>
            </a:r>
            <a:r>
              <a:rPr lang="zh-CN" altLang="en-US" sz="2400" b="1" dirty="0" smtClean="0"/>
              <a:t>从</a:t>
            </a:r>
            <a:r>
              <a:rPr lang="zh-CN" altLang="en-US" sz="2400" b="1" dirty="0"/>
              <a:t>打印结果可以看出，两个线程都正确实现了各自的计数</a:t>
            </a:r>
            <a:r>
              <a:rPr lang="zh-CN" altLang="en-US" sz="2400" b="1" dirty="0" smtClean="0"/>
              <a:t>。</a:t>
            </a:r>
            <a:endParaRPr lang="en-US" altLang="zh-CN" sz="2400" b="1" dirty="0" smtClean="0"/>
          </a:p>
          <a:p>
            <a:pPr>
              <a:lnSpc>
                <a:spcPct val="150000"/>
              </a:lnSpc>
            </a:pPr>
            <a:r>
              <a:rPr lang="zh-CN" altLang="en-US" sz="2400" b="1" dirty="0" smtClean="0"/>
              <a:t>多</a:t>
            </a:r>
            <a:r>
              <a:rPr lang="zh-CN" altLang="en-US" sz="2400" b="1" dirty="0"/>
              <a:t>个</a:t>
            </a:r>
            <a:r>
              <a:rPr lang="zh-CN" altLang="en-US" sz="2400" b="1" dirty="0" smtClean="0"/>
              <a:t>线程</a:t>
            </a:r>
            <a:r>
              <a:rPr lang="zh-CN" altLang="en-US" sz="2400" b="1" dirty="0"/>
              <a:t>执行</a:t>
            </a:r>
            <a:r>
              <a:rPr lang="zh-CN" altLang="en-US" sz="2400" b="1" dirty="0" smtClean="0"/>
              <a:t>时</a:t>
            </a:r>
            <a:r>
              <a:rPr lang="zh-CN" altLang="en-US" sz="2400" b="1" dirty="0"/>
              <a:t>，各个线程都需要对全局变量</a:t>
            </a:r>
            <a:r>
              <a:rPr lang="en-US" altLang="zh-CN" sz="2400" b="1" dirty="0"/>
              <a:t>counter</a:t>
            </a:r>
            <a:r>
              <a:rPr lang="zh-CN" altLang="en-US" sz="2400" b="1" dirty="0"/>
              <a:t>的副本进行初始化，可以使用</a:t>
            </a:r>
            <a:r>
              <a:rPr lang="en-US" altLang="zh-CN" sz="2400" b="1" dirty="0"/>
              <a:t>copyin</a:t>
            </a:r>
            <a:r>
              <a:rPr lang="zh-CN" altLang="en-US" sz="2400" b="1" dirty="0"/>
              <a:t>子句来实现</a:t>
            </a:r>
            <a:endParaRPr lang="en-US" sz="2400" b="1" dirty="0"/>
          </a:p>
        </p:txBody>
      </p:sp>
    </p:spTree>
  </p:cSld>
  <p:clrMapOvr>
    <a:masterClrMapping/>
  </p:clrMapOvr>
  <p:transition spd="med" advTm="3025">
    <p:fade/>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04341" y="674557"/>
            <a:ext cx="10643017" cy="6524863"/>
          </a:xfrm>
          <a:prstGeom prst="rect">
            <a:avLst/>
          </a:prstGeom>
        </p:spPr>
        <p:txBody>
          <a:bodyPr wrap="square">
            <a:spAutoFit/>
          </a:bodyPr>
          <a:lstStyle/>
          <a:p>
            <a:pPr algn="ctr"/>
            <a:r>
              <a:rPr lang="en-US" sz="4000" b="1" dirty="0">
                <a:solidFill>
                  <a:srgbClr val="2D0AC2"/>
                </a:solidFill>
              </a:rPr>
              <a:t>copyprivate</a:t>
            </a:r>
            <a:r>
              <a:rPr lang="zh-CN" altLang="en-US" sz="4000" b="1" dirty="0">
                <a:solidFill>
                  <a:srgbClr val="2D0AC2"/>
                </a:solidFill>
              </a:rPr>
              <a:t>子句</a:t>
            </a:r>
            <a:endParaRPr lang="en-US" sz="4000" b="1" dirty="0" smtClean="0">
              <a:solidFill>
                <a:srgbClr val="2D0AC2"/>
              </a:solidFill>
            </a:endParaRPr>
          </a:p>
          <a:p>
            <a:r>
              <a:rPr lang="en-US" sz="2800" b="1" dirty="0" smtClean="0"/>
              <a:t>         copyprivate</a:t>
            </a:r>
            <a:r>
              <a:rPr lang="zh-CN" altLang="en-US" sz="2800" b="1" dirty="0"/>
              <a:t>子句提供了一种</a:t>
            </a:r>
            <a:r>
              <a:rPr lang="zh-CN" altLang="en-US" sz="2800" b="1" dirty="0" smtClean="0"/>
              <a:t>机制，用</a:t>
            </a:r>
            <a:r>
              <a:rPr lang="zh-CN" altLang="en-US" sz="2800" b="1" dirty="0"/>
              <a:t>一个私有变量将一个值从一个线程广播到执行同一并行区域的</a:t>
            </a:r>
            <a:r>
              <a:rPr lang="zh-CN" altLang="en-US" sz="2800" b="1" dirty="0" smtClean="0"/>
              <a:t>其它线程。</a:t>
            </a:r>
            <a:endParaRPr lang="zh-CN" altLang="en-US" sz="2800" b="1" dirty="0"/>
          </a:p>
          <a:p>
            <a:r>
              <a:rPr lang="zh-CN" altLang="en-US" sz="2800" b="1" dirty="0"/>
              <a:t>用法如下</a:t>
            </a:r>
            <a:r>
              <a:rPr lang="zh-CN" altLang="en-US" sz="2800" b="1" dirty="0" smtClean="0"/>
              <a:t>：</a:t>
            </a:r>
            <a:r>
              <a:rPr lang="en-US" sz="2800" b="1" dirty="0" smtClean="0"/>
              <a:t>copyprivate(list</a:t>
            </a:r>
            <a:r>
              <a:rPr lang="en-US" sz="2800" b="1" dirty="0"/>
              <a:t>)</a:t>
            </a:r>
            <a:endParaRPr lang="en-US" sz="2800" b="1" dirty="0"/>
          </a:p>
          <a:p>
            <a:endParaRPr lang="en-US" sz="2800" b="1" dirty="0"/>
          </a:p>
          <a:p>
            <a:pPr marL="457200" indent="-457200">
              <a:lnSpc>
                <a:spcPct val="150000"/>
              </a:lnSpc>
              <a:buFont typeface="Wingdings" panose="05000000000000000000" pitchFamily="2" charset="2"/>
              <a:buChar char="Ø"/>
            </a:pPr>
            <a:r>
              <a:rPr lang="en-US" sz="2800" b="1" dirty="0"/>
              <a:t>copyprivate</a:t>
            </a:r>
            <a:r>
              <a:rPr lang="zh-CN" altLang="en-US" sz="2800" b="1" dirty="0"/>
              <a:t>子句可以关联</a:t>
            </a:r>
            <a:r>
              <a:rPr lang="en-US" sz="2800" b="1" dirty="0"/>
              <a:t>single</a:t>
            </a:r>
            <a:r>
              <a:rPr lang="zh-CN" altLang="en-US" sz="2800" b="1" dirty="0"/>
              <a:t>构造，在</a:t>
            </a:r>
            <a:r>
              <a:rPr lang="en-US" sz="2800" b="1" dirty="0"/>
              <a:t>single</a:t>
            </a:r>
            <a:r>
              <a:rPr lang="zh-CN" altLang="en-US" sz="2800" b="1" dirty="0"/>
              <a:t>构造的</a:t>
            </a:r>
            <a:r>
              <a:rPr lang="en-US" sz="2800" b="1" dirty="0"/>
              <a:t>barrier</a:t>
            </a:r>
            <a:r>
              <a:rPr lang="zh-CN" altLang="en-US" sz="2800" b="1" dirty="0"/>
              <a:t>到达之前就完成了广播工作</a:t>
            </a:r>
            <a:r>
              <a:rPr lang="zh-CN" altLang="en-US" sz="2800" b="1" dirty="0" smtClean="0"/>
              <a:t>。</a:t>
            </a:r>
            <a:endParaRPr lang="en-US" altLang="zh-CN" sz="2800" b="1" dirty="0" smtClean="0"/>
          </a:p>
          <a:p>
            <a:pPr marL="457200" indent="-457200">
              <a:lnSpc>
                <a:spcPct val="150000"/>
              </a:lnSpc>
              <a:buFont typeface="Wingdings" panose="05000000000000000000" pitchFamily="2" charset="2"/>
              <a:buChar char="Ø"/>
            </a:pPr>
            <a:r>
              <a:rPr lang="en-US" sz="2800" b="1" dirty="0" smtClean="0"/>
              <a:t>copyprivate</a:t>
            </a:r>
            <a:r>
              <a:rPr lang="zh-CN" altLang="en-US" sz="2800" b="1" dirty="0"/>
              <a:t>可以对</a:t>
            </a:r>
            <a:r>
              <a:rPr lang="en-US" sz="2800" b="1" dirty="0"/>
              <a:t>private</a:t>
            </a:r>
            <a:r>
              <a:rPr lang="zh-CN" altLang="en-US" sz="2800" b="1" dirty="0"/>
              <a:t>和</a:t>
            </a:r>
            <a:r>
              <a:rPr lang="en-US" sz="2800" b="1" dirty="0" err="1"/>
              <a:t>threadprivate</a:t>
            </a:r>
            <a:r>
              <a:rPr lang="zh-CN" altLang="en-US" sz="2800" b="1" dirty="0"/>
              <a:t>子句中的变量进行操作，但是当使用</a:t>
            </a:r>
            <a:r>
              <a:rPr lang="en-US" sz="2800" b="1" dirty="0"/>
              <a:t>single</a:t>
            </a:r>
            <a:r>
              <a:rPr lang="zh-CN" altLang="en-US" sz="2800" b="1" dirty="0"/>
              <a:t>构造时，</a:t>
            </a:r>
            <a:r>
              <a:rPr lang="en-US" sz="2800" b="1" dirty="0"/>
              <a:t>copyprivate</a:t>
            </a:r>
            <a:r>
              <a:rPr lang="zh-CN" altLang="en-US" sz="2800" b="1" dirty="0"/>
              <a:t>的变量不能用于</a:t>
            </a:r>
            <a:r>
              <a:rPr lang="en-US" sz="2800" b="1" dirty="0"/>
              <a:t>private</a:t>
            </a:r>
            <a:r>
              <a:rPr lang="zh-CN" altLang="en-US" sz="2800" b="1" dirty="0"/>
              <a:t>和</a:t>
            </a:r>
            <a:r>
              <a:rPr lang="en-US" sz="2800" b="1" dirty="0" err="1"/>
              <a:t>firstprivate</a:t>
            </a:r>
            <a:r>
              <a:rPr lang="zh-CN" altLang="en-US" sz="2800" b="1" dirty="0"/>
              <a:t>子句中。</a:t>
            </a:r>
            <a:endParaRPr lang="zh-CN" altLang="en-US" sz="2800" b="1" dirty="0"/>
          </a:p>
          <a:p>
            <a:endParaRPr lang="zh-CN" altLang="en-US" sz="2800" b="1" dirty="0"/>
          </a:p>
          <a:p>
            <a:r>
              <a:rPr lang="zh-CN" altLang="en-US" sz="2800" b="1" dirty="0"/>
              <a:t> </a:t>
            </a:r>
            <a:endParaRPr lang="en-US" sz="2800" b="1" dirty="0"/>
          </a:p>
        </p:txBody>
      </p:sp>
    </p:spTree>
  </p:cSld>
  <p:clrMapOvr>
    <a:masterClrMapping/>
  </p:clrMapOvr>
  <p:transition spd="med" advTm="3025">
    <p:fade/>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4774" y="914960"/>
            <a:ext cx="5021705" cy="4154984"/>
          </a:xfrm>
          <a:prstGeom prst="rect">
            <a:avLst/>
          </a:prstGeom>
        </p:spPr>
        <p:txBody>
          <a:bodyPr wrap="square">
            <a:spAutoFit/>
          </a:bodyPr>
          <a:lstStyle/>
          <a:p>
            <a:r>
              <a:rPr lang="en-US" sz="2400" b="1" dirty="0" err="1">
                <a:solidFill>
                  <a:srgbClr val="000000"/>
                </a:solidFill>
              </a:rPr>
              <a:t>int</a:t>
            </a:r>
            <a:r>
              <a:rPr lang="en-US" sz="2400" b="1" dirty="0">
                <a:solidFill>
                  <a:srgbClr val="000000"/>
                </a:solidFill>
              </a:rPr>
              <a:t> counter = 0;</a:t>
            </a:r>
            <a:endParaRPr lang="en-US" sz="2400" b="1" dirty="0">
              <a:solidFill>
                <a:srgbClr val="000000"/>
              </a:solidFill>
            </a:endParaRPr>
          </a:p>
          <a:p>
            <a:endParaRPr lang="en-US" sz="2400" b="1" dirty="0">
              <a:solidFill>
                <a:srgbClr val="000000"/>
              </a:solidFill>
            </a:endParaRPr>
          </a:p>
          <a:p>
            <a:r>
              <a:rPr lang="en-US" sz="2400" b="1" dirty="0">
                <a:solidFill>
                  <a:srgbClr val="2D0AC2"/>
                </a:solidFill>
              </a:rPr>
              <a:t>#pragma </a:t>
            </a:r>
            <a:r>
              <a:rPr lang="en-US" sz="2400" b="1" dirty="0" err="1">
                <a:solidFill>
                  <a:srgbClr val="2D0AC2"/>
                </a:solidFill>
              </a:rPr>
              <a:t>omp</a:t>
            </a:r>
            <a:r>
              <a:rPr lang="en-US" sz="2400" b="1" dirty="0">
                <a:solidFill>
                  <a:srgbClr val="2D0AC2"/>
                </a:solidFill>
              </a:rPr>
              <a:t> </a:t>
            </a:r>
            <a:r>
              <a:rPr lang="en-US" sz="2400" b="1" dirty="0" err="1">
                <a:solidFill>
                  <a:srgbClr val="2D0AC2"/>
                </a:solidFill>
              </a:rPr>
              <a:t>threadprivate</a:t>
            </a:r>
            <a:r>
              <a:rPr lang="en-US" sz="2400" b="1" dirty="0">
                <a:solidFill>
                  <a:srgbClr val="2D0AC2"/>
                </a:solidFill>
              </a:rPr>
              <a:t>(counter)</a:t>
            </a:r>
            <a:endParaRPr lang="en-US" sz="2400" b="1" dirty="0">
              <a:solidFill>
                <a:srgbClr val="2D0AC2"/>
              </a:solidFill>
            </a:endParaRPr>
          </a:p>
          <a:p>
            <a:endParaRPr lang="en-US" sz="2400" b="1" dirty="0">
              <a:solidFill>
                <a:srgbClr val="000000"/>
              </a:solidFill>
            </a:endParaRPr>
          </a:p>
          <a:p>
            <a:r>
              <a:rPr lang="en-US" sz="2400" b="1" dirty="0" err="1">
                <a:solidFill>
                  <a:srgbClr val="000000"/>
                </a:solidFill>
              </a:rPr>
              <a:t>int</a:t>
            </a:r>
            <a:r>
              <a:rPr lang="en-US" sz="2400" b="1" dirty="0">
                <a:solidFill>
                  <a:srgbClr val="000000"/>
                </a:solidFill>
              </a:rPr>
              <a:t> </a:t>
            </a:r>
            <a:r>
              <a:rPr lang="en-US" sz="2400" b="1" dirty="0" err="1">
                <a:solidFill>
                  <a:srgbClr val="000000"/>
                </a:solidFill>
              </a:rPr>
              <a:t>increment_counter</a:t>
            </a:r>
            <a:r>
              <a:rPr lang="en-US" sz="2400" b="1" dirty="0">
                <a:solidFill>
                  <a:srgbClr val="000000"/>
                </a:solidFill>
              </a:rPr>
              <a:t>()</a:t>
            </a:r>
            <a:endParaRPr lang="en-US" sz="2400" b="1" dirty="0">
              <a:solidFill>
                <a:srgbClr val="000000"/>
              </a:solidFill>
            </a:endParaRPr>
          </a:p>
          <a:p>
            <a:endParaRPr lang="en-US" sz="2400" b="1" dirty="0">
              <a:solidFill>
                <a:srgbClr val="000000"/>
              </a:solidFill>
            </a:endParaRPr>
          </a:p>
          <a:p>
            <a:r>
              <a:rPr lang="en-US" sz="2400" b="1" dirty="0" smtClean="0">
                <a:solidFill>
                  <a:srgbClr val="000000"/>
                </a:solidFill>
              </a:rPr>
              <a:t>{</a:t>
            </a:r>
            <a:endParaRPr lang="en-US" sz="2400" b="1" dirty="0">
              <a:solidFill>
                <a:srgbClr val="000000"/>
              </a:solidFill>
            </a:endParaRPr>
          </a:p>
          <a:p>
            <a:r>
              <a:rPr lang="en-US" sz="2400" b="1" dirty="0">
                <a:solidFill>
                  <a:srgbClr val="000000"/>
                </a:solidFill>
              </a:rPr>
              <a:t>         counter++;</a:t>
            </a:r>
            <a:endParaRPr lang="en-US" sz="2400" b="1" dirty="0">
              <a:solidFill>
                <a:srgbClr val="000000"/>
              </a:solidFill>
            </a:endParaRPr>
          </a:p>
          <a:p>
            <a:endParaRPr lang="en-US" sz="2400" b="1" dirty="0">
              <a:solidFill>
                <a:srgbClr val="000000"/>
              </a:solidFill>
            </a:endParaRPr>
          </a:p>
          <a:p>
            <a:r>
              <a:rPr lang="en-US" sz="2400" b="1" dirty="0">
                <a:solidFill>
                  <a:srgbClr val="000000"/>
                </a:solidFill>
              </a:rPr>
              <a:t>         return(counter</a:t>
            </a:r>
            <a:r>
              <a:rPr lang="en-US" sz="2400" b="1" dirty="0" smtClean="0">
                <a:solidFill>
                  <a:srgbClr val="000000"/>
                </a:solidFill>
              </a:rPr>
              <a:t>);</a:t>
            </a:r>
            <a:endParaRPr lang="en-US" sz="2400" b="1" dirty="0" smtClean="0">
              <a:solidFill>
                <a:srgbClr val="000000"/>
              </a:solidFill>
            </a:endParaRPr>
          </a:p>
          <a:p>
            <a:r>
              <a:rPr lang="en-US" sz="2400" b="1" dirty="0" smtClean="0">
                <a:solidFill>
                  <a:srgbClr val="000000"/>
                </a:solidFill>
              </a:rPr>
              <a:t>}</a:t>
            </a:r>
            <a:endParaRPr lang="en-US" sz="2400" b="1" dirty="0">
              <a:solidFill>
                <a:srgbClr val="000000"/>
              </a:solidFill>
            </a:endParaRPr>
          </a:p>
        </p:txBody>
      </p:sp>
      <p:sp>
        <p:nvSpPr>
          <p:cNvPr id="3" name="矩形 2"/>
          <p:cNvSpPr/>
          <p:nvPr/>
        </p:nvSpPr>
        <p:spPr>
          <a:xfrm>
            <a:off x="5366479" y="914960"/>
            <a:ext cx="6580682" cy="5262979"/>
          </a:xfrm>
          <a:prstGeom prst="rect">
            <a:avLst/>
          </a:prstGeom>
        </p:spPr>
        <p:txBody>
          <a:bodyPr wrap="square">
            <a:spAutoFit/>
          </a:bodyPr>
          <a:lstStyle/>
          <a:p>
            <a:r>
              <a:rPr lang="en-US" sz="2400" b="1" dirty="0" smtClean="0"/>
              <a:t>…….</a:t>
            </a:r>
            <a:endParaRPr lang="en-US" sz="2400" b="1" dirty="0" smtClean="0"/>
          </a:p>
          <a:p>
            <a:r>
              <a:rPr lang="en-US" sz="2400" b="1" dirty="0" smtClean="0"/>
              <a:t>#</a:t>
            </a:r>
            <a:r>
              <a:rPr lang="en-US" sz="2400" b="1" dirty="0"/>
              <a:t>pragma </a:t>
            </a:r>
            <a:r>
              <a:rPr lang="en-US" sz="2400" b="1" dirty="0" err="1"/>
              <a:t>omp</a:t>
            </a:r>
            <a:r>
              <a:rPr lang="en-US" sz="2400" b="1" dirty="0"/>
              <a:t> </a:t>
            </a:r>
            <a:r>
              <a:rPr lang="en-US" sz="2400" b="1" dirty="0" smtClean="0"/>
              <a:t>parallel</a:t>
            </a:r>
            <a:endParaRPr lang="en-US" sz="2400" b="1" dirty="0"/>
          </a:p>
          <a:p>
            <a:r>
              <a:rPr lang="en-US" sz="2400" b="1" dirty="0"/>
              <a:t>   </a:t>
            </a:r>
            <a:r>
              <a:rPr lang="en-US" sz="2400" b="1" dirty="0" smtClean="0"/>
              <a:t> {</a:t>
            </a:r>
            <a:endParaRPr lang="en-US" sz="2400" b="1" dirty="0"/>
          </a:p>
          <a:p>
            <a:r>
              <a:rPr lang="en-US" sz="2400" b="1" dirty="0"/>
              <a:t>        </a:t>
            </a:r>
            <a:r>
              <a:rPr lang="en-US" sz="2400" b="1" dirty="0" err="1" smtClean="0"/>
              <a:t>int</a:t>
            </a:r>
            <a:r>
              <a:rPr lang="en-US" sz="2400" b="1" dirty="0" smtClean="0"/>
              <a:t>    </a:t>
            </a:r>
            <a:r>
              <a:rPr lang="en-US" sz="2400" b="1" dirty="0"/>
              <a:t>count</a:t>
            </a:r>
            <a:r>
              <a:rPr lang="en-US" sz="2400" b="1" dirty="0" smtClean="0"/>
              <a:t>;</a:t>
            </a:r>
            <a:endParaRPr lang="en-US" sz="2400" b="1" dirty="0"/>
          </a:p>
          <a:p>
            <a:r>
              <a:rPr lang="en-US" sz="2400" b="1" dirty="0" smtClean="0">
                <a:solidFill>
                  <a:srgbClr val="C00000"/>
                </a:solidFill>
              </a:rPr>
              <a:t>       #</a:t>
            </a:r>
            <a:r>
              <a:rPr lang="en-US" sz="2400" b="1" dirty="0">
                <a:solidFill>
                  <a:srgbClr val="C00000"/>
                </a:solidFill>
              </a:rPr>
              <a:t>pragma </a:t>
            </a:r>
            <a:r>
              <a:rPr lang="en-US" sz="2400" b="1" dirty="0" err="1">
                <a:solidFill>
                  <a:srgbClr val="C00000"/>
                </a:solidFill>
              </a:rPr>
              <a:t>omp</a:t>
            </a:r>
            <a:r>
              <a:rPr lang="en-US" sz="2400" b="1" dirty="0">
                <a:solidFill>
                  <a:srgbClr val="C00000"/>
                </a:solidFill>
              </a:rPr>
              <a:t> single copyprivate(counter</a:t>
            </a:r>
            <a:r>
              <a:rPr lang="en-US" sz="2400" b="1" dirty="0" smtClean="0">
                <a:solidFill>
                  <a:srgbClr val="C00000"/>
                </a:solidFill>
              </a:rPr>
              <a:t>)</a:t>
            </a:r>
            <a:endParaRPr lang="en-US" sz="2400" b="1" dirty="0">
              <a:solidFill>
                <a:srgbClr val="C00000"/>
              </a:solidFill>
            </a:endParaRPr>
          </a:p>
          <a:p>
            <a:r>
              <a:rPr lang="en-US" sz="2400" b="1" dirty="0"/>
              <a:t>                   </a:t>
            </a:r>
            <a:r>
              <a:rPr lang="en-US" sz="2400" b="1" dirty="0" smtClean="0"/>
              <a:t>{</a:t>
            </a:r>
            <a:endParaRPr lang="en-US" sz="2400" b="1" dirty="0"/>
          </a:p>
          <a:p>
            <a:r>
              <a:rPr lang="en-US" sz="2400" b="1" dirty="0"/>
              <a:t>                            counter = 50</a:t>
            </a:r>
            <a:r>
              <a:rPr lang="en-US" sz="2400" b="1" dirty="0" smtClean="0"/>
              <a:t>;</a:t>
            </a:r>
            <a:endParaRPr lang="en-US" sz="2400" b="1" dirty="0"/>
          </a:p>
          <a:p>
            <a:r>
              <a:rPr lang="en-US" sz="2400" b="1" dirty="0"/>
              <a:t>                   </a:t>
            </a:r>
            <a:r>
              <a:rPr lang="en-US" sz="2400" b="1" dirty="0" smtClean="0"/>
              <a:t>}</a:t>
            </a:r>
            <a:endParaRPr lang="en-US" sz="2400" b="1" dirty="0"/>
          </a:p>
          <a:p>
            <a:r>
              <a:rPr lang="en-US" sz="2400" b="1" dirty="0"/>
              <a:t>                   count = </a:t>
            </a:r>
            <a:r>
              <a:rPr lang="en-US" sz="2400" b="1" dirty="0" err="1"/>
              <a:t>increment_counter</a:t>
            </a:r>
            <a:r>
              <a:rPr lang="en-US" sz="2400" b="1" dirty="0"/>
              <a:t>();</a:t>
            </a:r>
            <a:endParaRPr lang="en-US" sz="2400" b="1" dirty="0"/>
          </a:p>
          <a:p>
            <a:endParaRPr lang="en-US" sz="2400" b="1" dirty="0"/>
          </a:p>
          <a:p>
            <a:r>
              <a:rPr lang="en-US" sz="2400" b="1" dirty="0"/>
              <a:t>                   </a:t>
            </a:r>
            <a:r>
              <a:rPr lang="en-US" sz="2400" b="1" dirty="0" err="1"/>
              <a:t>printf</a:t>
            </a:r>
            <a:r>
              <a:rPr lang="en-US" sz="2400" b="1" dirty="0" smtClean="0"/>
              <a:t>(“</a:t>
            </a:r>
            <a:r>
              <a:rPr lang="en-US" sz="2400" b="1" dirty="0" err="1" smtClean="0"/>
              <a:t>ThreadId</a:t>
            </a:r>
            <a:r>
              <a:rPr lang="en-US" sz="2400" b="1" dirty="0"/>
              <a:t>: </a:t>
            </a:r>
            <a:r>
              <a:rPr lang="en-US" sz="2400" b="1" dirty="0" smtClean="0"/>
              <a:t>%d</a:t>
            </a:r>
            <a:r>
              <a:rPr lang="en-US" sz="2400" b="1" dirty="0"/>
              <a:t>, count = </a:t>
            </a:r>
            <a:r>
              <a:rPr lang="en-US" sz="2400" b="1" dirty="0" smtClean="0"/>
              <a:t>%d\n</a:t>
            </a:r>
            <a:r>
              <a:rPr lang="en-US" sz="2400" b="1" dirty="0"/>
              <a:t>", </a:t>
            </a:r>
            <a:r>
              <a:rPr lang="en-US" sz="2400" b="1" dirty="0" err="1"/>
              <a:t>omp_get_thread_num</a:t>
            </a:r>
            <a:r>
              <a:rPr lang="en-US" sz="2400" b="1" dirty="0"/>
              <a:t>(), count);</a:t>
            </a:r>
            <a:endParaRPr lang="en-US" sz="2400" b="1" dirty="0"/>
          </a:p>
          <a:p>
            <a:endParaRPr lang="en-US" sz="2400" b="1" dirty="0"/>
          </a:p>
          <a:p>
            <a:r>
              <a:rPr lang="en-US" sz="2400" b="1" dirty="0"/>
              <a:t>}</a:t>
            </a:r>
            <a:endParaRPr lang="en-US" sz="2400" b="1" dirty="0"/>
          </a:p>
        </p:txBody>
      </p:sp>
    </p:spTree>
  </p:cSld>
  <p:clrMapOvr>
    <a:masterClrMapping/>
  </p:clrMapOvr>
  <p:transition spd="med" advTm="3025">
    <p:fade/>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bg>
      <p:bgPr>
        <a:blipFill dpi="0" rotWithShape="0">
          <a:blip r:embed="rId1">
            <a:alphaModFix amt="89000"/>
            <a:lum/>
          </a:blip>
          <a:srcRect/>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1308006" y="849910"/>
            <a:ext cx="3712565" cy="3416320"/>
          </a:xfrm>
          <a:prstGeom prst="rect">
            <a:avLst/>
          </a:prstGeom>
        </p:spPr>
        <p:txBody>
          <a:bodyPr wrap="square">
            <a:spAutoFit/>
          </a:bodyPr>
          <a:lstStyle/>
          <a:p>
            <a:r>
              <a:rPr lang="zh-CN" altLang="en-US" sz="2400" b="1" dirty="0"/>
              <a:t>运行</a:t>
            </a:r>
            <a:r>
              <a:rPr lang="zh-CN" altLang="en-US" sz="2400" b="1" dirty="0" smtClean="0"/>
              <a:t>结果</a:t>
            </a:r>
            <a:r>
              <a:rPr lang="zh-CN" altLang="en-US" sz="2400" b="1" dirty="0"/>
              <a:t>为：</a:t>
            </a:r>
            <a:endParaRPr lang="zh-CN" altLang="en-US" sz="2400" b="1" dirty="0"/>
          </a:p>
          <a:p>
            <a:endParaRPr lang="zh-CN" altLang="en-US" sz="2400" b="1" dirty="0"/>
          </a:p>
          <a:p>
            <a:r>
              <a:rPr lang="en-US" sz="2400" b="1" dirty="0" err="1"/>
              <a:t>ThreadId</a:t>
            </a:r>
            <a:r>
              <a:rPr lang="en-US" sz="2400" b="1" dirty="0"/>
              <a:t>: 2, count = 51</a:t>
            </a:r>
            <a:endParaRPr lang="en-US" sz="2400" b="1" dirty="0"/>
          </a:p>
          <a:p>
            <a:endParaRPr lang="en-US" sz="2400" b="1" dirty="0"/>
          </a:p>
          <a:p>
            <a:r>
              <a:rPr lang="en-US" sz="2400" b="1" dirty="0" err="1"/>
              <a:t>ThreadId</a:t>
            </a:r>
            <a:r>
              <a:rPr lang="en-US" sz="2400" b="1" dirty="0"/>
              <a:t>: 0, count = 51</a:t>
            </a:r>
            <a:endParaRPr lang="en-US" sz="2400" b="1" dirty="0"/>
          </a:p>
          <a:p>
            <a:endParaRPr lang="en-US" sz="2400" b="1" dirty="0"/>
          </a:p>
          <a:p>
            <a:r>
              <a:rPr lang="en-US" sz="2400" b="1" dirty="0" err="1"/>
              <a:t>ThreadId</a:t>
            </a:r>
            <a:r>
              <a:rPr lang="en-US" sz="2400" b="1" dirty="0"/>
              <a:t>: 3, count = 51</a:t>
            </a:r>
            <a:endParaRPr lang="en-US" sz="2400" b="1" dirty="0"/>
          </a:p>
          <a:p>
            <a:endParaRPr lang="en-US" sz="2400" b="1" dirty="0"/>
          </a:p>
          <a:p>
            <a:r>
              <a:rPr lang="en-US" sz="2400" b="1" dirty="0" err="1"/>
              <a:t>ThreadId</a:t>
            </a:r>
            <a:r>
              <a:rPr lang="en-US" sz="2400" b="1" dirty="0"/>
              <a:t>: 1, count = 51</a:t>
            </a:r>
            <a:endParaRPr lang="en-US" sz="2400" b="1" dirty="0"/>
          </a:p>
        </p:txBody>
      </p:sp>
      <p:sp>
        <p:nvSpPr>
          <p:cNvPr id="3" name="矩形 2"/>
          <p:cNvSpPr/>
          <p:nvPr/>
        </p:nvSpPr>
        <p:spPr>
          <a:xfrm>
            <a:off x="6145286" y="849910"/>
            <a:ext cx="5301522" cy="378565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r>
              <a:rPr lang="zh-CN" altLang="en-US" sz="2400" b="1" dirty="0"/>
              <a:t>如果没有使用</a:t>
            </a:r>
            <a:r>
              <a:rPr lang="en-US" sz="2400" b="1" dirty="0"/>
              <a:t>copyprivate</a:t>
            </a:r>
            <a:r>
              <a:rPr lang="zh-CN" altLang="en-US" sz="2400" b="1" dirty="0"/>
              <a:t>子句，</a:t>
            </a:r>
            <a:r>
              <a:rPr lang="zh-CN" altLang="en-US" sz="2400" b="1" dirty="0" smtClean="0"/>
              <a:t>那么</a:t>
            </a:r>
            <a:r>
              <a:rPr lang="zh-CN" altLang="en-US" sz="2400" b="1" dirty="0"/>
              <a:t>运行</a:t>
            </a:r>
            <a:r>
              <a:rPr lang="zh-CN" altLang="en-US" sz="2400" b="1" dirty="0" smtClean="0"/>
              <a:t>结果</a:t>
            </a:r>
            <a:r>
              <a:rPr lang="zh-CN" altLang="en-US" sz="2400" b="1" dirty="0"/>
              <a:t>为：</a:t>
            </a:r>
            <a:endParaRPr lang="zh-CN" altLang="en-US" sz="2400" b="1" dirty="0"/>
          </a:p>
          <a:p>
            <a:endParaRPr lang="zh-CN" altLang="en-US" sz="2400" b="1" dirty="0"/>
          </a:p>
          <a:p>
            <a:r>
              <a:rPr lang="en-US" sz="2400" b="1" dirty="0" err="1"/>
              <a:t>ThreadId</a:t>
            </a:r>
            <a:r>
              <a:rPr lang="en-US" sz="2400" b="1" dirty="0"/>
              <a:t>: 2, count = 1</a:t>
            </a:r>
            <a:endParaRPr lang="en-US" sz="2400" b="1" dirty="0"/>
          </a:p>
          <a:p>
            <a:endParaRPr lang="en-US" sz="2400" b="1" dirty="0"/>
          </a:p>
          <a:p>
            <a:r>
              <a:rPr lang="en-US" sz="2400" b="1" dirty="0" err="1"/>
              <a:t>ThreadId</a:t>
            </a:r>
            <a:r>
              <a:rPr lang="en-US" sz="2400" b="1" dirty="0"/>
              <a:t>: 1, count = 1</a:t>
            </a:r>
            <a:endParaRPr lang="en-US" sz="2400" b="1" dirty="0"/>
          </a:p>
          <a:p>
            <a:endParaRPr lang="en-US" sz="2400" b="1" dirty="0"/>
          </a:p>
          <a:p>
            <a:r>
              <a:rPr lang="en-US" sz="2400" b="1" dirty="0" err="1"/>
              <a:t>ThreadId</a:t>
            </a:r>
            <a:r>
              <a:rPr lang="en-US" sz="2400" b="1" dirty="0"/>
              <a:t>: 0, count = 51</a:t>
            </a:r>
            <a:endParaRPr lang="en-US" sz="2400" b="1" dirty="0"/>
          </a:p>
          <a:p>
            <a:endParaRPr lang="en-US" sz="2400" b="1" dirty="0"/>
          </a:p>
          <a:p>
            <a:r>
              <a:rPr lang="en-US" sz="2400" b="1" dirty="0" err="1"/>
              <a:t>ThreadId</a:t>
            </a:r>
            <a:r>
              <a:rPr lang="en-US" sz="2400" b="1" dirty="0"/>
              <a:t>: 3, count = 1</a:t>
            </a:r>
            <a:endParaRPr lang="en-US" sz="2400" b="1" dirty="0"/>
          </a:p>
        </p:txBody>
      </p:sp>
      <p:sp>
        <p:nvSpPr>
          <p:cNvPr id="4" name="矩形 3"/>
          <p:cNvSpPr/>
          <p:nvPr/>
        </p:nvSpPr>
        <p:spPr>
          <a:xfrm>
            <a:off x="429491" y="4851599"/>
            <a:ext cx="11166764" cy="1384995"/>
          </a:xfrm>
          <a:prstGeom prst="rect">
            <a:avLst/>
          </a:prstGeom>
          <a:blipFill dpi="0" rotWithShape="1">
            <a:blip r:embed="rId2">
              <a:alphaModFix amt="50000"/>
            </a:blip>
            <a:srcRect/>
            <a:tile tx="0" ty="0" sx="100000" sy="100000" flip="none" algn="tl"/>
          </a:blipFill>
        </p:spPr>
        <p:txBody>
          <a:bodyPr wrap="square">
            <a:spAutoFit/>
          </a:bodyPr>
          <a:lstStyle/>
          <a:p>
            <a:r>
              <a:rPr lang="zh-CN" altLang="en-US" sz="2400" b="1" dirty="0" smtClean="0"/>
              <a:t>        </a:t>
            </a:r>
            <a:r>
              <a:rPr lang="zh-CN" altLang="en-US" sz="2800" b="1" dirty="0" smtClean="0"/>
              <a:t>使用</a:t>
            </a:r>
            <a:r>
              <a:rPr lang="en-US" altLang="zh-CN" sz="2800" b="1" dirty="0"/>
              <a:t>copyprivate</a:t>
            </a:r>
            <a:r>
              <a:rPr lang="zh-CN" altLang="en-US" sz="2800" b="1" dirty="0"/>
              <a:t>子句后，</a:t>
            </a:r>
            <a:r>
              <a:rPr lang="en-US" altLang="zh-CN" sz="2800" b="1" dirty="0"/>
              <a:t>single</a:t>
            </a:r>
            <a:r>
              <a:rPr lang="zh-CN" altLang="en-US" sz="2800" b="1" dirty="0"/>
              <a:t>构造内给</a:t>
            </a:r>
            <a:r>
              <a:rPr lang="en-US" altLang="zh-CN" sz="2800" b="1" dirty="0"/>
              <a:t>counter</a:t>
            </a:r>
            <a:r>
              <a:rPr lang="zh-CN" altLang="en-US" sz="2800" b="1" dirty="0"/>
              <a:t>赋的值被广播到了</a:t>
            </a:r>
            <a:r>
              <a:rPr lang="zh-CN" altLang="en-US" sz="2800" b="1" dirty="0" smtClean="0"/>
              <a:t>其它线程</a:t>
            </a:r>
            <a:r>
              <a:rPr lang="zh-CN" altLang="en-US" sz="2800" b="1" dirty="0"/>
              <a:t>里，但没有使用</a:t>
            </a:r>
            <a:r>
              <a:rPr lang="en-US" altLang="zh-CN" sz="2800" b="1" dirty="0"/>
              <a:t>copyprivate</a:t>
            </a:r>
            <a:r>
              <a:rPr lang="zh-CN" altLang="en-US" sz="2800" b="1" dirty="0"/>
              <a:t>子句时，只有一个线程获得了</a:t>
            </a:r>
            <a:r>
              <a:rPr lang="en-US" altLang="zh-CN" sz="2800" b="1" dirty="0"/>
              <a:t>single</a:t>
            </a:r>
            <a:r>
              <a:rPr lang="zh-CN" altLang="en-US" sz="2800" b="1" dirty="0"/>
              <a:t>构造内的赋值，</a:t>
            </a:r>
            <a:r>
              <a:rPr lang="zh-CN" altLang="en-US" sz="2800" b="1" dirty="0" smtClean="0"/>
              <a:t>其它线程</a:t>
            </a:r>
            <a:r>
              <a:rPr lang="zh-CN" altLang="en-US" sz="2800" b="1" dirty="0"/>
              <a:t>没有获取</a:t>
            </a:r>
            <a:r>
              <a:rPr lang="en-US" altLang="zh-CN" sz="2800" b="1" dirty="0"/>
              <a:t>single</a:t>
            </a:r>
            <a:r>
              <a:rPr lang="zh-CN" altLang="en-US" sz="2800" b="1" dirty="0"/>
              <a:t>构造内的赋值。</a:t>
            </a:r>
            <a:endParaRPr lang="en-US" sz="2800" b="1" dirty="0"/>
          </a:p>
        </p:txBody>
      </p:sp>
    </p:spTree>
  </p:cSld>
  <p:clrMapOvr>
    <a:masterClrMapping/>
  </p:clrMapOvr>
  <p:transition spd="med" advTm="3025">
    <p:fade/>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84910" y="630383"/>
            <a:ext cx="10972800" cy="4525963"/>
          </a:xfrm>
        </p:spPr>
        <p:txBody>
          <a:bodyPr/>
          <a:lstStyle/>
          <a:p>
            <a:pPr marL="0" indent="0" algn="ctr">
              <a:buNone/>
            </a:pPr>
            <a:r>
              <a:rPr lang="en-US" sz="4400" b="1" dirty="0">
                <a:solidFill>
                  <a:srgbClr val="2D0AC2"/>
                </a:solidFill>
                <a:ea typeface="隶书" panose="02010509060101010101" pitchFamily="49" charset="-122"/>
              </a:rPr>
              <a:t>c</a:t>
            </a:r>
            <a:r>
              <a:rPr lang="en-US" sz="4400" b="1" dirty="0" smtClean="0">
                <a:solidFill>
                  <a:srgbClr val="2D0AC2"/>
                </a:solidFill>
                <a:ea typeface="隶书" panose="02010509060101010101" pitchFamily="49" charset="-122"/>
              </a:rPr>
              <a:t>ollapse</a:t>
            </a:r>
            <a:r>
              <a:rPr lang="zh-CN" altLang="en-US" sz="4400" b="1" dirty="0" smtClean="0">
                <a:solidFill>
                  <a:srgbClr val="2D0AC2"/>
                </a:solidFill>
                <a:ea typeface="隶书" panose="02010509060101010101" pitchFamily="49" charset="-122"/>
              </a:rPr>
              <a:t>子句</a:t>
            </a:r>
            <a:endParaRPr lang="en-US" altLang="zh-CN" sz="4400" b="1" dirty="0" smtClean="0">
              <a:solidFill>
                <a:srgbClr val="2D0AC2"/>
              </a:solidFill>
              <a:ea typeface="隶书" panose="02010509060101010101" pitchFamily="49" charset="-122"/>
            </a:endParaRPr>
          </a:p>
          <a:p>
            <a:pPr marL="0" indent="0" algn="ctr">
              <a:buNone/>
            </a:pPr>
            <a:endParaRPr lang="en-US" altLang="zh-CN" sz="4400" b="1" dirty="0" smtClean="0">
              <a:solidFill>
                <a:srgbClr val="2D0AC2"/>
              </a:solidFill>
              <a:ea typeface="隶书" panose="02010509060101010101" pitchFamily="49" charset="-122"/>
            </a:endParaRPr>
          </a:p>
          <a:p>
            <a:pPr marL="0" indent="0">
              <a:lnSpc>
                <a:spcPct val="150000"/>
              </a:lnSpc>
              <a:buNone/>
            </a:pPr>
            <a:r>
              <a:rPr lang="en-US" b="1" dirty="0" smtClean="0">
                <a:solidFill>
                  <a:srgbClr val="2D0AC2"/>
                </a:solidFill>
                <a:ea typeface="隶书" panose="02010509060101010101" pitchFamily="49" charset="-122"/>
              </a:rPr>
              <a:t>         collapse</a:t>
            </a:r>
            <a:r>
              <a:rPr lang="zh-CN" altLang="en-US" b="1" dirty="0" smtClean="0">
                <a:solidFill>
                  <a:srgbClr val="2D0AC2"/>
                </a:solidFill>
                <a:ea typeface="隶书" panose="02010509060101010101" pitchFamily="49" charset="-122"/>
              </a:rPr>
              <a:t>子句只能跟</a:t>
            </a:r>
            <a:r>
              <a:rPr lang="en-US" altLang="zh-CN" b="1" dirty="0" smtClean="0">
                <a:solidFill>
                  <a:srgbClr val="2D0AC2"/>
                </a:solidFill>
                <a:ea typeface="隶书" panose="02010509060101010101" pitchFamily="49" charset="-122"/>
              </a:rPr>
              <a:t>for/do</a:t>
            </a:r>
            <a:r>
              <a:rPr lang="zh-CN" altLang="en-US" b="1" dirty="0" smtClean="0">
                <a:solidFill>
                  <a:srgbClr val="2D0AC2"/>
                </a:solidFill>
                <a:ea typeface="隶书" panose="02010509060101010101" pitchFamily="49" charset="-122"/>
              </a:rPr>
              <a:t>结构联合使用，可以将多重循环展成一层循环，然后根据</a:t>
            </a:r>
            <a:r>
              <a:rPr lang="en-US" altLang="zh-CN" b="1" dirty="0" smtClean="0">
                <a:solidFill>
                  <a:srgbClr val="2D0AC2"/>
                </a:solidFill>
                <a:ea typeface="隶书" panose="02010509060101010101" pitchFamily="49" charset="-122"/>
              </a:rPr>
              <a:t>for/do</a:t>
            </a:r>
            <a:r>
              <a:rPr lang="zh-CN" altLang="en-US" b="1" dirty="0" smtClean="0">
                <a:solidFill>
                  <a:srgbClr val="2D0AC2"/>
                </a:solidFill>
                <a:ea typeface="隶书" panose="02010509060101010101" pitchFamily="49" charset="-122"/>
              </a:rPr>
              <a:t>结构自身的调度方式进行循环划分。</a:t>
            </a:r>
            <a:endParaRPr lang="zh-CN" altLang="en-US" b="1" dirty="0">
              <a:solidFill>
                <a:srgbClr val="2D0AC2"/>
              </a:solidFill>
              <a:ea typeface="隶书" panose="02010509060101010101" pitchFamily="49" charset="-122"/>
            </a:endParaRPr>
          </a:p>
          <a:p>
            <a:pPr marL="0" indent="0">
              <a:buNone/>
            </a:pPr>
            <a:endParaRPr lang="en-US" b="1" dirty="0">
              <a:solidFill>
                <a:srgbClr val="2D0AC2"/>
              </a:solidFill>
              <a:ea typeface="隶书" panose="02010509060101010101" pitchFamily="49" charset="-122"/>
            </a:endParaRPr>
          </a:p>
        </p:txBody>
      </p:sp>
    </p:spTree>
  </p:cSld>
  <p:clrMapOvr>
    <a:masterClrMapping/>
  </p:clrMapOvr>
  <p:transition spd="med" advTm="3025">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84910" y="477983"/>
            <a:ext cx="11346872" cy="5742708"/>
          </a:xfrm>
        </p:spPr>
        <p:txBody>
          <a:bodyPr/>
          <a:lstStyle/>
          <a:p>
            <a:pPr marL="0" indent="0" algn="ctr">
              <a:buNone/>
            </a:pPr>
            <a:r>
              <a:rPr lang="en-US" sz="4400" b="1" dirty="0">
                <a:solidFill>
                  <a:srgbClr val="2D0AC2"/>
                </a:solidFill>
                <a:ea typeface="隶书" panose="02010509060101010101" pitchFamily="49" charset="-122"/>
              </a:rPr>
              <a:t>c</a:t>
            </a:r>
            <a:r>
              <a:rPr lang="en-US" sz="4400" b="1" dirty="0" smtClean="0">
                <a:solidFill>
                  <a:srgbClr val="2D0AC2"/>
                </a:solidFill>
                <a:ea typeface="隶书" panose="02010509060101010101" pitchFamily="49" charset="-122"/>
              </a:rPr>
              <a:t>ollapse</a:t>
            </a:r>
            <a:r>
              <a:rPr lang="zh-CN" altLang="en-US" sz="4400" b="1" dirty="0" smtClean="0">
                <a:solidFill>
                  <a:srgbClr val="2D0AC2"/>
                </a:solidFill>
                <a:ea typeface="隶书" panose="02010509060101010101" pitchFamily="49" charset="-122"/>
              </a:rPr>
              <a:t>子句</a:t>
            </a:r>
            <a:endParaRPr lang="en-US" altLang="zh-CN" sz="4400" b="1" dirty="0" smtClean="0">
              <a:solidFill>
                <a:srgbClr val="2D0AC2"/>
              </a:solidFill>
              <a:ea typeface="隶书" panose="02010509060101010101" pitchFamily="49" charset="-122"/>
            </a:endParaRPr>
          </a:p>
          <a:p>
            <a:pPr marL="0" indent="0">
              <a:buNone/>
            </a:pPr>
            <a:r>
              <a:rPr lang="en-US" altLang="zh-CN" sz="2800" b="1" dirty="0">
                <a:ea typeface="隶书" panose="02010509060101010101" pitchFamily="49" charset="-122"/>
              </a:rPr>
              <a:t>v</a:t>
            </a:r>
            <a:r>
              <a:rPr lang="en-US" altLang="zh-CN" sz="2800" b="1" dirty="0" smtClean="0">
                <a:ea typeface="隶书" panose="02010509060101010101" pitchFamily="49" charset="-122"/>
              </a:rPr>
              <a:t>oid bar(float *a, </a:t>
            </a:r>
            <a:r>
              <a:rPr lang="en-US" altLang="zh-CN" sz="2800" b="1" dirty="0" err="1" smtClean="0">
                <a:ea typeface="隶书" panose="02010509060101010101" pitchFamily="49" charset="-122"/>
              </a:rPr>
              <a:t>int</a:t>
            </a:r>
            <a:r>
              <a:rPr lang="en-US" altLang="zh-CN" sz="2800" b="1" dirty="0" smtClean="0">
                <a:ea typeface="隶书" panose="02010509060101010101" pitchFamily="49" charset="-122"/>
              </a:rPr>
              <a:t> </a:t>
            </a:r>
            <a:r>
              <a:rPr lang="en-US" altLang="zh-CN" sz="2800" b="1" dirty="0" err="1" smtClean="0">
                <a:ea typeface="隶书" panose="02010509060101010101" pitchFamily="49" charset="-122"/>
              </a:rPr>
              <a:t>i</a:t>
            </a:r>
            <a:r>
              <a:rPr lang="en-US" altLang="zh-CN" sz="2800" b="1" dirty="0" smtClean="0">
                <a:ea typeface="隶书" panose="02010509060101010101" pitchFamily="49" charset="-122"/>
              </a:rPr>
              <a:t> , </a:t>
            </a:r>
            <a:r>
              <a:rPr lang="en-US" altLang="zh-CN" sz="2800" b="1" dirty="0" err="1" smtClean="0">
                <a:ea typeface="隶书" panose="02010509060101010101" pitchFamily="49" charset="-122"/>
              </a:rPr>
              <a:t>int</a:t>
            </a:r>
            <a:r>
              <a:rPr lang="en-US" altLang="zh-CN" sz="2800" b="1" dirty="0" smtClean="0">
                <a:ea typeface="隶书" panose="02010509060101010101" pitchFamily="49" charset="-122"/>
              </a:rPr>
              <a:t> j , </a:t>
            </a:r>
            <a:r>
              <a:rPr lang="en-US" altLang="zh-CN" sz="2800" b="1" dirty="0" err="1" smtClean="0">
                <a:ea typeface="隶书" panose="02010509060101010101" pitchFamily="49" charset="-122"/>
              </a:rPr>
              <a:t>int</a:t>
            </a:r>
            <a:r>
              <a:rPr lang="en-US" altLang="zh-CN" sz="2800" b="1" dirty="0" smtClean="0">
                <a:ea typeface="隶书" panose="02010509060101010101" pitchFamily="49" charset="-122"/>
              </a:rPr>
              <a:t> k);</a:t>
            </a:r>
            <a:endParaRPr lang="en-US" altLang="zh-CN" sz="2800" b="1" dirty="0" smtClean="0">
              <a:ea typeface="隶书" panose="02010509060101010101" pitchFamily="49" charset="-122"/>
            </a:endParaRPr>
          </a:p>
          <a:p>
            <a:pPr marL="0" indent="0">
              <a:buNone/>
            </a:pPr>
            <a:r>
              <a:rPr lang="en-US" altLang="zh-CN" sz="2800" b="1" dirty="0" err="1">
                <a:ea typeface="隶书" panose="02010509060101010101" pitchFamily="49" charset="-122"/>
              </a:rPr>
              <a:t>i</a:t>
            </a:r>
            <a:r>
              <a:rPr lang="en-US" altLang="zh-CN" sz="2800" b="1" dirty="0" err="1" smtClean="0">
                <a:ea typeface="隶书" panose="02010509060101010101" pitchFamily="49" charset="-122"/>
              </a:rPr>
              <a:t>nt</a:t>
            </a:r>
            <a:r>
              <a:rPr lang="en-US" altLang="zh-CN" sz="2800" b="1" dirty="0" smtClean="0">
                <a:ea typeface="隶书" panose="02010509060101010101" pitchFamily="49" charset="-122"/>
              </a:rPr>
              <a:t> k0, </a:t>
            </a:r>
            <a:r>
              <a:rPr lang="en-US" altLang="zh-CN" sz="2800" b="1" dirty="0" err="1" smtClean="0">
                <a:ea typeface="隶书" panose="02010509060101010101" pitchFamily="49" charset="-122"/>
              </a:rPr>
              <a:t>ku</a:t>
            </a:r>
            <a:r>
              <a:rPr lang="en-US" altLang="zh-CN" sz="2800" b="1" dirty="0" smtClean="0">
                <a:ea typeface="隶书" panose="02010509060101010101" pitchFamily="49" charset="-122"/>
              </a:rPr>
              <a:t>, </a:t>
            </a:r>
            <a:r>
              <a:rPr lang="en-US" altLang="zh-CN" sz="2800" b="1" dirty="0" err="1" smtClean="0">
                <a:ea typeface="隶书" panose="02010509060101010101" pitchFamily="49" charset="-122"/>
              </a:rPr>
              <a:t>ks</a:t>
            </a:r>
            <a:r>
              <a:rPr lang="en-US" altLang="zh-CN" sz="2800" b="1" dirty="0" smtClean="0">
                <a:ea typeface="隶书" panose="02010509060101010101" pitchFamily="49" charset="-122"/>
              </a:rPr>
              <a:t>,  j0, </a:t>
            </a:r>
            <a:r>
              <a:rPr lang="en-US" altLang="zh-CN" sz="2800" b="1" dirty="0" err="1" smtClean="0">
                <a:ea typeface="隶书" panose="02010509060101010101" pitchFamily="49" charset="-122"/>
              </a:rPr>
              <a:t>ju</a:t>
            </a:r>
            <a:r>
              <a:rPr lang="en-US" altLang="zh-CN" sz="2800" b="1" dirty="0" smtClean="0">
                <a:ea typeface="隶书" panose="02010509060101010101" pitchFamily="49" charset="-122"/>
              </a:rPr>
              <a:t>, </a:t>
            </a:r>
            <a:r>
              <a:rPr lang="en-US" altLang="zh-CN" sz="2800" b="1" dirty="0" err="1" smtClean="0">
                <a:ea typeface="隶书" panose="02010509060101010101" pitchFamily="49" charset="-122"/>
              </a:rPr>
              <a:t>js</a:t>
            </a:r>
            <a:r>
              <a:rPr lang="en-US" altLang="zh-CN" sz="2800" b="1" dirty="0" smtClean="0">
                <a:ea typeface="隶书" panose="02010509060101010101" pitchFamily="49" charset="-122"/>
              </a:rPr>
              <a:t>,  i0, </a:t>
            </a:r>
            <a:r>
              <a:rPr lang="en-US" altLang="zh-CN" sz="2800" b="1" dirty="0" err="1" smtClean="0">
                <a:ea typeface="隶书" panose="02010509060101010101" pitchFamily="49" charset="-122"/>
              </a:rPr>
              <a:t>iu</a:t>
            </a:r>
            <a:r>
              <a:rPr lang="en-US" altLang="zh-CN" sz="2800" b="1" dirty="0" smtClean="0">
                <a:ea typeface="隶书" panose="02010509060101010101" pitchFamily="49" charset="-122"/>
              </a:rPr>
              <a:t>, is;</a:t>
            </a:r>
            <a:endParaRPr lang="en-US" altLang="zh-CN" sz="2800" b="1" dirty="0" smtClean="0">
              <a:ea typeface="隶书" panose="02010509060101010101" pitchFamily="49" charset="-122"/>
            </a:endParaRPr>
          </a:p>
          <a:p>
            <a:pPr marL="0" indent="0">
              <a:buNone/>
            </a:pPr>
            <a:r>
              <a:rPr lang="en-US" altLang="zh-CN" sz="2800" b="1" dirty="0">
                <a:ea typeface="隶书" panose="02010509060101010101" pitchFamily="49" charset="-122"/>
              </a:rPr>
              <a:t>v</a:t>
            </a:r>
            <a:r>
              <a:rPr lang="en-US" altLang="zh-CN" sz="2800" b="1" dirty="0" smtClean="0">
                <a:ea typeface="隶书" panose="02010509060101010101" pitchFamily="49" charset="-122"/>
              </a:rPr>
              <a:t>oid  sub(float *a)</a:t>
            </a:r>
            <a:endParaRPr lang="en-US" altLang="zh-CN" sz="2800" b="1" dirty="0" smtClean="0">
              <a:ea typeface="隶书" panose="02010509060101010101" pitchFamily="49" charset="-122"/>
            </a:endParaRPr>
          </a:p>
          <a:p>
            <a:pPr marL="0" indent="0">
              <a:buNone/>
            </a:pPr>
            <a:r>
              <a:rPr lang="en-US" altLang="zh-CN" sz="2800" b="1" dirty="0" smtClean="0">
                <a:ea typeface="隶书" panose="02010509060101010101" pitchFamily="49" charset="-122"/>
              </a:rPr>
              <a:t>{ </a:t>
            </a:r>
            <a:r>
              <a:rPr lang="en-US" altLang="zh-CN" sz="2800" b="1" dirty="0" err="1" smtClean="0">
                <a:ea typeface="隶书" panose="02010509060101010101" pitchFamily="49" charset="-122"/>
              </a:rPr>
              <a:t>int</a:t>
            </a:r>
            <a:r>
              <a:rPr lang="en-US" altLang="zh-CN" sz="2800" b="1" dirty="0" smtClean="0">
                <a:ea typeface="隶书" panose="02010509060101010101" pitchFamily="49" charset="-122"/>
              </a:rPr>
              <a:t> </a:t>
            </a:r>
            <a:r>
              <a:rPr lang="en-US" altLang="zh-CN" sz="2800" b="1" dirty="0" err="1" smtClean="0">
                <a:ea typeface="隶书" panose="02010509060101010101" pitchFamily="49" charset="-122"/>
              </a:rPr>
              <a:t>i</a:t>
            </a:r>
            <a:r>
              <a:rPr lang="en-US" altLang="zh-CN" sz="2800" b="1" dirty="0" smtClean="0">
                <a:ea typeface="隶书" panose="02010509060101010101" pitchFamily="49" charset="-122"/>
              </a:rPr>
              <a:t>, j, k;</a:t>
            </a:r>
            <a:endParaRPr lang="en-US" altLang="zh-CN" sz="2800" b="1" dirty="0" smtClean="0">
              <a:ea typeface="隶书" panose="02010509060101010101" pitchFamily="49" charset="-122"/>
            </a:endParaRPr>
          </a:p>
          <a:p>
            <a:pPr marL="0" indent="0">
              <a:buNone/>
            </a:pPr>
            <a:r>
              <a:rPr lang="en-US" altLang="zh-CN" sz="2800" b="1" dirty="0">
                <a:ea typeface="隶书" panose="02010509060101010101" pitchFamily="49" charset="-122"/>
              </a:rPr>
              <a:t> </a:t>
            </a:r>
            <a:r>
              <a:rPr lang="en-US" altLang="zh-CN" sz="2800" b="1" dirty="0" smtClean="0">
                <a:ea typeface="隶书" panose="02010509060101010101" pitchFamily="49" charset="-122"/>
              </a:rPr>
              <a:t>  #pragma </a:t>
            </a:r>
            <a:r>
              <a:rPr lang="en-US" altLang="zh-CN" sz="2800" b="1" dirty="0" err="1" smtClean="0">
                <a:ea typeface="隶书" panose="02010509060101010101" pitchFamily="49" charset="-122"/>
              </a:rPr>
              <a:t>omp</a:t>
            </a:r>
            <a:r>
              <a:rPr lang="en-US" altLang="zh-CN" sz="2800" b="1" dirty="0" smtClean="0">
                <a:ea typeface="隶书" panose="02010509060101010101" pitchFamily="49" charset="-122"/>
              </a:rPr>
              <a:t> for collapse(2) private(</a:t>
            </a:r>
            <a:r>
              <a:rPr lang="en-US" altLang="zh-CN" sz="2800" b="1" dirty="0" err="1" smtClean="0">
                <a:ea typeface="隶书" panose="02010509060101010101" pitchFamily="49" charset="-122"/>
              </a:rPr>
              <a:t>i</a:t>
            </a:r>
            <a:r>
              <a:rPr lang="en-US" altLang="zh-CN" sz="2800" b="1" dirty="0" smtClean="0">
                <a:ea typeface="隶书" panose="02010509060101010101" pitchFamily="49" charset="-122"/>
              </a:rPr>
              <a:t> , j ,k)</a:t>
            </a:r>
            <a:endParaRPr lang="en-US" altLang="zh-CN" sz="2800" b="1" dirty="0" smtClean="0">
              <a:ea typeface="隶书" panose="02010509060101010101" pitchFamily="49" charset="-122"/>
            </a:endParaRPr>
          </a:p>
          <a:p>
            <a:pPr marL="0" indent="0">
              <a:buNone/>
            </a:pPr>
            <a:r>
              <a:rPr lang="en-US" altLang="zh-CN" sz="2800" b="1" dirty="0">
                <a:ea typeface="隶书" panose="02010509060101010101" pitchFamily="49" charset="-122"/>
              </a:rPr>
              <a:t> </a:t>
            </a:r>
            <a:r>
              <a:rPr lang="en-US" altLang="zh-CN" sz="2800" b="1" dirty="0" smtClean="0">
                <a:ea typeface="隶书" panose="02010509060101010101" pitchFamily="49" charset="-122"/>
              </a:rPr>
              <a:t>      for(k=k0; k&lt;=</a:t>
            </a:r>
            <a:r>
              <a:rPr lang="en-US" altLang="zh-CN" sz="2800" b="1" dirty="0" err="1" smtClean="0">
                <a:ea typeface="隶书" panose="02010509060101010101" pitchFamily="49" charset="-122"/>
              </a:rPr>
              <a:t>ku</a:t>
            </a:r>
            <a:r>
              <a:rPr lang="en-US" altLang="zh-CN" sz="2800" b="1" dirty="0" smtClean="0">
                <a:ea typeface="隶书" panose="02010509060101010101" pitchFamily="49" charset="-122"/>
              </a:rPr>
              <a:t>; k+=</a:t>
            </a:r>
            <a:r>
              <a:rPr lang="en-US" altLang="zh-CN" sz="2800" b="1" dirty="0" err="1" smtClean="0">
                <a:ea typeface="隶书" panose="02010509060101010101" pitchFamily="49" charset="-122"/>
              </a:rPr>
              <a:t>ks</a:t>
            </a:r>
            <a:r>
              <a:rPr lang="en-US" altLang="zh-CN" sz="2800" b="1" dirty="0" smtClean="0">
                <a:ea typeface="隶书" panose="02010509060101010101" pitchFamily="49" charset="-122"/>
              </a:rPr>
              <a:t>)</a:t>
            </a:r>
            <a:endParaRPr lang="en-US" altLang="zh-CN" sz="2800" b="1" dirty="0" smtClean="0">
              <a:ea typeface="隶书" panose="02010509060101010101" pitchFamily="49" charset="-122"/>
            </a:endParaRPr>
          </a:p>
          <a:p>
            <a:pPr marL="0" indent="0">
              <a:buNone/>
            </a:pPr>
            <a:r>
              <a:rPr lang="en-US" altLang="zh-CN" sz="2800" b="1" dirty="0">
                <a:ea typeface="隶书" panose="02010509060101010101" pitchFamily="49" charset="-122"/>
              </a:rPr>
              <a:t> </a:t>
            </a:r>
            <a:r>
              <a:rPr lang="en-US" altLang="zh-CN" sz="2800" b="1" dirty="0" smtClean="0">
                <a:ea typeface="隶书" panose="02010509060101010101" pitchFamily="49" charset="-122"/>
              </a:rPr>
              <a:t>            for(j=j0; j&lt;=</a:t>
            </a:r>
            <a:r>
              <a:rPr lang="en-US" altLang="zh-CN" sz="2800" b="1" dirty="0" err="1" smtClean="0">
                <a:ea typeface="隶书" panose="02010509060101010101" pitchFamily="49" charset="-122"/>
              </a:rPr>
              <a:t>ju</a:t>
            </a:r>
            <a:r>
              <a:rPr lang="en-US" altLang="zh-CN" sz="2800" b="1" dirty="0" smtClean="0">
                <a:ea typeface="隶书" panose="02010509060101010101" pitchFamily="49" charset="-122"/>
              </a:rPr>
              <a:t>; j+=</a:t>
            </a:r>
            <a:r>
              <a:rPr lang="en-US" altLang="zh-CN" sz="2800" b="1" dirty="0" err="1" smtClean="0">
                <a:ea typeface="隶书" panose="02010509060101010101" pitchFamily="49" charset="-122"/>
              </a:rPr>
              <a:t>js</a:t>
            </a:r>
            <a:r>
              <a:rPr lang="en-US" altLang="zh-CN" sz="2800" b="1" dirty="0" smtClean="0">
                <a:ea typeface="隶书" panose="02010509060101010101" pitchFamily="49" charset="-122"/>
              </a:rPr>
              <a:t>)</a:t>
            </a:r>
            <a:endParaRPr lang="en-US" altLang="zh-CN" sz="2800" b="1" dirty="0" smtClean="0">
              <a:ea typeface="隶书" panose="02010509060101010101" pitchFamily="49" charset="-122"/>
            </a:endParaRPr>
          </a:p>
          <a:p>
            <a:pPr marL="0" indent="0">
              <a:buNone/>
            </a:pPr>
            <a:r>
              <a:rPr lang="en-US" altLang="zh-CN" sz="2800" b="1" dirty="0">
                <a:ea typeface="隶书" panose="02010509060101010101" pitchFamily="49" charset="-122"/>
              </a:rPr>
              <a:t> </a:t>
            </a:r>
            <a:r>
              <a:rPr lang="en-US" altLang="zh-CN" sz="2800" b="1" dirty="0" smtClean="0">
                <a:ea typeface="隶书" panose="02010509060101010101" pitchFamily="49" charset="-122"/>
              </a:rPr>
              <a:t>                  for(</a:t>
            </a:r>
            <a:r>
              <a:rPr lang="en-US" altLang="zh-CN" sz="2800" b="1" dirty="0" err="1" smtClean="0">
                <a:ea typeface="隶书" panose="02010509060101010101" pitchFamily="49" charset="-122"/>
              </a:rPr>
              <a:t>i</a:t>
            </a:r>
            <a:r>
              <a:rPr lang="en-US" altLang="zh-CN" sz="2800" b="1" dirty="0" smtClean="0">
                <a:ea typeface="隶书" panose="02010509060101010101" pitchFamily="49" charset="-122"/>
              </a:rPr>
              <a:t>=i0; </a:t>
            </a:r>
            <a:r>
              <a:rPr lang="en-US" altLang="zh-CN" sz="2800" b="1" dirty="0" err="1" smtClean="0">
                <a:ea typeface="隶书" panose="02010509060101010101" pitchFamily="49" charset="-122"/>
              </a:rPr>
              <a:t>i</a:t>
            </a:r>
            <a:r>
              <a:rPr lang="en-US" altLang="zh-CN" sz="2800" b="1" dirty="0" smtClean="0">
                <a:ea typeface="隶书" panose="02010509060101010101" pitchFamily="49" charset="-122"/>
              </a:rPr>
              <a:t>&lt;=</a:t>
            </a:r>
            <a:r>
              <a:rPr lang="en-US" altLang="zh-CN" sz="2800" b="1" dirty="0" err="1" smtClean="0">
                <a:ea typeface="隶书" panose="02010509060101010101" pitchFamily="49" charset="-122"/>
              </a:rPr>
              <a:t>iu</a:t>
            </a:r>
            <a:r>
              <a:rPr lang="en-US" altLang="zh-CN" sz="2800" b="1" dirty="0" smtClean="0">
                <a:ea typeface="隶书" panose="02010509060101010101" pitchFamily="49" charset="-122"/>
              </a:rPr>
              <a:t>; </a:t>
            </a:r>
            <a:r>
              <a:rPr lang="en-US" altLang="zh-CN" sz="2800" b="1" dirty="0" err="1" smtClean="0">
                <a:ea typeface="隶书" panose="02010509060101010101" pitchFamily="49" charset="-122"/>
              </a:rPr>
              <a:t>i</a:t>
            </a:r>
            <a:r>
              <a:rPr lang="en-US" altLang="zh-CN" sz="2800" b="1" dirty="0" smtClean="0">
                <a:ea typeface="隶书" panose="02010509060101010101" pitchFamily="49" charset="-122"/>
              </a:rPr>
              <a:t>+=is)</a:t>
            </a:r>
            <a:endParaRPr lang="en-US" altLang="zh-CN" sz="2800" b="1" dirty="0" smtClean="0">
              <a:ea typeface="隶书" panose="02010509060101010101" pitchFamily="49" charset="-122"/>
            </a:endParaRPr>
          </a:p>
          <a:p>
            <a:pPr marL="0" indent="0">
              <a:buNone/>
            </a:pPr>
            <a:r>
              <a:rPr lang="en-US" altLang="zh-CN" sz="2800" b="1" dirty="0">
                <a:ea typeface="隶书" panose="02010509060101010101" pitchFamily="49" charset="-122"/>
              </a:rPr>
              <a:t> </a:t>
            </a:r>
            <a:r>
              <a:rPr lang="en-US" altLang="zh-CN" sz="2800" b="1" dirty="0" smtClean="0">
                <a:ea typeface="隶书" panose="02010509060101010101" pitchFamily="49" charset="-122"/>
              </a:rPr>
              <a:t>                         bar(a, </a:t>
            </a:r>
            <a:r>
              <a:rPr lang="en-US" altLang="zh-CN" sz="2800" b="1" dirty="0" err="1" smtClean="0">
                <a:ea typeface="隶书" panose="02010509060101010101" pitchFamily="49" charset="-122"/>
              </a:rPr>
              <a:t>i</a:t>
            </a:r>
            <a:r>
              <a:rPr lang="en-US" altLang="zh-CN" sz="2800" b="1" dirty="0" smtClean="0">
                <a:ea typeface="隶书" panose="02010509060101010101" pitchFamily="49" charset="-122"/>
              </a:rPr>
              <a:t>, j ,k);</a:t>
            </a:r>
            <a:endParaRPr lang="en-US" altLang="zh-CN" sz="2800" b="1" dirty="0" smtClean="0">
              <a:ea typeface="隶书" panose="02010509060101010101" pitchFamily="49" charset="-122"/>
            </a:endParaRPr>
          </a:p>
          <a:p>
            <a:pPr marL="0" indent="0">
              <a:buNone/>
            </a:pPr>
            <a:r>
              <a:rPr lang="en-US" altLang="zh-CN" sz="2800" b="1" dirty="0" smtClean="0">
                <a:ea typeface="隶书" panose="02010509060101010101" pitchFamily="49" charset="-122"/>
              </a:rPr>
              <a:t> }</a:t>
            </a:r>
            <a:endParaRPr lang="en-US" altLang="zh-CN" sz="2800" b="1" dirty="0" smtClean="0">
              <a:ea typeface="隶书" panose="02010509060101010101" pitchFamily="49" charset="-122"/>
            </a:endParaRPr>
          </a:p>
          <a:p>
            <a:pPr marL="0" indent="0">
              <a:lnSpc>
                <a:spcPct val="150000"/>
              </a:lnSpc>
              <a:buNone/>
            </a:pPr>
            <a:r>
              <a:rPr lang="en-US" b="1" dirty="0" smtClean="0">
                <a:solidFill>
                  <a:srgbClr val="2D0AC2"/>
                </a:solidFill>
                <a:ea typeface="隶书" panose="02010509060101010101" pitchFamily="49" charset="-122"/>
              </a:rPr>
              <a:t>         </a:t>
            </a:r>
            <a:endParaRPr lang="en-US" b="1" dirty="0">
              <a:solidFill>
                <a:srgbClr val="2D0AC2"/>
              </a:solidFill>
              <a:ea typeface="隶书" panose="02010509060101010101" pitchFamily="49" charset="-122"/>
            </a:endParaRPr>
          </a:p>
        </p:txBody>
      </p:sp>
      <p:sp>
        <p:nvSpPr>
          <p:cNvPr id="4" name="文本框 3"/>
          <p:cNvSpPr txBox="1"/>
          <p:nvPr/>
        </p:nvSpPr>
        <p:spPr>
          <a:xfrm>
            <a:off x="7384473" y="1233055"/>
            <a:ext cx="4447309" cy="452431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pPr>
              <a:lnSpc>
                <a:spcPct val="150000"/>
              </a:lnSpc>
            </a:pPr>
            <a:r>
              <a:rPr lang="en-US" sz="3200" b="1" dirty="0" smtClean="0"/>
              <a:t>     collapse(2)</a:t>
            </a:r>
            <a:r>
              <a:rPr lang="zh-CN" altLang="en-US" sz="3200" b="1" dirty="0" smtClean="0"/>
              <a:t>子句可以将紧邻</a:t>
            </a:r>
            <a:r>
              <a:rPr lang="en-US" altLang="zh-CN" sz="3200" b="1" dirty="0" smtClean="0"/>
              <a:t>for</a:t>
            </a:r>
            <a:r>
              <a:rPr lang="zh-CN" altLang="en-US" sz="3200" b="1" dirty="0" smtClean="0"/>
              <a:t>结构的</a:t>
            </a:r>
            <a:r>
              <a:rPr lang="en-US" altLang="zh-CN" sz="3200" b="1" dirty="0" smtClean="0"/>
              <a:t>2</a:t>
            </a:r>
            <a:r>
              <a:rPr lang="zh-CN" altLang="en-US" sz="3200" b="1" dirty="0" smtClean="0"/>
              <a:t>层循环</a:t>
            </a:r>
            <a:r>
              <a:rPr lang="en-US" altLang="zh-CN" sz="3200" b="1" dirty="0" smtClean="0"/>
              <a:t>k</a:t>
            </a:r>
            <a:r>
              <a:rPr lang="zh-CN" altLang="en-US" sz="3200" b="1" dirty="0" smtClean="0"/>
              <a:t>和</a:t>
            </a:r>
            <a:r>
              <a:rPr lang="en-US" altLang="zh-CN" sz="3200" b="1" dirty="0" smtClean="0"/>
              <a:t>j </a:t>
            </a:r>
            <a:r>
              <a:rPr lang="zh-CN" altLang="en-US" sz="3200" b="1" dirty="0" smtClean="0"/>
              <a:t>压缩成一重循环，然后均分到各个线程。最内层的循环</a:t>
            </a:r>
            <a:r>
              <a:rPr lang="en-US" altLang="zh-CN" sz="3200" b="1" dirty="0" err="1" smtClean="0"/>
              <a:t>i</a:t>
            </a:r>
            <a:r>
              <a:rPr lang="zh-CN" altLang="en-US" sz="3200" b="1" dirty="0" smtClean="0"/>
              <a:t>则在每个线程串行执行。</a:t>
            </a:r>
            <a:endParaRPr lang="en-US" sz="3200" b="1" dirty="0"/>
          </a:p>
        </p:txBody>
      </p:sp>
    </p:spTree>
  </p:cSld>
  <p:clrMapOvr>
    <a:masterClrMapping/>
  </p:clrMapOvr>
  <p:transition spd="med" advTm="3025">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84910" y="297873"/>
            <a:ext cx="11346872" cy="5742708"/>
          </a:xfrm>
        </p:spPr>
        <p:txBody>
          <a:bodyPr/>
          <a:lstStyle/>
          <a:p>
            <a:pPr marL="0" indent="0" algn="ctr">
              <a:buNone/>
            </a:pPr>
            <a:r>
              <a:rPr lang="en-US" sz="4400" b="1" dirty="0">
                <a:solidFill>
                  <a:srgbClr val="2D0AC2"/>
                </a:solidFill>
                <a:ea typeface="隶书" panose="02010509060101010101" pitchFamily="49" charset="-122"/>
              </a:rPr>
              <a:t>c</a:t>
            </a:r>
            <a:r>
              <a:rPr lang="en-US" sz="4400" b="1" dirty="0" smtClean="0">
                <a:solidFill>
                  <a:srgbClr val="2D0AC2"/>
                </a:solidFill>
                <a:ea typeface="隶书" panose="02010509060101010101" pitchFamily="49" charset="-122"/>
              </a:rPr>
              <a:t>ollapse</a:t>
            </a:r>
            <a:r>
              <a:rPr lang="zh-CN" altLang="en-US" sz="4400" b="1" dirty="0" smtClean="0">
                <a:solidFill>
                  <a:srgbClr val="2D0AC2"/>
                </a:solidFill>
                <a:ea typeface="隶书" panose="02010509060101010101" pitchFamily="49" charset="-122"/>
              </a:rPr>
              <a:t>子句</a:t>
            </a:r>
            <a:endParaRPr lang="en-US" altLang="zh-CN" sz="4400" b="1" dirty="0" smtClean="0">
              <a:solidFill>
                <a:srgbClr val="2D0AC2"/>
              </a:solidFill>
              <a:ea typeface="隶书" panose="02010509060101010101" pitchFamily="49" charset="-122"/>
            </a:endParaRPr>
          </a:p>
          <a:p>
            <a:pPr marL="0" indent="0">
              <a:buNone/>
            </a:pPr>
            <a:r>
              <a:rPr lang="en-US" altLang="zh-CN" sz="2400" b="1" dirty="0">
                <a:ea typeface="隶书" panose="02010509060101010101" pitchFamily="49" charset="-122"/>
              </a:rPr>
              <a:t>v</a:t>
            </a:r>
            <a:r>
              <a:rPr lang="en-US" altLang="zh-CN" sz="2400" b="1" dirty="0" smtClean="0">
                <a:ea typeface="隶书" panose="02010509060101010101" pitchFamily="49" charset="-122"/>
              </a:rPr>
              <a:t>oid  test( )</a:t>
            </a:r>
            <a:endParaRPr lang="en-US" altLang="zh-CN" sz="2400" b="1" dirty="0" smtClean="0">
              <a:ea typeface="隶书" panose="02010509060101010101" pitchFamily="49" charset="-122"/>
            </a:endParaRPr>
          </a:p>
          <a:p>
            <a:pPr marL="0" indent="0">
              <a:buNone/>
            </a:pPr>
            <a:r>
              <a:rPr lang="en-US" altLang="zh-CN" sz="2400" b="1" dirty="0" smtClean="0">
                <a:ea typeface="隶书" panose="02010509060101010101" pitchFamily="49" charset="-122"/>
              </a:rPr>
              <a:t>{ </a:t>
            </a:r>
            <a:r>
              <a:rPr lang="en-US" altLang="zh-CN" sz="2400" b="1" dirty="0" err="1" smtClean="0">
                <a:ea typeface="隶书" panose="02010509060101010101" pitchFamily="49" charset="-122"/>
              </a:rPr>
              <a:t>int</a:t>
            </a:r>
            <a:r>
              <a:rPr lang="en-US" altLang="zh-CN" sz="2400" b="1" dirty="0" smtClean="0">
                <a:ea typeface="隶书" panose="02010509060101010101" pitchFamily="49" charset="-122"/>
              </a:rPr>
              <a:t> j ,k, </a:t>
            </a:r>
            <a:r>
              <a:rPr lang="en-US" altLang="zh-CN" sz="2400" b="1" dirty="0" err="1" smtClean="0">
                <a:ea typeface="隶书" panose="02010509060101010101" pitchFamily="49" charset="-122"/>
              </a:rPr>
              <a:t>jlast</a:t>
            </a:r>
            <a:r>
              <a:rPr lang="en-US" altLang="zh-CN" sz="2400" b="1" dirty="0" smtClean="0">
                <a:ea typeface="隶书" panose="02010509060101010101" pitchFamily="49" charset="-122"/>
              </a:rPr>
              <a:t>, </a:t>
            </a:r>
            <a:r>
              <a:rPr lang="en-US" altLang="zh-CN" sz="2400" b="1" dirty="0" err="1" smtClean="0">
                <a:ea typeface="隶书" panose="02010509060101010101" pitchFamily="49" charset="-122"/>
              </a:rPr>
              <a:t>klast</a:t>
            </a:r>
            <a:r>
              <a:rPr lang="en-US" altLang="zh-CN" sz="2400" b="1" dirty="0" smtClean="0">
                <a:ea typeface="隶书" panose="02010509060101010101" pitchFamily="49" charset="-122"/>
              </a:rPr>
              <a:t>;</a:t>
            </a:r>
            <a:endParaRPr lang="en-US" altLang="zh-CN" sz="2400" b="1" dirty="0" smtClean="0">
              <a:ea typeface="隶书" panose="02010509060101010101" pitchFamily="49" charset="-122"/>
            </a:endParaRPr>
          </a:p>
          <a:p>
            <a:pPr marL="0" indent="0">
              <a:buNone/>
            </a:pPr>
            <a:r>
              <a:rPr lang="en-US" altLang="zh-CN" sz="2400" b="1" dirty="0">
                <a:ea typeface="隶书" panose="02010509060101010101" pitchFamily="49" charset="-122"/>
              </a:rPr>
              <a:t> </a:t>
            </a:r>
            <a:r>
              <a:rPr lang="en-US" altLang="zh-CN" sz="2400" b="1" dirty="0" smtClean="0">
                <a:ea typeface="隶书" panose="02010509060101010101" pitchFamily="49" charset="-122"/>
              </a:rPr>
              <a:t>  #pragma </a:t>
            </a:r>
            <a:r>
              <a:rPr lang="en-US" altLang="zh-CN" sz="2400" b="1" dirty="0" err="1" smtClean="0">
                <a:ea typeface="隶书" panose="02010509060101010101" pitchFamily="49" charset="-122"/>
              </a:rPr>
              <a:t>omp</a:t>
            </a:r>
            <a:r>
              <a:rPr lang="en-US" altLang="zh-CN" sz="2400" b="1" dirty="0" smtClean="0">
                <a:ea typeface="隶书" panose="02010509060101010101" pitchFamily="49" charset="-122"/>
              </a:rPr>
              <a:t> parallel</a:t>
            </a:r>
            <a:endParaRPr lang="en-US" altLang="zh-CN" sz="2400" b="1" dirty="0" smtClean="0">
              <a:ea typeface="隶书" panose="02010509060101010101" pitchFamily="49" charset="-122"/>
            </a:endParaRPr>
          </a:p>
          <a:p>
            <a:pPr marL="0" indent="0">
              <a:buNone/>
            </a:pPr>
            <a:r>
              <a:rPr lang="en-US" altLang="zh-CN" sz="2400" b="1" dirty="0">
                <a:ea typeface="隶书" panose="02010509060101010101" pitchFamily="49" charset="-122"/>
              </a:rPr>
              <a:t> </a:t>
            </a:r>
            <a:r>
              <a:rPr lang="en-US" altLang="zh-CN" sz="2400" b="1" dirty="0" smtClean="0">
                <a:ea typeface="隶书" panose="02010509060101010101" pitchFamily="49" charset="-122"/>
              </a:rPr>
              <a:t>  { #pragma </a:t>
            </a:r>
            <a:r>
              <a:rPr lang="en-US" altLang="zh-CN" sz="2400" b="1" dirty="0" err="1" smtClean="0">
                <a:ea typeface="隶书" panose="02010509060101010101" pitchFamily="49" charset="-122"/>
              </a:rPr>
              <a:t>omp</a:t>
            </a:r>
            <a:r>
              <a:rPr lang="en-US" altLang="zh-CN" sz="2400" b="1" dirty="0" smtClean="0">
                <a:ea typeface="隶书" panose="02010509060101010101" pitchFamily="49" charset="-122"/>
              </a:rPr>
              <a:t> for collapse(2) </a:t>
            </a:r>
            <a:endParaRPr lang="en-US" altLang="zh-CN" sz="2400" b="1" dirty="0" smtClean="0">
              <a:ea typeface="隶书" panose="02010509060101010101" pitchFamily="49" charset="-122"/>
            </a:endParaRPr>
          </a:p>
          <a:p>
            <a:pPr marL="0" indent="0">
              <a:buNone/>
            </a:pPr>
            <a:r>
              <a:rPr lang="en-US" altLang="zh-CN" sz="2400" b="1" dirty="0">
                <a:ea typeface="隶书" panose="02010509060101010101" pitchFamily="49" charset="-122"/>
              </a:rPr>
              <a:t> </a:t>
            </a:r>
            <a:r>
              <a:rPr lang="en-US" altLang="zh-CN" sz="2400" b="1" dirty="0" smtClean="0">
                <a:ea typeface="隶书" panose="02010509060101010101" pitchFamily="49" charset="-122"/>
              </a:rPr>
              <a:t>     </a:t>
            </a:r>
            <a:r>
              <a:rPr lang="en-US" altLang="zh-CN" sz="2400" b="1" dirty="0" err="1" smtClean="0">
                <a:ea typeface="隶书" panose="02010509060101010101" pitchFamily="49" charset="-122"/>
              </a:rPr>
              <a:t>lastprivate</a:t>
            </a:r>
            <a:r>
              <a:rPr lang="en-US" altLang="zh-CN" sz="2400" b="1" dirty="0" smtClean="0">
                <a:ea typeface="隶书" panose="02010509060101010101" pitchFamily="49" charset="-122"/>
              </a:rPr>
              <a:t>(</a:t>
            </a:r>
            <a:r>
              <a:rPr lang="en-US" altLang="zh-CN" sz="2400" b="1" dirty="0" err="1" smtClean="0">
                <a:ea typeface="隶书" panose="02010509060101010101" pitchFamily="49" charset="-122"/>
              </a:rPr>
              <a:t>jlast</a:t>
            </a:r>
            <a:r>
              <a:rPr lang="en-US" altLang="zh-CN" sz="2400" b="1" dirty="0" smtClean="0">
                <a:ea typeface="隶书" panose="02010509060101010101" pitchFamily="49" charset="-122"/>
              </a:rPr>
              <a:t>, </a:t>
            </a:r>
            <a:r>
              <a:rPr lang="en-US" altLang="zh-CN" sz="2400" b="1" dirty="0" err="1" smtClean="0">
                <a:ea typeface="隶书" panose="02010509060101010101" pitchFamily="49" charset="-122"/>
              </a:rPr>
              <a:t>klast</a:t>
            </a:r>
            <a:r>
              <a:rPr lang="en-US" altLang="zh-CN" sz="2400" b="1" dirty="0" smtClean="0">
                <a:ea typeface="隶书" panose="02010509060101010101" pitchFamily="49" charset="-122"/>
              </a:rPr>
              <a:t>)</a:t>
            </a:r>
            <a:endParaRPr lang="en-US" altLang="zh-CN" sz="2400" b="1" dirty="0" smtClean="0">
              <a:ea typeface="隶书" panose="02010509060101010101" pitchFamily="49" charset="-122"/>
            </a:endParaRPr>
          </a:p>
          <a:p>
            <a:pPr marL="0" indent="0">
              <a:buNone/>
            </a:pPr>
            <a:r>
              <a:rPr lang="en-US" altLang="zh-CN" sz="2400" b="1" dirty="0">
                <a:ea typeface="隶书" panose="02010509060101010101" pitchFamily="49" charset="-122"/>
              </a:rPr>
              <a:t> </a:t>
            </a:r>
            <a:r>
              <a:rPr lang="en-US" altLang="zh-CN" sz="2400" b="1" dirty="0" smtClean="0">
                <a:ea typeface="隶书" panose="02010509060101010101" pitchFamily="49" charset="-122"/>
              </a:rPr>
              <a:t>      for(k=1; k&lt;=2; k++)</a:t>
            </a:r>
            <a:endParaRPr lang="en-US" altLang="zh-CN" sz="2400" b="1" dirty="0" smtClean="0">
              <a:ea typeface="隶书" panose="02010509060101010101" pitchFamily="49" charset="-122"/>
            </a:endParaRPr>
          </a:p>
          <a:p>
            <a:pPr marL="0" indent="0">
              <a:buNone/>
            </a:pPr>
            <a:r>
              <a:rPr lang="en-US" altLang="zh-CN" sz="2400" b="1" dirty="0">
                <a:ea typeface="隶书" panose="02010509060101010101" pitchFamily="49" charset="-122"/>
              </a:rPr>
              <a:t> </a:t>
            </a:r>
            <a:r>
              <a:rPr lang="en-US" altLang="zh-CN" sz="2400" b="1" dirty="0" smtClean="0">
                <a:ea typeface="隶书" panose="02010509060101010101" pitchFamily="49" charset="-122"/>
              </a:rPr>
              <a:t>            for(j=1; j&lt;=3; </a:t>
            </a:r>
            <a:r>
              <a:rPr lang="en-US" altLang="zh-CN" sz="2400" b="1" dirty="0" err="1" smtClean="0">
                <a:ea typeface="隶书" panose="02010509060101010101" pitchFamily="49" charset="-122"/>
              </a:rPr>
              <a:t>j++</a:t>
            </a:r>
            <a:r>
              <a:rPr lang="en-US" altLang="zh-CN" sz="2400" b="1" dirty="0" smtClean="0">
                <a:ea typeface="隶书" panose="02010509060101010101" pitchFamily="49" charset="-122"/>
              </a:rPr>
              <a:t>)</a:t>
            </a:r>
            <a:endParaRPr lang="en-US" altLang="zh-CN" sz="2400" b="1" dirty="0" smtClean="0">
              <a:ea typeface="隶书" panose="02010509060101010101" pitchFamily="49" charset="-122"/>
            </a:endParaRPr>
          </a:p>
          <a:p>
            <a:pPr marL="0" indent="0">
              <a:buNone/>
            </a:pPr>
            <a:r>
              <a:rPr lang="en-US" altLang="zh-CN" sz="2400" b="1" dirty="0" smtClean="0">
                <a:ea typeface="隶书" panose="02010509060101010101" pitchFamily="49" charset="-122"/>
              </a:rPr>
              <a:t>              { </a:t>
            </a:r>
            <a:r>
              <a:rPr lang="en-US" altLang="zh-CN" sz="2400" b="1" dirty="0" err="1" smtClean="0">
                <a:ea typeface="隶书" panose="02010509060101010101" pitchFamily="49" charset="-122"/>
              </a:rPr>
              <a:t>jlast</a:t>
            </a:r>
            <a:r>
              <a:rPr lang="en-US" altLang="zh-CN" sz="2400" b="1" dirty="0" smtClean="0">
                <a:ea typeface="隶书" panose="02010509060101010101" pitchFamily="49" charset="-122"/>
              </a:rPr>
              <a:t>=j;</a:t>
            </a:r>
            <a:endParaRPr lang="en-US" altLang="zh-CN" sz="2400" b="1" dirty="0" smtClean="0">
              <a:ea typeface="隶书" panose="02010509060101010101" pitchFamily="49" charset="-122"/>
            </a:endParaRPr>
          </a:p>
          <a:p>
            <a:pPr marL="0" indent="0">
              <a:buNone/>
            </a:pPr>
            <a:r>
              <a:rPr lang="en-US" altLang="zh-CN" sz="2400" b="1" dirty="0">
                <a:ea typeface="隶书" panose="02010509060101010101" pitchFamily="49" charset="-122"/>
              </a:rPr>
              <a:t> </a:t>
            </a:r>
            <a:r>
              <a:rPr lang="en-US" altLang="zh-CN" sz="2400" b="1" dirty="0" smtClean="0">
                <a:ea typeface="隶书" panose="02010509060101010101" pitchFamily="49" charset="-122"/>
              </a:rPr>
              <a:t>                </a:t>
            </a:r>
            <a:r>
              <a:rPr lang="en-US" altLang="zh-CN" sz="2400" b="1" dirty="0" err="1" smtClean="0">
                <a:ea typeface="隶书" panose="02010509060101010101" pitchFamily="49" charset="-122"/>
              </a:rPr>
              <a:t>klast</a:t>
            </a:r>
            <a:r>
              <a:rPr lang="en-US" altLang="zh-CN" sz="2400" b="1" dirty="0" smtClean="0">
                <a:ea typeface="隶书" panose="02010509060101010101" pitchFamily="49" charset="-122"/>
              </a:rPr>
              <a:t>=k;  }</a:t>
            </a:r>
            <a:endParaRPr lang="en-US" altLang="zh-CN" sz="2400" b="1" dirty="0" smtClean="0">
              <a:ea typeface="隶书" panose="02010509060101010101" pitchFamily="49" charset="-122"/>
            </a:endParaRPr>
          </a:p>
          <a:p>
            <a:pPr marL="0" indent="0">
              <a:buNone/>
            </a:pPr>
            <a:r>
              <a:rPr lang="en-US" altLang="zh-CN" sz="2400" b="1" dirty="0">
                <a:ea typeface="隶书" panose="02010509060101010101" pitchFamily="49" charset="-122"/>
              </a:rPr>
              <a:t> </a:t>
            </a:r>
            <a:r>
              <a:rPr lang="en-US" altLang="zh-CN" sz="2400" b="1" dirty="0" smtClean="0">
                <a:ea typeface="隶书" panose="02010509060101010101" pitchFamily="49" charset="-122"/>
              </a:rPr>
              <a:t>       #pragma </a:t>
            </a:r>
            <a:r>
              <a:rPr lang="en-US" altLang="zh-CN" sz="2400" b="1" dirty="0" err="1" smtClean="0">
                <a:ea typeface="隶书" panose="02010509060101010101" pitchFamily="49" charset="-122"/>
              </a:rPr>
              <a:t>omp</a:t>
            </a:r>
            <a:r>
              <a:rPr lang="en-US" altLang="zh-CN" sz="2400" b="1" dirty="0" smtClean="0">
                <a:ea typeface="隶书" panose="02010509060101010101" pitchFamily="49" charset="-122"/>
              </a:rPr>
              <a:t> single</a:t>
            </a:r>
            <a:endParaRPr lang="en-US" altLang="zh-CN" sz="2400" b="1" dirty="0" smtClean="0">
              <a:ea typeface="隶书" panose="02010509060101010101" pitchFamily="49" charset="-122"/>
            </a:endParaRPr>
          </a:p>
          <a:p>
            <a:pPr marL="0" indent="0">
              <a:buNone/>
            </a:pPr>
            <a:r>
              <a:rPr lang="en-US" altLang="zh-CN" sz="2400" b="1" dirty="0">
                <a:ea typeface="隶书" panose="02010509060101010101" pitchFamily="49" charset="-122"/>
              </a:rPr>
              <a:t> </a:t>
            </a:r>
            <a:r>
              <a:rPr lang="en-US" altLang="zh-CN" sz="2400" b="1" dirty="0" smtClean="0">
                <a:ea typeface="隶书" panose="02010509060101010101" pitchFamily="49" charset="-122"/>
              </a:rPr>
              <a:t>           </a:t>
            </a:r>
            <a:r>
              <a:rPr lang="en-US" altLang="zh-CN" sz="2400" b="1" dirty="0" err="1" smtClean="0">
                <a:ea typeface="隶书" panose="02010509060101010101" pitchFamily="49" charset="-122"/>
              </a:rPr>
              <a:t>printf</a:t>
            </a:r>
            <a:r>
              <a:rPr lang="en-US" altLang="zh-CN" sz="2400" b="1" dirty="0" smtClean="0">
                <a:ea typeface="隶书" panose="02010509060101010101" pitchFamily="49" charset="-122"/>
              </a:rPr>
              <a:t>(“%d    %d\n”,</a:t>
            </a:r>
            <a:r>
              <a:rPr lang="en-US" altLang="zh-CN" sz="2400" b="1" dirty="0" err="1" smtClean="0">
                <a:ea typeface="隶书" panose="02010509060101010101" pitchFamily="49" charset="-122"/>
              </a:rPr>
              <a:t>klast,jlast</a:t>
            </a:r>
            <a:r>
              <a:rPr lang="en-US" altLang="zh-CN" sz="2400" b="1" dirty="0" smtClean="0">
                <a:ea typeface="隶书" panose="02010509060101010101" pitchFamily="49" charset="-122"/>
              </a:rPr>
              <a:t>);</a:t>
            </a:r>
            <a:endParaRPr lang="en-US" altLang="zh-CN" sz="2400" b="1" dirty="0" smtClean="0">
              <a:ea typeface="隶书" panose="02010509060101010101" pitchFamily="49" charset="-122"/>
            </a:endParaRPr>
          </a:p>
          <a:p>
            <a:pPr marL="0" indent="0">
              <a:buNone/>
            </a:pPr>
            <a:r>
              <a:rPr lang="en-US" altLang="zh-CN" sz="2400" b="1" dirty="0">
                <a:ea typeface="隶书" panose="02010509060101010101" pitchFamily="49" charset="-122"/>
              </a:rPr>
              <a:t> </a:t>
            </a:r>
            <a:r>
              <a:rPr lang="en-US" altLang="zh-CN" sz="2400" b="1" dirty="0" smtClean="0">
                <a:ea typeface="隶书" panose="02010509060101010101" pitchFamily="49" charset="-122"/>
              </a:rPr>
              <a:t>   }    </a:t>
            </a:r>
            <a:r>
              <a:rPr lang="en-US" altLang="zh-CN" sz="2800" b="1" dirty="0" smtClean="0">
                <a:ea typeface="隶书" panose="02010509060101010101" pitchFamily="49" charset="-122"/>
              </a:rPr>
              <a:t>}</a:t>
            </a:r>
            <a:endParaRPr lang="en-US" altLang="zh-CN" sz="2800" b="1" dirty="0" smtClean="0">
              <a:ea typeface="隶书" panose="02010509060101010101" pitchFamily="49" charset="-122"/>
            </a:endParaRPr>
          </a:p>
          <a:p>
            <a:pPr marL="0" indent="0">
              <a:lnSpc>
                <a:spcPct val="150000"/>
              </a:lnSpc>
              <a:buNone/>
            </a:pPr>
            <a:r>
              <a:rPr lang="en-US" b="1" dirty="0" smtClean="0">
                <a:solidFill>
                  <a:srgbClr val="2D0AC2"/>
                </a:solidFill>
                <a:ea typeface="隶书" panose="02010509060101010101" pitchFamily="49" charset="-122"/>
              </a:rPr>
              <a:t>         </a:t>
            </a:r>
            <a:endParaRPr lang="en-US" b="1" dirty="0">
              <a:solidFill>
                <a:srgbClr val="2D0AC2"/>
              </a:solidFill>
              <a:ea typeface="隶书" panose="02010509060101010101" pitchFamily="49" charset="-122"/>
            </a:endParaRPr>
          </a:p>
        </p:txBody>
      </p:sp>
      <p:sp>
        <p:nvSpPr>
          <p:cNvPr id="4" name="文本框 3"/>
          <p:cNvSpPr txBox="1"/>
          <p:nvPr/>
        </p:nvSpPr>
        <p:spPr>
          <a:xfrm>
            <a:off x="7384473" y="1233055"/>
            <a:ext cx="4447309" cy="378565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pPr>
              <a:lnSpc>
                <a:spcPct val="150000"/>
              </a:lnSpc>
            </a:pPr>
            <a:r>
              <a:rPr lang="en-US" sz="3200" b="1" dirty="0" smtClean="0">
                <a:solidFill>
                  <a:srgbClr val="000000"/>
                </a:solidFill>
              </a:rPr>
              <a:t>     collapse(2)</a:t>
            </a:r>
            <a:r>
              <a:rPr lang="zh-CN" altLang="en-US" sz="3200" b="1" dirty="0" smtClean="0">
                <a:solidFill>
                  <a:srgbClr val="000000"/>
                </a:solidFill>
              </a:rPr>
              <a:t>子句可以将循环</a:t>
            </a:r>
            <a:r>
              <a:rPr lang="en-US" altLang="zh-CN" sz="3200" b="1" dirty="0" smtClean="0">
                <a:solidFill>
                  <a:srgbClr val="000000"/>
                </a:solidFill>
              </a:rPr>
              <a:t>k</a:t>
            </a:r>
            <a:r>
              <a:rPr lang="zh-CN" altLang="en-US" sz="3200" b="1" dirty="0" smtClean="0">
                <a:solidFill>
                  <a:srgbClr val="000000"/>
                </a:solidFill>
              </a:rPr>
              <a:t>和</a:t>
            </a:r>
            <a:r>
              <a:rPr lang="en-US" altLang="zh-CN" sz="3200" b="1" dirty="0" smtClean="0">
                <a:solidFill>
                  <a:srgbClr val="000000"/>
                </a:solidFill>
              </a:rPr>
              <a:t>j </a:t>
            </a:r>
            <a:r>
              <a:rPr lang="zh-CN" altLang="en-US" sz="3200" b="1" dirty="0" smtClean="0">
                <a:solidFill>
                  <a:srgbClr val="000000"/>
                </a:solidFill>
              </a:rPr>
              <a:t>压缩成一重循环，然后均分到各个线程</a:t>
            </a:r>
            <a:r>
              <a:rPr lang="zh-CN" altLang="en-US" sz="3200" b="1" dirty="0">
                <a:solidFill>
                  <a:srgbClr val="000000"/>
                </a:solidFill>
              </a:rPr>
              <a:t>上</a:t>
            </a:r>
            <a:r>
              <a:rPr lang="zh-CN" altLang="en-US" sz="3200" b="1" dirty="0" smtClean="0">
                <a:solidFill>
                  <a:srgbClr val="000000"/>
                </a:solidFill>
              </a:rPr>
              <a:t>。</a:t>
            </a:r>
            <a:endParaRPr lang="en-US" altLang="zh-CN" sz="3200" b="1" dirty="0" smtClean="0">
              <a:solidFill>
                <a:srgbClr val="000000"/>
              </a:solidFill>
            </a:endParaRPr>
          </a:p>
          <a:p>
            <a:pPr>
              <a:lnSpc>
                <a:spcPct val="150000"/>
              </a:lnSpc>
            </a:pPr>
            <a:r>
              <a:rPr lang="zh-CN" altLang="en-US" sz="3200" b="1" dirty="0" smtClean="0">
                <a:solidFill>
                  <a:srgbClr val="000000"/>
                </a:solidFill>
              </a:rPr>
              <a:t>结果： </a:t>
            </a:r>
            <a:r>
              <a:rPr lang="en-US" altLang="zh-CN" sz="3200" b="1" dirty="0" smtClean="0">
                <a:solidFill>
                  <a:srgbClr val="000000"/>
                </a:solidFill>
              </a:rPr>
              <a:t>2   3</a:t>
            </a:r>
            <a:endParaRPr lang="en-US" sz="3200" b="1" dirty="0">
              <a:solidFill>
                <a:srgbClr val="000000"/>
              </a:solidFill>
            </a:endParaRPr>
          </a:p>
        </p:txBody>
      </p:sp>
    </p:spTree>
  </p:cSld>
  <p:clrMapOvr>
    <a:masterClrMapping/>
  </p:clrMapOvr>
  <p:transition spd="med" advTm="3025">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84910" y="297872"/>
            <a:ext cx="11346872" cy="6047509"/>
          </a:xfrm>
        </p:spPr>
        <p:txBody>
          <a:bodyPr/>
          <a:lstStyle/>
          <a:p>
            <a:pPr marL="0" indent="0" algn="ctr">
              <a:buNone/>
            </a:pPr>
            <a:r>
              <a:rPr lang="en-US" sz="4400" b="1" dirty="0">
                <a:solidFill>
                  <a:srgbClr val="2D0AC2"/>
                </a:solidFill>
                <a:ea typeface="隶书" panose="02010509060101010101" pitchFamily="49" charset="-122"/>
              </a:rPr>
              <a:t>c</a:t>
            </a:r>
            <a:r>
              <a:rPr lang="en-US" sz="4400" b="1" dirty="0" smtClean="0">
                <a:solidFill>
                  <a:srgbClr val="2D0AC2"/>
                </a:solidFill>
                <a:ea typeface="隶书" panose="02010509060101010101" pitchFamily="49" charset="-122"/>
              </a:rPr>
              <a:t>ollapse</a:t>
            </a:r>
            <a:r>
              <a:rPr lang="zh-CN" altLang="en-US" sz="4400" b="1" dirty="0" smtClean="0">
                <a:solidFill>
                  <a:srgbClr val="2D0AC2"/>
                </a:solidFill>
                <a:ea typeface="隶书" panose="02010509060101010101" pitchFamily="49" charset="-122"/>
              </a:rPr>
              <a:t>子句</a:t>
            </a:r>
            <a:endParaRPr lang="en-US" altLang="zh-CN" sz="4400" b="1" dirty="0" smtClean="0">
              <a:solidFill>
                <a:srgbClr val="2D0AC2"/>
              </a:solidFill>
              <a:ea typeface="隶书" panose="02010509060101010101" pitchFamily="49" charset="-122"/>
            </a:endParaRPr>
          </a:p>
          <a:p>
            <a:pPr marL="0" indent="0">
              <a:buNone/>
            </a:pPr>
            <a:r>
              <a:rPr lang="en-US" altLang="zh-CN" sz="2400" b="1" dirty="0">
                <a:ea typeface="隶书" panose="02010509060101010101" pitchFamily="49" charset="-122"/>
              </a:rPr>
              <a:t>v</a:t>
            </a:r>
            <a:r>
              <a:rPr lang="en-US" altLang="zh-CN" sz="2400" b="1" dirty="0" smtClean="0">
                <a:ea typeface="隶书" panose="02010509060101010101" pitchFamily="49" charset="-122"/>
              </a:rPr>
              <a:t>oid  work( </a:t>
            </a:r>
            <a:r>
              <a:rPr lang="en-US" altLang="zh-CN" sz="2400" b="1" dirty="0" err="1" smtClean="0">
                <a:ea typeface="隶书" panose="02010509060101010101" pitchFamily="49" charset="-122"/>
              </a:rPr>
              <a:t>int</a:t>
            </a:r>
            <a:r>
              <a:rPr lang="en-US" altLang="zh-CN" sz="2400" b="1" dirty="0" smtClean="0">
                <a:ea typeface="隶书" panose="02010509060101010101" pitchFamily="49" charset="-122"/>
              </a:rPr>
              <a:t> a, </a:t>
            </a:r>
            <a:r>
              <a:rPr lang="en-US" altLang="zh-CN" sz="2400" b="1" dirty="0" err="1" smtClean="0">
                <a:ea typeface="隶书" panose="02010509060101010101" pitchFamily="49" charset="-122"/>
              </a:rPr>
              <a:t>int</a:t>
            </a:r>
            <a:r>
              <a:rPr lang="en-US" altLang="zh-CN" sz="2400" b="1" dirty="0" smtClean="0">
                <a:ea typeface="隶书" panose="02010509060101010101" pitchFamily="49" charset="-122"/>
              </a:rPr>
              <a:t> j, </a:t>
            </a:r>
            <a:r>
              <a:rPr lang="en-US" altLang="zh-CN" sz="2400" b="1" dirty="0" err="1" smtClean="0">
                <a:ea typeface="隶书" panose="02010509060101010101" pitchFamily="49" charset="-122"/>
              </a:rPr>
              <a:t>int</a:t>
            </a:r>
            <a:r>
              <a:rPr lang="en-US" altLang="zh-CN" sz="2400" b="1" dirty="0" smtClean="0">
                <a:ea typeface="隶书" panose="02010509060101010101" pitchFamily="49" charset="-122"/>
              </a:rPr>
              <a:t> k);</a:t>
            </a:r>
            <a:endParaRPr lang="en-US" altLang="zh-CN" sz="2400" b="1" dirty="0" smtClean="0">
              <a:ea typeface="隶书" panose="02010509060101010101" pitchFamily="49" charset="-122"/>
            </a:endParaRPr>
          </a:p>
          <a:p>
            <a:pPr marL="0" indent="0">
              <a:buNone/>
            </a:pPr>
            <a:r>
              <a:rPr lang="en-US" altLang="zh-CN" sz="2400" b="1" dirty="0" smtClean="0">
                <a:ea typeface="隶书" panose="02010509060101010101" pitchFamily="49" charset="-122"/>
              </a:rPr>
              <a:t>Void sub( )</a:t>
            </a:r>
            <a:endParaRPr lang="en-US" altLang="zh-CN" sz="2400" b="1" dirty="0" smtClean="0">
              <a:ea typeface="隶书" panose="02010509060101010101" pitchFamily="49" charset="-122"/>
            </a:endParaRPr>
          </a:p>
          <a:p>
            <a:pPr marL="0" indent="0">
              <a:buNone/>
            </a:pPr>
            <a:r>
              <a:rPr lang="en-US" altLang="zh-CN" sz="2400" b="1" dirty="0" smtClean="0">
                <a:ea typeface="隶书" panose="02010509060101010101" pitchFamily="49" charset="-122"/>
              </a:rPr>
              <a:t>{ </a:t>
            </a:r>
            <a:r>
              <a:rPr lang="en-US" altLang="zh-CN" sz="2400" b="1" dirty="0" err="1" smtClean="0">
                <a:ea typeface="隶书" panose="02010509060101010101" pitchFamily="49" charset="-122"/>
              </a:rPr>
              <a:t>int</a:t>
            </a:r>
            <a:r>
              <a:rPr lang="en-US" altLang="zh-CN" sz="2400" b="1" dirty="0" smtClean="0">
                <a:ea typeface="隶书" panose="02010509060101010101" pitchFamily="49" charset="-122"/>
              </a:rPr>
              <a:t> j ,k, a;</a:t>
            </a:r>
            <a:endParaRPr lang="en-US" altLang="zh-CN" sz="2400" b="1" dirty="0" smtClean="0">
              <a:ea typeface="隶书" panose="02010509060101010101" pitchFamily="49" charset="-122"/>
            </a:endParaRPr>
          </a:p>
          <a:p>
            <a:pPr marL="0" indent="0">
              <a:buNone/>
            </a:pPr>
            <a:r>
              <a:rPr lang="en-US" altLang="zh-CN" sz="2400" b="1" dirty="0">
                <a:ea typeface="隶书" panose="02010509060101010101" pitchFamily="49" charset="-122"/>
              </a:rPr>
              <a:t> </a:t>
            </a:r>
            <a:r>
              <a:rPr lang="en-US" altLang="zh-CN" sz="2400" b="1" dirty="0" smtClean="0">
                <a:ea typeface="隶书" panose="02010509060101010101" pitchFamily="49" charset="-122"/>
              </a:rPr>
              <a:t>  </a:t>
            </a:r>
            <a:r>
              <a:rPr lang="en-US" altLang="zh-CN" sz="2400" b="1" dirty="0" smtClean="0">
                <a:solidFill>
                  <a:srgbClr val="2D0AC2"/>
                </a:solidFill>
                <a:ea typeface="隶书" panose="02010509060101010101" pitchFamily="49" charset="-122"/>
              </a:rPr>
              <a:t>#pragma </a:t>
            </a:r>
            <a:r>
              <a:rPr lang="en-US" altLang="zh-CN" sz="2400" b="1" dirty="0" err="1" smtClean="0">
                <a:solidFill>
                  <a:srgbClr val="2D0AC2"/>
                </a:solidFill>
                <a:ea typeface="隶书" panose="02010509060101010101" pitchFamily="49" charset="-122"/>
              </a:rPr>
              <a:t>omp</a:t>
            </a:r>
            <a:r>
              <a:rPr lang="en-US" altLang="zh-CN" sz="2400" b="1" dirty="0" smtClean="0">
                <a:solidFill>
                  <a:srgbClr val="2D0AC2"/>
                </a:solidFill>
                <a:ea typeface="隶书" panose="02010509060101010101" pitchFamily="49" charset="-122"/>
              </a:rPr>
              <a:t> parallel </a:t>
            </a:r>
            <a:r>
              <a:rPr lang="en-US" altLang="zh-CN" sz="2400" b="1" dirty="0" err="1" smtClean="0">
                <a:solidFill>
                  <a:srgbClr val="2D0AC2"/>
                </a:solidFill>
                <a:ea typeface="隶书" panose="02010509060101010101" pitchFamily="49" charset="-122"/>
              </a:rPr>
              <a:t>num_threads</a:t>
            </a:r>
            <a:r>
              <a:rPr lang="en-US" altLang="zh-CN" sz="2400" b="1" dirty="0" smtClean="0">
                <a:solidFill>
                  <a:srgbClr val="2D0AC2"/>
                </a:solidFill>
                <a:ea typeface="隶书" panose="02010509060101010101" pitchFamily="49" charset="-122"/>
              </a:rPr>
              <a:t>(2)</a:t>
            </a:r>
            <a:endParaRPr lang="en-US" altLang="zh-CN" sz="2400" b="1" dirty="0" smtClean="0">
              <a:solidFill>
                <a:srgbClr val="2D0AC2"/>
              </a:solidFill>
              <a:ea typeface="隶书" panose="02010509060101010101" pitchFamily="49" charset="-122"/>
            </a:endParaRPr>
          </a:p>
          <a:p>
            <a:pPr marL="0" indent="0">
              <a:buNone/>
            </a:pPr>
            <a:r>
              <a:rPr lang="en-US" altLang="zh-CN" sz="2400" b="1" dirty="0">
                <a:ea typeface="隶书" panose="02010509060101010101" pitchFamily="49" charset="-122"/>
              </a:rPr>
              <a:t> </a:t>
            </a:r>
            <a:r>
              <a:rPr lang="en-US" altLang="zh-CN" sz="2400" b="1" dirty="0" smtClean="0">
                <a:ea typeface="隶书" panose="02010509060101010101" pitchFamily="49" charset="-122"/>
              </a:rPr>
              <a:t>  { </a:t>
            </a:r>
            <a:r>
              <a:rPr lang="en-US" altLang="zh-CN" sz="2400" b="1" dirty="0" smtClean="0">
                <a:solidFill>
                  <a:srgbClr val="FF0000"/>
                </a:solidFill>
                <a:ea typeface="隶书" panose="02010509060101010101" pitchFamily="49" charset="-122"/>
              </a:rPr>
              <a:t>#pragma </a:t>
            </a:r>
            <a:r>
              <a:rPr lang="en-US" altLang="zh-CN" sz="2400" b="1" dirty="0" err="1" smtClean="0">
                <a:solidFill>
                  <a:srgbClr val="FF0000"/>
                </a:solidFill>
                <a:ea typeface="隶书" panose="02010509060101010101" pitchFamily="49" charset="-122"/>
              </a:rPr>
              <a:t>omp</a:t>
            </a:r>
            <a:r>
              <a:rPr lang="en-US" altLang="zh-CN" sz="2400" b="1" dirty="0" smtClean="0">
                <a:solidFill>
                  <a:srgbClr val="FF0000"/>
                </a:solidFill>
                <a:ea typeface="隶书" panose="02010509060101010101" pitchFamily="49" charset="-122"/>
              </a:rPr>
              <a:t> for collapse(2) ordered private(</a:t>
            </a:r>
            <a:r>
              <a:rPr lang="en-US" altLang="zh-CN" sz="2400" b="1" dirty="0" err="1" smtClean="0">
                <a:solidFill>
                  <a:srgbClr val="FF0000"/>
                </a:solidFill>
                <a:ea typeface="隶书" panose="02010509060101010101" pitchFamily="49" charset="-122"/>
              </a:rPr>
              <a:t>j,k</a:t>
            </a:r>
            <a:r>
              <a:rPr lang="en-US" altLang="zh-CN" sz="2400" b="1" dirty="0" smtClean="0">
                <a:solidFill>
                  <a:srgbClr val="FF0000"/>
                </a:solidFill>
                <a:ea typeface="隶书" panose="02010509060101010101" pitchFamily="49" charset="-122"/>
              </a:rPr>
              <a:t>)\</a:t>
            </a:r>
            <a:endParaRPr lang="en-US" altLang="zh-CN" sz="2400" b="1" dirty="0" smtClean="0">
              <a:solidFill>
                <a:srgbClr val="FF0000"/>
              </a:solidFill>
              <a:ea typeface="隶书" panose="02010509060101010101" pitchFamily="49" charset="-122"/>
            </a:endParaRPr>
          </a:p>
          <a:p>
            <a:pPr marL="0" indent="0">
              <a:buNone/>
            </a:pPr>
            <a:r>
              <a:rPr lang="en-US" altLang="zh-CN" sz="2400" b="1" dirty="0">
                <a:solidFill>
                  <a:srgbClr val="FF0000"/>
                </a:solidFill>
                <a:ea typeface="隶书" panose="02010509060101010101" pitchFamily="49" charset="-122"/>
              </a:rPr>
              <a:t> </a:t>
            </a:r>
            <a:r>
              <a:rPr lang="en-US" altLang="zh-CN" sz="2400" b="1" dirty="0" smtClean="0">
                <a:solidFill>
                  <a:srgbClr val="FF0000"/>
                </a:solidFill>
                <a:ea typeface="隶书" panose="02010509060101010101" pitchFamily="49" charset="-122"/>
              </a:rPr>
              <a:t>     schedule(static,3)</a:t>
            </a:r>
            <a:endParaRPr lang="en-US" altLang="zh-CN" sz="2400" b="1" dirty="0" smtClean="0">
              <a:solidFill>
                <a:srgbClr val="FF0000"/>
              </a:solidFill>
              <a:ea typeface="隶书" panose="02010509060101010101" pitchFamily="49" charset="-122"/>
            </a:endParaRPr>
          </a:p>
          <a:p>
            <a:pPr marL="0" indent="0">
              <a:buNone/>
            </a:pPr>
            <a:r>
              <a:rPr lang="en-US" altLang="zh-CN" sz="2400" b="1" dirty="0">
                <a:ea typeface="隶书" panose="02010509060101010101" pitchFamily="49" charset="-122"/>
              </a:rPr>
              <a:t> </a:t>
            </a:r>
            <a:r>
              <a:rPr lang="en-US" altLang="zh-CN" sz="2400" b="1" dirty="0" smtClean="0">
                <a:ea typeface="隶书" panose="02010509060101010101" pitchFamily="49" charset="-122"/>
              </a:rPr>
              <a:t>      for(k=1; k&lt;=3; k++)</a:t>
            </a:r>
            <a:endParaRPr lang="en-US" altLang="zh-CN" sz="2400" b="1" dirty="0" smtClean="0">
              <a:ea typeface="隶书" panose="02010509060101010101" pitchFamily="49" charset="-122"/>
            </a:endParaRPr>
          </a:p>
          <a:p>
            <a:pPr marL="0" indent="0">
              <a:buNone/>
            </a:pPr>
            <a:r>
              <a:rPr lang="en-US" altLang="zh-CN" sz="2400" b="1" dirty="0">
                <a:ea typeface="隶书" panose="02010509060101010101" pitchFamily="49" charset="-122"/>
              </a:rPr>
              <a:t> </a:t>
            </a:r>
            <a:r>
              <a:rPr lang="en-US" altLang="zh-CN" sz="2400" b="1" dirty="0" smtClean="0">
                <a:ea typeface="隶书" panose="02010509060101010101" pitchFamily="49" charset="-122"/>
              </a:rPr>
              <a:t>            for(j=1; j&lt;=2; </a:t>
            </a:r>
            <a:r>
              <a:rPr lang="en-US" altLang="zh-CN" sz="2400" b="1" dirty="0" err="1" smtClean="0">
                <a:ea typeface="隶书" panose="02010509060101010101" pitchFamily="49" charset="-122"/>
              </a:rPr>
              <a:t>j++</a:t>
            </a:r>
            <a:r>
              <a:rPr lang="en-US" altLang="zh-CN" sz="2400" b="1" dirty="0" smtClean="0">
                <a:ea typeface="隶书" panose="02010509060101010101" pitchFamily="49" charset="-122"/>
              </a:rPr>
              <a:t>)</a:t>
            </a:r>
            <a:endParaRPr lang="en-US" altLang="zh-CN" sz="2400" b="1" dirty="0" smtClean="0">
              <a:ea typeface="隶书" panose="02010509060101010101" pitchFamily="49" charset="-122"/>
            </a:endParaRPr>
          </a:p>
          <a:p>
            <a:pPr marL="0" indent="0">
              <a:buNone/>
            </a:pPr>
            <a:r>
              <a:rPr lang="en-US" altLang="zh-CN" sz="2400" b="1" dirty="0" smtClean="0">
                <a:ea typeface="隶书" panose="02010509060101010101" pitchFamily="49" charset="-122"/>
              </a:rPr>
              <a:t>              { </a:t>
            </a:r>
            <a:r>
              <a:rPr lang="en-US" altLang="zh-CN" sz="2400" b="1" dirty="0" smtClean="0">
                <a:solidFill>
                  <a:srgbClr val="2D0AC2"/>
                </a:solidFill>
                <a:ea typeface="隶书" panose="02010509060101010101" pitchFamily="49" charset="-122"/>
              </a:rPr>
              <a:t>#pragma </a:t>
            </a:r>
            <a:r>
              <a:rPr lang="en-US" altLang="zh-CN" sz="2400" b="1" dirty="0" err="1" smtClean="0">
                <a:solidFill>
                  <a:srgbClr val="2D0AC2"/>
                </a:solidFill>
                <a:ea typeface="隶书" panose="02010509060101010101" pitchFamily="49" charset="-122"/>
              </a:rPr>
              <a:t>omp</a:t>
            </a:r>
            <a:r>
              <a:rPr lang="en-US" altLang="zh-CN" sz="2400" b="1" dirty="0" smtClean="0">
                <a:solidFill>
                  <a:srgbClr val="2D0AC2"/>
                </a:solidFill>
                <a:ea typeface="隶书" panose="02010509060101010101" pitchFamily="49" charset="-122"/>
              </a:rPr>
              <a:t> ordered</a:t>
            </a:r>
            <a:endParaRPr lang="en-US" altLang="zh-CN" sz="2400" b="1" dirty="0" smtClean="0">
              <a:solidFill>
                <a:srgbClr val="2D0AC2"/>
              </a:solidFill>
              <a:ea typeface="隶书" panose="02010509060101010101" pitchFamily="49" charset="-122"/>
            </a:endParaRPr>
          </a:p>
          <a:p>
            <a:pPr marL="0" indent="0">
              <a:buNone/>
            </a:pPr>
            <a:r>
              <a:rPr lang="en-US" altLang="zh-CN" sz="2400" b="1" dirty="0" smtClean="0">
                <a:ea typeface="隶书" panose="02010509060101010101" pitchFamily="49" charset="-122"/>
              </a:rPr>
              <a:t>              </a:t>
            </a:r>
            <a:r>
              <a:rPr lang="en-US" altLang="zh-CN" sz="2400" b="1" dirty="0" err="1" smtClean="0">
                <a:ea typeface="隶书" panose="02010509060101010101" pitchFamily="49" charset="-122"/>
              </a:rPr>
              <a:t>printf</a:t>
            </a:r>
            <a:r>
              <a:rPr lang="en-US" altLang="zh-CN" sz="2400" b="1" dirty="0" smtClean="0">
                <a:ea typeface="隶书" panose="02010509060101010101" pitchFamily="49" charset="-122"/>
              </a:rPr>
              <a:t>(“%d  %d  %d\n”,</a:t>
            </a:r>
            <a:r>
              <a:rPr lang="en-US" altLang="zh-CN" sz="2400" b="1" dirty="0" err="1" smtClean="0">
                <a:ea typeface="隶书" panose="02010509060101010101" pitchFamily="49" charset="-122"/>
              </a:rPr>
              <a:t>omp_get_thread_num</a:t>
            </a:r>
            <a:r>
              <a:rPr lang="en-US" altLang="zh-CN" sz="2400" b="1" dirty="0" smtClean="0">
                <a:ea typeface="隶书" panose="02010509060101010101" pitchFamily="49" charset="-122"/>
              </a:rPr>
              <a:t>(),k, j);</a:t>
            </a:r>
            <a:endParaRPr lang="en-US" altLang="zh-CN" sz="2400" b="1" dirty="0" smtClean="0">
              <a:ea typeface="隶书" panose="02010509060101010101" pitchFamily="49" charset="-122"/>
            </a:endParaRPr>
          </a:p>
          <a:p>
            <a:pPr marL="0" indent="0">
              <a:buNone/>
            </a:pPr>
            <a:r>
              <a:rPr lang="en-US" altLang="zh-CN" sz="2400" b="1" dirty="0">
                <a:ea typeface="隶书" panose="02010509060101010101" pitchFamily="49" charset="-122"/>
              </a:rPr>
              <a:t> </a:t>
            </a:r>
            <a:r>
              <a:rPr lang="en-US" altLang="zh-CN" sz="2400" b="1" dirty="0" smtClean="0">
                <a:ea typeface="隶书" panose="02010509060101010101" pitchFamily="49" charset="-122"/>
              </a:rPr>
              <a:t>                work(</a:t>
            </a:r>
            <a:r>
              <a:rPr lang="en-US" altLang="zh-CN" sz="2400" b="1" dirty="0" err="1" smtClean="0">
                <a:ea typeface="隶书" panose="02010509060101010101" pitchFamily="49" charset="-122"/>
              </a:rPr>
              <a:t>a,j,k</a:t>
            </a:r>
            <a:r>
              <a:rPr lang="en-US" altLang="zh-CN" sz="2400" b="1" dirty="0" smtClean="0">
                <a:ea typeface="隶书" panose="02010509060101010101" pitchFamily="49" charset="-122"/>
              </a:rPr>
              <a:t>);    }</a:t>
            </a:r>
            <a:endParaRPr lang="en-US" altLang="zh-CN" sz="2400" b="1" dirty="0" smtClean="0">
              <a:ea typeface="隶书" panose="02010509060101010101" pitchFamily="49" charset="-122"/>
            </a:endParaRPr>
          </a:p>
          <a:p>
            <a:pPr marL="0" indent="0">
              <a:buNone/>
            </a:pPr>
            <a:r>
              <a:rPr lang="en-US" altLang="zh-CN" sz="2400" b="1" dirty="0">
                <a:ea typeface="隶书" panose="02010509060101010101" pitchFamily="49" charset="-122"/>
              </a:rPr>
              <a:t> </a:t>
            </a:r>
            <a:r>
              <a:rPr lang="en-US" altLang="zh-CN" sz="2400" b="1" dirty="0" smtClean="0">
                <a:ea typeface="隶书" panose="02010509060101010101" pitchFamily="49" charset="-122"/>
              </a:rPr>
              <a:t>   }    </a:t>
            </a:r>
            <a:r>
              <a:rPr lang="en-US" altLang="zh-CN" sz="2800" b="1" dirty="0" smtClean="0">
                <a:ea typeface="隶书" panose="02010509060101010101" pitchFamily="49" charset="-122"/>
              </a:rPr>
              <a:t>}</a:t>
            </a:r>
            <a:endParaRPr lang="en-US" altLang="zh-CN" sz="2800" b="1" dirty="0" smtClean="0">
              <a:ea typeface="隶书" panose="02010509060101010101" pitchFamily="49" charset="-122"/>
            </a:endParaRPr>
          </a:p>
          <a:p>
            <a:pPr marL="0" indent="0">
              <a:lnSpc>
                <a:spcPct val="150000"/>
              </a:lnSpc>
              <a:buNone/>
            </a:pPr>
            <a:r>
              <a:rPr lang="en-US" b="1" dirty="0" smtClean="0">
                <a:solidFill>
                  <a:srgbClr val="2D0AC2"/>
                </a:solidFill>
                <a:ea typeface="隶书" panose="02010509060101010101" pitchFamily="49" charset="-122"/>
              </a:rPr>
              <a:t>         </a:t>
            </a:r>
            <a:endParaRPr lang="en-US" b="1" dirty="0">
              <a:solidFill>
                <a:srgbClr val="2D0AC2"/>
              </a:solidFill>
              <a:ea typeface="隶书" panose="02010509060101010101" pitchFamily="49" charset="-122"/>
            </a:endParaRPr>
          </a:p>
        </p:txBody>
      </p:sp>
      <p:sp>
        <p:nvSpPr>
          <p:cNvPr id="4" name="文本框 3"/>
          <p:cNvSpPr txBox="1"/>
          <p:nvPr/>
        </p:nvSpPr>
        <p:spPr>
          <a:xfrm>
            <a:off x="8201892" y="4037057"/>
            <a:ext cx="1939635" cy="2308324"/>
          </a:xfrm>
          <a:prstGeom prst="rect">
            <a:avLst/>
          </a:prstGeom>
          <a:blipFill>
            <a:blip r:embed="rId1"/>
            <a:tile tx="0" ty="0" sx="100000" sy="100000" flip="none" algn="tl"/>
          </a:blipFill>
        </p:spPr>
        <p:txBody>
          <a:bodyPr wrap="square" rtlCol="0">
            <a:spAutoFit/>
          </a:bodyPr>
          <a:lstStyle/>
          <a:p>
            <a:r>
              <a:rPr lang="en-US" sz="2400" b="1" dirty="0" smtClean="0">
                <a:solidFill>
                  <a:srgbClr val="000000"/>
                </a:solidFill>
              </a:rPr>
              <a:t>     0    1    1</a:t>
            </a:r>
            <a:endParaRPr lang="en-US" sz="2400" b="1" dirty="0" smtClean="0">
              <a:solidFill>
                <a:srgbClr val="000000"/>
              </a:solidFill>
            </a:endParaRPr>
          </a:p>
          <a:p>
            <a:r>
              <a:rPr lang="en-US" sz="2400" b="1" dirty="0">
                <a:solidFill>
                  <a:srgbClr val="000000"/>
                </a:solidFill>
              </a:rPr>
              <a:t> </a:t>
            </a:r>
            <a:r>
              <a:rPr lang="en-US" sz="2400" b="1" dirty="0" smtClean="0">
                <a:solidFill>
                  <a:srgbClr val="000000"/>
                </a:solidFill>
              </a:rPr>
              <a:t>    0    1    2</a:t>
            </a:r>
            <a:endParaRPr lang="en-US" sz="2400" b="1" dirty="0" smtClean="0">
              <a:solidFill>
                <a:srgbClr val="000000"/>
              </a:solidFill>
            </a:endParaRPr>
          </a:p>
          <a:p>
            <a:r>
              <a:rPr lang="en-US" sz="2400" b="1" dirty="0">
                <a:solidFill>
                  <a:srgbClr val="000000"/>
                </a:solidFill>
              </a:rPr>
              <a:t> </a:t>
            </a:r>
            <a:r>
              <a:rPr lang="en-US" sz="2400" b="1" dirty="0" smtClean="0">
                <a:solidFill>
                  <a:srgbClr val="000000"/>
                </a:solidFill>
              </a:rPr>
              <a:t>    0    2    1</a:t>
            </a:r>
            <a:endParaRPr lang="en-US" sz="2400" b="1" dirty="0" smtClean="0">
              <a:solidFill>
                <a:srgbClr val="000000"/>
              </a:solidFill>
            </a:endParaRPr>
          </a:p>
          <a:p>
            <a:r>
              <a:rPr lang="en-US" sz="2400" b="1" dirty="0">
                <a:solidFill>
                  <a:srgbClr val="000000"/>
                </a:solidFill>
              </a:rPr>
              <a:t> </a:t>
            </a:r>
            <a:r>
              <a:rPr lang="en-US" sz="2400" b="1" dirty="0" smtClean="0">
                <a:solidFill>
                  <a:srgbClr val="000000"/>
                </a:solidFill>
              </a:rPr>
              <a:t>    1    2    2</a:t>
            </a:r>
            <a:endParaRPr lang="en-US" sz="2400" b="1" dirty="0" smtClean="0">
              <a:solidFill>
                <a:srgbClr val="000000"/>
              </a:solidFill>
            </a:endParaRPr>
          </a:p>
          <a:p>
            <a:r>
              <a:rPr lang="en-US" sz="2400" b="1" dirty="0">
                <a:solidFill>
                  <a:srgbClr val="000000"/>
                </a:solidFill>
              </a:rPr>
              <a:t> </a:t>
            </a:r>
            <a:r>
              <a:rPr lang="en-US" sz="2400" b="1" dirty="0" smtClean="0">
                <a:solidFill>
                  <a:srgbClr val="000000"/>
                </a:solidFill>
              </a:rPr>
              <a:t>    1    3    1</a:t>
            </a:r>
            <a:endParaRPr lang="en-US" sz="2400" b="1" dirty="0" smtClean="0">
              <a:solidFill>
                <a:srgbClr val="000000"/>
              </a:solidFill>
            </a:endParaRPr>
          </a:p>
          <a:p>
            <a:r>
              <a:rPr lang="en-US" sz="2400" b="1" dirty="0">
                <a:solidFill>
                  <a:srgbClr val="000000"/>
                </a:solidFill>
              </a:rPr>
              <a:t> </a:t>
            </a:r>
            <a:r>
              <a:rPr lang="en-US" sz="2400" b="1" dirty="0" smtClean="0">
                <a:solidFill>
                  <a:srgbClr val="000000"/>
                </a:solidFill>
              </a:rPr>
              <a:t>    1    3    2</a:t>
            </a:r>
            <a:endParaRPr lang="en-US" sz="2400" b="1" dirty="0">
              <a:solidFill>
                <a:srgbClr val="000000"/>
              </a:solidFill>
            </a:endParaRPr>
          </a:p>
        </p:txBody>
      </p:sp>
      <p:sp>
        <p:nvSpPr>
          <p:cNvPr id="2" name="文本框 1"/>
          <p:cNvSpPr txBox="1"/>
          <p:nvPr/>
        </p:nvSpPr>
        <p:spPr>
          <a:xfrm>
            <a:off x="7364714" y="1124263"/>
            <a:ext cx="4467068" cy="2677656"/>
          </a:xfrm>
          <a:prstGeom prst="rect">
            <a:avLst/>
          </a:prstGeom>
          <a:blipFill>
            <a:blip r:embed="rId2"/>
            <a:tile tx="0" ty="0" sx="100000" sy="100000" flip="none" algn="tl"/>
          </a:blipFill>
        </p:spPr>
        <p:txBody>
          <a:bodyPr wrap="square" rtlCol="0">
            <a:spAutoFit/>
          </a:bodyPr>
          <a:lstStyle/>
          <a:p>
            <a:pPr>
              <a:lnSpc>
                <a:spcPct val="150000"/>
              </a:lnSpc>
            </a:pPr>
            <a:r>
              <a:rPr lang="en-US" sz="2800" b="1" dirty="0"/>
              <a:t>c</a:t>
            </a:r>
            <a:r>
              <a:rPr lang="en-US" sz="2800" b="1" dirty="0" smtClean="0"/>
              <a:t>ollapse</a:t>
            </a:r>
            <a:r>
              <a:rPr lang="zh-CN" altLang="en-US" sz="2800" b="1" dirty="0" smtClean="0"/>
              <a:t>子句必须和</a:t>
            </a:r>
            <a:r>
              <a:rPr lang="en-US" altLang="zh-CN" sz="2800" b="1" dirty="0" smtClean="0"/>
              <a:t>ordered</a:t>
            </a:r>
            <a:r>
              <a:rPr lang="zh-CN" altLang="en-US" sz="2800" b="1" dirty="0" smtClean="0"/>
              <a:t>子句联合使用，否则将无法保证一个迭代只能执行一个</a:t>
            </a:r>
            <a:r>
              <a:rPr lang="en-US" altLang="zh-CN" sz="2800" b="1" dirty="0" smtClean="0"/>
              <a:t>ordered</a:t>
            </a:r>
            <a:r>
              <a:rPr lang="zh-CN" altLang="en-US" sz="2800" b="1" dirty="0" smtClean="0"/>
              <a:t>区域。</a:t>
            </a:r>
            <a:endParaRPr lang="en-US" sz="2800" b="1" dirty="0"/>
          </a:p>
        </p:txBody>
      </p:sp>
    </p:spTree>
  </p:cSld>
  <p:clrMapOvr>
    <a:masterClrMapping/>
  </p:clrMapOvr>
  <p:transition spd="med" advTm="3025">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84910" y="630383"/>
            <a:ext cx="10972800" cy="4525963"/>
          </a:xfrm>
        </p:spPr>
        <p:txBody>
          <a:bodyPr/>
          <a:lstStyle/>
          <a:p>
            <a:pPr marL="0" indent="0" algn="ctr">
              <a:buNone/>
            </a:pPr>
            <a:r>
              <a:rPr lang="en-US" altLang="zh-CN" sz="4800" b="1" dirty="0" smtClean="0">
                <a:solidFill>
                  <a:srgbClr val="2D0AC2"/>
                </a:solidFill>
                <a:ea typeface="隶书" panose="02010509060101010101" pitchFamily="49" charset="-122"/>
              </a:rPr>
              <a:t>Tasking</a:t>
            </a:r>
            <a:r>
              <a:rPr lang="zh-CN" altLang="en-US" sz="4800" b="1" dirty="0" smtClean="0">
                <a:solidFill>
                  <a:srgbClr val="2D0AC2"/>
                </a:solidFill>
                <a:ea typeface="隶书" panose="02010509060101010101" pitchFamily="49" charset="-122"/>
              </a:rPr>
              <a:t>结构</a:t>
            </a:r>
            <a:endParaRPr lang="en-US" altLang="zh-CN" b="1" dirty="0" smtClean="0">
              <a:solidFill>
                <a:srgbClr val="2D0AC2"/>
              </a:solidFill>
              <a:ea typeface="隶书" panose="02010509060101010101" pitchFamily="49" charset="-122"/>
            </a:endParaRPr>
          </a:p>
          <a:p>
            <a:pPr marL="0" indent="0">
              <a:lnSpc>
                <a:spcPct val="150000"/>
              </a:lnSpc>
              <a:buNone/>
            </a:pPr>
            <a:r>
              <a:rPr lang="zh-CN" altLang="en-US" b="1" dirty="0" smtClean="0">
                <a:solidFill>
                  <a:srgbClr val="2D0AC2"/>
                </a:solidFill>
                <a:latin typeface="华文新魏" panose="02010800040101010101" pitchFamily="2" charset="-122"/>
                <a:ea typeface="华文新魏" panose="02010800040101010101" pitchFamily="2" charset="-122"/>
              </a:rPr>
              <a:t>        为了方便有效地控制复杂的并行程序，如递归函数等，</a:t>
            </a:r>
            <a:r>
              <a:rPr lang="en-US" altLang="zh-CN" b="1" dirty="0" smtClean="0">
                <a:solidFill>
                  <a:srgbClr val="2D0AC2"/>
                </a:solidFill>
                <a:latin typeface="华文新魏" panose="02010800040101010101" pitchFamily="2" charset="-122"/>
                <a:ea typeface="华文新魏" panose="02010800040101010101" pitchFamily="2" charset="-122"/>
              </a:rPr>
              <a:t>OpenMP</a:t>
            </a:r>
            <a:r>
              <a:rPr lang="zh-CN" altLang="en-US" b="1" dirty="0" smtClean="0">
                <a:solidFill>
                  <a:srgbClr val="2D0AC2"/>
                </a:solidFill>
                <a:latin typeface="华文新魏" panose="02010800040101010101" pitchFamily="2" charset="-122"/>
                <a:ea typeface="华文新魏" panose="02010800040101010101" pitchFamily="2" charset="-122"/>
              </a:rPr>
              <a:t>提供了</a:t>
            </a:r>
            <a:r>
              <a:rPr lang="en-US" altLang="zh-CN" b="1" dirty="0" smtClean="0">
                <a:solidFill>
                  <a:srgbClr val="2D0AC2"/>
                </a:solidFill>
                <a:latin typeface="华文新魏" panose="02010800040101010101" pitchFamily="2" charset="-122"/>
                <a:ea typeface="华文新魏" panose="02010800040101010101" pitchFamily="2" charset="-122"/>
              </a:rPr>
              <a:t>task</a:t>
            </a:r>
            <a:r>
              <a:rPr lang="zh-CN" altLang="en-US" b="1" dirty="0" smtClean="0">
                <a:solidFill>
                  <a:srgbClr val="2D0AC2"/>
                </a:solidFill>
                <a:latin typeface="华文新魏" panose="02010800040101010101" pitchFamily="2" charset="-122"/>
                <a:ea typeface="华文新魏" panose="02010800040101010101" pitchFamily="2" charset="-122"/>
              </a:rPr>
              <a:t>结构、</a:t>
            </a:r>
            <a:r>
              <a:rPr lang="en-US" altLang="zh-CN" b="1" dirty="0" smtClean="0">
                <a:solidFill>
                  <a:srgbClr val="2D0AC2"/>
                </a:solidFill>
                <a:latin typeface="华文新魏" panose="02010800040101010101" pitchFamily="2" charset="-122"/>
                <a:ea typeface="华文新魏" panose="02010800040101010101" pitchFamily="2" charset="-122"/>
              </a:rPr>
              <a:t>taskwait</a:t>
            </a:r>
            <a:r>
              <a:rPr lang="zh-CN" altLang="en-US" b="1" dirty="0" smtClean="0">
                <a:solidFill>
                  <a:srgbClr val="2D0AC2"/>
                </a:solidFill>
                <a:latin typeface="华文新魏" panose="02010800040101010101" pitchFamily="2" charset="-122"/>
                <a:ea typeface="华文新魏" panose="02010800040101010101" pitchFamily="2" charset="-122"/>
              </a:rPr>
              <a:t>结构、</a:t>
            </a:r>
            <a:r>
              <a:rPr lang="en-US" altLang="zh-CN" b="1" dirty="0" smtClean="0">
                <a:solidFill>
                  <a:srgbClr val="2D0AC2"/>
                </a:solidFill>
                <a:latin typeface="华文新魏" panose="02010800040101010101" pitchFamily="2" charset="-122"/>
                <a:ea typeface="华文新魏" panose="02010800040101010101" pitchFamily="2" charset="-122"/>
              </a:rPr>
              <a:t>taskyield</a:t>
            </a:r>
            <a:r>
              <a:rPr lang="zh-CN" altLang="en-US" b="1" dirty="0" smtClean="0">
                <a:solidFill>
                  <a:srgbClr val="2D0AC2"/>
                </a:solidFill>
                <a:latin typeface="华文新魏" panose="02010800040101010101" pitchFamily="2" charset="-122"/>
                <a:ea typeface="华文新魏" panose="02010800040101010101" pitchFamily="2" charset="-122"/>
              </a:rPr>
              <a:t>结构和任务调度。</a:t>
            </a:r>
            <a:endParaRPr lang="en-US" altLang="zh-CN" b="1" dirty="0" smtClean="0">
              <a:solidFill>
                <a:srgbClr val="2D0AC2"/>
              </a:solidFill>
              <a:latin typeface="华文新魏" panose="02010800040101010101" pitchFamily="2" charset="-122"/>
              <a:ea typeface="华文新魏" panose="02010800040101010101" pitchFamily="2" charset="-122"/>
            </a:endParaRPr>
          </a:p>
          <a:p>
            <a:pPr marL="0" indent="0">
              <a:lnSpc>
                <a:spcPct val="150000"/>
              </a:lnSpc>
              <a:buNone/>
            </a:pPr>
            <a:r>
              <a:rPr lang="zh-CN" altLang="en-US" b="1" dirty="0" smtClean="0">
                <a:solidFill>
                  <a:srgbClr val="2D0AC2"/>
                </a:solidFill>
                <a:latin typeface="华文新魏" panose="02010800040101010101" pitchFamily="2" charset="-122"/>
                <a:ea typeface="华文新魏" panose="02010800040101010101" pitchFamily="2" charset="-122"/>
              </a:rPr>
              <a:t>       当线程遇到</a:t>
            </a:r>
            <a:r>
              <a:rPr lang="en-US" altLang="zh-CN" b="1" dirty="0" smtClean="0">
                <a:solidFill>
                  <a:srgbClr val="2D0AC2"/>
                </a:solidFill>
                <a:latin typeface="华文新魏" panose="02010800040101010101" pitchFamily="2" charset="-122"/>
                <a:ea typeface="华文新魏" panose="02010800040101010101" pitchFamily="2" charset="-122"/>
              </a:rPr>
              <a:t>task</a:t>
            </a:r>
            <a:r>
              <a:rPr lang="zh-CN" altLang="en-US" b="1" dirty="0" smtClean="0">
                <a:solidFill>
                  <a:srgbClr val="2D0AC2"/>
                </a:solidFill>
                <a:latin typeface="华文新魏" panose="02010800040101010101" pitchFamily="2" charset="-122"/>
                <a:ea typeface="华文新魏" panose="02010800040101010101" pitchFamily="2" charset="-122"/>
              </a:rPr>
              <a:t>结构时，显示任务被生成。该任务可以立即被执行，也可以被挂起并推迟执行。</a:t>
            </a:r>
            <a:endParaRPr lang="en-US" b="1" dirty="0">
              <a:solidFill>
                <a:srgbClr val="2D0AC2"/>
              </a:solidFill>
              <a:latin typeface="华文新魏" panose="02010800040101010101" pitchFamily="2" charset="-122"/>
              <a:ea typeface="华文新魏" panose="02010800040101010101" pitchFamily="2" charset="-122"/>
            </a:endParaRPr>
          </a:p>
        </p:txBody>
      </p:sp>
    </p:spTree>
  </p:cSld>
  <p:clrMapOvr>
    <a:masterClrMapping/>
  </p:clrMapOvr>
  <p:transition spd="med" advTm="3025">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84910" y="267892"/>
            <a:ext cx="11346872" cy="6102928"/>
          </a:xfrm>
        </p:spPr>
        <p:txBody>
          <a:bodyPr/>
          <a:lstStyle/>
          <a:p>
            <a:pPr marL="0" indent="0" algn="ctr">
              <a:buNone/>
            </a:pPr>
            <a:r>
              <a:rPr lang="en-US" altLang="zh-CN" sz="4400" b="1" dirty="0" smtClean="0">
                <a:solidFill>
                  <a:srgbClr val="2D0AC2"/>
                </a:solidFill>
                <a:ea typeface="隶书" panose="02010509060101010101" pitchFamily="49" charset="-122"/>
              </a:rPr>
              <a:t>task</a:t>
            </a:r>
            <a:r>
              <a:rPr lang="zh-CN" altLang="en-US" sz="4400" b="1" dirty="0" smtClean="0">
                <a:solidFill>
                  <a:srgbClr val="2D0AC2"/>
                </a:solidFill>
                <a:ea typeface="隶书" panose="02010509060101010101" pitchFamily="49" charset="-122"/>
              </a:rPr>
              <a:t>结构</a:t>
            </a:r>
            <a:endParaRPr lang="en-US" altLang="zh-CN" sz="4400" b="1" dirty="0" smtClean="0">
              <a:solidFill>
                <a:srgbClr val="2D0AC2"/>
              </a:solidFill>
              <a:ea typeface="隶书" panose="02010509060101010101" pitchFamily="49" charset="-122"/>
            </a:endParaRPr>
          </a:p>
          <a:p>
            <a:pPr marL="0" indent="0">
              <a:buNone/>
            </a:pPr>
            <a:r>
              <a:rPr lang="en-US" sz="2400" b="1" dirty="0" err="1">
                <a:ea typeface="隶书" panose="02010509060101010101" pitchFamily="49" charset="-122"/>
              </a:rPr>
              <a:t>s</a:t>
            </a:r>
            <a:r>
              <a:rPr lang="en-US" sz="2400" b="1" dirty="0" err="1" smtClean="0">
                <a:ea typeface="隶书" panose="02010509060101010101" pitchFamily="49" charset="-122"/>
              </a:rPr>
              <a:t>truct</a:t>
            </a:r>
            <a:r>
              <a:rPr lang="en-US" sz="2400" b="1" dirty="0" smtClean="0">
                <a:ea typeface="隶书" panose="02010509060101010101" pitchFamily="49" charset="-122"/>
              </a:rPr>
              <a:t> node {</a:t>
            </a:r>
            <a:endParaRPr lang="en-US" sz="2400" b="1" dirty="0" smtClean="0">
              <a:ea typeface="隶书" panose="02010509060101010101" pitchFamily="49" charset="-122"/>
            </a:endParaRPr>
          </a:p>
          <a:p>
            <a:pPr marL="0" indent="0">
              <a:buNone/>
            </a:pPr>
            <a:r>
              <a:rPr lang="en-US" sz="2400" b="1" dirty="0">
                <a:ea typeface="隶书" panose="02010509060101010101" pitchFamily="49" charset="-122"/>
              </a:rPr>
              <a:t> </a:t>
            </a:r>
            <a:r>
              <a:rPr lang="en-US" sz="2400" b="1" dirty="0" smtClean="0">
                <a:ea typeface="隶书" panose="02010509060101010101" pitchFamily="49" charset="-122"/>
              </a:rPr>
              <a:t> </a:t>
            </a:r>
            <a:r>
              <a:rPr lang="en-US" sz="2400" b="1" dirty="0" err="1" smtClean="0">
                <a:ea typeface="隶书" panose="02010509060101010101" pitchFamily="49" charset="-122"/>
              </a:rPr>
              <a:t>struct</a:t>
            </a:r>
            <a:r>
              <a:rPr lang="en-US" sz="2400" b="1" dirty="0" smtClean="0">
                <a:ea typeface="隶书" panose="02010509060101010101" pitchFamily="49" charset="-122"/>
              </a:rPr>
              <a:t> node *left;</a:t>
            </a:r>
            <a:endParaRPr lang="en-US" sz="2400" b="1" dirty="0" smtClean="0">
              <a:ea typeface="隶书" panose="02010509060101010101" pitchFamily="49" charset="-122"/>
            </a:endParaRPr>
          </a:p>
          <a:p>
            <a:pPr marL="0" indent="0">
              <a:buNone/>
            </a:pPr>
            <a:r>
              <a:rPr lang="en-US" sz="2400" b="1" dirty="0" err="1">
                <a:ea typeface="隶书" panose="02010509060101010101" pitchFamily="49" charset="-122"/>
              </a:rPr>
              <a:t>s</a:t>
            </a:r>
            <a:r>
              <a:rPr lang="en-US" sz="2400" b="1" dirty="0" err="1" smtClean="0">
                <a:ea typeface="隶书" panose="02010509060101010101" pitchFamily="49" charset="-122"/>
              </a:rPr>
              <a:t>truct</a:t>
            </a:r>
            <a:r>
              <a:rPr lang="en-US" sz="2400" b="1" dirty="0" smtClean="0">
                <a:ea typeface="隶书" panose="02010509060101010101" pitchFamily="49" charset="-122"/>
              </a:rPr>
              <a:t> node *right;    };</a:t>
            </a:r>
            <a:endParaRPr lang="en-US" sz="2400" b="1" dirty="0" smtClean="0">
              <a:ea typeface="隶书" panose="02010509060101010101" pitchFamily="49" charset="-122"/>
            </a:endParaRPr>
          </a:p>
          <a:p>
            <a:pPr marL="0" indent="0">
              <a:buNone/>
            </a:pPr>
            <a:r>
              <a:rPr lang="en-US" sz="2400" b="1" dirty="0">
                <a:ea typeface="隶书" panose="02010509060101010101" pitchFamily="49" charset="-122"/>
              </a:rPr>
              <a:t>e</a:t>
            </a:r>
            <a:r>
              <a:rPr lang="en-US" sz="2400" b="1" dirty="0" smtClean="0">
                <a:ea typeface="隶书" panose="02010509060101010101" pitchFamily="49" charset="-122"/>
              </a:rPr>
              <a:t>xtern void process(</a:t>
            </a:r>
            <a:r>
              <a:rPr lang="en-US" sz="2400" b="1" dirty="0" err="1" smtClean="0">
                <a:ea typeface="隶书" panose="02010509060101010101" pitchFamily="49" charset="-122"/>
              </a:rPr>
              <a:t>struct</a:t>
            </a:r>
            <a:r>
              <a:rPr lang="en-US" sz="2400" b="1" dirty="0" smtClean="0">
                <a:ea typeface="隶书" panose="02010509060101010101" pitchFamily="49" charset="-122"/>
              </a:rPr>
              <a:t> node*);    </a:t>
            </a:r>
            <a:endParaRPr lang="en-US" sz="2400" b="1" dirty="0" smtClean="0">
              <a:ea typeface="隶书" panose="02010509060101010101" pitchFamily="49" charset="-122"/>
            </a:endParaRPr>
          </a:p>
          <a:p>
            <a:pPr marL="0" indent="0">
              <a:buNone/>
            </a:pPr>
            <a:r>
              <a:rPr lang="en-US" sz="2400" b="1" dirty="0">
                <a:ea typeface="隶书" panose="02010509060101010101" pitchFamily="49" charset="-122"/>
              </a:rPr>
              <a:t>v</a:t>
            </a:r>
            <a:r>
              <a:rPr lang="en-US" sz="2400" b="1" dirty="0" smtClean="0">
                <a:ea typeface="隶书" panose="02010509060101010101" pitchFamily="49" charset="-122"/>
              </a:rPr>
              <a:t>oid traverse(</a:t>
            </a:r>
            <a:r>
              <a:rPr lang="en-US" sz="2400" b="1" dirty="0" err="1" smtClean="0">
                <a:ea typeface="隶书" panose="02010509060101010101" pitchFamily="49" charset="-122"/>
              </a:rPr>
              <a:t>struct</a:t>
            </a:r>
            <a:r>
              <a:rPr lang="en-US" sz="2400" b="1" dirty="0" smtClean="0">
                <a:ea typeface="隶书" panose="02010509060101010101" pitchFamily="49" charset="-122"/>
              </a:rPr>
              <a:t> node*p)</a:t>
            </a:r>
            <a:endParaRPr lang="en-US" sz="2400" b="1" dirty="0" smtClean="0">
              <a:ea typeface="隶书" panose="02010509060101010101" pitchFamily="49" charset="-122"/>
            </a:endParaRPr>
          </a:p>
          <a:p>
            <a:pPr marL="0" indent="0">
              <a:buNone/>
            </a:pPr>
            <a:r>
              <a:rPr lang="en-US" sz="2400" b="1" dirty="0" smtClean="0">
                <a:ea typeface="隶书" panose="02010509060101010101" pitchFamily="49" charset="-122"/>
              </a:rPr>
              <a:t>{ if(p-&gt;left)</a:t>
            </a:r>
            <a:endParaRPr lang="en-US" sz="2400" b="1" dirty="0" smtClean="0">
              <a:ea typeface="隶书" panose="02010509060101010101" pitchFamily="49" charset="-122"/>
            </a:endParaRPr>
          </a:p>
          <a:p>
            <a:pPr marL="0" indent="0">
              <a:buNone/>
            </a:pPr>
            <a:r>
              <a:rPr lang="en-US" sz="2400" b="1" dirty="0">
                <a:solidFill>
                  <a:srgbClr val="2D0AC2"/>
                </a:solidFill>
                <a:ea typeface="隶书" panose="02010509060101010101" pitchFamily="49" charset="-122"/>
              </a:rPr>
              <a:t> </a:t>
            </a:r>
            <a:r>
              <a:rPr lang="en-US" sz="2400" b="1" dirty="0" smtClean="0">
                <a:solidFill>
                  <a:srgbClr val="2D0AC2"/>
                </a:solidFill>
                <a:ea typeface="隶书" panose="02010509060101010101" pitchFamily="49" charset="-122"/>
              </a:rPr>
              <a:t>      #pragma </a:t>
            </a:r>
            <a:r>
              <a:rPr lang="en-US" sz="2400" b="1" dirty="0" err="1" smtClean="0">
                <a:solidFill>
                  <a:srgbClr val="2D0AC2"/>
                </a:solidFill>
                <a:ea typeface="隶书" panose="02010509060101010101" pitchFamily="49" charset="-122"/>
              </a:rPr>
              <a:t>omp</a:t>
            </a:r>
            <a:r>
              <a:rPr lang="en-US" sz="2400" b="1" dirty="0" smtClean="0">
                <a:solidFill>
                  <a:srgbClr val="2D0AC2"/>
                </a:solidFill>
                <a:ea typeface="隶书" panose="02010509060101010101" pitchFamily="49" charset="-122"/>
              </a:rPr>
              <a:t> task</a:t>
            </a:r>
            <a:endParaRPr lang="en-US" sz="2400" b="1" dirty="0" smtClean="0">
              <a:solidFill>
                <a:srgbClr val="2D0AC2"/>
              </a:solidFill>
              <a:ea typeface="隶书" panose="02010509060101010101" pitchFamily="49" charset="-122"/>
            </a:endParaRPr>
          </a:p>
          <a:p>
            <a:pPr marL="0" indent="0">
              <a:buNone/>
            </a:pPr>
            <a:r>
              <a:rPr lang="en-US" sz="2400" b="1" dirty="0">
                <a:ea typeface="隶书" panose="02010509060101010101" pitchFamily="49" charset="-122"/>
              </a:rPr>
              <a:t> </a:t>
            </a:r>
            <a:r>
              <a:rPr lang="en-US" sz="2400" b="1" dirty="0" smtClean="0">
                <a:ea typeface="隶书" panose="02010509060101010101" pitchFamily="49" charset="-122"/>
              </a:rPr>
              <a:t>         </a:t>
            </a:r>
            <a:r>
              <a:rPr lang="en-US" sz="2400" b="1" dirty="0" smtClean="0">
                <a:solidFill>
                  <a:srgbClr val="6A247A"/>
                </a:solidFill>
                <a:ea typeface="隶书" panose="02010509060101010101" pitchFamily="49" charset="-122"/>
              </a:rPr>
              <a:t>traverse(p-&gt;left);</a:t>
            </a:r>
            <a:endParaRPr lang="en-US" sz="2400" b="1" dirty="0" smtClean="0">
              <a:solidFill>
                <a:srgbClr val="6A247A"/>
              </a:solidFill>
              <a:ea typeface="隶书" panose="02010509060101010101" pitchFamily="49" charset="-122"/>
            </a:endParaRPr>
          </a:p>
          <a:p>
            <a:pPr marL="0" indent="0">
              <a:buNone/>
            </a:pPr>
            <a:r>
              <a:rPr lang="en-US" sz="2400" b="1" dirty="0">
                <a:ea typeface="隶书" panose="02010509060101010101" pitchFamily="49" charset="-122"/>
              </a:rPr>
              <a:t>   </a:t>
            </a:r>
            <a:r>
              <a:rPr lang="en-US" sz="2400" b="1" dirty="0" smtClean="0">
                <a:ea typeface="隶书" panose="02010509060101010101" pitchFamily="49" charset="-122"/>
              </a:rPr>
              <a:t>if(p-&gt;right)</a:t>
            </a:r>
            <a:endParaRPr lang="en-US" sz="2400" b="1" dirty="0">
              <a:ea typeface="隶书" panose="02010509060101010101" pitchFamily="49" charset="-122"/>
            </a:endParaRPr>
          </a:p>
          <a:p>
            <a:pPr marL="0" indent="0">
              <a:buNone/>
            </a:pPr>
            <a:r>
              <a:rPr lang="en-US" sz="2400" b="1" dirty="0">
                <a:solidFill>
                  <a:srgbClr val="2D0AC2"/>
                </a:solidFill>
                <a:ea typeface="隶书" panose="02010509060101010101" pitchFamily="49" charset="-122"/>
              </a:rPr>
              <a:t>    </a:t>
            </a:r>
            <a:r>
              <a:rPr lang="en-US" sz="2400" b="1" dirty="0" smtClean="0">
                <a:solidFill>
                  <a:srgbClr val="2D0AC2"/>
                </a:solidFill>
                <a:ea typeface="隶书" panose="02010509060101010101" pitchFamily="49" charset="-122"/>
              </a:rPr>
              <a:t>   #</a:t>
            </a:r>
            <a:r>
              <a:rPr lang="en-US" sz="2400" b="1" dirty="0">
                <a:solidFill>
                  <a:srgbClr val="2D0AC2"/>
                </a:solidFill>
                <a:ea typeface="隶书" panose="02010509060101010101" pitchFamily="49" charset="-122"/>
              </a:rPr>
              <a:t>pragma </a:t>
            </a:r>
            <a:r>
              <a:rPr lang="en-US" sz="2400" b="1" dirty="0" err="1">
                <a:solidFill>
                  <a:srgbClr val="2D0AC2"/>
                </a:solidFill>
                <a:ea typeface="隶书" panose="02010509060101010101" pitchFamily="49" charset="-122"/>
              </a:rPr>
              <a:t>omp</a:t>
            </a:r>
            <a:r>
              <a:rPr lang="en-US" sz="2400" b="1" dirty="0">
                <a:solidFill>
                  <a:srgbClr val="2D0AC2"/>
                </a:solidFill>
                <a:ea typeface="隶书" panose="02010509060101010101" pitchFamily="49" charset="-122"/>
              </a:rPr>
              <a:t> task</a:t>
            </a:r>
            <a:endParaRPr lang="en-US" sz="2400" b="1" dirty="0">
              <a:solidFill>
                <a:srgbClr val="2D0AC2"/>
              </a:solidFill>
              <a:ea typeface="隶书" panose="02010509060101010101" pitchFamily="49" charset="-122"/>
            </a:endParaRPr>
          </a:p>
          <a:p>
            <a:pPr marL="0" indent="0">
              <a:buNone/>
            </a:pPr>
            <a:r>
              <a:rPr lang="en-US" sz="2400" b="1" dirty="0">
                <a:solidFill>
                  <a:srgbClr val="6A247A"/>
                </a:solidFill>
                <a:ea typeface="隶书" panose="02010509060101010101" pitchFamily="49" charset="-122"/>
              </a:rPr>
              <a:t>          traverse(p-</a:t>
            </a:r>
            <a:r>
              <a:rPr lang="en-US" sz="2400" b="1" dirty="0" smtClean="0">
                <a:solidFill>
                  <a:srgbClr val="6A247A"/>
                </a:solidFill>
                <a:ea typeface="隶书" panose="02010509060101010101" pitchFamily="49" charset="-122"/>
              </a:rPr>
              <a:t>&gt;right);</a:t>
            </a:r>
            <a:endParaRPr lang="en-US" sz="2400" b="1" dirty="0" smtClean="0">
              <a:solidFill>
                <a:srgbClr val="6A247A"/>
              </a:solidFill>
              <a:ea typeface="隶书" panose="02010509060101010101" pitchFamily="49" charset="-122"/>
            </a:endParaRPr>
          </a:p>
          <a:p>
            <a:pPr marL="0" indent="0">
              <a:buNone/>
            </a:pPr>
            <a:r>
              <a:rPr lang="en-US" sz="2400" b="1" dirty="0">
                <a:ea typeface="隶书" panose="02010509060101010101" pitchFamily="49" charset="-122"/>
              </a:rPr>
              <a:t> </a:t>
            </a:r>
            <a:r>
              <a:rPr lang="en-US" sz="2400" b="1" dirty="0" smtClean="0">
                <a:ea typeface="隶书" panose="02010509060101010101" pitchFamily="49" charset="-122"/>
              </a:rPr>
              <a:t>  process(p);                           }</a:t>
            </a:r>
            <a:endParaRPr lang="en-US" sz="2400" b="1" dirty="0" smtClean="0">
              <a:ea typeface="隶书" panose="02010509060101010101" pitchFamily="49" charset="-122"/>
            </a:endParaRPr>
          </a:p>
          <a:p>
            <a:pPr marL="0" indent="0">
              <a:buNone/>
            </a:pPr>
            <a:r>
              <a:rPr lang="en-US" sz="2400" b="1" dirty="0">
                <a:solidFill>
                  <a:srgbClr val="2D0AC2"/>
                </a:solidFill>
                <a:ea typeface="隶书" panose="02010509060101010101" pitchFamily="49" charset="-122"/>
              </a:rPr>
              <a:t> </a:t>
            </a:r>
            <a:r>
              <a:rPr lang="en-US" sz="2400" b="1" dirty="0" smtClean="0">
                <a:solidFill>
                  <a:srgbClr val="2D0AC2"/>
                </a:solidFill>
                <a:ea typeface="隶书" panose="02010509060101010101" pitchFamily="49" charset="-122"/>
              </a:rPr>
              <a:t>   </a:t>
            </a:r>
            <a:endParaRPr lang="en-US" sz="2400" b="1" dirty="0">
              <a:solidFill>
                <a:srgbClr val="2D0AC2"/>
              </a:solidFill>
              <a:ea typeface="隶书" panose="02010509060101010101" pitchFamily="49" charset="-122"/>
            </a:endParaRPr>
          </a:p>
          <a:p>
            <a:pPr marL="0" indent="0">
              <a:buNone/>
            </a:pPr>
            <a:r>
              <a:rPr lang="en-US" sz="2400" b="1" dirty="0">
                <a:solidFill>
                  <a:srgbClr val="2D0AC2"/>
                </a:solidFill>
                <a:ea typeface="隶书" panose="02010509060101010101" pitchFamily="49" charset="-122"/>
              </a:rPr>
              <a:t> </a:t>
            </a:r>
            <a:endParaRPr lang="en-US" sz="2400" b="1" dirty="0">
              <a:solidFill>
                <a:srgbClr val="2D0AC2"/>
              </a:solidFill>
              <a:ea typeface="隶书" panose="02010509060101010101" pitchFamily="49" charset="-122"/>
            </a:endParaRPr>
          </a:p>
        </p:txBody>
      </p:sp>
      <p:sp>
        <p:nvSpPr>
          <p:cNvPr id="4" name="文本框 3"/>
          <p:cNvSpPr txBox="1"/>
          <p:nvPr/>
        </p:nvSpPr>
        <p:spPr>
          <a:xfrm>
            <a:off x="6634965" y="1158104"/>
            <a:ext cx="4447309" cy="3046988"/>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pPr>
              <a:lnSpc>
                <a:spcPct val="150000"/>
              </a:lnSpc>
            </a:pPr>
            <a:r>
              <a:rPr lang="en-US" sz="3200" b="1" dirty="0" smtClean="0">
                <a:solidFill>
                  <a:srgbClr val="000000"/>
                </a:solidFill>
              </a:rPr>
              <a:t>     </a:t>
            </a:r>
            <a:r>
              <a:rPr lang="zh-CN" altLang="en-US" sz="3200" b="1" dirty="0" smtClean="0">
                <a:solidFill>
                  <a:srgbClr val="000000"/>
                </a:solidFill>
                <a:latin typeface="华文新魏" panose="02010800040101010101" pitchFamily="2" charset="-122"/>
                <a:ea typeface="华文新魏" panose="02010800040101010101" pitchFamily="2" charset="-122"/>
              </a:rPr>
              <a:t>程序实现对树结构的遍历，由于没有同步语句，因此任务的执行是</a:t>
            </a:r>
            <a:r>
              <a:rPr lang="zh-CN" altLang="en-US" sz="3200" b="1" dirty="0" smtClean="0">
                <a:solidFill>
                  <a:srgbClr val="C00000"/>
                </a:solidFill>
                <a:latin typeface="华文新魏" panose="02010800040101010101" pitchFamily="2" charset="-122"/>
                <a:ea typeface="华文新魏" panose="02010800040101010101" pitchFamily="2" charset="-122"/>
              </a:rPr>
              <a:t>无序的</a:t>
            </a:r>
            <a:r>
              <a:rPr lang="zh-CN" altLang="en-US" sz="3200" b="1" dirty="0" smtClean="0">
                <a:solidFill>
                  <a:srgbClr val="000000"/>
                </a:solidFill>
                <a:latin typeface="华文新魏" panose="02010800040101010101" pitchFamily="2" charset="-122"/>
                <a:ea typeface="华文新魏" panose="02010800040101010101" pitchFamily="2" charset="-122"/>
              </a:rPr>
              <a:t>。</a:t>
            </a:r>
            <a:endParaRPr lang="en-US" sz="3200" b="1" dirty="0">
              <a:solidFill>
                <a:srgbClr val="000000"/>
              </a:solidFill>
              <a:latin typeface="华文新魏" panose="02010800040101010101" pitchFamily="2" charset="-122"/>
              <a:ea typeface="华文新魏" panose="02010800040101010101" pitchFamily="2" charset="-122"/>
            </a:endParaRPr>
          </a:p>
        </p:txBody>
      </p:sp>
    </p:spTree>
  </p:cSld>
  <p:clrMapOvr>
    <a:masterClrMapping/>
  </p:clrMapOvr>
  <p:transition spd="med" advTm="3025">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29880" y="537437"/>
            <a:ext cx="4821608" cy="5773422"/>
          </a:xfrm>
        </p:spPr>
        <p:txBody>
          <a:bodyPr/>
          <a:lstStyle/>
          <a:p>
            <a:pPr marL="0" indent="0">
              <a:buNone/>
            </a:pPr>
            <a:r>
              <a:rPr lang="en-US" sz="2400" b="1" dirty="0" err="1" smtClean="0">
                <a:ea typeface="隶书" panose="02010509060101010101" pitchFamily="49" charset="-122"/>
              </a:rPr>
              <a:t>struct</a:t>
            </a:r>
            <a:r>
              <a:rPr lang="en-US" sz="2400" b="1" dirty="0" smtClean="0">
                <a:ea typeface="隶书" panose="02010509060101010101" pitchFamily="49" charset="-122"/>
              </a:rPr>
              <a:t> node {</a:t>
            </a:r>
            <a:endParaRPr lang="en-US" sz="2400" b="1" dirty="0" smtClean="0">
              <a:ea typeface="隶书" panose="02010509060101010101" pitchFamily="49" charset="-122"/>
            </a:endParaRPr>
          </a:p>
          <a:p>
            <a:pPr marL="0" indent="0">
              <a:buNone/>
            </a:pPr>
            <a:r>
              <a:rPr lang="en-US" sz="2400" b="1" dirty="0">
                <a:ea typeface="隶书" panose="02010509060101010101" pitchFamily="49" charset="-122"/>
              </a:rPr>
              <a:t> </a:t>
            </a:r>
            <a:r>
              <a:rPr lang="en-US" sz="2400" b="1" dirty="0" smtClean="0">
                <a:ea typeface="隶书" panose="02010509060101010101" pitchFamily="49" charset="-122"/>
              </a:rPr>
              <a:t> </a:t>
            </a:r>
            <a:r>
              <a:rPr lang="en-US" sz="2400" b="1" dirty="0" err="1" smtClean="0">
                <a:ea typeface="隶书" panose="02010509060101010101" pitchFamily="49" charset="-122"/>
              </a:rPr>
              <a:t>struct</a:t>
            </a:r>
            <a:r>
              <a:rPr lang="en-US" sz="2400" b="1" dirty="0" smtClean="0">
                <a:ea typeface="隶书" panose="02010509060101010101" pitchFamily="49" charset="-122"/>
              </a:rPr>
              <a:t> node *left;</a:t>
            </a:r>
            <a:endParaRPr lang="en-US" sz="2400" b="1" dirty="0" smtClean="0">
              <a:ea typeface="隶书" panose="02010509060101010101" pitchFamily="49" charset="-122"/>
            </a:endParaRPr>
          </a:p>
          <a:p>
            <a:pPr marL="0" indent="0">
              <a:buNone/>
            </a:pPr>
            <a:r>
              <a:rPr lang="en-US" sz="2400" b="1" dirty="0" err="1">
                <a:ea typeface="隶书" panose="02010509060101010101" pitchFamily="49" charset="-122"/>
              </a:rPr>
              <a:t>s</a:t>
            </a:r>
            <a:r>
              <a:rPr lang="en-US" sz="2400" b="1" dirty="0" err="1" smtClean="0">
                <a:ea typeface="隶书" panose="02010509060101010101" pitchFamily="49" charset="-122"/>
              </a:rPr>
              <a:t>truct</a:t>
            </a:r>
            <a:r>
              <a:rPr lang="en-US" sz="2400" b="1" dirty="0" smtClean="0">
                <a:ea typeface="隶书" panose="02010509060101010101" pitchFamily="49" charset="-122"/>
              </a:rPr>
              <a:t> node *right;    };</a:t>
            </a:r>
            <a:endParaRPr lang="en-US" sz="2400" b="1" dirty="0" smtClean="0">
              <a:ea typeface="隶书" panose="02010509060101010101" pitchFamily="49" charset="-122"/>
            </a:endParaRPr>
          </a:p>
          <a:p>
            <a:pPr marL="0" indent="0">
              <a:buNone/>
            </a:pPr>
            <a:r>
              <a:rPr lang="en-US" sz="2400" b="1" dirty="0">
                <a:ea typeface="隶书" panose="02010509060101010101" pitchFamily="49" charset="-122"/>
              </a:rPr>
              <a:t>e</a:t>
            </a:r>
            <a:r>
              <a:rPr lang="en-US" sz="2400" b="1" dirty="0" smtClean="0">
                <a:ea typeface="隶书" panose="02010509060101010101" pitchFamily="49" charset="-122"/>
              </a:rPr>
              <a:t>xtern void process(</a:t>
            </a:r>
            <a:r>
              <a:rPr lang="en-US" sz="2400" b="1" dirty="0" err="1" smtClean="0">
                <a:ea typeface="隶书" panose="02010509060101010101" pitchFamily="49" charset="-122"/>
              </a:rPr>
              <a:t>struct</a:t>
            </a:r>
            <a:r>
              <a:rPr lang="en-US" sz="2400" b="1" dirty="0" smtClean="0">
                <a:ea typeface="隶书" panose="02010509060101010101" pitchFamily="49" charset="-122"/>
              </a:rPr>
              <a:t> node*);    </a:t>
            </a:r>
            <a:endParaRPr lang="en-US" sz="2400" b="1" dirty="0" smtClean="0">
              <a:ea typeface="隶书" panose="02010509060101010101" pitchFamily="49" charset="-122"/>
            </a:endParaRPr>
          </a:p>
          <a:p>
            <a:pPr marL="0" indent="0">
              <a:buNone/>
            </a:pPr>
            <a:r>
              <a:rPr lang="en-US" sz="2400" b="1" dirty="0">
                <a:ea typeface="隶书" panose="02010509060101010101" pitchFamily="49" charset="-122"/>
              </a:rPr>
              <a:t>v</a:t>
            </a:r>
            <a:r>
              <a:rPr lang="en-US" sz="2400" b="1" dirty="0" smtClean="0">
                <a:ea typeface="隶书" panose="02010509060101010101" pitchFamily="49" charset="-122"/>
              </a:rPr>
              <a:t>oid traverse(</a:t>
            </a:r>
            <a:r>
              <a:rPr lang="en-US" sz="2400" b="1" dirty="0" err="1" smtClean="0">
                <a:ea typeface="隶书" panose="02010509060101010101" pitchFamily="49" charset="-122"/>
              </a:rPr>
              <a:t>struct</a:t>
            </a:r>
            <a:r>
              <a:rPr lang="en-US" sz="2400" b="1" dirty="0" smtClean="0">
                <a:ea typeface="隶书" panose="02010509060101010101" pitchFamily="49" charset="-122"/>
              </a:rPr>
              <a:t> node*p)</a:t>
            </a:r>
            <a:endParaRPr lang="en-US" sz="2400" b="1" dirty="0" smtClean="0">
              <a:ea typeface="隶书" panose="02010509060101010101" pitchFamily="49" charset="-122"/>
            </a:endParaRPr>
          </a:p>
          <a:p>
            <a:pPr marL="0" indent="0">
              <a:buNone/>
            </a:pPr>
            <a:r>
              <a:rPr lang="en-US" sz="2400" b="1" dirty="0" smtClean="0">
                <a:ea typeface="隶书" panose="02010509060101010101" pitchFamily="49" charset="-122"/>
              </a:rPr>
              <a:t>{ if(p-&gt;left)</a:t>
            </a:r>
            <a:endParaRPr lang="en-US" sz="2400" b="1" dirty="0" smtClean="0">
              <a:ea typeface="隶书" panose="02010509060101010101" pitchFamily="49" charset="-122"/>
            </a:endParaRPr>
          </a:p>
          <a:p>
            <a:pPr marL="0" indent="0">
              <a:buNone/>
            </a:pPr>
            <a:r>
              <a:rPr lang="en-US" sz="2400" b="1" dirty="0">
                <a:solidFill>
                  <a:srgbClr val="2D0AC2"/>
                </a:solidFill>
                <a:ea typeface="隶书" panose="02010509060101010101" pitchFamily="49" charset="-122"/>
              </a:rPr>
              <a:t> </a:t>
            </a:r>
            <a:r>
              <a:rPr lang="en-US" sz="2400" b="1" dirty="0" smtClean="0">
                <a:solidFill>
                  <a:srgbClr val="2D0AC2"/>
                </a:solidFill>
                <a:ea typeface="隶书" panose="02010509060101010101" pitchFamily="49" charset="-122"/>
              </a:rPr>
              <a:t>      #pragma </a:t>
            </a:r>
            <a:r>
              <a:rPr lang="en-US" sz="2400" b="1" dirty="0" err="1" smtClean="0">
                <a:solidFill>
                  <a:srgbClr val="2D0AC2"/>
                </a:solidFill>
                <a:ea typeface="隶书" panose="02010509060101010101" pitchFamily="49" charset="-122"/>
              </a:rPr>
              <a:t>omp</a:t>
            </a:r>
            <a:r>
              <a:rPr lang="en-US" sz="2400" b="1" dirty="0" smtClean="0">
                <a:solidFill>
                  <a:srgbClr val="2D0AC2"/>
                </a:solidFill>
                <a:ea typeface="隶书" panose="02010509060101010101" pitchFamily="49" charset="-122"/>
              </a:rPr>
              <a:t> task</a:t>
            </a:r>
            <a:endParaRPr lang="en-US" sz="2400" b="1" dirty="0" smtClean="0">
              <a:solidFill>
                <a:srgbClr val="2D0AC2"/>
              </a:solidFill>
              <a:ea typeface="隶书" panose="02010509060101010101" pitchFamily="49" charset="-122"/>
            </a:endParaRPr>
          </a:p>
          <a:p>
            <a:pPr marL="0" indent="0">
              <a:buNone/>
            </a:pPr>
            <a:r>
              <a:rPr lang="en-US" sz="2400" b="1" dirty="0">
                <a:ea typeface="隶书" panose="02010509060101010101" pitchFamily="49" charset="-122"/>
              </a:rPr>
              <a:t> </a:t>
            </a:r>
            <a:r>
              <a:rPr lang="en-US" sz="2400" b="1" dirty="0" smtClean="0">
                <a:ea typeface="隶书" panose="02010509060101010101" pitchFamily="49" charset="-122"/>
              </a:rPr>
              <a:t>         </a:t>
            </a:r>
            <a:r>
              <a:rPr lang="en-US" sz="2400" b="1" dirty="0" smtClean="0">
                <a:solidFill>
                  <a:srgbClr val="6A247A"/>
                </a:solidFill>
                <a:ea typeface="隶书" panose="02010509060101010101" pitchFamily="49" charset="-122"/>
              </a:rPr>
              <a:t>traverse(p-&gt;left);</a:t>
            </a:r>
            <a:endParaRPr lang="en-US" sz="2400" b="1" dirty="0" smtClean="0">
              <a:solidFill>
                <a:srgbClr val="6A247A"/>
              </a:solidFill>
              <a:ea typeface="隶书" panose="02010509060101010101" pitchFamily="49" charset="-122"/>
            </a:endParaRPr>
          </a:p>
          <a:p>
            <a:pPr marL="0" indent="0">
              <a:buNone/>
            </a:pPr>
            <a:r>
              <a:rPr lang="en-US" sz="2400" b="1" dirty="0">
                <a:ea typeface="隶书" panose="02010509060101010101" pitchFamily="49" charset="-122"/>
              </a:rPr>
              <a:t>   </a:t>
            </a:r>
            <a:r>
              <a:rPr lang="en-US" sz="2400" b="1" dirty="0" smtClean="0">
                <a:ea typeface="隶书" panose="02010509060101010101" pitchFamily="49" charset="-122"/>
              </a:rPr>
              <a:t>if(p-&gt;right)</a:t>
            </a:r>
            <a:endParaRPr lang="en-US" sz="2400" b="1" dirty="0">
              <a:ea typeface="隶书" panose="02010509060101010101" pitchFamily="49" charset="-122"/>
            </a:endParaRPr>
          </a:p>
          <a:p>
            <a:pPr marL="0" indent="0">
              <a:buNone/>
            </a:pPr>
            <a:r>
              <a:rPr lang="en-US" sz="2400" b="1" dirty="0">
                <a:solidFill>
                  <a:srgbClr val="2D0AC2"/>
                </a:solidFill>
                <a:ea typeface="隶书" panose="02010509060101010101" pitchFamily="49" charset="-122"/>
              </a:rPr>
              <a:t>    </a:t>
            </a:r>
            <a:r>
              <a:rPr lang="en-US" sz="2400" b="1" dirty="0" smtClean="0">
                <a:solidFill>
                  <a:srgbClr val="2D0AC2"/>
                </a:solidFill>
                <a:ea typeface="隶书" panose="02010509060101010101" pitchFamily="49" charset="-122"/>
              </a:rPr>
              <a:t>   #</a:t>
            </a:r>
            <a:r>
              <a:rPr lang="en-US" sz="2400" b="1" dirty="0">
                <a:solidFill>
                  <a:srgbClr val="2D0AC2"/>
                </a:solidFill>
                <a:ea typeface="隶书" panose="02010509060101010101" pitchFamily="49" charset="-122"/>
              </a:rPr>
              <a:t>pragma </a:t>
            </a:r>
            <a:r>
              <a:rPr lang="en-US" sz="2400" b="1" dirty="0" err="1">
                <a:solidFill>
                  <a:srgbClr val="2D0AC2"/>
                </a:solidFill>
                <a:ea typeface="隶书" panose="02010509060101010101" pitchFamily="49" charset="-122"/>
              </a:rPr>
              <a:t>omp</a:t>
            </a:r>
            <a:r>
              <a:rPr lang="en-US" sz="2400" b="1" dirty="0">
                <a:solidFill>
                  <a:srgbClr val="2D0AC2"/>
                </a:solidFill>
                <a:ea typeface="隶书" panose="02010509060101010101" pitchFamily="49" charset="-122"/>
              </a:rPr>
              <a:t> task</a:t>
            </a:r>
            <a:endParaRPr lang="en-US" sz="2400" b="1" dirty="0">
              <a:solidFill>
                <a:srgbClr val="2D0AC2"/>
              </a:solidFill>
              <a:ea typeface="隶书" panose="02010509060101010101" pitchFamily="49" charset="-122"/>
            </a:endParaRPr>
          </a:p>
          <a:p>
            <a:pPr marL="0" indent="0">
              <a:buNone/>
            </a:pPr>
            <a:r>
              <a:rPr lang="en-US" sz="2400" b="1" dirty="0">
                <a:solidFill>
                  <a:srgbClr val="6A247A"/>
                </a:solidFill>
                <a:ea typeface="隶书" panose="02010509060101010101" pitchFamily="49" charset="-122"/>
              </a:rPr>
              <a:t>          traverse(p-</a:t>
            </a:r>
            <a:r>
              <a:rPr lang="en-US" sz="2400" b="1" dirty="0" smtClean="0">
                <a:solidFill>
                  <a:srgbClr val="6A247A"/>
                </a:solidFill>
                <a:ea typeface="隶书" panose="02010509060101010101" pitchFamily="49" charset="-122"/>
              </a:rPr>
              <a:t>&gt;right);</a:t>
            </a:r>
            <a:endParaRPr lang="en-US" sz="2400" b="1" dirty="0" smtClean="0">
              <a:solidFill>
                <a:srgbClr val="6A247A"/>
              </a:solidFill>
              <a:ea typeface="隶书" panose="02010509060101010101" pitchFamily="49" charset="-122"/>
            </a:endParaRPr>
          </a:p>
          <a:p>
            <a:pPr marL="0" indent="0">
              <a:buNone/>
            </a:pPr>
            <a:r>
              <a:rPr lang="en-US" sz="2400" b="1" dirty="0" smtClean="0">
                <a:solidFill>
                  <a:srgbClr val="FF0000"/>
                </a:solidFill>
                <a:ea typeface="隶书" panose="02010509060101010101" pitchFamily="49" charset="-122"/>
              </a:rPr>
              <a:t>   #pragma </a:t>
            </a:r>
            <a:r>
              <a:rPr lang="en-US" sz="2400" b="1" dirty="0" err="1" smtClean="0">
                <a:solidFill>
                  <a:srgbClr val="FF0000"/>
                </a:solidFill>
                <a:ea typeface="隶书" panose="02010509060101010101" pitchFamily="49" charset="-122"/>
              </a:rPr>
              <a:t>omp</a:t>
            </a:r>
            <a:r>
              <a:rPr lang="en-US" sz="2400" b="1" dirty="0" smtClean="0">
                <a:solidFill>
                  <a:srgbClr val="FF0000"/>
                </a:solidFill>
                <a:ea typeface="隶书" panose="02010509060101010101" pitchFamily="49" charset="-122"/>
              </a:rPr>
              <a:t> taskwait</a:t>
            </a:r>
            <a:endParaRPr lang="en-US" sz="2400" b="1" dirty="0" smtClean="0">
              <a:solidFill>
                <a:srgbClr val="FF0000"/>
              </a:solidFill>
              <a:ea typeface="隶书" panose="02010509060101010101" pitchFamily="49" charset="-122"/>
            </a:endParaRPr>
          </a:p>
          <a:p>
            <a:pPr marL="0" indent="0">
              <a:buNone/>
            </a:pPr>
            <a:r>
              <a:rPr lang="en-US" sz="2400" b="1" dirty="0">
                <a:ea typeface="隶书" panose="02010509060101010101" pitchFamily="49" charset="-122"/>
              </a:rPr>
              <a:t> </a:t>
            </a:r>
            <a:r>
              <a:rPr lang="en-US" sz="2400" b="1" dirty="0" smtClean="0">
                <a:ea typeface="隶书" panose="02010509060101010101" pitchFamily="49" charset="-122"/>
              </a:rPr>
              <a:t>  process(p);                             }</a:t>
            </a:r>
            <a:r>
              <a:rPr lang="en-US" sz="2400" b="1" dirty="0" smtClean="0">
                <a:solidFill>
                  <a:srgbClr val="2D0AC2"/>
                </a:solidFill>
                <a:ea typeface="隶书" panose="02010509060101010101" pitchFamily="49" charset="-122"/>
              </a:rPr>
              <a:t>  </a:t>
            </a:r>
            <a:endParaRPr lang="en-US" sz="2400" b="1" dirty="0">
              <a:solidFill>
                <a:srgbClr val="2D0AC2"/>
              </a:solidFill>
              <a:ea typeface="隶书" panose="02010509060101010101" pitchFamily="49" charset="-122"/>
            </a:endParaRPr>
          </a:p>
          <a:p>
            <a:pPr marL="0" indent="0">
              <a:buNone/>
            </a:pPr>
            <a:r>
              <a:rPr lang="en-US" sz="2400" b="1" dirty="0">
                <a:solidFill>
                  <a:srgbClr val="2D0AC2"/>
                </a:solidFill>
                <a:ea typeface="隶书" panose="02010509060101010101" pitchFamily="49" charset="-122"/>
              </a:rPr>
              <a:t> </a:t>
            </a:r>
            <a:endParaRPr lang="en-US" sz="2400" b="1" dirty="0">
              <a:solidFill>
                <a:srgbClr val="2D0AC2"/>
              </a:solidFill>
              <a:ea typeface="隶书" panose="02010509060101010101" pitchFamily="49" charset="-122"/>
            </a:endParaRPr>
          </a:p>
        </p:txBody>
      </p:sp>
      <p:sp>
        <p:nvSpPr>
          <p:cNvPr id="4" name="文本框 3"/>
          <p:cNvSpPr txBox="1"/>
          <p:nvPr/>
        </p:nvSpPr>
        <p:spPr>
          <a:xfrm>
            <a:off x="5906126" y="603468"/>
            <a:ext cx="5531370" cy="4733604"/>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pPr lvl="0" algn="ctr" eaLnBrk="0" fontAlgn="base" hangingPunct="0">
              <a:spcBef>
                <a:spcPct val="20000"/>
              </a:spcBef>
              <a:spcAft>
                <a:spcPct val="0"/>
              </a:spcAft>
            </a:pPr>
            <a:r>
              <a:rPr lang="en-US" sz="3200" b="1" dirty="0" smtClean="0">
                <a:solidFill>
                  <a:srgbClr val="000000"/>
                </a:solidFill>
              </a:rPr>
              <a:t>     </a:t>
            </a:r>
            <a:r>
              <a:rPr lang="en-US" altLang="zh-CN" sz="4400" b="1" dirty="0">
                <a:solidFill>
                  <a:srgbClr val="2D0AC2"/>
                </a:solidFill>
                <a:ea typeface="隶书" panose="02010509060101010101" pitchFamily="49" charset="-122"/>
              </a:rPr>
              <a:t>taskwait</a:t>
            </a:r>
            <a:r>
              <a:rPr lang="zh-CN" altLang="en-US" sz="4400" b="1" dirty="0" smtClean="0">
                <a:solidFill>
                  <a:srgbClr val="2D0AC2"/>
                </a:solidFill>
                <a:ea typeface="隶书" panose="02010509060101010101" pitchFamily="49" charset="-122"/>
              </a:rPr>
              <a:t>结构</a:t>
            </a:r>
            <a:endParaRPr lang="en-US" altLang="zh-CN" sz="4400" b="1" dirty="0" smtClean="0">
              <a:solidFill>
                <a:srgbClr val="2D0AC2"/>
              </a:solidFill>
              <a:ea typeface="隶书" panose="02010509060101010101" pitchFamily="49" charset="-122"/>
            </a:endParaRPr>
          </a:p>
          <a:p>
            <a:pPr lvl="0" eaLnBrk="0" fontAlgn="base" hangingPunct="0">
              <a:lnSpc>
                <a:spcPct val="150000"/>
              </a:lnSpc>
              <a:spcBef>
                <a:spcPct val="20000"/>
              </a:spcBef>
              <a:spcAft>
                <a:spcPct val="0"/>
              </a:spcAft>
            </a:pPr>
            <a:r>
              <a:rPr lang="zh-CN" altLang="en-US" sz="2800" b="1" dirty="0" smtClean="0">
                <a:latin typeface="华文新魏" panose="02010800040101010101" pitchFamily="2" charset="-122"/>
                <a:ea typeface="华文新魏" panose="02010800040101010101" pitchFamily="2" charset="-122"/>
              </a:rPr>
              <a:t>         在任务区内使用时，</a:t>
            </a:r>
            <a:r>
              <a:rPr lang="en-US" altLang="zh-CN" sz="2800" b="1" dirty="0" smtClean="0">
                <a:latin typeface="华文新魏" panose="02010800040101010101" pitchFamily="2" charset="-122"/>
                <a:ea typeface="华文新魏" panose="02010800040101010101" pitchFamily="2" charset="-122"/>
              </a:rPr>
              <a:t>taskwait</a:t>
            </a:r>
            <a:r>
              <a:rPr lang="zh-CN" altLang="en-US" sz="2800" b="1" dirty="0" smtClean="0">
                <a:latin typeface="华文新魏" panose="02010800040101010101" pitchFamily="2" charset="-122"/>
                <a:ea typeface="华文新魏" panose="02010800040101010101" pitchFamily="2" charset="-122"/>
              </a:rPr>
              <a:t>结构包含一个隐式的任务调度点，挂起当前的任务区等待所有子任务的完成，然后继续执行。</a:t>
            </a:r>
            <a:endParaRPr lang="en-US" sz="2800" b="1" dirty="0" smtClean="0">
              <a:latin typeface="华文新魏" panose="02010800040101010101" pitchFamily="2" charset="-122"/>
              <a:ea typeface="华文新魏" panose="02010800040101010101" pitchFamily="2" charset="-122"/>
            </a:endParaRPr>
          </a:p>
          <a:p>
            <a:pPr>
              <a:lnSpc>
                <a:spcPct val="150000"/>
              </a:lnSpc>
            </a:pPr>
            <a:r>
              <a:rPr lang="zh-CN" altLang="en-US" sz="2800" b="1" dirty="0" smtClean="0">
                <a:latin typeface="华文新魏" panose="02010800040101010101" pitchFamily="2" charset="-122"/>
                <a:ea typeface="华文新魏" panose="02010800040101010101" pitchFamily="2" charset="-122"/>
              </a:rPr>
              <a:t>       此程序可以保证左右子结点的执行在</a:t>
            </a:r>
            <a:r>
              <a:rPr lang="en-US" altLang="zh-CN" sz="2800" b="1" dirty="0" smtClean="0">
                <a:latin typeface="华文新魏" panose="02010800040101010101" pitchFamily="2" charset="-122"/>
                <a:ea typeface="华文新魏" panose="02010800040101010101" pitchFamily="2" charset="-122"/>
              </a:rPr>
              <a:t>process( )</a:t>
            </a:r>
            <a:r>
              <a:rPr lang="zh-CN" altLang="en-US" sz="2800" b="1" dirty="0" smtClean="0">
                <a:latin typeface="华文新魏" panose="02010800040101010101" pitchFamily="2" charset="-122"/>
                <a:ea typeface="华文新魏" panose="02010800040101010101" pitchFamily="2" charset="-122"/>
              </a:rPr>
              <a:t>函数前执行完毕。</a:t>
            </a:r>
            <a:endParaRPr lang="en-US" sz="2800" b="1" dirty="0">
              <a:latin typeface="华文新魏" panose="02010800040101010101" pitchFamily="2" charset="-122"/>
              <a:ea typeface="华文新魏" panose="02010800040101010101" pitchFamily="2" charset="-122"/>
            </a:endParaRPr>
          </a:p>
        </p:txBody>
      </p:sp>
    </p:spTree>
  </p:cSld>
  <p:clrMapOvr>
    <a:masterClrMapping/>
  </p:clrMapOvr>
  <p:transition spd="med" advTm="3025">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90037" y="693409"/>
            <a:ext cx="6185714" cy="5773422"/>
          </a:xfrm>
        </p:spPr>
        <p:txBody>
          <a:bodyPr/>
          <a:lstStyle/>
          <a:p>
            <a:pPr marL="0" indent="0">
              <a:buNone/>
            </a:pPr>
            <a:r>
              <a:rPr lang="en-US" sz="2800" b="1" dirty="0" smtClean="0">
                <a:ea typeface="隶书" panose="02010509060101010101" pitchFamily="49" charset="-122"/>
              </a:rPr>
              <a:t>#</a:t>
            </a:r>
            <a:r>
              <a:rPr lang="en-US" altLang="zh-CN" sz="2800" b="1" dirty="0" smtClean="0">
                <a:ea typeface="隶书" panose="02010509060101010101" pitchFamily="49" charset="-122"/>
              </a:rPr>
              <a:t>pragma </a:t>
            </a:r>
            <a:r>
              <a:rPr lang="en-US" altLang="zh-CN" sz="2800" b="1" dirty="0" err="1" smtClean="0">
                <a:ea typeface="隶书" panose="02010509060101010101" pitchFamily="49" charset="-122"/>
              </a:rPr>
              <a:t>omp</a:t>
            </a:r>
            <a:r>
              <a:rPr lang="en-US" altLang="zh-CN" sz="2800" b="1" dirty="0" smtClean="0">
                <a:ea typeface="隶书" panose="02010509060101010101" pitchFamily="49" charset="-122"/>
              </a:rPr>
              <a:t> parallel </a:t>
            </a:r>
            <a:r>
              <a:rPr lang="en-US" altLang="zh-CN" sz="2800" b="1" dirty="0" err="1" smtClean="0">
                <a:ea typeface="隶书" panose="02010509060101010101" pitchFamily="49" charset="-122"/>
              </a:rPr>
              <a:t>num_threads</a:t>
            </a:r>
            <a:r>
              <a:rPr lang="en-US" altLang="zh-CN" sz="2800" b="1" dirty="0" smtClean="0">
                <a:ea typeface="隶书" panose="02010509060101010101" pitchFamily="49" charset="-122"/>
              </a:rPr>
              <a:t>(np)</a:t>
            </a:r>
            <a:endParaRPr lang="en-US" altLang="zh-CN" sz="2800" b="1" dirty="0" smtClean="0">
              <a:ea typeface="隶书" panose="02010509060101010101" pitchFamily="49" charset="-122"/>
            </a:endParaRPr>
          </a:p>
          <a:p>
            <a:pPr marL="0" indent="0">
              <a:buNone/>
            </a:pPr>
            <a:r>
              <a:rPr lang="en-US" sz="2800" b="1" dirty="0" smtClean="0">
                <a:ea typeface="隶书" panose="02010509060101010101" pitchFamily="49" charset="-122"/>
              </a:rPr>
              <a:t>{</a:t>
            </a:r>
            <a:endParaRPr lang="en-US" sz="2800" b="1" dirty="0" smtClean="0">
              <a:ea typeface="隶书" panose="02010509060101010101" pitchFamily="49" charset="-122"/>
            </a:endParaRPr>
          </a:p>
          <a:p>
            <a:pPr marL="0" indent="0">
              <a:buNone/>
            </a:pPr>
            <a:r>
              <a:rPr lang="en-US" sz="2800" b="1" dirty="0">
                <a:ea typeface="隶书" panose="02010509060101010101" pitchFamily="49" charset="-122"/>
              </a:rPr>
              <a:t> </a:t>
            </a:r>
            <a:r>
              <a:rPr lang="en-US" sz="2800" b="1" dirty="0" smtClean="0">
                <a:ea typeface="隶书" panose="02010509060101010101" pitchFamily="49" charset="-122"/>
              </a:rPr>
              <a:t>   #pragma </a:t>
            </a:r>
            <a:r>
              <a:rPr lang="en-US" sz="2800" b="1" dirty="0" err="1" smtClean="0">
                <a:ea typeface="隶书" panose="02010509060101010101" pitchFamily="49" charset="-122"/>
              </a:rPr>
              <a:t>omp</a:t>
            </a:r>
            <a:r>
              <a:rPr lang="en-US" sz="2800" b="1" dirty="0" smtClean="0">
                <a:ea typeface="隶书" panose="02010509060101010101" pitchFamily="49" charset="-122"/>
              </a:rPr>
              <a:t> task</a:t>
            </a:r>
            <a:endParaRPr lang="en-US" sz="2800" b="1" dirty="0" smtClean="0">
              <a:ea typeface="隶书" panose="02010509060101010101" pitchFamily="49" charset="-122"/>
            </a:endParaRPr>
          </a:p>
          <a:p>
            <a:pPr marL="0" indent="0">
              <a:buNone/>
            </a:pPr>
            <a:r>
              <a:rPr lang="en-US" sz="2800" b="1" dirty="0">
                <a:ea typeface="隶书" panose="02010509060101010101" pitchFamily="49" charset="-122"/>
              </a:rPr>
              <a:t> </a:t>
            </a:r>
            <a:r>
              <a:rPr lang="en-US" sz="2800" b="1" dirty="0" smtClean="0">
                <a:ea typeface="隶书" panose="02010509060101010101" pitchFamily="49" charset="-122"/>
              </a:rPr>
              <a:t>     A( );</a:t>
            </a:r>
            <a:endParaRPr lang="en-US" sz="2800" b="1" dirty="0" smtClean="0">
              <a:ea typeface="隶书" panose="02010509060101010101" pitchFamily="49" charset="-122"/>
            </a:endParaRPr>
          </a:p>
          <a:p>
            <a:pPr marL="0" indent="0">
              <a:buNone/>
            </a:pPr>
            <a:r>
              <a:rPr lang="en-US" sz="2800" b="1" dirty="0">
                <a:ea typeface="隶书" panose="02010509060101010101" pitchFamily="49" charset="-122"/>
              </a:rPr>
              <a:t> </a:t>
            </a:r>
            <a:r>
              <a:rPr lang="en-US" sz="2800" b="1" dirty="0" smtClean="0">
                <a:ea typeface="隶书" panose="02010509060101010101" pitchFamily="49" charset="-122"/>
              </a:rPr>
              <a:t>   #pragma </a:t>
            </a:r>
            <a:r>
              <a:rPr lang="en-US" sz="2800" b="1" dirty="0" err="1" smtClean="0">
                <a:ea typeface="隶书" panose="02010509060101010101" pitchFamily="49" charset="-122"/>
              </a:rPr>
              <a:t>omp</a:t>
            </a:r>
            <a:r>
              <a:rPr lang="en-US" sz="2800" b="1" dirty="0" smtClean="0">
                <a:ea typeface="隶书" panose="02010509060101010101" pitchFamily="49" charset="-122"/>
              </a:rPr>
              <a:t> barrier</a:t>
            </a:r>
            <a:endParaRPr lang="en-US" sz="2800" b="1" dirty="0" smtClean="0">
              <a:ea typeface="隶书" panose="02010509060101010101" pitchFamily="49" charset="-122"/>
            </a:endParaRPr>
          </a:p>
          <a:p>
            <a:pPr marL="0" indent="0">
              <a:buNone/>
            </a:pPr>
            <a:r>
              <a:rPr lang="en-US" sz="2800" b="1" dirty="0">
                <a:ea typeface="隶书" panose="02010509060101010101" pitchFamily="49" charset="-122"/>
              </a:rPr>
              <a:t> </a:t>
            </a:r>
            <a:r>
              <a:rPr lang="en-US" sz="2800" b="1" dirty="0" smtClean="0">
                <a:ea typeface="隶书" panose="02010509060101010101" pitchFamily="49" charset="-122"/>
              </a:rPr>
              <a:t>   #pragma </a:t>
            </a:r>
            <a:r>
              <a:rPr lang="en-US" sz="2800" b="1" dirty="0" err="1" smtClean="0">
                <a:ea typeface="隶书" panose="02010509060101010101" pitchFamily="49" charset="-122"/>
              </a:rPr>
              <a:t>omp</a:t>
            </a:r>
            <a:r>
              <a:rPr lang="en-US" sz="2800" b="1" dirty="0" smtClean="0">
                <a:ea typeface="隶书" panose="02010509060101010101" pitchFamily="49" charset="-122"/>
              </a:rPr>
              <a:t> single</a:t>
            </a:r>
            <a:endParaRPr lang="en-US" sz="2800" b="1" dirty="0" smtClean="0">
              <a:ea typeface="隶书" panose="02010509060101010101" pitchFamily="49" charset="-122"/>
            </a:endParaRPr>
          </a:p>
          <a:p>
            <a:pPr marL="0" indent="0">
              <a:buNone/>
            </a:pPr>
            <a:r>
              <a:rPr lang="en-US" sz="2800" b="1" dirty="0">
                <a:ea typeface="隶书" panose="02010509060101010101" pitchFamily="49" charset="-122"/>
              </a:rPr>
              <a:t> </a:t>
            </a:r>
            <a:r>
              <a:rPr lang="en-US" sz="2800" b="1" dirty="0" smtClean="0">
                <a:ea typeface="隶书" panose="02010509060101010101" pitchFamily="49" charset="-122"/>
              </a:rPr>
              <a:t>   {</a:t>
            </a:r>
            <a:endParaRPr lang="en-US" sz="2800" b="1" dirty="0" smtClean="0">
              <a:ea typeface="隶书" panose="02010509060101010101" pitchFamily="49" charset="-122"/>
            </a:endParaRPr>
          </a:p>
          <a:p>
            <a:pPr marL="0" indent="0">
              <a:buNone/>
            </a:pPr>
            <a:r>
              <a:rPr lang="en-US" sz="2800" b="1" dirty="0">
                <a:ea typeface="隶书" panose="02010509060101010101" pitchFamily="49" charset="-122"/>
              </a:rPr>
              <a:t> </a:t>
            </a:r>
            <a:r>
              <a:rPr lang="en-US" sz="2800" b="1" dirty="0" smtClean="0">
                <a:ea typeface="隶书" panose="02010509060101010101" pitchFamily="49" charset="-122"/>
              </a:rPr>
              <a:t>      #pragma </a:t>
            </a:r>
            <a:r>
              <a:rPr lang="en-US" sz="2800" b="1" dirty="0" err="1" smtClean="0">
                <a:ea typeface="隶书" panose="02010509060101010101" pitchFamily="49" charset="-122"/>
              </a:rPr>
              <a:t>omp</a:t>
            </a:r>
            <a:r>
              <a:rPr lang="en-US" sz="2800" b="1" dirty="0" smtClean="0">
                <a:ea typeface="隶书" panose="02010509060101010101" pitchFamily="49" charset="-122"/>
              </a:rPr>
              <a:t> task</a:t>
            </a:r>
            <a:endParaRPr lang="en-US" sz="2800" b="1" dirty="0" smtClean="0">
              <a:ea typeface="隶书" panose="02010509060101010101" pitchFamily="49" charset="-122"/>
            </a:endParaRPr>
          </a:p>
          <a:p>
            <a:pPr marL="0" indent="0">
              <a:buNone/>
            </a:pPr>
            <a:r>
              <a:rPr lang="en-US" sz="2800" b="1" dirty="0">
                <a:ea typeface="隶书" panose="02010509060101010101" pitchFamily="49" charset="-122"/>
              </a:rPr>
              <a:t> </a:t>
            </a:r>
            <a:r>
              <a:rPr lang="en-US" sz="2800" b="1" dirty="0" smtClean="0">
                <a:ea typeface="隶书" panose="02010509060101010101" pitchFamily="49" charset="-122"/>
              </a:rPr>
              <a:t>         B( );</a:t>
            </a:r>
            <a:endParaRPr lang="en-US" sz="2800" b="1" dirty="0" smtClean="0">
              <a:ea typeface="隶书" panose="02010509060101010101" pitchFamily="49" charset="-122"/>
            </a:endParaRPr>
          </a:p>
          <a:p>
            <a:pPr marL="0" indent="0">
              <a:buNone/>
            </a:pPr>
            <a:r>
              <a:rPr lang="en-US" sz="2800" b="1" dirty="0">
                <a:ea typeface="隶书" panose="02010509060101010101" pitchFamily="49" charset="-122"/>
              </a:rPr>
              <a:t> </a:t>
            </a:r>
            <a:r>
              <a:rPr lang="en-US" sz="2800" b="1" dirty="0" smtClean="0">
                <a:ea typeface="隶书" panose="02010509060101010101" pitchFamily="49" charset="-122"/>
              </a:rPr>
              <a:t>     }</a:t>
            </a:r>
            <a:endParaRPr lang="en-US" sz="2800" b="1" dirty="0" smtClean="0">
              <a:ea typeface="隶书" panose="02010509060101010101" pitchFamily="49" charset="-122"/>
            </a:endParaRPr>
          </a:p>
          <a:p>
            <a:pPr marL="0" indent="0">
              <a:buNone/>
            </a:pPr>
            <a:r>
              <a:rPr lang="en-US" sz="2800" b="1" dirty="0">
                <a:ea typeface="隶书" panose="02010509060101010101" pitchFamily="49" charset="-122"/>
              </a:rPr>
              <a:t>}</a:t>
            </a:r>
            <a:endParaRPr lang="en-US" sz="2800" b="1" dirty="0" smtClean="0">
              <a:ea typeface="隶书" panose="02010509060101010101" pitchFamily="49" charset="-122"/>
            </a:endParaRPr>
          </a:p>
          <a:p>
            <a:pPr marL="0" indent="0">
              <a:buNone/>
            </a:pPr>
            <a:r>
              <a:rPr lang="en-US" sz="2400" b="1" dirty="0">
                <a:ea typeface="隶书" panose="02010509060101010101" pitchFamily="49" charset="-122"/>
              </a:rPr>
              <a:t> </a:t>
            </a:r>
            <a:endParaRPr lang="en-US" sz="2400" b="1" dirty="0">
              <a:ea typeface="隶书" panose="02010509060101010101" pitchFamily="49" charset="-122"/>
            </a:endParaRPr>
          </a:p>
          <a:p>
            <a:pPr marL="0" indent="0">
              <a:buNone/>
            </a:pPr>
            <a:r>
              <a:rPr lang="en-US" sz="2400" b="1" dirty="0">
                <a:solidFill>
                  <a:srgbClr val="2D0AC2"/>
                </a:solidFill>
                <a:ea typeface="隶书" panose="02010509060101010101" pitchFamily="49" charset="-122"/>
              </a:rPr>
              <a:t> </a:t>
            </a:r>
            <a:endParaRPr lang="en-US" sz="2400" b="1" dirty="0">
              <a:solidFill>
                <a:srgbClr val="2D0AC2"/>
              </a:solidFill>
              <a:ea typeface="隶书" panose="02010509060101010101" pitchFamily="49" charset="-122"/>
            </a:endParaRPr>
          </a:p>
        </p:txBody>
      </p:sp>
      <p:sp>
        <p:nvSpPr>
          <p:cNvPr id="4" name="文本框 3"/>
          <p:cNvSpPr txBox="1"/>
          <p:nvPr/>
        </p:nvSpPr>
        <p:spPr>
          <a:xfrm>
            <a:off x="6475751" y="440566"/>
            <a:ext cx="5171607" cy="5866221"/>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pPr algn="ctr" eaLnBrk="0" fontAlgn="base" hangingPunct="0">
              <a:spcBef>
                <a:spcPct val="20000"/>
              </a:spcBef>
              <a:spcAft>
                <a:spcPct val="0"/>
              </a:spcAft>
            </a:pPr>
            <a:r>
              <a:rPr lang="en-US" sz="3200" b="1" dirty="0" smtClean="0">
                <a:solidFill>
                  <a:srgbClr val="000000"/>
                </a:solidFill>
              </a:rPr>
              <a:t>     </a:t>
            </a:r>
            <a:r>
              <a:rPr lang="zh-CN" altLang="en-US" sz="4400" b="1" dirty="0" smtClean="0">
                <a:solidFill>
                  <a:srgbClr val="2D0AC2"/>
                </a:solidFill>
                <a:ea typeface="隶书" panose="02010509060101010101" pitchFamily="49" charset="-122"/>
              </a:rPr>
              <a:t>任务同步</a:t>
            </a:r>
            <a:endParaRPr lang="en-US" altLang="zh-CN" sz="4400" b="1" dirty="0" smtClean="0">
              <a:solidFill>
                <a:srgbClr val="2D0AC2"/>
              </a:solidFill>
              <a:ea typeface="隶书" panose="02010509060101010101" pitchFamily="49" charset="-122"/>
            </a:endParaRPr>
          </a:p>
          <a:p>
            <a:pPr eaLnBrk="0" fontAlgn="base" hangingPunct="0">
              <a:lnSpc>
                <a:spcPts val="4800"/>
              </a:lnSpc>
              <a:spcBef>
                <a:spcPct val="20000"/>
              </a:spcBef>
              <a:spcAft>
                <a:spcPct val="0"/>
              </a:spcAft>
            </a:pPr>
            <a:r>
              <a:rPr lang="zh-CN" altLang="en-US" sz="2800" b="1" dirty="0" smtClean="0">
                <a:solidFill>
                  <a:srgbClr val="000000"/>
                </a:solidFill>
                <a:latin typeface="华文新魏" panose="02010800040101010101" pitchFamily="2" charset="-122"/>
                <a:ea typeface="华文新魏" panose="02010800040101010101" pitchFamily="2" charset="-122"/>
              </a:rPr>
              <a:t>         并行区由</a:t>
            </a:r>
            <a:r>
              <a:rPr lang="en-US" altLang="zh-CN" sz="2800" b="1" dirty="0" smtClean="0">
                <a:solidFill>
                  <a:srgbClr val="000000"/>
                </a:solidFill>
                <a:latin typeface="华文新魏" panose="02010800040101010101" pitchFamily="2" charset="-122"/>
                <a:ea typeface="华文新魏" panose="02010800040101010101" pitchFamily="2" charset="-122"/>
              </a:rPr>
              <a:t>np</a:t>
            </a:r>
            <a:r>
              <a:rPr lang="zh-CN" altLang="en-US" sz="2800" b="1" dirty="0" smtClean="0">
                <a:solidFill>
                  <a:srgbClr val="000000"/>
                </a:solidFill>
                <a:latin typeface="华文新魏" panose="02010800040101010101" pitchFamily="2" charset="-122"/>
                <a:ea typeface="华文新魏" panose="02010800040101010101" pitchFamily="2" charset="-122"/>
              </a:rPr>
              <a:t>个线程执行，每个线程执行一个任务包括函数</a:t>
            </a:r>
            <a:r>
              <a:rPr lang="en-US" altLang="zh-CN" sz="2800" b="1" dirty="0" smtClean="0">
                <a:solidFill>
                  <a:srgbClr val="000000"/>
                </a:solidFill>
                <a:latin typeface="华文新魏" panose="02010800040101010101" pitchFamily="2" charset="-122"/>
                <a:ea typeface="华文新魏" panose="02010800040101010101" pitchFamily="2" charset="-122"/>
              </a:rPr>
              <a:t>A( ),</a:t>
            </a:r>
            <a:r>
              <a:rPr lang="zh-CN" altLang="en-US" sz="2800" b="1" dirty="0" smtClean="0">
                <a:solidFill>
                  <a:srgbClr val="000000"/>
                </a:solidFill>
                <a:latin typeface="华文新魏" panose="02010800040101010101" pitchFamily="2" charset="-122"/>
                <a:ea typeface="华文新魏" panose="02010800040101010101" pitchFamily="2" charset="-122"/>
              </a:rPr>
              <a:t>当遇到</a:t>
            </a:r>
            <a:r>
              <a:rPr lang="en-US" altLang="zh-CN" sz="2800" b="1" dirty="0" smtClean="0">
                <a:solidFill>
                  <a:srgbClr val="000000"/>
                </a:solidFill>
                <a:latin typeface="华文新魏" panose="02010800040101010101" pitchFamily="2" charset="-122"/>
                <a:ea typeface="华文新魏" panose="02010800040101010101" pitchFamily="2" charset="-122"/>
              </a:rPr>
              <a:t>barrier</a:t>
            </a:r>
            <a:r>
              <a:rPr lang="zh-CN" altLang="en-US" sz="2800" b="1" dirty="0" smtClean="0">
                <a:solidFill>
                  <a:srgbClr val="000000"/>
                </a:solidFill>
                <a:latin typeface="华文新魏" panose="02010800040101010101" pitchFamily="2" charset="-122"/>
                <a:ea typeface="华文新魏" panose="02010800040101010101" pitchFamily="2" charset="-122"/>
              </a:rPr>
              <a:t>语句时，所有任务都要执行完毕才一起继续往下执行。</a:t>
            </a:r>
            <a:endParaRPr lang="en-US" altLang="zh-CN" sz="2800" b="1" dirty="0" smtClean="0">
              <a:solidFill>
                <a:srgbClr val="000000"/>
              </a:solidFill>
              <a:latin typeface="华文新魏" panose="02010800040101010101" pitchFamily="2" charset="-122"/>
              <a:ea typeface="华文新魏" panose="02010800040101010101" pitchFamily="2" charset="-122"/>
            </a:endParaRPr>
          </a:p>
          <a:p>
            <a:pPr eaLnBrk="0" fontAlgn="base" hangingPunct="0">
              <a:lnSpc>
                <a:spcPts val="4800"/>
              </a:lnSpc>
              <a:spcBef>
                <a:spcPct val="20000"/>
              </a:spcBef>
              <a:spcAft>
                <a:spcPct val="0"/>
              </a:spcAft>
            </a:pPr>
            <a:r>
              <a:rPr lang="zh-CN" altLang="en-US" sz="2800" b="1" dirty="0" smtClean="0">
                <a:solidFill>
                  <a:srgbClr val="000000"/>
                </a:solidFill>
                <a:latin typeface="华文新魏" panose="02010800040101010101" pitchFamily="2" charset="-122"/>
                <a:ea typeface="华文新魏" panose="02010800040101010101" pitchFamily="2" charset="-122"/>
              </a:rPr>
              <a:t>       包含函数</a:t>
            </a:r>
            <a:r>
              <a:rPr lang="en-US" altLang="zh-CN" sz="2800" b="1" dirty="0" smtClean="0">
                <a:solidFill>
                  <a:srgbClr val="000000"/>
                </a:solidFill>
                <a:latin typeface="华文新魏" panose="02010800040101010101" pitchFamily="2" charset="-122"/>
                <a:ea typeface="华文新魏" panose="02010800040101010101" pitchFamily="2" charset="-122"/>
              </a:rPr>
              <a:t>B( )</a:t>
            </a:r>
            <a:r>
              <a:rPr lang="zh-CN" altLang="en-US" sz="2800" b="1" dirty="0" smtClean="0">
                <a:solidFill>
                  <a:srgbClr val="000000"/>
                </a:solidFill>
                <a:latin typeface="华文新魏" panose="02010800040101010101" pitchFamily="2" charset="-122"/>
                <a:ea typeface="华文新魏" panose="02010800040101010101" pitchFamily="2" charset="-122"/>
              </a:rPr>
              <a:t>的任务只被一个线程创建，并在</a:t>
            </a:r>
            <a:r>
              <a:rPr lang="en-US" altLang="zh-CN" sz="2800" b="1" dirty="0" smtClean="0">
                <a:solidFill>
                  <a:srgbClr val="000000"/>
                </a:solidFill>
                <a:latin typeface="华文新魏" panose="02010800040101010101" pitchFamily="2" charset="-122"/>
                <a:ea typeface="华文新魏" panose="02010800040101010101" pitchFamily="2" charset="-122"/>
              </a:rPr>
              <a:t>single</a:t>
            </a:r>
            <a:r>
              <a:rPr lang="zh-CN" altLang="en-US" sz="2800" b="1" dirty="0" smtClean="0">
                <a:solidFill>
                  <a:srgbClr val="000000"/>
                </a:solidFill>
                <a:latin typeface="华文新魏" panose="02010800040101010101" pitchFamily="2" charset="-122"/>
                <a:ea typeface="华文新魏" panose="02010800040101010101" pitchFamily="2" charset="-122"/>
              </a:rPr>
              <a:t>结束时隐式同步。</a:t>
            </a:r>
            <a:endParaRPr lang="en-US" sz="2800" b="1" dirty="0">
              <a:solidFill>
                <a:srgbClr val="000000"/>
              </a:solidFill>
              <a:latin typeface="华文新魏" panose="02010800040101010101" pitchFamily="2" charset="-122"/>
              <a:ea typeface="华文新魏" panose="02010800040101010101" pitchFamily="2" charset="-122"/>
            </a:endParaRPr>
          </a:p>
        </p:txBody>
      </p:sp>
    </p:spTree>
  </p:cSld>
  <p:clrMapOvr>
    <a:masterClrMapping/>
  </p:clrMapOvr>
  <p:transition spd="med" advTm="3025">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08364" y="630383"/>
            <a:ext cx="9961418" cy="4525963"/>
          </a:xfrm>
        </p:spPr>
        <p:txBody>
          <a:bodyPr/>
          <a:lstStyle/>
          <a:p>
            <a:pPr marL="0" indent="0" algn="ctr">
              <a:buNone/>
            </a:pPr>
            <a:r>
              <a:rPr lang="en-US" altLang="zh-CN" sz="4800" b="1" dirty="0">
                <a:solidFill>
                  <a:srgbClr val="2D0AC2"/>
                </a:solidFill>
                <a:ea typeface="隶书" panose="02010509060101010101" pitchFamily="49" charset="-122"/>
              </a:rPr>
              <a:t>t</a:t>
            </a:r>
            <a:r>
              <a:rPr lang="en-US" altLang="zh-CN" sz="4800" b="1" dirty="0" smtClean="0">
                <a:solidFill>
                  <a:srgbClr val="2D0AC2"/>
                </a:solidFill>
                <a:ea typeface="隶书" panose="02010509060101010101" pitchFamily="49" charset="-122"/>
              </a:rPr>
              <a:t>askyield</a:t>
            </a:r>
            <a:r>
              <a:rPr lang="zh-CN" altLang="en-US" sz="4800" b="1" dirty="0" smtClean="0">
                <a:solidFill>
                  <a:srgbClr val="2D0AC2"/>
                </a:solidFill>
                <a:ea typeface="隶书" panose="02010509060101010101" pitchFamily="49" charset="-122"/>
              </a:rPr>
              <a:t>结构</a:t>
            </a:r>
            <a:endParaRPr lang="en-US" altLang="zh-CN" sz="4800" b="1" dirty="0" smtClean="0">
              <a:solidFill>
                <a:srgbClr val="2D0AC2"/>
              </a:solidFill>
              <a:ea typeface="隶书" panose="02010509060101010101" pitchFamily="49" charset="-122"/>
            </a:endParaRPr>
          </a:p>
          <a:p>
            <a:pPr marL="0" indent="0" algn="ctr">
              <a:buNone/>
            </a:pPr>
            <a:endParaRPr lang="en-US" altLang="zh-CN" sz="1200" b="1" dirty="0" smtClean="0">
              <a:solidFill>
                <a:srgbClr val="2D0AC2"/>
              </a:solidFill>
              <a:ea typeface="隶书" panose="02010509060101010101" pitchFamily="49" charset="-122"/>
            </a:endParaRPr>
          </a:p>
          <a:p>
            <a:pPr>
              <a:lnSpc>
                <a:spcPct val="150000"/>
              </a:lnSpc>
              <a:buFont typeface="Wingdings" panose="05000000000000000000" pitchFamily="2" charset="2"/>
              <a:buChar char="Ø"/>
            </a:pPr>
            <a:r>
              <a:rPr lang="en-US" altLang="zh-CN" b="1" dirty="0">
                <a:ea typeface="隶书" panose="02010509060101010101" pitchFamily="49" charset="-122"/>
              </a:rPr>
              <a:t>taskyield</a:t>
            </a:r>
            <a:r>
              <a:rPr lang="zh-CN" altLang="en-US" b="1" dirty="0" smtClean="0">
                <a:ea typeface="隶书" panose="02010509060101010101" pitchFamily="49" charset="-122"/>
              </a:rPr>
              <a:t>结构在当前的任务区内指定一个显示的任务调度点，将当前任务挂起以便其它任务执行。</a:t>
            </a:r>
            <a:endParaRPr lang="en-US" altLang="zh-CN" b="1" dirty="0" smtClean="0">
              <a:ea typeface="隶书" panose="02010509060101010101" pitchFamily="49" charset="-122"/>
            </a:endParaRPr>
          </a:p>
          <a:p>
            <a:pPr>
              <a:lnSpc>
                <a:spcPct val="150000"/>
              </a:lnSpc>
              <a:buFont typeface="Wingdings" panose="05000000000000000000" pitchFamily="2" charset="2"/>
              <a:buChar char="Ø"/>
            </a:pPr>
            <a:r>
              <a:rPr lang="zh-CN" altLang="en-US" b="1" dirty="0" smtClean="0">
                <a:ea typeface="隶书" panose="02010509060101010101" pitchFamily="49" charset="-122"/>
              </a:rPr>
              <a:t>该结构属于独立的指导语句。</a:t>
            </a:r>
            <a:endParaRPr lang="en-US" altLang="zh-CN" b="1" dirty="0">
              <a:ea typeface="隶书" panose="02010509060101010101" pitchFamily="49" charset="-122"/>
            </a:endParaRPr>
          </a:p>
          <a:p>
            <a:pPr>
              <a:lnSpc>
                <a:spcPct val="150000"/>
              </a:lnSpc>
              <a:buFont typeface="Wingdings" panose="05000000000000000000" pitchFamily="2" charset="2"/>
              <a:buChar char="Ø"/>
            </a:pPr>
            <a:endParaRPr lang="en-US" altLang="zh-CN" b="1" dirty="0" smtClean="0">
              <a:ea typeface="隶书" panose="02010509060101010101" pitchFamily="49" charset="-122"/>
            </a:endParaRPr>
          </a:p>
        </p:txBody>
      </p:sp>
    </p:spTree>
  </p:cSld>
  <p:clrMapOvr>
    <a:masterClrMapping/>
  </p:clrMapOvr>
  <p:transition spd="med" advTm="3025">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5963" y="394856"/>
            <a:ext cx="10335492" cy="5895108"/>
          </a:xfrm>
        </p:spPr>
        <p:txBody>
          <a:bodyPr/>
          <a:lstStyle/>
          <a:p>
            <a:pPr marL="0" indent="0" algn="ctr">
              <a:buNone/>
            </a:pPr>
            <a:r>
              <a:rPr lang="zh-CN" altLang="en-US" sz="4800" b="1" dirty="0" smtClean="0">
                <a:solidFill>
                  <a:srgbClr val="2D0AC2"/>
                </a:solidFill>
                <a:ea typeface="隶书" panose="02010509060101010101" pitchFamily="49" charset="-122"/>
              </a:rPr>
              <a:t>结构嵌套规则</a:t>
            </a:r>
            <a:endParaRPr lang="en-US" altLang="zh-CN" sz="4800" b="1" dirty="0" smtClean="0">
              <a:solidFill>
                <a:srgbClr val="2D0AC2"/>
              </a:solidFill>
              <a:ea typeface="隶书" panose="02010509060101010101" pitchFamily="49" charset="-122"/>
            </a:endParaRPr>
          </a:p>
          <a:p>
            <a:pPr>
              <a:buFont typeface="Wingdings" panose="05000000000000000000" pitchFamily="2" charset="2"/>
              <a:buChar char="Ø"/>
            </a:pPr>
            <a:r>
              <a:rPr lang="zh-CN" altLang="en-US" sz="2800" b="1" dirty="0" smtClean="0">
                <a:latin typeface="华文新魏" panose="02010800040101010101" pitchFamily="2" charset="-122"/>
                <a:ea typeface="华文新魏" panose="02010800040101010101" pitchFamily="2" charset="-122"/>
              </a:rPr>
              <a:t>并行区内可以嵌套其它并行区</a:t>
            </a:r>
            <a:endParaRPr lang="en-US" altLang="zh-CN" sz="2800" b="1" dirty="0" smtClean="0">
              <a:latin typeface="华文新魏" panose="02010800040101010101" pitchFamily="2" charset="-122"/>
              <a:ea typeface="华文新魏" panose="02010800040101010101" pitchFamily="2" charset="-122"/>
            </a:endParaRPr>
          </a:p>
          <a:p>
            <a:pPr marL="0" indent="0">
              <a:buNone/>
            </a:pPr>
            <a:r>
              <a:rPr lang="en-US" altLang="zh-CN" sz="2800" b="1" dirty="0">
                <a:latin typeface="华文新魏" panose="02010800040101010101" pitchFamily="2" charset="-122"/>
                <a:ea typeface="华文新魏" panose="02010800040101010101" pitchFamily="2" charset="-122"/>
              </a:rPr>
              <a:t> </a:t>
            </a:r>
            <a:r>
              <a:rPr lang="en-US" altLang="zh-CN" sz="2800" b="1" dirty="0" smtClean="0">
                <a:latin typeface="华文新魏" panose="02010800040101010101" pitchFamily="2" charset="-122"/>
                <a:ea typeface="华文新魏" panose="02010800040101010101" pitchFamily="2" charset="-122"/>
              </a:rPr>
              <a:t>        </a:t>
            </a:r>
            <a:r>
              <a:rPr lang="zh-CN" altLang="en-US" sz="2800" b="1" dirty="0" smtClean="0">
                <a:latin typeface="华文新魏" panose="02010800040101010101" pitchFamily="2" charset="-122"/>
                <a:ea typeface="华文新魏" panose="02010800040101010101" pitchFamily="2" charset="-122"/>
              </a:rPr>
              <a:t>如果嵌套并行开关被打开，当某一线程遇到新的并行区时，一组新的线程会被创建。如果嵌套并行开关被关闭，则由遇到该并行区的线程串行执行。</a:t>
            </a:r>
            <a:endParaRPr lang="en-US" altLang="zh-CN" sz="2800" b="1" dirty="0" smtClean="0">
              <a:latin typeface="华文新魏" panose="02010800040101010101" pitchFamily="2" charset="-122"/>
              <a:ea typeface="华文新魏" panose="02010800040101010101" pitchFamily="2" charset="-122"/>
            </a:endParaRPr>
          </a:p>
          <a:p>
            <a:pPr marL="0" indent="0">
              <a:buNone/>
            </a:pPr>
            <a:endParaRPr lang="en-US" altLang="zh-CN" sz="2800" b="1" dirty="0" smtClean="0">
              <a:latin typeface="华文新魏" panose="02010800040101010101" pitchFamily="2" charset="-122"/>
              <a:ea typeface="华文新魏" panose="02010800040101010101" pitchFamily="2" charset="-122"/>
            </a:endParaRPr>
          </a:p>
          <a:p>
            <a:pPr>
              <a:buFont typeface="Wingdings" panose="05000000000000000000" pitchFamily="2" charset="2"/>
              <a:buChar char="Ø"/>
            </a:pPr>
            <a:r>
              <a:rPr lang="zh-CN" altLang="en-US" sz="2800" b="1" dirty="0" smtClean="0">
                <a:latin typeface="华文新魏" panose="02010800040101010101" pitchFamily="2" charset="-122"/>
                <a:ea typeface="华文新魏" panose="02010800040101010101" pitchFamily="2" charset="-122"/>
              </a:rPr>
              <a:t>结构嵌套的具体规则主要包括：</a:t>
            </a:r>
            <a:endParaRPr lang="en-US" altLang="zh-CN" sz="2800" b="1" dirty="0" smtClean="0">
              <a:latin typeface="华文新魏" panose="02010800040101010101" pitchFamily="2" charset="-122"/>
              <a:ea typeface="华文新魏" panose="02010800040101010101" pitchFamily="2" charset="-122"/>
            </a:endParaRPr>
          </a:p>
          <a:p>
            <a:pPr marL="514350" indent="-514350">
              <a:buFont typeface="+mj-lt"/>
              <a:buAutoNum type="arabicParenR"/>
            </a:pPr>
            <a:r>
              <a:rPr lang="zh-CN" altLang="en-US" sz="2800" b="1" dirty="0" smtClean="0">
                <a:latin typeface="华文新魏" panose="02010800040101010101" pitchFamily="2" charset="-122"/>
                <a:ea typeface="华文新魏" panose="02010800040101010101" pitchFamily="2" charset="-122"/>
              </a:rPr>
              <a:t>工作共享结构、</a:t>
            </a:r>
            <a:r>
              <a:rPr lang="en-US" altLang="zh-CN" sz="2800" b="1" dirty="0" smtClean="0">
                <a:latin typeface="华文新魏" panose="02010800040101010101" pitchFamily="2" charset="-122"/>
                <a:ea typeface="华文新魏" panose="02010800040101010101" pitchFamily="2" charset="-122"/>
              </a:rPr>
              <a:t>task</a:t>
            </a:r>
            <a:r>
              <a:rPr lang="zh-CN" altLang="en-US" sz="2800" b="1" dirty="0" smtClean="0">
                <a:latin typeface="华文新魏" panose="02010800040101010101" pitchFamily="2" charset="-122"/>
                <a:ea typeface="华文新魏" panose="02010800040101010101" pitchFamily="2" charset="-122"/>
              </a:rPr>
              <a:t>、</a:t>
            </a:r>
            <a:r>
              <a:rPr lang="en-US" altLang="zh-CN" sz="2800" b="1" dirty="0" smtClean="0">
                <a:latin typeface="华文新魏" panose="02010800040101010101" pitchFamily="2" charset="-122"/>
                <a:ea typeface="华文新魏" panose="02010800040101010101" pitchFamily="2" charset="-122"/>
              </a:rPr>
              <a:t>critical</a:t>
            </a:r>
            <a:r>
              <a:rPr lang="zh-CN" altLang="en-US" sz="2800" b="1" dirty="0" smtClean="0">
                <a:latin typeface="华文新魏" panose="02010800040101010101" pitchFamily="2" charset="-122"/>
                <a:ea typeface="华文新魏" panose="02010800040101010101" pitchFamily="2" charset="-122"/>
              </a:rPr>
              <a:t>、</a:t>
            </a:r>
            <a:r>
              <a:rPr lang="en-US" altLang="zh-CN" sz="2800" b="1" dirty="0" smtClean="0">
                <a:latin typeface="华文新魏" panose="02010800040101010101" pitchFamily="2" charset="-122"/>
                <a:ea typeface="华文新魏" panose="02010800040101010101" pitchFamily="2" charset="-122"/>
              </a:rPr>
              <a:t>ordered</a:t>
            </a:r>
            <a:r>
              <a:rPr lang="zh-CN" altLang="en-US" sz="2800" b="1" dirty="0" smtClean="0">
                <a:latin typeface="华文新魏" panose="02010800040101010101" pitchFamily="2" charset="-122"/>
                <a:ea typeface="华文新魏" panose="02010800040101010101" pitchFamily="2" charset="-122"/>
              </a:rPr>
              <a:t>、</a:t>
            </a:r>
            <a:r>
              <a:rPr lang="en-US" altLang="zh-CN" sz="2800" b="1" dirty="0" smtClean="0">
                <a:latin typeface="华文新魏" panose="02010800040101010101" pitchFamily="2" charset="-122"/>
                <a:ea typeface="华文新魏" panose="02010800040101010101" pitchFamily="2" charset="-122"/>
              </a:rPr>
              <a:t>atomic</a:t>
            </a:r>
            <a:r>
              <a:rPr lang="zh-CN" altLang="en-US" sz="2800" b="1" dirty="0" smtClean="0">
                <a:latin typeface="华文新魏" panose="02010800040101010101" pitchFamily="2" charset="-122"/>
                <a:ea typeface="华文新魏" panose="02010800040101010101" pitchFamily="2" charset="-122"/>
              </a:rPr>
              <a:t>、</a:t>
            </a:r>
            <a:r>
              <a:rPr lang="en-US" altLang="zh-CN" sz="2800" b="1" dirty="0" smtClean="0">
                <a:latin typeface="华文新魏" panose="02010800040101010101" pitchFamily="2" charset="-122"/>
                <a:ea typeface="华文新魏" panose="02010800040101010101" pitchFamily="2" charset="-122"/>
              </a:rPr>
              <a:t>master</a:t>
            </a:r>
            <a:r>
              <a:rPr lang="zh-CN" altLang="en-US" sz="2800" b="1" dirty="0">
                <a:latin typeface="华文新魏" panose="02010800040101010101" pitchFamily="2" charset="-122"/>
                <a:ea typeface="华文新魏" panose="02010800040101010101" pitchFamily="2" charset="-122"/>
              </a:rPr>
              <a:t>结构</a:t>
            </a:r>
            <a:r>
              <a:rPr lang="zh-CN" altLang="en-US" sz="2800" b="1" dirty="0" smtClean="0">
                <a:latin typeface="华文新魏" panose="02010800040101010101" pitchFamily="2" charset="-122"/>
                <a:ea typeface="华文新魏" panose="02010800040101010101" pitchFamily="2" charset="-122"/>
              </a:rPr>
              <a:t>内不能紧密嵌套工作共享结构和</a:t>
            </a:r>
            <a:r>
              <a:rPr lang="en-US" altLang="zh-CN" sz="2800" b="1" dirty="0" smtClean="0">
                <a:latin typeface="华文新魏" panose="02010800040101010101" pitchFamily="2" charset="-122"/>
                <a:ea typeface="华文新魏" panose="02010800040101010101" pitchFamily="2" charset="-122"/>
              </a:rPr>
              <a:t>barrier</a:t>
            </a:r>
            <a:r>
              <a:rPr lang="zh-CN" altLang="en-US" sz="2800" b="1" dirty="0" smtClean="0">
                <a:latin typeface="华文新魏" panose="02010800040101010101" pitchFamily="2" charset="-122"/>
                <a:ea typeface="华文新魏" panose="02010800040101010101" pitchFamily="2" charset="-122"/>
              </a:rPr>
              <a:t>。</a:t>
            </a:r>
            <a:endParaRPr lang="en-US" altLang="zh-CN" sz="2800" b="1" dirty="0" smtClean="0">
              <a:latin typeface="华文新魏" panose="02010800040101010101" pitchFamily="2" charset="-122"/>
              <a:ea typeface="华文新魏" panose="02010800040101010101" pitchFamily="2" charset="-122"/>
            </a:endParaRPr>
          </a:p>
          <a:p>
            <a:pPr marL="514350" indent="-514350">
              <a:buFont typeface="+mj-lt"/>
              <a:buAutoNum type="arabicParenR"/>
            </a:pPr>
            <a:r>
              <a:rPr lang="zh-CN" altLang="en-US" sz="2800" b="1" dirty="0">
                <a:latin typeface="华文新魏" panose="02010800040101010101" pitchFamily="2" charset="-122"/>
                <a:ea typeface="华文新魏" panose="02010800040101010101" pitchFamily="2" charset="-122"/>
              </a:rPr>
              <a:t>工作共享结构、</a:t>
            </a:r>
            <a:r>
              <a:rPr lang="en-US" altLang="zh-CN" sz="2800" b="1" dirty="0">
                <a:latin typeface="华文新魏" panose="02010800040101010101" pitchFamily="2" charset="-122"/>
                <a:ea typeface="华文新魏" panose="02010800040101010101" pitchFamily="2" charset="-122"/>
              </a:rPr>
              <a:t>task</a:t>
            </a:r>
            <a:r>
              <a:rPr lang="zh-CN" altLang="en-US" sz="2800" b="1" dirty="0" smtClean="0">
                <a:latin typeface="华文新魏" panose="02010800040101010101" pitchFamily="2" charset="-122"/>
                <a:ea typeface="华文新魏" panose="02010800040101010101" pitchFamily="2" charset="-122"/>
              </a:rPr>
              <a:t>、</a:t>
            </a:r>
            <a:r>
              <a:rPr lang="en-US" altLang="zh-CN" sz="2800" b="1" dirty="0" smtClean="0">
                <a:latin typeface="华文新魏" panose="02010800040101010101" pitchFamily="2" charset="-122"/>
                <a:ea typeface="华文新魏" panose="02010800040101010101" pitchFamily="2" charset="-122"/>
              </a:rPr>
              <a:t>atomic</a:t>
            </a:r>
            <a:r>
              <a:rPr lang="zh-CN" altLang="en-US" sz="2800" b="1" dirty="0" smtClean="0">
                <a:latin typeface="华文新魏" panose="02010800040101010101" pitchFamily="2" charset="-122"/>
                <a:ea typeface="华文新魏" panose="02010800040101010101" pitchFamily="2" charset="-122"/>
              </a:rPr>
              <a:t>结构</a:t>
            </a:r>
            <a:r>
              <a:rPr lang="zh-CN" altLang="en-US" sz="2800" b="1" dirty="0">
                <a:latin typeface="华文新魏" panose="02010800040101010101" pitchFamily="2" charset="-122"/>
                <a:ea typeface="华文新魏" panose="02010800040101010101" pitchFamily="2" charset="-122"/>
              </a:rPr>
              <a:t>内不能紧密</a:t>
            </a:r>
            <a:r>
              <a:rPr lang="zh-CN" altLang="en-US" sz="2800" b="1" dirty="0" smtClean="0">
                <a:latin typeface="华文新魏" panose="02010800040101010101" pitchFamily="2" charset="-122"/>
                <a:ea typeface="华文新魏" panose="02010800040101010101" pitchFamily="2" charset="-122"/>
              </a:rPr>
              <a:t>嵌套</a:t>
            </a:r>
            <a:r>
              <a:rPr lang="en-US" altLang="zh-CN" sz="2800" b="1" dirty="0" smtClean="0">
                <a:latin typeface="华文新魏" panose="02010800040101010101" pitchFamily="2" charset="-122"/>
                <a:ea typeface="华文新魏" panose="02010800040101010101" pitchFamily="2" charset="-122"/>
              </a:rPr>
              <a:t>master</a:t>
            </a:r>
            <a:r>
              <a:rPr lang="zh-CN" altLang="en-US" sz="2800" b="1" dirty="0" smtClean="0">
                <a:latin typeface="华文新魏" panose="02010800040101010101" pitchFamily="2" charset="-122"/>
                <a:ea typeface="华文新魏" panose="02010800040101010101" pitchFamily="2" charset="-122"/>
              </a:rPr>
              <a:t>结构</a:t>
            </a:r>
            <a:endParaRPr lang="en-US" altLang="zh-CN" sz="2800" b="1" dirty="0" smtClean="0">
              <a:latin typeface="华文新魏" panose="02010800040101010101" pitchFamily="2" charset="-122"/>
              <a:ea typeface="华文新魏" panose="02010800040101010101" pitchFamily="2" charset="-122"/>
            </a:endParaRPr>
          </a:p>
          <a:p>
            <a:pPr marL="514350" indent="-514350">
              <a:buFont typeface="+mj-lt"/>
              <a:buAutoNum type="arabicParenR"/>
            </a:pPr>
            <a:r>
              <a:rPr lang="en-US" altLang="zh-CN" sz="2800" b="1" dirty="0">
                <a:latin typeface="华文新魏" panose="02010800040101010101" pitchFamily="2" charset="-122"/>
                <a:ea typeface="华文新魏" panose="02010800040101010101" pitchFamily="2" charset="-122"/>
              </a:rPr>
              <a:t>c</a:t>
            </a:r>
            <a:r>
              <a:rPr lang="en-US" altLang="zh-CN" sz="2800" b="1" dirty="0" smtClean="0">
                <a:latin typeface="华文新魏" panose="02010800040101010101" pitchFamily="2" charset="-122"/>
                <a:ea typeface="华文新魏" panose="02010800040101010101" pitchFamily="2" charset="-122"/>
              </a:rPr>
              <a:t>ritical</a:t>
            </a:r>
            <a:r>
              <a:rPr lang="zh-CN" altLang="en-US" sz="2800" b="1" dirty="0" smtClean="0">
                <a:latin typeface="华文新魏" panose="02010800040101010101" pitchFamily="2" charset="-122"/>
                <a:ea typeface="华文新魏" panose="02010800040101010101" pitchFamily="2" charset="-122"/>
              </a:rPr>
              <a:t>、</a:t>
            </a:r>
            <a:r>
              <a:rPr lang="en-US" altLang="zh-CN" sz="2800" b="1" dirty="0" smtClean="0">
                <a:latin typeface="华文新魏" panose="02010800040101010101" pitchFamily="2" charset="-122"/>
                <a:ea typeface="华文新魏" panose="02010800040101010101" pitchFamily="2" charset="-122"/>
              </a:rPr>
              <a:t>atomic</a:t>
            </a:r>
            <a:r>
              <a:rPr lang="zh-CN" altLang="en-US" sz="2800" b="1" dirty="0" smtClean="0">
                <a:latin typeface="华文新魏" panose="02010800040101010101" pitchFamily="2" charset="-122"/>
                <a:ea typeface="华文新魏" panose="02010800040101010101" pitchFamily="2" charset="-122"/>
              </a:rPr>
              <a:t>、</a:t>
            </a:r>
            <a:r>
              <a:rPr lang="en-US" altLang="zh-CN" sz="2800" b="1" dirty="0" smtClean="0">
                <a:latin typeface="华文新魏" panose="02010800040101010101" pitchFamily="2" charset="-122"/>
                <a:ea typeface="华文新魏" panose="02010800040101010101" pitchFamily="2" charset="-122"/>
              </a:rPr>
              <a:t>task</a:t>
            </a:r>
            <a:r>
              <a:rPr lang="zh-CN" altLang="en-US" sz="2800" b="1" dirty="0" smtClean="0">
                <a:latin typeface="华文新魏" panose="02010800040101010101" pitchFamily="2" charset="-122"/>
                <a:ea typeface="华文新魏" panose="02010800040101010101" pitchFamily="2" charset="-122"/>
              </a:rPr>
              <a:t>结构内不能紧密嵌套</a:t>
            </a:r>
            <a:r>
              <a:rPr lang="en-US" altLang="zh-CN" sz="2800" b="1" dirty="0" smtClean="0">
                <a:latin typeface="华文新魏" panose="02010800040101010101" pitchFamily="2" charset="-122"/>
                <a:ea typeface="华文新魏" panose="02010800040101010101" pitchFamily="2" charset="-122"/>
              </a:rPr>
              <a:t>ordered</a:t>
            </a:r>
            <a:r>
              <a:rPr lang="zh-CN" altLang="en-US" sz="2800" b="1" dirty="0" smtClean="0">
                <a:latin typeface="华文新魏" panose="02010800040101010101" pitchFamily="2" charset="-122"/>
                <a:ea typeface="华文新魏" panose="02010800040101010101" pitchFamily="2" charset="-122"/>
              </a:rPr>
              <a:t>结构</a:t>
            </a:r>
            <a:endParaRPr lang="en-US" altLang="zh-CN" sz="2800" b="1" dirty="0" smtClean="0">
              <a:latin typeface="华文新魏" panose="02010800040101010101" pitchFamily="2" charset="-122"/>
              <a:ea typeface="华文新魏" panose="02010800040101010101" pitchFamily="2" charset="-122"/>
            </a:endParaRPr>
          </a:p>
          <a:p>
            <a:pPr marL="514350" indent="-514350">
              <a:buFont typeface="+mj-lt"/>
              <a:buAutoNum type="arabicParenR"/>
            </a:pPr>
            <a:endParaRPr lang="zh-CN" altLang="en-US" sz="2800" b="1" dirty="0">
              <a:latin typeface="华文新魏" panose="02010800040101010101" pitchFamily="2" charset="-122"/>
              <a:ea typeface="华文新魏" panose="02010800040101010101" pitchFamily="2" charset="-122"/>
            </a:endParaRPr>
          </a:p>
          <a:p>
            <a:pPr marL="514350" indent="-514350">
              <a:buFont typeface="+mj-lt"/>
              <a:buAutoNum type="arabicParenR"/>
            </a:pPr>
            <a:endParaRPr lang="en-US" altLang="zh-CN" sz="2800" b="1" dirty="0" smtClean="0">
              <a:latin typeface="华文新魏" panose="02010800040101010101" pitchFamily="2" charset="-122"/>
              <a:ea typeface="华文新魏" panose="02010800040101010101" pitchFamily="2" charset="-122"/>
            </a:endParaRPr>
          </a:p>
          <a:p>
            <a:pPr marL="0" indent="0">
              <a:buNone/>
            </a:pPr>
            <a:endParaRPr lang="en-US" altLang="zh-CN" sz="2800" b="1" dirty="0" smtClean="0">
              <a:latin typeface="华文新魏" panose="02010800040101010101" pitchFamily="2" charset="-122"/>
              <a:ea typeface="华文新魏" panose="02010800040101010101" pitchFamily="2" charset="-122"/>
            </a:endParaRPr>
          </a:p>
          <a:p>
            <a:pPr marL="0" indent="0">
              <a:buNone/>
            </a:pPr>
            <a:endParaRPr lang="en-US" altLang="zh-CN" sz="2800" b="1" dirty="0" smtClean="0">
              <a:latin typeface="华文新魏" panose="02010800040101010101" pitchFamily="2" charset="-122"/>
              <a:ea typeface="华文新魏" panose="02010800040101010101" pitchFamily="2" charset="-122"/>
            </a:endParaRPr>
          </a:p>
          <a:p>
            <a:pPr marL="0" indent="0" algn="ctr">
              <a:buNone/>
            </a:pPr>
            <a:endParaRPr lang="en-US" altLang="zh-CN" sz="1200" b="1" dirty="0" smtClean="0">
              <a:solidFill>
                <a:srgbClr val="2D0AC2"/>
              </a:solidFill>
              <a:ea typeface="隶书" panose="02010509060101010101" pitchFamily="49" charset="-122"/>
            </a:endParaRPr>
          </a:p>
          <a:p>
            <a:pPr marL="0" indent="0" algn="ctr">
              <a:buNone/>
            </a:pPr>
            <a:endParaRPr lang="en-US" altLang="zh-CN" sz="1200" b="1" dirty="0" smtClean="0">
              <a:solidFill>
                <a:srgbClr val="2D0AC2"/>
              </a:solidFill>
              <a:ea typeface="隶书" panose="02010509060101010101" pitchFamily="49" charset="-122"/>
            </a:endParaRPr>
          </a:p>
          <a:p>
            <a:pPr marL="0" indent="0">
              <a:lnSpc>
                <a:spcPct val="150000"/>
              </a:lnSpc>
              <a:buNone/>
            </a:pPr>
            <a:endParaRPr lang="en-US" altLang="zh-CN" b="1" dirty="0" smtClean="0">
              <a:ea typeface="隶书" panose="02010509060101010101" pitchFamily="49" charset="-122"/>
            </a:endParaRPr>
          </a:p>
        </p:txBody>
      </p:sp>
    </p:spTree>
  </p:cSld>
  <p:clrMapOvr>
    <a:masterClrMapping/>
  </p:clrMapOvr>
  <p:transition spd="med" advTm="3025">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246909" y="394856"/>
            <a:ext cx="9947564" cy="5895108"/>
          </a:xfrm>
        </p:spPr>
        <p:txBody>
          <a:bodyPr/>
          <a:lstStyle/>
          <a:p>
            <a:pPr marL="0" indent="0" algn="ctr">
              <a:buNone/>
            </a:pPr>
            <a:r>
              <a:rPr lang="zh-CN" altLang="en-US" sz="4800" b="1" dirty="0" smtClean="0">
                <a:solidFill>
                  <a:srgbClr val="2D0AC2"/>
                </a:solidFill>
                <a:ea typeface="隶书" panose="02010509060101010101" pitchFamily="49" charset="-122"/>
              </a:rPr>
              <a:t>结构嵌套规则</a:t>
            </a:r>
            <a:endParaRPr lang="en-US" altLang="zh-CN" sz="4800" b="1" dirty="0" smtClean="0">
              <a:solidFill>
                <a:srgbClr val="2D0AC2"/>
              </a:solidFill>
              <a:ea typeface="隶书" panose="02010509060101010101" pitchFamily="49" charset="-122"/>
            </a:endParaRPr>
          </a:p>
          <a:p>
            <a:pPr>
              <a:lnSpc>
                <a:spcPct val="150000"/>
              </a:lnSpc>
              <a:buFont typeface="Wingdings" panose="05000000000000000000" pitchFamily="2" charset="2"/>
              <a:buChar char="Ø"/>
            </a:pPr>
            <a:r>
              <a:rPr lang="zh-CN" altLang="en-US" sz="2800" b="1" dirty="0" smtClean="0">
                <a:latin typeface="华文新魏" panose="02010800040101010101" pitchFamily="2" charset="-122"/>
                <a:ea typeface="华文新魏" panose="02010800040101010101" pitchFamily="2" charset="-122"/>
              </a:rPr>
              <a:t>结构嵌套的具体规则主要包括：</a:t>
            </a:r>
            <a:endParaRPr lang="en-US" altLang="zh-CN" sz="2800" b="1" dirty="0" smtClean="0">
              <a:latin typeface="华文新魏" panose="02010800040101010101" pitchFamily="2" charset="-122"/>
              <a:ea typeface="华文新魏" panose="02010800040101010101" pitchFamily="2" charset="-122"/>
            </a:endParaRPr>
          </a:p>
          <a:p>
            <a:pPr marL="514350" indent="-514350">
              <a:lnSpc>
                <a:spcPct val="150000"/>
              </a:lnSpc>
              <a:buFont typeface="+mj-lt"/>
              <a:buAutoNum type="arabicParenR" startAt="4"/>
            </a:pPr>
            <a:r>
              <a:rPr lang="en-US" altLang="zh-CN" sz="2800" b="1" dirty="0">
                <a:latin typeface="华文新魏" panose="02010800040101010101" pitchFamily="2" charset="-122"/>
                <a:ea typeface="华文新魏" panose="02010800040101010101" pitchFamily="2" charset="-122"/>
              </a:rPr>
              <a:t>o</a:t>
            </a:r>
            <a:r>
              <a:rPr lang="en-US" altLang="zh-CN" sz="2800" b="1" dirty="0" smtClean="0">
                <a:latin typeface="华文新魏" panose="02010800040101010101" pitchFamily="2" charset="-122"/>
                <a:ea typeface="华文新魏" panose="02010800040101010101" pitchFamily="2" charset="-122"/>
              </a:rPr>
              <a:t>rdered</a:t>
            </a:r>
            <a:r>
              <a:rPr lang="zh-CN" altLang="en-US" sz="2800" b="1" dirty="0" smtClean="0">
                <a:latin typeface="华文新魏" panose="02010800040101010101" pitchFamily="2" charset="-122"/>
                <a:ea typeface="华文新魏" panose="02010800040101010101" pitchFamily="2" charset="-122"/>
              </a:rPr>
              <a:t>结构必须紧密嵌套在带有</a:t>
            </a:r>
            <a:r>
              <a:rPr lang="en-US" altLang="zh-CN" sz="2800" b="1" dirty="0" smtClean="0">
                <a:latin typeface="华文新魏" panose="02010800040101010101" pitchFamily="2" charset="-122"/>
                <a:ea typeface="华文新魏" panose="02010800040101010101" pitchFamily="2" charset="-122"/>
              </a:rPr>
              <a:t>ordered</a:t>
            </a:r>
            <a:r>
              <a:rPr lang="zh-CN" altLang="en-US" sz="2800" b="1" dirty="0" smtClean="0">
                <a:latin typeface="华文新魏" panose="02010800040101010101" pitchFamily="2" charset="-122"/>
                <a:ea typeface="华文新魏" panose="02010800040101010101" pitchFamily="2" charset="-122"/>
              </a:rPr>
              <a:t>子句的</a:t>
            </a:r>
            <a:r>
              <a:rPr lang="en-US" altLang="zh-CN" sz="2800" b="1" dirty="0" smtClean="0">
                <a:latin typeface="华文新魏" panose="02010800040101010101" pitchFamily="2" charset="-122"/>
                <a:ea typeface="华文新魏" panose="02010800040101010101" pitchFamily="2" charset="-122"/>
              </a:rPr>
              <a:t>do/for</a:t>
            </a:r>
            <a:r>
              <a:rPr lang="zh-CN" altLang="en-US" sz="2800" b="1" dirty="0" smtClean="0">
                <a:latin typeface="华文新魏" panose="02010800040101010101" pitchFamily="2" charset="-122"/>
                <a:ea typeface="华文新魏" panose="02010800040101010101" pitchFamily="2" charset="-122"/>
              </a:rPr>
              <a:t>结构或</a:t>
            </a:r>
            <a:r>
              <a:rPr lang="en-US" altLang="zh-CN" sz="2800" b="1" dirty="0" smtClean="0">
                <a:latin typeface="华文新魏" panose="02010800040101010101" pitchFamily="2" charset="-122"/>
                <a:ea typeface="华文新魏" panose="02010800040101010101" pitchFamily="2" charset="-122"/>
              </a:rPr>
              <a:t>parallel  do/for</a:t>
            </a:r>
            <a:r>
              <a:rPr lang="zh-CN" altLang="en-US" sz="2800" b="1" dirty="0" smtClean="0">
                <a:latin typeface="华文新魏" panose="02010800040101010101" pitchFamily="2" charset="-122"/>
                <a:ea typeface="华文新魏" panose="02010800040101010101" pitchFamily="2" charset="-122"/>
              </a:rPr>
              <a:t>结构内。</a:t>
            </a:r>
            <a:endParaRPr lang="en-US" altLang="zh-CN" sz="2800" b="1" dirty="0" smtClean="0">
              <a:latin typeface="华文新魏" panose="02010800040101010101" pitchFamily="2" charset="-122"/>
              <a:ea typeface="华文新魏" panose="02010800040101010101" pitchFamily="2" charset="-122"/>
            </a:endParaRPr>
          </a:p>
          <a:p>
            <a:pPr marL="514350" indent="-514350">
              <a:lnSpc>
                <a:spcPct val="150000"/>
              </a:lnSpc>
              <a:buFont typeface="+mj-lt"/>
              <a:buAutoNum type="arabicParenR" startAt="4"/>
            </a:pPr>
            <a:r>
              <a:rPr lang="en-US" altLang="zh-CN" sz="2800" b="1" dirty="0">
                <a:latin typeface="华文新魏" panose="02010800040101010101" pitchFamily="2" charset="-122"/>
                <a:ea typeface="华文新魏" panose="02010800040101010101" pitchFamily="2" charset="-122"/>
              </a:rPr>
              <a:t>c</a:t>
            </a:r>
            <a:r>
              <a:rPr lang="en-US" altLang="zh-CN" sz="2800" b="1" dirty="0" smtClean="0">
                <a:latin typeface="华文新魏" panose="02010800040101010101" pitchFamily="2" charset="-122"/>
                <a:ea typeface="华文新魏" panose="02010800040101010101" pitchFamily="2" charset="-122"/>
              </a:rPr>
              <a:t>ritical</a:t>
            </a:r>
            <a:r>
              <a:rPr lang="zh-CN" altLang="en-US" sz="2800" b="1" dirty="0" smtClean="0">
                <a:latin typeface="华文新魏" panose="02010800040101010101" pitchFamily="2" charset="-122"/>
                <a:ea typeface="华文新魏" panose="02010800040101010101" pitchFamily="2" charset="-122"/>
              </a:rPr>
              <a:t>结构不能嵌套在带有相同名字的</a:t>
            </a:r>
            <a:r>
              <a:rPr lang="en-US" altLang="zh-CN" sz="2800" b="1" dirty="0" smtClean="0">
                <a:latin typeface="华文新魏" panose="02010800040101010101" pitchFamily="2" charset="-122"/>
                <a:ea typeface="华文新魏" panose="02010800040101010101" pitchFamily="2" charset="-122"/>
              </a:rPr>
              <a:t>critical</a:t>
            </a:r>
            <a:r>
              <a:rPr lang="zh-CN" altLang="en-US" sz="2800" b="1" dirty="0" smtClean="0">
                <a:latin typeface="华文新魏" panose="02010800040101010101" pitchFamily="2" charset="-122"/>
                <a:ea typeface="华文新魏" panose="02010800040101010101" pitchFamily="2" charset="-122"/>
              </a:rPr>
              <a:t>结构内</a:t>
            </a:r>
            <a:endParaRPr lang="en-US" altLang="zh-CN" sz="2800" b="1" dirty="0" smtClean="0">
              <a:latin typeface="华文新魏" panose="02010800040101010101" pitchFamily="2" charset="-122"/>
              <a:ea typeface="华文新魏" panose="02010800040101010101" pitchFamily="2" charset="-122"/>
            </a:endParaRPr>
          </a:p>
          <a:p>
            <a:pPr marL="514350" indent="-514350">
              <a:lnSpc>
                <a:spcPct val="150000"/>
              </a:lnSpc>
              <a:buFont typeface="+mj-lt"/>
              <a:buAutoNum type="arabicParenR" startAt="4"/>
            </a:pPr>
            <a:r>
              <a:rPr lang="en-US" altLang="zh-CN" sz="2800" b="1" dirty="0" smtClean="0">
                <a:latin typeface="华文新魏" panose="02010800040101010101" pitchFamily="2" charset="-122"/>
                <a:ea typeface="华文新魏" panose="02010800040101010101" pitchFamily="2" charset="-122"/>
              </a:rPr>
              <a:t>atomic</a:t>
            </a:r>
            <a:r>
              <a:rPr lang="zh-CN" altLang="en-US" sz="2800" b="1" dirty="0" smtClean="0">
                <a:latin typeface="华文新魏" panose="02010800040101010101" pitchFamily="2" charset="-122"/>
                <a:ea typeface="华文新魏" panose="02010800040101010101" pitchFamily="2" charset="-122"/>
              </a:rPr>
              <a:t>结构内不能紧密嵌套</a:t>
            </a:r>
            <a:r>
              <a:rPr lang="en-US" altLang="zh-CN" sz="2800" b="1" dirty="0" smtClean="0">
                <a:latin typeface="华文新魏" panose="02010800040101010101" pitchFamily="2" charset="-122"/>
                <a:ea typeface="华文新魏" panose="02010800040101010101" pitchFamily="2" charset="-122"/>
              </a:rPr>
              <a:t>parallel </a:t>
            </a:r>
            <a:r>
              <a:rPr lang="zh-CN" altLang="en-US" sz="2800" b="1" dirty="0" smtClean="0">
                <a:latin typeface="华文新魏" panose="02010800040101010101" pitchFamily="2" charset="-122"/>
                <a:ea typeface="华文新魏" panose="02010800040101010101" pitchFamily="2" charset="-122"/>
              </a:rPr>
              <a:t>、</a:t>
            </a:r>
            <a:r>
              <a:rPr lang="en-US" altLang="zh-CN" sz="2800" b="1" dirty="0" smtClean="0">
                <a:latin typeface="华文新魏" panose="02010800040101010101" pitchFamily="2" charset="-122"/>
                <a:ea typeface="华文新魏" panose="02010800040101010101" pitchFamily="2" charset="-122"/>
              </a:rPr>
              <a:t>flush</a:t>
            </a:r>
            <a:r>
              <a:rPr lang="zh-CN" altLang="en-US" sz="2800" b="1" dirty="0" smtClean="0">
                <a:latin typeface="华文新魏" panose="02010800040101010101" pitchFamily="2" charset="-122"/>
                <a:ea typeface="华文新魏" panose="02010800040101010101" pitchFamily="2" charset="-122"/>
              </a:rPr>
              <a:t>、 </a:t>
            </a:r>
            <a:r>
              <a:rPr lang="en-US" altLang="zh-CN" sz="2800" b="1" dirty="0" smtClean="0">
                <a:latin typeface="华文新魏" panose="02010800040101010101" pitchFamily="2" charset="-122"/>
                <a:ea typeface="华文新魏" panose="02010800040101010101" pitchFamily="2" charset="-122"/>
              </a:rPr>
              <a:t>critical</a:t>
            </a:r>
            <a:r>
              <a:rPr lang="zh-CN" altLang="en-US" sz="2800" b="1" dirty="0" smtClean="0">
                <a:latin typeface="华文新魏" panose="02010800040101010101" pitchFamily="2" charset="-122"/>
                <a:ea typeface="华文新魏" panose="02010800040101010101" pitchFamily="2" charset="-122"/>
              </a:rPr>
              <a:t>、</a:t>
            </a:r>
            <a:r>
              <a:rPr lang="en-US" altLang="zh-CN" sz="2800" b="1" dirty="0" smtClean="0">
                <a:latin typeface="华文新魏" panose="02010800040101010101" pitchFamily="2" charset="-122"/>
                <a:ea typeface="华文新魏" panose="02010800040101010101" pitchFamily="2" charset="-122"/>
              </a:rPr>
              <a:t>atomic</a:t>
            </a:r>
            <a:r>
              <a:rPr lang="zh-CN" altLang="en-US" sz="2800" b="1" dirty="0" smtClean="0">
                <a:latin typeface="华文新魏" panose="02010800040101010101" pitchFamily="2" charset="-122"/>
                <a:ea typeface="华文新魏" panose="02010800040101010101" pitchFamily="2" charset="-122"/>
              </a:rPr>
              <a:t>、</a:t>
            </a:r>
            <a:r>
              <a:rPr lang="en-US" altLang="zh-CN" sz="2800" b="1" dirty="0" smtClean="0">
                <a:latin typeface="华文新魏" panose="02010800040101010101" pitchFamily="2" charset="-122"/>
                <a:ea typeface="华文新魏" panose="02010800040101010101" pitchFamily="2" charset="-122"/>
              </a:rPr>
              <a:t>taskyield</a:t>
            </a:r>
            <a:r>
              <a:rPr lang="zh-CN" altLang="en-US" sz="2800" b="1" dirty="0" smtClean="0">
                <a:latin typeface="华文新魏" panose="02010800040101010101" pitchFamily="2" charset="-122"/>
                <a:ea typeface="华文新魏" panose="02010800040101010101" pitchFamily="2" charset="-122"/>
              </a:rPr>
              <a:t>和</a:t>
            </a:r>
            <a:r>
              <a:rPr lang="en-US" altLang="zh-CN" sz="2800" b="1" dirty="0" smtClean="0">
                <a:latin typeface="华文新魏" panose="02010800040101010101" pitchFamily="2" charset="-122"/>
                <a:ea typeface="华文新魏" panose="02010800040101010101" pitchFamily="2" charset="-122"/>
              </a:rPr>
              <a:t>task</a:t>
            </a:r>
            <a:r>
              <a:rPr lang="zh-CN" altLang="en-US" sz="2800" b="1" dirty="0" smtClean="0">
                <a:latin typeface="华文新魏" panose="02010800040101010101" pitchFamily="2" charset="-122"/>
                <a:ea typeface="华文新魏" panose="02010800040101010101" pitchFamily="2" charset="-122"/>
              </a:rPr>
              <a:t>结构。</a:t>
            </a:r>
            <a:endParaRPr lang="zh-CN" altLang="en-US" sz="2800" b="1" dirty="0">
              <a:latin typeface="华文新魏" panose="02010800040101010101" pitchFamily="2" charset="-122"/>
              <a:ea typeface="华文新魏" panose="02010800040101010101" pitchFamily="2" charset="-122"/>
            </a:endParaRPr>
          </a:p>
          <a:p>
            <a:pPr marL="514350" indent="-514350">
              <a:buFont typeface="+mj-lt"/>
              <a:buAutoNum type="arabicParenR" startAt="4"/>
            </a:pPr>
            <a:endParaRPr lang="en-US" altLang="zh-CN" sz="2800" b="1" dirty="0" smtClean="0">
              <a:latin typeface="华文新魏" panose="02010800040101010101" pitchFamily="2" charset="-122"/>
              <a:ea typeface="华文新魏" panose="02010800040101010101" pitchFamily="2" charset="-122"/>
            </a:endParaRPr>
          </a:p>
          <a:p>
            <a:pPr marL="0" indent="0">
              <a:buNone/>
            </a:pPr>
            <a:endParaRPr lang="en-US" altLang="zh-CN" sz="2800" b="1" dirty="0" smtClean="0">
              <a:latin typeface="华文新魏" panose="02010800040101010101" pitchFamily="2" charset="-122"/>
              <a:ea typeface="华文新魏" panose="02010800040101010101" pitchFamily="2" charset="-122"/>
            </a:endParaRPr>
          </a:p>
          <a:p>
            <a:pPr marL="0" indent="0">
              <a:buNone/>
            </a:pPr>
            <a:endParaRPr lang="en-US" altLang="zh-CN" sz="2800" b="1" dirty="0" smtClean="0">
              <a:latin typeface="华文新魏" panose="02010800040101010101" pitchFamily="2" charset="-122"/>
              <a:ea typeface="华文新魏" panose="02010800040101010101" pitchFamily="2" charset="-122"/>
            </a:endParaRPr>
          </a:p>
          <a:p>
            <a:pPr marL="0" indent="0" algn="ctr">
              <a:buNone/>
            </a:pPr>
            <a:endParaRPr lang="en-US" altLang="zh-CN" sz="1200" b="1" dirty="0" smtClean="0">
              <a:solidFill>
                <a:srgbClr val="2D0AC2"/>
              </a:solidFill>
              <a:ea typeface="隶书" panose="02010509060101010101" pitchFamily="49" charset="-122"/>
            </a:endParaRPr>
          </a:p>
          <a:p>
            <a:pPr marL="0" indent="0" algn="ctr">
              <a:buNone/>
            </a:pPr>
            <a:endParaRPr lang="en-US" altLang="zh-CN" sz="1200" b="1" dirty="0" smtClean="0">
              <a:solidFill>
                <a:srgbClr val="2D0AC2"/>
              </a:solidFill>
              <a:ea typeface="隶书" panose="02010509060101010101" pitchFamily="49" charset="-122"/>
            </a:endParaRPr>
          </a:p>
          <a:p>
            <a:pPr marL="0" indent="0">
              <a:lnSpc>
                <a:spcPct val="150000"/>
              </a:lnSpc>
              <a:buNone/>
            </a:pPr>
            <a:endParaRPr lang="en-US" altLang="zh-CN" b="1" dirty="0" smtClean="0">
              <a:ea typeface="隶书" panose="02010509060101010101" pitchFamily="49" charset="-122"/>
            </a:endParaRPr>
          </a:p>
        </p:txBody>
      </p:sp>
    </p:spTree>
  </p:cSld>
  <p:clrMapOvr>
    <a:masterClrMapping/>
  </p:clrMapOvr>
  <p:transition spd="med" advTm="3025">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44380" y="814255"/>
            <a:ext cx="10912840" cy="5411738"/>
          </a:xfrm>
          <a:prstGeom prst="rect">
            <a:avLst/>
          </a:prstGeom>
        </p:spPr>
        <p:txBody>
          <a:bodyPr wrap="square">
            <a:spAutoFit/>
          </a:bodyPr>
          <a:lstStyle/>
          <a:p>
            <a:pPr algn="ctr"/>
            <a:r>
              <a:rPr lang="zh-CN" altLang="en-US" sz="4400" b="1" dirty="0">
                <a:solidFill>
                  <a:srgbClr val="2D0AC2"/>
                </a:solidFill>
                <a:latin typeface="华文行楷" panose="02010800040101010101" pitchFamily="2" charset="-122"/>
                <a:ea typeface="华文行楷" panose="02010800040101010101" pitchFamily="2" charset="-122"/>
              </a:rPr>
              <a:t>语句绑定和嵌套规则 </a:t>
            </a:r>
            <a:endParaRPr lang="zh-CN" altLang="en-US" sz="4400" b="1" dirty="0">
              <a:solidFill>
                <a:srgbClr val="2D0AC2"/>
              </a:solidFill>
              <a:latin typeface="华文行楷" panose="02010800040101010101" pitchFamily="2" charset="-122"/>
              <a:ea typeface="华文行楷" panose="02010800040101010101" pitchFamily="2" charset="-122"/>
            </a:endParaRPr>
          </a:p>
          <a:p>
            <a:pPr marL="457200" indent="-457200">
              <a:lnSpc>
                <a:spcPts val="4000"/>
              </a:lnSpc>
              <a:buFont typeface="Wingdings" panose="05000000000000000000" pitchFamily="2" charset="2"/>
              <a:buChar char="v"/>
            </a:pPr>
            <a:r>
              <a:rPr lang="zh-CN" altLang="en-US" sz="2800" b="1" dirty="0" smtClean="0"/>
              <a:t> </a:t>
            </a:r>
            <a:r>
              <a:rPr lang="zh-CN" altLang="en-US" sz="2800" b="1" dirty="0">
                <a:solidFill>
                  <a:srgbClr val="C00000"/>
                </a:solidFill>
              </a:rPr>
              <a:t>语句绑定 </a:t>
            </a:r>
            <a:endParaRPr lang="zh-CN" altLang="en-US" sz="2800" b="1" dirty="0">
              <a:solidFill>
                <a:srgbClr val="C00000"/>
              </a:solidFill>
            </a:endParaRPr>
          </a:p>
          <a:p>
            <a:pPr marL="457200" indent="-457200">
              <a:lnSpc>
                <a:spcPts val="4600"/>
              </a:lnSpc>
              <a:buFont typeface="Wingdings" panose="05000000000000000000" pitchFamily="2" charset="2"/>
              <a:buChar char="Ø"/>
            </a:pPr>
            <a:r>
              <a:rPr lang="zh-CN" altLang="en-US" sz="2800" b="1" dirty="0" smtClean="0"/>
              <a:t>语句</a:t>
            </a:r>
            <a:r>
              <a:rPr lang="en-US" altLang="zh-CN" sz="2800" b="1" dirty="0"/>
              <a:t>DO/for</a:t>
            </a:r>
            <a:r>
              <a:rPr lang="zh-CN" altLang="en-US" sz="2800" b="1" dirty="0"/>
              <a:t>、</a:t>
            </a:r>
            <a:r>
              <a:rPr lang="en-US" altLang="zh-CN" sz="2800" b="1" dirty="0"/>
              <a:t>SECTIONS</a:t>
            </a:r>
            <a:r>
              <a:rPr lang="zh-CN" altLang="en-US" sz="2800" b="1" dirty="0"/>
              <a:t>、</a:t>
            </a:r>
            <a:r>
              <a:rPr lang="en-US" altLang="zh-CN" sz="2800" b="1" dirty="0"/>
              <a:t>SINGLE</a:t>
            </a:r>
            <a:r>
              <a:rPr lang="zh-CN" altLang="en-US" sz="2800" b="1" dirty="0"/>
              <a:t>、</a:t>
            </a:r>
            <a:r>
              <a:rPr lang="en-US" altLang="zh-CN" sz="2800" b="1" dirty="0"/>
              <a:t>MASTER</a:t>
            </a:r>
            <a:r>
              <a:rPr lang="zh-CN" altLang="en-US" sz="2800" b="1" dirty="0"/>
              <a:t>和</a:t>
            </a:r>
            <a:r>
              <a:rPr lang="en-US" altLang="zh-CN" sz="2800" b="1" dirty="0"/>
              <a:t>BARRIER</a:t>
            </a:r>
            <a:r>
              <a:rPr lang="zh-CN" altLang="en-US" sz="2800" b="1" dirty="0" smtClean="0"/>
              <a:t>绑定到</a:t>
            </a:r>
            <a:r>
              <a:rPr lang="zh-CN" altLang="en-US" sz="2800" b="1" dirty="0"/>
              <a:t>动态的封装</a:t>
            </a:r>
            <a:r>
              <a:rPr lang="en-US" altLang="zh-CN" sz="2800" b="1" dirty="0"/>
              <a:t>PARALLEL</a:t>
            </a:r>
            <a:r>
              <a:rPr lang="zh-CN" altLang="en-US" sz="2800" b="1" dirty="0"/>
              <a:t>中，如果没有并行域执行，这些语句是</a:t>
            </a:r>
            <a:r>
              <a:rPr lang="zh-CN" altLang="en-US" sz="2800" b="1" dirty="0" smtClean="0"/>
              <a:t>无效的。 </a:t>
            </a:r>
            <a:endParaRPr lang="zh-CN" altLang="en-US" sz="2800" b="1" dirty="0"/>
          </a:p>
          <a:p>
            <a:pPr marL="457200" indent="-457200">
              <a:lnSpc>
                <a:spcPts val="4600"/>
              </a:lnSpc>
              <a:buFont typeface="Wingdings" panose="05000000000000000000" pitchFamily="2" charset="2"/>
              <a:buChar char="Ø"/>
            </a:pPr>
            <a:r>
              <a:rPr lang="zh-CN" altLang="en-US" sz="2800" b="1" dirty="0" smtClean="0"/>
              <a:t>语句</a:t>
            </a:r>
            <a:r>
              <a:rPr lang="en-US" altLang="zh-CN" sz="2800" b="1" dirty="0"/>
              <a:t>ORDERED</a:t>
            </a:r>
            <a:r>
              <a:rPr lang="zh-CN" altLang="en-US" sz="2800" b="1" dirty="0"/>
              <a:t>指令绑定到动态</a:t>
            </a:r>
            <a:r>
              <a:rPr lang="en-US" altLang="zh-CN" sz="2800" b="1" dirty="0"/>
              <a:t>DO/for</a:t>
            </a:r>
            <a:r>
              <a:rPr lang="zh-CN" altLang="en-US" sz="2800" b="1" dirty="0"/>
              <a:t>封装</a:t>
            </a:r>
            <a:r>
              <a:rPr lang="zh-CN" altLang="en-US" sz="2800" b="1" dirty="0" smtClean="0"/>
              <a:t>中 </a:t>
            </a:r>
            <a:endParaRPr lang="zh-CN" altLang="en-US" sz="2800" b="1" dirty="0"/>
          </a:p>
          <a:p>
            <a:pPr marL="457200" indent="-457200">
              <a:lnSpc>
                <a:spcPts val="4600"/>
              </a:lnSpc>
              <a:buFont typeface="Wingdings" panose="05000000000000000000" pitchFamily="2" charset="2"/>
              <a:buChar char="Ø"/>
            </a:pPr>
            <a:r>
              <a:rPr lang="zh-CN" altLang="en-US" sz="2800" b="1" dirty="0" smtClean="0"/>
              <a:t>语句</a:t>
            </a:r>
            <a:r>
              <a:rPr lang="en-US" altLang="zh-CN" sz="2800" b="1" dirty="0" smtClean="0"/>
              <a:t>ATOMIC</a:t>
            </a:r>
            <a:r>
              <a:rPr lang="zh-CN" altLang="en-US" sz="2800" b="1" dirty="0" smtClean="0"/>
              <a:t>保证操作的安全执行，有</a:t>
            </a:r>
            <a:r>
              <a:rPr lang="en-US" altLang="zh-CN" sz="2800" b="1" dirty="0" smtClean="0"/>
              <a:t>read</a:t>
            </a:r>
            <a:r>
              <a:rPr lang="zh-CN" altLang="en-US" sz="2800" b="1" dirty="0" smtClean="0"/>
              <a:t>、</a:t>
            </a:r>
            <a:r>
              <a:rPr lang="en-US" altLang="zh-CN" sz="2800" b="1" dirty="0" smtClean="0"/>
              <a:t>write</a:t>
            </a:r>
            <a:r>
              <a:rPr lang="zh-CN" altLang="en-US" sz="2800" b="1" dirty="0" smtClean="0"/>
              <a:t>、</a:t>
            </a:r>
            <a:r>
              <a:rPr lang="en-US" altLang="zh-CN" sz="2800" b="1" dirty="0" smtClean="0"/>
              <a:t>update</a:t>
            </a:r>
            <a:r>
              <a:rPr lang="zh-CN" altLang="en-US" sz="2800" b="1" dirty="0" smtClean="0"/>
              <a:t>等子句 </a:t>
            </a:r>
            <a:endParaRPr lang="zh-CN" altLang="en-US" sz="2800" b="1" dirty="0"/>
          </a:p>
          <a:p>
            <a:pPr marL="457200" indent="-457200">
              <a:lnSpc>
                <a:spcPts val="4600"/>
              </a:lnSpc>
              <a:buFont typeface="Wingdings" panose="05000000000000000000" pitchFamily="2" charset="2"/>
              <a:buChar char="Ø"/>
            </a:pPr>
            <a:r>
              <a:rPr lang="zh-CN" altLang="en-US" sz="2800" b="1" dirty="0" smtClean="0"/>
              <a:t>语句</a:t>
            </a:r>
            <a:r>
              <a:rPr lang="en-US" altLang="zh-CN" sz="2800" b="1" dirty="0" smtClean="0"/>
              <a:t>CRITICAL</a:t>
            </a:r>
            <a:r>
              <a:rPr lang="zh-CN" altLang="en-US" sz="2800" b="1" dirty="0" smtClean="0"/>
              <a:t>为避免线程竞争，使所包含的代码同一时刻只能有一个线程执行。</a:t>
            </a:r>
            <a:endParaRPr lang="zh-CN" altLang="en-US" sz="2800" b="1" dirty="0"/>
          </a:p>
          <a:p>
            <a:pPr marL="457200" indent="-457200">
              <a:lnSpc>
                <a:spcPts val="4600"/>
              </a:lnSpc>
              <a:buFont typeface="Wingdings" panose="05000000000000000000" pitchFamily="2" charset="2"/>
              <a:buChar char="Ø"/>
            </a:pPr>
            <a:r>
              <a:rPr lang="zh-CN" altLang="en-US" sz="2800" b="1" dirty="0" smtClean="0"/>
              <a:t>在</a:t>
            </a:r>
            <a:r>
              <a:rPr lang="en-US" altLang="zh-CN" sz="2800" b="1" dirty="0"/>
              <a:t>PARALLEL</a:t>
            </a:r>
            <a:r>
              <a:rPr lang="zh-CN" altLang="en-US" sz="2800" b="1" dirty="0"/>
              <a:t>封装外，一个语句并不绑定到其它的语句中。 </a:t>
            </a:r>
            <a:endParaRPr lang="en-US" sz="2800" b="1" dirty="0"/>
          </a:p>
        </p:txBody>
      </p:sp>
    </p:spTree>
  </p:cSld>
  <p:clrMapOvr>
    <a:masterClrMapping/>
  </p:clrMapOvr>
  <p:transition spd="med" advTm="3025">
    <p:fade/>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69627" y="455768"/>
            <a:ext cx="11377533" cy="5293757"/>
          </a:xfrm>
          <a:prstGeom prst="rect">
            <a:avLst/>
          </a:prstGeom>
        </p:spPr>
        <p:txBody>
          <a:bodyPr wrap="square">
            <a:spAutoFit/>
          </a:bodyPr>
          <a:lstStyle/>
          <a:p>
            <a:pPr algn="ctr"/>
            <a:r>
              <a:rPr lang="zh-CN" altLang="en-US" sz="4400" b="1" dirty="0">
                <a:solidFill>
                  <a:srgbClr val="2D0AC2"/>
                </a:solidFill>
                <a:latin typeface="华文行楷" panose="02010800040101010101" pitchFamily="2" charset="-122"/>
                <a:ea typeface="华文行楷" panose="02010800040101010101" pitchFamily="2" charset="-122"/>
              </a:rPr>
              <a:t>语句绑定和嵌套规则 </a:t>
            </a:r>
            <a:endParaRPr lang="zh-CN" altLang="en-US" sz="4400" b="1" dirty="0">
              <a:solidFill>
                <a:srgbClr val="2D0AC2"/>
              </a:solidFill>
              <a:latin typeface="华文行楷" panose="02010800040101010101" pitchFamily="2" charset="-122"/>
              <a:ea typeface="华文行楷" panose="02010800040101010101" pitchFamily="2" charset="-122"/>
            </a:endParaRPr>
          </a:p>
          <a:p>
            <a:pPr marL="457200" indent="-457200">
              <a:lnSpc>
                <a:spcPct val="150000"/>
              </a:lnSpc>
              <a:buFont typeface="Wingdings" panose="05000000000000000000" pitchFamily="2" charset="2"/>
              <a:buChar char="v"/>
            </a:pPr>
            <a:r>
              <a:rPr lang="zh-CN" altLang="en-US" sz="2800" b="1" dirty="0" smtClean="0">
                <a:solidFill>
                  <a:srgbClr val="C00000"/>
                </a:solidFill>
              </a:rPr>
              <a:t>语句</a:t>
            </a:r>
            <a:r>
              <a:rPr lang="zh-CN" altLang="en-US" sz="2800" b="1" dirty="0">
                <a:solidFill>
                  <a:srgbClr val="C00000"/>
                </a:solidFill>
              </a:rPr>
              <a:t>嵌套 </a:t>
            </a:r>
            <a:endParaRPr lang="zh-CN" altLang="en-US" sz="2800" b="1" dirty="0">
              <a:solidFill>
                <a:srgbClr val="C00000"/>
              </a:solidFill>
            </a:endParaRPr>
          </a:p>
          <a:p>
            <a:pPr marL="457200" indent="-457200">
              <a:lnSpc>
                <a:spcPct val="150000"/>
              </a:lnSpc>
              <a:buFont typeface="Wingdings" panose="05000000000000000000" pitchFamily="2" charset="2"/>
              <a:buChar char="Ø"/>
            </a:pPr>
            <a:r>
              <a:rPr lang="en-US" sz="2800" b="1" dirty="0" smtClean="0"/>
              <a:t>PARALALL </a:t>
            </a:r>
            <a:r>
              <a:rPr lang="zh-CN" altLang="en-US" sz="2800" b="1" dirty="0"/>
              <a:t>语句动态地嵌套到</a:t>
            </a:r>
            <a:r>
              <a:rPr lang="zh-CN" altLang="en-US" sz="2800" b="1" dirty="0" smtClean="0"/>
              <a:t>其它的语句</a:t>
            </a:r>
            <a:r>
              <a:rPr lang="zh-CN" altLang="en-US" sz="2800" b="1" dirty="0"/>
              <a:t>中，从而逻辑地建立了一个新队列</a:t>
            </a:r>
            <a:r>
              <a:rPr lang="zh-CN" altLang="en-US" sz="2800" b="1" dirty="0" smtClean="0"/>
              <a:t>，但</a:t>
            </a:r>
            <a:r>
              <a:rPr lang="zh-CN" altLang="en-US" sz="2800" b="1" dirty="0"/>
              <a:t>这个队列若没有嵌套地并行域执行，则只包含当前的线程； </a:t>
            </a:r>
            <a:endParaRPr lang="zh-CN" altLang="en-US" sz="2800" b="1" dirty="0"/>
          </a:p>
          <a:p>
            <a:pPr marL="457200" indent="-457200">
              <a:lnSpc>
                <a:spcPct val="150000"/>
              </a:lnSpc>
              <a:buFont typeface="Wingdings" panose="05000000000000000000" pitchFamily="2" charset="2"/>
              <a:buChar char="Ø"/>
            </a:pPr>
            <a:r>
              <a:rPr lang="zh-CN" altLang="en-US" sz="2800" b="1" dirty="0" smtClean="0"/>
              <a:t> </a:t>
            </a:r>
            <a:r>
              <a:rPr lang="en-US" sz="2800" b="1" dirty="0"/>
              <a:t>DO/</a:t>
            </a:r>
            <a:r>
              <a:rPr lang="en-US" sz="2800" b="1" dirty="0" err="1"/>
              <a:t>for、SECTION</a:t>
            </a:r>
            <a:r>
              <a:rPr lang="zh-CN" altLang="en-US" sz="2800" b="1" dirty="0"/>
              <a:t>和</a:t>
            </a:r>
            <a:r>
              <a:rPr lang="en-US" sz="2800" b="1" dirty="0"/>
              <a:t>SINGLE</a:t>
            </a:r>
            <a:r>
              <a:rPr lang="zh-CN" altLang="en-US" sz="2800" b="1" dirty="0"/>
              <a:t>语句绑定到同一个</a:t>
            </a:r>
            <a:r>
              <a:rPr lang="en-US" sz="2800" b="1" dirty="0"/>
              <a:t>PARALLEL </a:t>
            </a:r>
            <a:r>
              <a:rPr lang="zh-CN" altLang="en-US" sz="2800" b="1" dirty="0"/>
              <a:t>中，则它们</a:t>
            </a:r>
            <a:r>
              <a:rPr lang="zh-CN" altLang="en-US" sz="2800" b="1" dirty="0" smtClean="0"/>
              <a:t>是不</a:t>
            </a:r>
            <a:r>
              <a:rPr lang="zh-CN" altLang="en-US" sz="2800" b="1" dirty="0"/>
              <a:t>允许互相嵌套的； </a:t>
            </a:r>
            <a:endParaRPr lang="zh-CN" altLang="en-US" sz="2800" b="1" dirty="0"/>
          </a:p>
          <a:p>
            <a:pPr marL="457200" indent="-457200">
              <a:lnSpc>
                <a:spcPct val="150000"/>
              </a:lnSpc>
              <a:buFont typeface="Wingdings" panose="05000000000000000000" pitchFamily="2" charset="2"/>
              <a:buChar char="Ø"/>
            </a:pPr>
            <a:r>
              <a:rPr lang="en-US" sz="2800" b="1" dirty="0" smtClean="0"/>
              <a:t>DO/</a:t>
            </a:r>
            <a:r>
              <a:rPr lang="en-US" sz="2800" b="1" dirty="0" err="1" smtClean="0"/>
              <a:t>for、SECTION</a:t>
            </a:r>
            <a:r>
              <a:rPr lang="zh-CN" altLang="en-US" sz="2800" b="1" dirty="0"/>
              <a:t>和</a:t>
            </a:r>
            <a:r>
              <a:rPr lang="en-US" sz="2800" b="1" dirty="0"/>
              <a:t>SINGLE</a:t>
            </a:r>
            <a:r>
              <a:rPr lang="zh-CN" altLang="en-US" sz="2800" b="1" dirty="0"/>
              <a:t>语句不允许在动态的扩展</a:t>
            </a:r>
            <a:r>
              <a:rPr lang="en-US" sz="2800" b="1" dirty="0" smtClean="0"/>
              <a:t>CRITICAL、ORDERED</a:t>
            </a:r>
            <a:r>
              <a:rPr lang="zh-CN" altLang="en-US" sz="2800" b="1" dirty="0"/>
              <a:t>和</a:t>
            </a:r>
            <a:r>
              <a:rPr lang="en-US" sz="2800" b="1" dirty="0"/>
              <a:t>MASTER</a:t>
            </a:r>
            <a:r>
              <a:rPr lang="zh-CN" altLang="en-US" sz="2800" b="1" dirty="0"/>
              <a:t>域中； </a:t>
            </a:r>
            <a:endParaRPr lang="zh-CN" altLang="en-US" sz="2800" b="1" dirty="0"/>
          </a:p>
        </p:txBody>
      </p:sp>
    </p:spTree>
  </p:cSld>
  <p:clrMapOvr>
    <a:masterClrMapping/>
  </p:clrMapOvr>
  <p:transition spd="med" advTm="3025">
    <p:fade/>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09667" y="425788"/>
            <a:ext cx="11242622" cy="5724644"/>
          </a:xfrm>
          <a:prstGeom prst="rect">
            <a:avLst/>
          </a:prstGeom>
        </p:spPr>
        <p:txBody>
          <a:bodyPr wrap="square">
            <a:spAutoFit/>
          </a:bodyPr>
          <a:lstStyle/>
          <a:p>
            <a:pPr algn="ctr"/>
            <a:r>
              <a:rPr lang="zh-CN" altLang="en-US" sz="4400" b="1" dirty="0">
                <a:solidFill>
                  <a:srgbClr val="2D0AC2"/>
                </a:solidFill>
                <a:latin typeface="华文行楷" panose="02010800040101010101" pitchFamily="2" charset="-122"/>
                <a:ea typeface="华文行楷" panose="02010800040101010101" pitchFamily="2" charset="-122"/>
              </a:rPr>
              <a:t>语句绑定和嵌套规则 </a:t>
            </a:r>
            <a:endParaRPr lang="zh-CN" altLang="en-US" sz="4400" b="1" dirty="0">
              <a:solidFill>
                <a:srgbClr val="2D0AC2"/>
              </a:solidFill>
              <a:latin typeface="华文行楷" panose="02010800040101010101" pitchFamily="2" charset="-122"/>
              <a:ea typeface="华文行楷" panose="02010800040101010101" pitchFamily="2" charset="-122"/>
            </a:endParaRPr>
          </a:p>
          <a:p>
            <a:pPr marL="457200" indent="-457200">
              <a:buFont typeface="Wingdings" panose="05000000000000000000" pitchFamily="2" charset="2"/>
              <a:buChar char="v"/>
            </a:pPr>
            <a:r>
              <a:rPr lang="zh-CN" altLang="en-US" sz="2800" b="1" dirty="0" smtClean="0">
                <a:solidFill>
                  <a:srgbClr val="C00000"/>
                </a:solidFill>
              </a:rPr>
              <a:t>语句</a:t>
            </a:r>
            <a:r>
              <a:rPr lang="zh-CN" altLang="en-US" sz="2800" b="1" dirty="0">
                <a:solidFill>
                  <a:srgbClr val="C00000"/>
                </a:solidFill>
              </a:rPr>
              <a:t>嵌套 </a:t>
            </a:r>
            <a:endParaRPr lang="en-US" altLang="zh-CN" sz="2800" b="1" dirty="0" smtClean="0">
              <a:solidFill>
                <a:srgbClr val="C00000"/>
              </a:solidFill>
            </a:endParaRPr>
          </a:p>
          <a:p>
            <a:pPr marL="457200" indent="-457200">
              <a:lnSpc>
                <a:spcPct val="150000"/>
              </a:lnSpc>
              <a:buFont typeface="Wingdings" panose="05000000000000000000" pitchFamily="2" charset="2"/>
              <a:buChar char="Ø"/>
            </a:pPr>
            <a:r>
              <a:rPr lang="en-US" altLang="zh-CN" sz="2800" b="1" dirty="0" smtClean="0"/>
              <a:t>CRITICAL</a:t>
            </a:r>
            <a:r>
              <a:rPr lang="zh-CN" altLang="en-US" sz="2800" b="1" dirty="0"/>
              <a:t>语句不允许互相嵌套； </a:t>
            </a:r>
            <a:endParaRPr lang="zh-CN" altLang="en-US" sz="2800" b="1" dirty="0"/>
          </a:p>
          <a:p>
            <a:pPr marL="457200" indent="-457200">
              <a:lnSpc>
                <a:spcPct val="150000"/>
              </a:lnSpc>
              <a:buFont typeface="Wingdings" panose="05000000000000000000" pitchFamily="2" charset="2"/>
              <a:buChar char="Ø"/>
            </a:pPr>
            <a:r>
              <a:rPr lang="en-US" sz="2800" b="1" dirty="0" smtClean="0">
                <a:solidFill>
                  <a:srgbClr val="000000"/>
                </a:solidFill>
              </a:rPr>
              <a:t>BARRIER</a:t>
            </a:r>
            <a:r>
              <a:rPr lang="zh-CN" altLang="en-US" sz="2800" b="1" dirty="0">
                <a:solidFill>
                  <a:srgbClr val="000000"/>
                </a:solidFill>
              </a:rPr>
              <a:t>语句不允许在动态的扩展</a:t>
            </a:r>
            <a:r>
              <a:rPr lang="en-US" sz="2800" b="1" dirty="0" smtClean="0">
                <a:solidFill>
                  <a:srgbClr val="000000"/>
                </a:solidFill>
              </a:rPr>
              <a:t>DO/</a:t>
            </a:r>
            <a:r>
              <a:rPr lang="en-US" sz="2800" b="1" dirty="0" err="1" smtClean="0">
                <a:solidFill>
                  <a:srgbClr val="000000"/>
                </a:solidFill>
              </a:rPr>
              <a:t>for、ORDERED、SECTIONS、SINGLE、MASTER</a:t>
            </a:r>
            <a:r>
              <a:rPr lang="zh-CN" altLang="en-US" sz="2800" b="1" dirty="0">
                <a:solidFill>
                  <a:srgbClr val="000000"/>
                </a:solidFill>
              </a:rPr>
              <a:t>和</a:t>
            </a:r>
            <a:r>
              <a:rPr lang="en-US" sz="2800" b="1" dirty="0">
                <a:solidFill>
                  <a:srgbClr val="000000"/>
                </a:solidFill>
              </a:rPr>
              <a:t>CRITICAL</a:t>
            </a:r>
            <a:r>
              <a:rPr lang="zh-CN" altLang="en-US" sz="2800" b="1" dirty="0">
                <a:solidFill>
                  <a:srgbClr val="000000"/>
                </a:solidFill>
              </a:rPr>
              <a:t>域中； </a:t>
            </a:r>
            <a:endParaRPr lang="zh-CN" altLang="en-US" sz="2800" b="1" dirty="0">
              <a:solidFill>
                <a:srgbClr val="000000"/>
              </a:solidFill>
            </a:endParaRPr>
          </a:p>
          <a:p>
            <a:pPr marL="457200" indent="-457200">
              <a:lnSpc>
                <a:spcPct val="150000"/>
              </a:lnSpc>
              <a:buFont typeface="Wingdings" panose="05000000000000000000" pitchFamily="2" charset="2"/>
              <a:buChar char="Ø"/>
            </a:pPr>
            <a:r>
              <a:rPr lang="en-US" sz="2800" b="1" dirty="0" smtClean="0">
                <a:solidFill>
                  <a:srgbClr val="000000"/>
                </a:solidFill>
              </a:rPr>
              <a:t>MASTER</a:t>
            </a:r>
            <a:r>
              <a:rPr lang="zh-CN" altLang="en-US" sz="2800" b="1" dirty="0">
                <a:solidFill>
                  <a:srgbClr val="000000"/>
                </a:solidFill>
              </a:rPr>
              <a:t>语句不允许在动态的扩展</a:t>
            </a:r>
            <a:r>
              <a:rPr lang="en-US" sz="2800" b="1" dirty="0">
                <a:solidFill>
                  <a:srgbClr val="000000"/>
                </a:solidFill>
              </a:rPr>
              <a:t>DO/</a:t>
            </a:r>
            <a:r>
              <a:rPr lang="en-US" sz="2800" b="1" dirty="0" err="1">
                <a:solidFill>
                  <a:srgbClr val="000000"/>
                </a:solidFill>
              </a:rPr>
              <a:t>for、SECTIONS</a:t>
            </a:r>
            <a:r>
              <a:rPr lang="zh-CN" altLang="en-US" sz="2800" b="1" dirty="0">
                <a:solidFill>
                  <a:srgbClr val="000000"/>
                </a:solidFill>
              </a:rPr>
              <a:t>和</a:t>
            </a:r>
            <a:r>
              <a:rPr lang="en-US" sz="2800" b="1" dirty="0">
                <a:solidFill>
                  <a:srgbClr val="000000"/>
                </a:solidFill>
              </a:rPr>
              <a:t>SINGLE</a:t>
            </a:r>
            <a:r>
              <a:rPr lang="zh-CN" altLang="en-US" sz="2800" b="1" dirty="0">
                <a:solidFill>
                  <a:srgbClr val="000000"/>
                </a:solidFill>
              </a:rPr>
              <a:t>语句中； </a:t>
            </a:r>
            <a:endParaRPr lang="zh-CN" altLang="en-US" sz="2800" b="1" dirty="0">
              <a:solidFill>
                <a:srgbClr val="000000"/>
              </a:solidFill>
            </a:endParaRPr>
          </a:p>
          <a:p>
            <a:pPr marL="457200" indent="-457200">
              <a:lnSpc>
                <a:spcPct val="150000"/>
              </a:lnSpc>
              <a:buFont typeface="Wingdings" panose="05000000000000000000" pitchFamily="2" charset="2"/>
              <a:buChar char="Ø"/>
            </a:pPr>
            <a:r>
              <a:rPr lang="en-US" sz="2800" b="1" dirty="0" smtClean="0">
                <a:solidFill>
                  <a:srgbClr val="000000"/>
                </a:solidFill>
              </a:rPr>
              <a:t>ORDERED</a:t>
            </a:r>
            <a:r>
              <a:rPr lang="zh-CN" altLang="en-US" sz="2800" b="1" dirty="0">
                <a:solidFill>
                  <a:srgbClr val="000000"/>
                </a:solidFill>
              </a:rPr>
              <a:t>语句不允许在动态的扩展</a:t>
            </a:r>
            <a:r>
              <a:rPr lang="en-US" sz="2800" b="1" dirty="0">
                <a:solidFill>
                  <a:srgbClr val="000000"/>
                </a:solidFill>
              </a:rPr>
              <a:t>CRITICAL</a:t>
            </a:r>
            <a:r>
              <a:rPr lang="zh-CN" altLang="en-US" sz="2800" b="1" dirty="0">
                <a:solidFill>
                  <a:srgbClr val="000000"/>
                </a:solidFill>
              </a:rPr>
              <a:t>域中； </a:t>
            </a:r>
            <a:endParaRPr lang="zh-CN" altLang="en-US" sz="2800" b="1" dirty="0">
              <a:solidFill>
                <a:srgbClr val="000000"/>
              </a:solidFill>
            </a:endParaRPr>
          </a:p>
          <a:p>
            <a:pPr marL="457200" indent="-457200">
              <a:lnSpc>
                <a:spcPct val="150000"/>
              </a:lnSpc>
              <a:buFont typeface="Wingdings" panose="05000000000000000000" pitchFamily="2" charset="2"/>
              <a:buChar char="Ø"/>
            </a:pPr>
            <a:r>
              <a:rPr lang="zh-CN" altLang="en-US" sz="2800" b="1" dirty="0" smtClean="0">
                <a:solidFill>
                  <a:srgbClr val="000000"/>
                </a:solidFill>
              </a:rPr>
              <a:t>任何</a:t>
            </a:r>
            <a:r>
              <a:rPr lang="zh-CN" altLang="en-US" sz="2800" b="1" dirty="0">
                <a:solidFill>
                  <a:srgbClr val="000000"/>
                </a:solidFill>
              </a:rPr>
              <a:t>能允许执行到</a:t>
            </a:r>
            <a:r>
              <a:rPr lang="en-US" sz="2800" b="1" dirty="0">
                <a:solidFill>
                  <a:srgbClr val="000000"/>
                </a:solidFill>
              </a:rPr>
              <a:t>PARALLEL </a:t>
            </a:r>
            <a:r>
              <a:rPr lang="zh-CN" altLang="en-US" sz="2800" b="1" dirty="0">
                <a:solidFill>
                  <a:srgbClr val="000000"/>
                </a:solidFill>
              </a:rPr>
              <a:t>域中的指令，在并行域外执行也是合法的。</a:t>
            </a:r>
            <a:r>
              <a:rPr lang="zh-CN" altLang="en-US" sz="2800" b="1" dirty="0" smtClean="0">
                <a:solidFill>
                  <a:srgbClr val="000000"/>
                </a:solidFill>
              </a:rPr>
              <a:t>当执行</a:t>
            </a:r>
            <a:r>
              <a:rPr lang="zh-CN" altLang="en-US" sz="2800" b="1" dirty="0">
                <a:solidFill>
                  <a:srgbClr val="000000"/>
                </a:solidFill>
              </a:rPr>
              <a:t>到用户指定的并行域外时，语句执行只与</a:t>
            </a:r>
            <a:r>
              <a:rPr lang="zh-CN" altLang="en-US" sz="2800" b="1" dirty="0">
                <a:solidFill>
                  <a:srgbClr val="2D0AC2"/>
                </a:solidFill>
              </a:rPr>
              <a:t>主线程</a:t>
            </a:r>
            <a:r>
              <a:rPr lang="zh-CN" altLang="en-US" sz="2800" b="1" dirty="0">
                <a:solidFill>
                  <a:srgbClr val="000000"/>
                </a:solidFill>
              </a:rPr>
              <a:t>有关。 </a:t>
            </a:r>
            <a:endParaRPr lang="en-US" sz="2800" b="1" dirty="0">
              <a:solidFill>
                <a:srgbClr val="000000"/>
              </a:solidFill>
            </a:endParaRPr>
          </a:p>
        </p:txBody>
      </p:sp>
    </p:spTree>
  </p:cSld>
  <p:clrMapOvr>
    <a:masterClrMapping/>
  </p:clrMapOvr>
  <p:transition spd="med" advTm="3025">
    <p:fade/>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25236" y="568036"/>
            <a:ext cx="10293928" cy="830997"/>
          </a:xfrm>
          <a:prstGeom prst="rect">
            <a:avLst/>
          </a:prstGeom>
          <a:noFill/>
        </p:spPr>
        <p:txBody>
          <a:bodyPr wrap="square" rtlCol="0">
            <a:spAutoFit/>
          </a:bodyPr>
          <a:lstStyle/>
          <a:p>
            <a:pPr algn="ctr"/>
            <a:r>
              <a:rPr lang="en-US" sz="4800" dirty="0" smtClean="0">
                <a:solidFill>
                  <a:srgbClr val="2D0AC2"/>
                </a:solidFill>
                <a:latin typeface="+mj-lt"/>
                <a:ea typeface="华文行楷" panose="02010800040101010101" pitchFamily="2" charset="-122"/>
              </a:rPr>
              <a:t>OpenMP</a:t>
            </a:r>
            <a:r>
              <a:rPr lang="zh-CN" altLang="en-US" sz="4800" dirty="0" smtClean="0">
                <a:solidFill>
                  <a:srgbClr val="2D0AC2"/>
                </a:solidFill>
                <a:latin typeface="+mj-lt"/>
                <a:ea typeface="华文行楷" panose="02010800040101010101" pitchFamily="2" charset="-122"/>
              </a:rPr>
              <a:t>中的任务调度</a:t>
            </a:r>
            <a:endParaRPr lang="en-US" altLang="zh-CN" sz="4800" dirty="0" smtClean="0">
              <a:solidFill>
                <a:srgbClr val="2D0AC2"/>
              </a:solidFill>
              <a:latin typeface="+mj-lt"/>
              <a:ea typeface="华文行楷" panose="02010800040101010101" pitchFamily="2" charset="-122"/>
            </a:endParaRPr>
          </a:p>
        </p:txBody>
      </p:sp>
      <p:sp>
        <p:nvSpPr>
          <p:cNvPr id="3" name="矩形 2"/>
          <p:cNvSpPr/>
          <p:nvPr/>
        </p:nvSpPr>
        <p:spPr>
          <a:xfrm>
            <a:off x="1163780" y="1512699"/>
            <a:ext cx="9906001" cy="4832092"/>
          </a:xfrm>
          <a:prstGeom prst="rect">
            <a:avLst/>
          </a:prstGeom>
        </p:spPr>
        <p:txBody>
          <a:bodyPr wrap="square">
            <a:spAutoFit/>
          </a:bodyPr>
          <a:lstStyle/>
          <a:p>
            <a:pPr>
              <a:lnSpc>
                <a:spcPct val="200000"/>
              </a:lnSpc>
            </a:pPr>
            <a:r>
              <a:rPr lang="en-US" altLang="zh-CN" sz="2800" b="1" dirty="0" smtClean="0"/>
              <a:t>         OpenMP</a:t>
            </a:r>
            <a:r>
              <a:rPr lang="zh-CN" altLang="en-US" sz="2800" b="1" dirty="0"/>
              <a:t>中，任务调度主要用于并行的</a:t>
            </a:r>
            <a:r>
              <a:rPr lang="en-US" altLang="zh-CN" sz="2800" b="1" dirty="0"/>
              <a:t>for</a:t>
            </a:r>
            <a:r>
              <a:rPr lang="zh-CN" altLang="en-US" sz="2800" b="1" dirty="0"/>
              <a:t>循环中，当循环中每次迭代的计算量不相等时，如果简单地给各个线程分配相同次数的迭代的话，会造成各个线程</a:t>
            </a:r>
            <a:r>
              <a:rPr lang="zh-CN" altLang="en-US" sz="2800" b="1" dirty="0">
                <a:solidFill>
                  <a:srgbClr val="2D0AC2"/>
                </a:solidFill>
              </a:rPr>
              <a:t>计算负载不均衡</a:t>
            </a:r>
            <a:r>
              <a:rPr lang="zh-CN" altLang="en-US" sz="2800" b="1" dirty="0"/>
              <a:t>，这会使得有些线程先执行完，有些后执行完，造成某些</a:t>
            </a:r>
            <a:r>
              <a:rPr lang="en-US" altLang="zh-CN" sz="2800" b="1" dirty="0"/>
              <a:t>CPU</a:t>
            </a:r>
            <a:r>
              <a:rPr lang="zh-CN" altLang="en-US" sz="2800" b="1" dirty="0"/>
              <a:t>核空闲，影响程序性能</a:t>
            </a:r>
            <a:r>
              <a:rPr lang="zh-CN" altLang="en-US" sz="2800" b="1" dirty="0" smtClean="0"/>
              <a:t>。</a:t>
            </a:r>
            <a:endParaRPr lang="en-US" altLang="zh-CN" sz="2800" b="1" dirty="0" smtClean="0"/>
          </a:p>
          <a:p>
            <a:endParaRPr lang="en-US" sz="2800" b="1" dirty="0"/>
          </a:p>
        </p:txBody>
      </p:sp>
    </p:spTree>
  </p:cSld>
  <p:clrMapOvr>
    <a:masterClrMapping/>
  </p:clrMapOvr>
  <p:transition spd="med" advTm="3025">
    <p:fade/>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25236" y="471055"/>
            <a:ext cx="10293928" cy="830997"/>
          </a:xfrm>
          <a:prstGeom prst="rect">
            <a:avLst/>
          </a:prstGeom>
          <a:noFill/>
        </p:spPr>
        <p:txBody>
          <a:bodyPr wrap="square" rtlCol="0">
            <a:spAutoFit/>
          </a:bodyPr>
          <a:lstStyle/>
          <a:p>
            <a:pPr algn="ctr"/>
            <a:r>
              <a:rPr lang="en-US" sz="4800" dirty="0" smtClean="0">
                <a:solidFill>
                  <a:srgbClr val="2D0AC2"/>
                </a:solidFill>
                <a:ea typeface="华文行楷" panose="02010800040101010101" pitchFamily="2" charset="-122"/>
              </a:rPr>
              <a:t>OpenMP</a:t>
            </a:r>
            <a:r>
              <a:rPr lang="zh-CN" altLang="en-US" sz="4800" dirty="0" smtClean="0">
                <a:solidFill>
                  <a:srgbClr val="2D0AC2"/>
                </a:solidFill>
                <a:ea typeface="华文行楷" panose="02010800040101010101" pitchFamily="2" charset="-122"/>
              </a:rPr>
              <a:t>中的任务调度</a:t>
            </a:r>
            <a:endParaRPr lang="en-US" altLang="zh-CN" sz="4800" dirty="0" smtClean="0">
              <a:solidFill>
                <a:srgbClr val="2D0AC2"/>
              </a:solidFill>
              <a:ea typeface="华文行楷" panose="02010800040101010101" pitchFamily="2" charset="-122"/>
            </a:endParaRPr>
          </a:p>
        </p:txBody>
      </p:sp>
      <p:sp>
        <p:nvSpPr>
          <p:cNvPr id="3" name="矩形 2"/>
          <p:cNvSpPr/>
          <p:nvPr/>
        </p:nvSpPr>
        <p:spPr>
          <a:xfrm>
            <a:off x="1149928" y="1302052"/>
            <a:ext cx="9587346" cy="4524315"/>
          </a:xfrm>
          <a:prstGeom prst="rect">
            <a:avLst/>
          </a:prstGeom>
        </p:spPr>
        <p:txBody>
          <a:bodyPr wrap="square">
            <a:spAutoFit/>
          </a:bodyPr>
          <a:lstStyle/>
          <a:p>
            <a:pPr>
              <a:lnSpc>
                <a:spcPct val="150000"/>
              </a:lnSpc>
            </a:pPr>
            <a:r>
              <a:rPr lang="zh-CN" altLang="en-US" sz="3200" b="1" dirty="0" smtClean="0"/>
              <a:t>         在</a:t>
            </a:r>
            <a:r>
              <a:rPr lang="en-US" sz="3200" b="1" dirty="0"/>
              <a:t>OpenMP</a:t>
            </a:r>
            <a:r>
              <a:rPr lang="zh-CN" altLang="en-US" sz="3200" b="1" dirty="0"/>
              <a:t>中，对</a:t>
            </a:r>
            <a:r>
              <a:rPr lang="en-US" sz="3200" b="1" dirty="0"/>
              <a:t>for</a:t>
            </a:r>
            <a:r>
              <a:rPr lang="zh-CN" altLang="en-US" sz="3200" b="1" dirty="0"/>
              <a:t>循环并行化的任务调度使用</a:t>
            </a:r>
            <a:r>
              <a:rPr lang="en-US" sz="3200" b="1" dirty="0" smtClean="0"/>
              <a:t>schedule </a:t>
            </a:r>
            <a:r>
              <a:rPr lang="zh-CN" altLang="en-US" sz="3200" b="1" dirty="0" smtClean="0"/>
              <a:t>子句</a:t>
            </a:r>
            <a:r>
              <a:rPr lang="zh-CN" altLang="en-US" sz="3200" b="1" dirty="0"/>
              <a:t>来</a:t>
            </a:r>
            <a:r>
              <a:rPr lang="zh-CN" altLang="en-US" sz="3200" b="1" dirty="0" smtClean="0"/>
              <a:t>实现。</a:t>
            </a:r>
            <a:endParaRPr lang="zh-CN" altLang="en-US" sz="3200" b="1" dirty="0"/>
          </a:p>
          <a:p>
            <a:pPr marL="457200" indent="-457200">
              <a:lnSpc>
                <a:spcPct val="150000"/>
              </a:lnSpc>
              <a:buFont typeface="Wingdings" panose="05000000000000000000" pitchFamily="2" charset="2"/>
              <a:buChar char="Ø"/>
            </a:pPr>
            <a:r>
              <a:rPr lang="en-US" sz="3200" b="1" dirty="0" smtClean="0"/>
              <a:t>schedule</a:t>
            </a:r>
            <a:r>
              <a:rPr lang="zh-CN" altLang="en-US" sz="3200" b="1" dirty="0"/>
              <a:t>子句的使用格式为</a:t>
            </a:r>
            <a:r>
              <a:rPr lang="zh-CN" altLang="en-US" sz="3200" b="1" dirty="0" smtClean="0"/>
              <a:t>：</a:t>
            </a:r>
            <a:endParaRPr lang="zh-CN" altLang="en-US" sz="3200" b="1" dirty="0"/>
          </a:p>
          <a:p>
            <a:pPr>
              <a:lnSpc>
                <a:spcPct val="150000"/>
              </a:lnSpc>
            </a:pPr>
            <a:r>
              <a:rPr lang="en-US" sz="3200" b="1" dirty="0" smtClean="0"/>
              <a:t>         </a:t>
            </a:r>
            <a:r>
              <a:rPr lang="en-US" sz="3200" b="1" dirty="0" smtClean="0">
                <a:solidFill>
                  <a:srgbClr val="2D0AC2"/>
                </a:solidFill>
              </a:rPr>
              <a:t>schedule(type</a:t>
            </a:r>
            <a:r>
              <a:rPr lang="en-US" sz="3200" b="1" dirty="0">
                <a:solidFill>
                  <a:srgbClr val="2D0AC2"/>
                </a:solidFill>
              </a:rPr>
              <a:t>[,size</a:t>
            </a:r>
            <a:r>
              <a:rPr lang="en-US" sz="3200" b="1" dirty="0" smtClean="0">
                <a:solidFill>
                  <a:srgbClr val="2D0AC2"/>
                </a:solidFill>
              </a:rPr>
              <a:t>])</a:t>
            </a:r>
            <a:endParaRPr lang="en-US" sz="3200" b="1" dirty="0">
              <a:solidFill>
                <a:srgbClr val="2D0AC2"/>
              </a:solidFill>
            </a:endParaRPr>
          </a:p>
          <a:p>
            <a:pPr marL="457200" indent="-457200">
              <a:lnSpc>
                <a:spcPct val="150000"/>
              </a:lnSpc>
              <a:buFont typeface="Wingdings" panose="05000000000000000000" pitchFamily="2" charset="2"/>
              <a:buChar char="Ø"/>
            </a:pPr>
            <a:r>
              <a:rPr lang="en-US" sz="3200" b="1" dirty="0"/>
              <a:t>schedule</a:t>
            </a:r>
            <a:r>
              <a:rPr lang="zh-CN" altLang="en-US" sz="3200" b="1" dirty="0"/>
              <a:t>有两个参数：</a:t>
            </a:r>
            <a:r>
              <a:rPr lang="en-US" sz="3200" b="1" dirty="0"/>
              <a:t>type</a:t>
            </a:r>
            <a:r>
              <a:rPr lang="zh-CN" altLang="en-US" sz="3200" b="1" dirty="0"/>
              <a:t>和</a:t>
            </a:r>
            <a:r>
              <a:rPr lang="en-US" sz="3200" b="1" dirty="0" smtClean="0"/>
              <a:t>size</a:t>
            </a:r>
            <a:endParaRPr lang="en-US" sz="3200" b="1" dirty="0" smtClean="0"/>
          </a:p>
          <a:p>
            <a:pPr>
              <a:lnSpc>
                <a:spcPct val="150000"/>
              </a:lnSpc>
            </a:pPr>
            <a:r>
              <a:rPr lang="en-US" sz="3200" b="1" dirty="0" smtClean="0"/>
              <a:t>                           </a:t>
            </a:r>
            <a:r>
              <a:rPr lang="en-US" altLang="zh-CN" sz="3200" b="1" dirty="0" smtClean="0"/>
              <a:t>——</a:t>
            </a:r>
            <a:r>
              <a:rPr lang="en-US" sz="3200" b="1" dirty="0" smtClean="0"/>
              <a:t>size</a:t>
            </a:r>
            <a:r>
              <a:rPr lang="zh-CN" altLang="en-US" sz="3200" b="1" dirty="0" smtClean="0"/>
              <a:t>参数：是可缺省的</a:t>
            </a:r>
            <a:endParaRPr lang="zh-CN" altLang="en-US" sz="3200" b="1" dirty="0"/>
          </a:p>
        </p:txBody>
      </p:sp>
    </p:spTree>
  </p:cSld>
  <p:clrMapOvr>
    <a:masterClrMapping/>
  </p:clrMapOvr>
  <p:transition spd="med" advTm="3025">
    <p:fade/>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25236" y="471055"/>
            <a:ext cx="10293928" cy="830997"/>
          </a:xfrm>
          <a:prstGeom prst="rect">
            <a:avLst/>
          </a:prstGeom>
          <a:noFill/>
        </p:spPr>
        <p:txBody>
          <a:bodyPr wrap="square" rtlCol="0">
            <a:spAutoFit/>
          </a:bodyPr>
          <a:lstStyle/>
          <a:p>
            <a:pPr algn="ctr"/>
            <a:r>
              <a:rPr lang="en-US" sz="4800" dirty="0" smtClean="0">
                <a:solidFill>
                  <a:srgbClr val="2D0AC2"/>
                </a:solidFill>
                <a:ea typeface="华文行楷" panose="02010800040101010101" pitchFamily="2" charset="-122"/>
              </a:rPr>
              <a:t>OpenMP</a:t>
            </a:r>
            <a:r>
              <a:rPr lang="zh-CN" altLang="en-US" sz="4800" dirty="0" smtClean="0">
                <a:solidFill>
                  <a:srgbClr val="2D0AC2"/>
                </a:solidFill>
                <a:ea typeface="华文行楷" panose="02010800040101010101" pitchFamily="2" charset="-122"/>
              </a:rPr>
              <a:t>中的任务调度</a:t>
            </a:r>
            <a:endParaRPr lang="en-US" altLang="zh-CN" sz="4800" dirty="0" smtClean="0">
              <a:solidFill>
                <a:srgbClr val="2D0AC2"/>
              </a:solidFill>
              <a:ea typeface="华文行楷" panose="02010800040101010101" pitchFamily="2" charset="-122"/>
            </a:endParaRPr>
          </a:p>
        </p:txBody>
      </p:sp>
      <p:sp>
        <p:nvSpPr>
          <p:cNvPr id="3" name="矩形 2"/>
          <p:cNvSpPr/>
          <p:nvPr/>
        </p:nvSpPr>
        <p:spPr>
          <a:xfrm>
            <a:off x="457202" y="1302052"/>
            <a:ext cx="11139053" cy="4524315"/>
          </a:xfrm>
          <a:prstGeom prst="rect">
            <a:avLst/>
          </a:prstGeom>
        </p:spPr>
        <p:txBody>
          <a:bodyPr wrap="square">
            <a:spAutoFit/>
          </a:bodyPr>
          <a:lstStyle/>
          <a:p>
            <a:pPr marL="571500" indent="-571500">
              <a:buFont typeface="Wingdings" panose="05000000000000000000" pitchFamily="2" charset="2"/>
              <a:buChar char="v"/>
            </a:pPr>
            <a:r>
              <a:rPr lang="en-US" sz="3600" b="1" dirty="0" smtClean="0">
                <a:solidFill>
                  <a:srgbClr val="6A247A"/>
                </a:solidFill>
              </a:rPr>
              <a:t>type</a:t>
            </a:r>
            <a:r>
              <a:rPr lang="zh-CN" altLang="en-US" sz="3600" b="1" dirty="0" smtClean="0">
                <a:solidFill>
                  <a:srgbClr val="6A247A"/>
                </a:solidFill>
              </a:rPr>
              <a:t>参数</a:t>
            </a:r>
            <a:endParaRPr lang="zh-CN" altLang="en-US" sz="3600" b="1" dirty="0">
              <a:solidFill>
                <a:srgbClr val="6A247A"/>
              </a:solidFill>
            </a:endParaRPr>
          </a:p>
          <a:p>
            <a:r>
              <a:rPr lang="zh-CN" altLang="en-US" sz="2800" b="1" dirty="0">
                <a:solidFill>
                  <a:srgbClr val="000000"/>
                </a:solidFill>
              </a:rPr>
              <a:t>表示调度类型，有四种调度类型如下</a:t>
            </a:r>
            <a:r>
              <a:rPr lang="zh-CN" altLang="en-US" sz="2800" b="1" dirty="0" smtClean="0">
                <a:solidFill>
                  <a:srgbClr val="000000"/>
                </a:solidFill>
              </a:rPr>
              <a:t>：</a:t>
            </a:r>
            <a:endParaRPr lang="zh-CN" altLang="en-US" sz="2800" b="1" dirty="0">
              <a:solidFill>
                <a:srgbClr val="000000"/>
              </a:solidFill>
            </a:endParaRPr>
          </a:p>
          <a:p>
            <a:r>
              <a:rPr lang="en-US" altLang="zh-CN" sz="2800" b="1" dirty="0">
                <a:solidFill>
                  <a:srgbClr val="000000"/>
                </a:solidFill>
              </a:rPr>
              <a:t>· </a:t>
            </a:r>
            <a:r>
              <a:rPr lang="en-US" sz="2800" b="1" dirty="0" smtClean="0">
                <a:solidFill>
                  <a:srgbClr val="000000"/>
                </a:solidFill>
              </a:rPr>
              <a:t>dynamic</a:t>
            </a:r>
            <a:endParaRPr lang="en-US" sz="2800" b="1" dirty="0">
              <a:solidFill>
                <a:srgbClr val="000000"/>
              </a:solidFill>
            </a:endParaRPr>
          </a:p>
          <a:p>
            <a:r>
              <a:rPr lang="en-US" sz="2800" b="1" dirty="0">
                <a:solidFill>
                  <a:srgbClr val="000000"/>
                </a:solidFill>
              </a:rPr>
              <a:t>· </a:t>
            </a:r>
            <a:r>
              <a:rPr lang="en-US" sz="2800" b="1" dirty="0" smtClean="0">
                <a:solidFill>
                  <a:srgbClr val="000000"/>
                </a:solidFill>
              </a:rPr>
              <a:t>guided</a:t>
            </a:r>
            <a:endParaRPr lang="en-US" sz="2800" b="1" dirty="0">
              <a:solidFill>
                <a:srgbClr val="000000"/>
              </a:solidFill>
            </a:endParaRPr>
          </a:p>
          <a:p>
            <a:r>
              <a:rPr lang="en-US" sz="2800" b="1" dirty="0">
                <a:solidFill>
                  <a:srgbClr val="000000"/>
                </a:solidFill>
              </a:rPr>
              <a:t>· </a:t>
            </a:r>
            <a:r>
              <a:rPr lang="en-US" sz="2800" b="1" dirty="0" smtClean="0">
                <a:solidFill>
                  <a:srgbClr val="000000"/>
                </a:solidFill>
              </a:rPr>
              <a:t>runtime</a:t>
            </a:r>
            <a:endParaRPr lang="en-US" sz="2800" b="1" dirty="0">
              <a:solidFill>
                <a:srgbClr val="000000"/>
              </a:solidFill>
            </a:endParaRPr>
          </a:p>
          <a:p>
            <a:r>
              <a:rPr lang="en-US" sz="2800" b="1" dirty="0">
                <a:solidFill>
                  <a:srgbClr val="000000"/>
                </a:solidFill>
              </a:rPr>
              <a:t>· </a:t>
            </a:r>
            <a:r>
              <a:rPr lang="en-US" sz="2800" b="1" dirty="0" smtClean="0">
                <a:solidFill>
                  <a:srgbClr val="000000"/>
                </a:solidFill>
              </a:rPr>
              <a:t>static</a:t>
            </a:r>
            <a:endParaRPr lang="en-US" sz="2800" b="1" dirty="0">
              <a:solidFill>
                <a:srgbClr val="000000"/>
              </a:solidFill>
            </a:endParaRPr>
          </a:p>
          <a:p>
            <a:pPr>
              <a:lnSpc>
                <a:spcPct val="150000"/>
              </a:lnSpc>
            </a:pPr>
            <a:r>
              <a:rPr lang="zh-CN" altLang="en-US" sz="2800" b="1" dirty="0">
                <a:solidFill>
                  <a:srgbClr val="000000"/>
                </a:solidFill>
              </a:rPr>
              <a:t>这四种调度类型实际上只有</a:t>
            </a:r>
            <a:r>
              <a:rPr lang="en-US" sz="2800" b="1" dirty="0" err="1">
                <a:solidFill>
                  <a:srgbClr val="000000"/>
                </a:solidFill>
              </a:rPr>
              <a:t>static、dynamic、guided</a:t>
            </a:r>
            <a:r>
              <a:rPr lang="zh-CN" altLang="en-US" sz="2800" b="1" dirty="0">
                <a:solidFill>
                  <a:srgbClr val="000000"/>
                </a:solidFill>
              </a:rPr>
              <a:t>三种调度方式，</a:t>
            </a:r>
            <a:r>
              <a:rPr lang="en-US" sz="2800" b="1" dirty="0">
                <a:solidFill>
                  <a:srgbClr val="000000"/>
                </a:solidFill>
              </a:rPr>
              <a:t>runtime</a:t>
            </a:r>
            <a:r>
              <a:rPr lang="zh-CN" altLang="en-US" sz="2800" b="1" dirty="0">
                <a:solidFill>
                  <a:srgbClr val="000000"/>
                </a:solidFill>
              </a:rPr>
              <a:t>实际上是根据环境变量来选择前三种中的某中类型</a:t>
            </a:r>
            <a:r>
              <a:rPr lang="zh-CN" altLang="en-US" sz="2800" b="1" dirty="0" smtClean="0">
                <a:solidFill>
                  <a:srgbClr val="000000"/>
                </a:solidFill>
              </a:rPr>
              <a:t>。</a:t>
            </a:r>
            <a:endParaRPr lang="zh-CN" altLang="en-US" sz="2800" b="1" dirty="0">
              <a:solidFill>
                <a:srgbClr val="000000"/>
              </a:solidFill>
            </a:endParaRPr>
          </a:p>
          <a:p>
            <a:endParaRPr lang="en-US" sz="2800" b="1" dirty="0">
              <a:solidFill>
                <a:srgbClr val="000000"/>
              </a:solidFill>
            </a:endParaRPr>
          </a:p>
        </p:txBody>
      </p:sp>
    </p:spTree>
  </p:cSld>
  <p:clrMapOvr>
    <a:masterClrMapping/>
  </p:clrMapOvr>
  <p:transition spd="med" advTm="3025">
    <p:fade/>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25236" y="568036"/>
            <a:ext cx="10293928" cy="830997"/>
          </a:xfrm>
          <a:prstGeom prst="rect">
            <a:avLst/>
          </a:prstGeom>
          <a:noFill/>
        </p:spPr>
        <p:txBody>
          <a:bodyPr wrap="square" rtlCol="0">
            <a:spAutoFit/>
          </a:bodyPr>
          <a:lstStyle/>
          <a:p>
            <a:pPr algn="ctr"/>
            <a:r>
              <a:rPr lang="en-US" sz="4800" dirty="0" smtClean="0">
                <a:solidFill>
                  <a:srgbClr val="2D0AC2"/>
                </a:solidFill>
                <a:ea typeface="华文行楷" panose="02010800040101010101" pitchFamily="2" charset="-122"/>
              </a:rPr>
              <a:t>OpenMP</a:t>
            </a:r>
            <a:r>
              <a:rPr lang="zh-CN" altLang="en-US" sz="4800" dirty="0" smtClean="0">
                <a:solidFill>
                  <a:srgbClr val="2D0AC2"/>
                </a:solidFill>
                <a:ea typeface="华文行楷" panose="02010800040101010101" pitchFamily="2" charset="-122"/>
              </a:rPr>
              <a:t>中的任务调度</a:t>
            </a:r>
            <a:endParaRPr lang="en-US" altLang="zh-CN" sz="4800" dirty="0" smtClean="0">
              <a:solidFill>
                <a:srgbClr val="2D0AC2"/>
              </a:solidFill>
              <a:ea typeface="华文行楷" panose="02010800040101010101" pitchFamily="2" charset="-122"/>
            </a:endParaRPr>
          </a:p>
        </p:txBody>
      </p:sp>
      <p:sp>
        <p:nvSpPr>
          <p:cNvPr id="3" name="矩形 2"/>
          <p:cNvSpPr/>
          <p:nvPr/>
        </p:nvSpPr>
        <p:spPr>
          <a:xfrm>
            <a:off x="886690" y="1568165"/>
            <a:ext cx="10127673" cy="4062651"/>
          </a:xfrm>
          <a:prstGeom prst="rect">
            <a:avLst/>
          </a:prstGeom>
        </p:spPr>
        <p:txBody>
          <a:bodyPr wrap="square">
            <a:spAutoFit/>
          </a:bodyPr>
          <a:lstStyle/>
          <a:p>
            <a:pPr marL="285750" indent="-285750">
              <a:lnSpc>
                <a:spcPct val="150000"/>
              </a:lnSpc>
              <a:buFont typeface="Wingdings" panose="05000000000000000000" pitchFamily="2" charset="2"/>
              <a:buChar char="v"/>
            </a:pPr>
            <a:r>
              <a:rPr lang="en-US" altLang="zh-CN" sz="3200" b="1" dirty="0" smtClean="0">
                <a:solidFill>
                  <a:srgbClr val="6A247A"/>
                </a:solidFill>
              </a:rPr>
              <a:t>size</a:t>
            </a:r>
            <a:r>
              <a:rPr lang="zh-CN" altLang="en-US" sz="3200" b="1" dirty="0" smtClean="0">
                <a:solidFill>
                  <a:srgbClr val="6A247A"/>
                </a:solidFill>
              </a:rPr>
              <a:t>参数 </a:t>
            </a:r>
            <a:endParaRPr lang="en-US" altLang="zh-CN" sz="2800" b="1" dirty="0" smtClean="0"/>
          </a:p>
          <a:p>
            <a:pPr marL="457200" indent="-457200">
              <a:lnSpc>
                <a:spcPct val="150000"/>
              </a:lnSpc>
              <a:buFont typeface="Arial" panose="020B0604020202020204" pitchFamily="34" charset="0"/>
              <a:buChar char="•"/>
            </a:pPr>
            <a:r>
              <a:rPr lang="en-US" altLang="zh-CN" sz="2800" b="1" dirty="0" smtClean="0"/>
              <a:t>size</a:t>
            </a:r>
            <a:r>
              <a:rPr lang="zh-CN" altLang="en-US" sz="2800" b="1" dirty="0"/>
              <a:t>参数表示循环迭代次数，</a:t>
            </a:r>
            <a:r>
              <a:rPr lang="en-US" altLang="zh-CN" sz="2800" b="1" dirty="0"/>
              <a:t>size</a:t>
            </a:r>
            <a:r>
              <a:rPr lang="zh-CN" altLang="en-US" sz="2800" b="1" dirty="0"/>
              <a:t>参数必须是整数</a:t>
            </a:r>
            <a:r>
              <a:rPr lang="zh-CN" altLang="en-US" sz="2800" b="1" dirty="0" smtClean="0"/>
              <a:t>。</a:t>
            </a:r>
            <a:endParaRPr lang="en-US" altLang="zh-CN" sz="2800" b="1" dirty="0" smtClean="0"/>
          </a:p>
          <a:p>
            <a:pPr marL="457200" indent="-457200">
              <a:lnSpc>
                <a:spcPct val="150000"/>
              </a:lnSpc>
              <a:buFont typeface="Arial" panose="020B0604020202020204" pitchFamily="34" charset="0"/>
              <a:buChar char="•"/>
            </a:pPr>
            <a:r>
              <a:rPr lang="en-US" altLang="zh-CN" sz="2800" b="1" dirty="0" smtClean="0"/>
              <a:t>static</a:t>
            </a:r>
            <a:r>
              <a:rPr lang="zh-CN" altLang="en-US" sz="2800" b="1" dirty="0"/>
              <a:t>、</a:t>
            </a:r>
            <a:r>
              <a:rPr lang="en-US" altLang="zh-CN" sz="2800" b="1" dirty="0"/>
              <a:t>dynamic</a:t>
            </a:r>
            <a:r>
              <a:rPr lang="zh-CN" altLang="en-US" sz="2800" b="1" dirty="0"/>
              <a:t>、</a:t>
            </a:r>
            <a:r>
              <a:rPr lang="en-US" altLang="zh-CN" sz="2800" b="1" dirty="0"/>
              <a:t>guided</a:t>
            </a:r>
            <a:r>
              <a:rPr lang="zh-CN" altLang="en-US" sz="2800" b="1" dirty="0"/>
              <a:t>三种调度方式都可以使用</a:t>
            </a:r>
            <a:r>
              <a:rPr lang="en-US" altLang="zh-CN" sz="2800" b="1" dirty="0"/>
              <a:t>size</a:t>
            </a:r>
            <a:r>
              <a:rPr lang="zh-CN" altLang="en-US" sz="2800" b="1" dirty="0"/>
              <a:t>参数，也可以不使用</a:t>
            </a:r>
            <a:r>
              <a:rPr lang="en-US" altLang="zh-CN" sz="2800" b="1" dirty="0"/>
              <a:t>size</a:t>
            </a:r>
            <a:r>
              <a:rPr lang="zh-CN" altLang="en-US" sz="2800" b="1" dirty="0"/>
              <a:t>参数</a:t>
            </a:r>
            <a:r>
              <a:rPr lang="zh-CN" altLang="en-US" sz="2800" b="1" dirty="0" smtClean="0"/>
              <a:t>。</a:t>
            </a:r>
            <a:endParaRPr lang="en-US" altLang="zh-CN" sz="2800" b="1" dirty="0" smtClean="0"/>
          </a:p>
          <a:p>
            <a:pPr marL="457200" indent="-457200">
              <a:lnSpc>
                <a:spcPct val="150000"/>
              </a:lnSpc>
              <a:buFont typeface="Arial" panose="020B0604020202020204" pitchFamily="34" charset="0"/>
              <a:buChar char="•"/>
            </a:pPr>
            <a:r>
              <a:rPr lang="zh-CN" altLang="en-US" sz="2800" b="1" dirty="0" smtClean="0"/>
              <a:t>当</a:t>
            </a:r>
            <a:r>
              <a:rPr lang="en-US" altLang="zh-CN" sz="2800" b="1" dirty="0"/>
              <a:t>type</a:t>
            </a:r>
            <a:r>
              <a:rPr lang="zh-CN" altLang="en-US" sz="2800" b="1" dirty="0"/>
              <a:t>参数类型为</a:t>
            </a:r>
            <a:r>
              <a:rPr lang="en-US" altLang="zh-CN" sz="2800" b="1" dirty="0"/>
              <a:t>runtime</a:t>
            </a:r>
            <a:r>
              <a:rPr lang="zh-CN" altLang="en-US" sz="2800" b="1" dirty="0"/>
              <a:t>时，</a:t>
            </a:r>
            <a:r>
              <a:rPr lang="en-US" altLang="zh-CN" sz="2800" b="1" dirty="0"/>
              <a:t>size</a:t>
            </a:r>
            <a:r>
              <a:rPr lang="zh-CN" altLang="en-US" sz="2800" b="1" dirty="0"/>
              <a:t>参数是非法的（不需要使用，如果使用的话编译器会报错）。</a:t>
            </a:r>
            <a:endParaRPr lang="en-US" sz="2800" b="1" dirty="0"/>
          </a:p>
        </p:txBody>
      </p:sp>
    </p:spTree>
  </p:cSld>
  <p:clrMapOvr>
    <a:masterClrMapping/>
  </p:clrMapOvr>
  <p:transition spd="med" advTm="3025">
    <p:fade/>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25236" y="471055"/>
            <a:ext cx="10293928" cy="830997"/>
          </a:xfrm>
          <a:prstGeom prst="rect">
            <a:avLst/>
          </a:prstGeom>
          <a:noFill/>
        </p:spPr>
        <p:txBody>
          <a:bodyPr wrap="square" rtlCol="0">
            <a:spAutoFit/>
          </a:bodyPr>
          <a:lstStyle/>
          <a:p>
            <a:pPr algn="ctr"/>
            <a:r>
              <a:rPr lang="en-US" sz="4800" dirty="0" smtClean="0">
                <a:solidFill>
                  <a:srgbClr val="2D0AC2"/>
                </a:solidFill>
                <a:ea typeface="华文行楷" panose="02010800040101010101" pitchFamily="2" charset="-122"/>
              </a:rPr>
              <a:t>OpenMP</a:t>
            </a:r>
            <a:r>
              <a:rPr lang="zh-CN" altLang="en-US" sz="4800" dirty="0" smtClean="0">
                <a:solidFill>
                  <a:srgbClr val="2D0AC2"/>
                </a:solidFill>
                <a:ea typeface="华文行楷" panose="02010800040101010101" pitchFamily="2" charset="-122"/>
              </a:rPr>
              <a:t>中的任务调度</a:t>
            </a:r>
            <a:endParaRPr lang="en-US" altLang="zh-CN" sz="4800" dirty="0" smtClean="0">
              <a:solidFill>
                <a:srgbClr val="2D0AC2"/>
              </a:solidFill>
              <a:ea typeface="华文行楷" panose="02010800040101010101" pitchFamily="2" charset="-122"/>
            </a:endParaRPr>
          </a:p>
        </p:txBody>
      </p:sp>
      <p:sp>
        <p:nvSpPr>
          <p:cNvPr id="3" name="矩形 2"/>
          <p:cNvSpPr/>
          <p:nvPr/>
        </p:nvSpPr>
        <p:spPr>
          <a:xfrm>
            <a:off x="817417" y="1080378"/>
            <a:ext cx="10266218" cy="5355312"/>
          </a:xfrm>
          <a:prstGeom prst="rect">
            <a:avLst/>
          </a:prstGeom>
        </p:spPr>
        <p:txBody>
          <a:bodyPr wrap="square">
            <a:spAutoFit/>
          </a:bodyPr>
          <a:lstStyle/>
          <a:p>
            <a:pPr marL="457200" indent="-457200">
              <a:lnSpc>
                <a:spcPct val="150000"/>
              </a:lnSpc>
              <a:buFont typeface="Wingdings" panose="05000000000000000000" pitchFamily="2" charset="2"/>
              <a:buChar char="v"/>
            </a:pPr>
            <a:r>
              <a:rPr lang="zh-CN" altLang="en-US" sz="3200" b="1" dirty="0" smtClean="0">
                <a:solidFill>
                  <a:srgbClr val="6A247A"/>
                </a:solidFill>
              </a:rPr>
              <a:t>静态调度（</a:t>
            </a:r>
            <a:r>
              <a:rPr lang="en-US" altLang="zh-CN" sz="3200" b="1" dirty="0" smtClean="0">
                <a:solidFill>
                  <a:srgbClr val="6A247A"/>
                </a:solidFill>
              </a:rPr>
              <a:t>static</a:t>
            </a:r>
            <a:r>
              <a:rPr lang="zh-CN" altLang="en-US" sz="3200" b="1" dirty="0" smtClean="0">
                <a:solidFill>
                  <a:srgbClr val="6A247A"/>
                </a:solidFill>
              </a:rPr>
              <a:t>）</a:t>
            </a:r>
            <a:endParaRPr lang="en-US" altLang="zh-CN" sz="3200" b="1" dirty="0" smtClean="0">
              <a:solidFill>
                <a:srgbClr val="6A247A"/>
              </a:solidFill>
            </a:endParaRPr>
          </a:p>
          <a:p>
            <a:pPr marL="457200" indent="-457200">
              <a:lnSpc>
                <a:spcPct val="150000"/>
              </a:lnSpc>
              <a:buFont typeface="Arial" panose="020B0604020202020204" pitchFamily="34" charset="0"/>
              <a:buChar char="•"/>
            </a:pPr>
            <a:r>
              <a:rPr lang="zh-CN" altLang="en-US" sz="2800" b="1" dirty="0" smtClean="0"/>
              <a:t>当</a:t>
            </a:r>
            <a:r>
              <a:rPr lang="en-US" altLang="zh-CN" sz="2800" b="1" dirty="0"/>
              <a:t>parallel for</a:t>
            </a:r>
            <a:r>
              <a:rPr lang="zh-CN" altLang="en-US" sz="2800" b="1" dirty="0"/>
              <a:t>编译指导语句没有带</a:t>
            </a:r>
            <a:r>
              <a:rPr lang="en-US" altLang="zh-CN" sz="2800" b="1" dirty="0"/>
              <a:t>schedule</a:t>
            </a:r>
            <a:r>
              <a:rPr lang="zh-CN" altLang="en-US" sz="2800" b="1" dirty="0"/>
              <a:t>子句时，大部分系统中默认采用</a:t>
            </a:r>
            <a:r>
              <a:rPr lang="en-US" altLang="zh-CN" sz="2800" b="1" dirty="0"/>
              <a:t>static</a:t>
            </a:r>
            <a:r>
              <a:rPr lang="zh-CN" altLang="en-US" sz="2800" b="1" dirty="0"/>
              <a:t>调度方式，这种调度方式非常简单</a:t>
            </a:r>
            <a:r>
              <a:rPr lang="zh-CN" altLang="en-US" sz="2800" b="1" dirty="0" smtClean="0"/>
              <a:t>。</a:t>
            </a:r>
            <a:endParaRPr lang="en-US" altLang="zh-CN" sz="2800" b="1" dirty="0" smtClean="0"/>
          </a:p>
          <a:p>
            <a:pPr>
              <a:lnSpc>
                <a:spcPct val="150000"/>
              </a:lnSpc>
            </a:pPr>
            <a:r>
              <a:rPr lang="zh-CN" altLang="en-US" sz="2800" b="1" dirty="0" smtClean="0"/>
              <a:t>       假设</a:t>
            </a:r>
            <a:r>
              <a:rPr lang="zh-CN" altLang="en-US" sz="2800" b="1" dirty="0"/>
              <a:t>有</a:t>
            </a:r>
            <a:r>
              <a:rPr lang="en-US" altLang="zh-CN" sz="2800" b="1" dirty="0"/>
              <a:t>n</a:t>
            </a:r>
            <a:r>
              <a:rPr lang="zh-CN" altLang="en-US" sz="2800" b="1" dirty="0"/>
              <a:t>次循环迭代，</a:t>
            </a:r>
            <a:r>
              <a:rPr lang="en-US" altLang="zh-CN" sz="2800" b="1" dirty="0"/>
              <a:t>t</a:t>
            </a:r>
            <a:r>
              <a:rPr lang="zh-CN" altLang="en-US" sz="2800" b="1" dirty="0"/>
              <a:t>个线程，那么给每个线程静态分配大约</a:t>
            </a:r>
            <a:r>
              <a:rPr lang="en-US" altLang="zh-CN" sz="2800" b="1" dirty="0"/>
              <a:t>n/t</a:t>
            </a:r>
            <a:r>
              <a:rPr lang="zh-CN" altLang="en-US" sz="2800" b="1" dirty="0"/>
              <a:t>次迭代计算。这里为什么说大约分配</a:t>
            </a:r>
            <a:r>
              <a:rPr lang="en-US" altLang="zh-CN" sz="2800" b="1" dirty="0"/>
              <a:t>n/t</a:t>
            </a:r>
            <a:r>
              <a:rPr lang="zh-CN" altLang="en-US" sz="2800" b="1" dirty="0"/>
              <a:t>次呢？因为</a:t>
            </a:r>
            <a:r>
              <a:rPr lang="en-US" altLang="zh-CN" sz="2800" b="1" dirty="0"/>
              <a:t>n/t</a:t>
            </a:r>
            <a:r>
              <a:rPr lang="zh-CN" altLang="en-US" sz="2800" b="1" dirty="0"/>
              <a:t>不一定是整数，因此实际分配的迭代次数可能存在差</a:t>
            </a:r>
            <a:r>
              <a:rPr lang="en-US" altLang="zh-CN" sz="2800" b="1" dirty="0"/>
              <a:t>1</a:t>
            </a:r>
            <a:r>
              <a:rPr lang="zh-CN" altLang="en-US" sz="2800" b="1" dirty="0"/>
              <a:t>的</a:t>
            </a:r>
            <a:r>
              <a:rPr lang="zh-CN" altLang="en-US" sz="2800" b="1" dirty="0" smtClean="0"/>
              <a:t>情况。</a:t>
            </a:r>
            <a:endParaRPr lang="en-US" altLang="zh-CN" sz="2800" b="1" dirty="0" smtClean="0"/>
          </a:p>
          <a:p>
            <a:pPr marL="457200" indent="-457200">
              <a:lnSpc>
                <a:spcPct val="150000"/>
              </a:lnSpc>
              <a:buFont typeface="Arial" panose="020B0604020202020204" pitchFamily="34" charset="0"/>
              <a:buChar char="•"/>
            </a:pPr>
            <a:r>
              <a:rPr lang="zh-CN" altLang="en-US" sz="2800" b="1" dirty="0" smtClean="0"/>
              <a:t>如果</a:t>
            </a:r>
            <a:r>
              <a:rPr lang="zh-CN" altLang="en-US" sz="2800" b="1" dirty="0"/>
              <a:t>指定了</a:t>
            </a:r>
            <a:r>
              <a:rPr lang="en-US" altLang="zh-CN" sz="2800" b="1" dirty="0"/>
              <a:t>size</a:t>
            </a:r>
            <a:r>
              <a:rPr lang="zh-CN" altLang="en-US" sz="2800" b="1" dirty="0"/>
              <a:t>参数的话，那么可能相差一个</a:t>
            </a:r>
            <a:r>
              <a:rPr lang="en-US" altLang="zh-CN" sz="2800" b="1" dirty="0"/>
              <a:t>size</a:t>
            </a:r>
            <a:r>
              <a:rPr lang="zh-CN" altLang="en-US" sz="2800" b="1" dirty="0" smtClean="0"/>
              <a:t>。</a:t>
            </a:r>
            <a:endParaRPr lang="zh-CN" altLang="en-US" sz="2800" b="1" dirty="0"/>
          </a:p>
          <a:p>
            <a:pPr marL="457200" indent="-457200">
              <a:lnSpc>
                <a:spcPct val="150000"/>
              </a:lnSpc>
              <a:buFont typeface="Arial" panose="020B0604020202020204" pitchFamily="34" charset="0"/>
              <a:buChar char="•"/>
            </a:pPr>
            <a:r>
              <a:rPr lang="zh-CN" altLang="en-US" sz="2800" b="1" dirty="0"/>
              <a:t>静态调度时可以不使用</a:t>
            </a:r>
            <a:r>
              <a:rPr lang="en-US" altLang="zh-CN" sz="2800" b="1" dirty="0"/>
              <a:t>size</a:t>
            </a:r>
            <a:r>
              <a:rPr lang="zh-CN" altLang="en-US" sz="2800" b="1" dirty="0"/>
              <a:t>参数，也可以使用</a:t>
            </a:r>
            <a:r>
              <a:rPr lang="en-US" altLang="zh-CN" sz="2800" b="1" dirty="0"/>
              <a:t>size</a:t>
            </a:r>
            <a:r>
              <a:rPr lang="zh-CN" altLang="en-US" sz="2800" b="1" dirty="0"/>
              <a:t>参数。</a:t>
            </a:r>
            <a:endParaRPr lang="en-US" sz="2800" b="1" dirty="0"/>
          </a:p>
        </p:txBody>
      </p:sp>
    </p:spTree>
  </p:cSld>
  <p:clrMapOvr>
    <a:masterClrMapping/>
  </p:clrMapOvr>
  <p:transition spd="med" advTm="3025">
    <p:fade/>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55806" y="553046"/>
            <a:ext cx="6769649" cy="830997"/>
          </a:xfrm>
          <a:prstGeom prst="rect">
            <a:avLst/>
          </a:prstGeom>
          <a:noFill/>
        </p:spPr>
        <p:txBody>
          <a:bodyPr wrap="square" rtlCol="0">
            <a:spAutoFit/>
          </a:bodyPr>
          <a:lstStyle/>
          <a:p>
            <a:pPr algn="ctr"/>
            <a:r>
              <a:rPr lang="en-US" sz="4800" dirty="0" smtClean="0">
                <a:solidFill>
                  <a:srgbClr val="2D0AC2"/>
                </a:solidFill>
                <a:ea typeface="华文行楷" panose="02010800040101010101" pitchFamily="2" charset="-122"/>
              </a:rPr>
              <a:t>OpenMP</a:t>
            </a:r>
            <a:r>
              <a:rPr lang="zh-CN" altLang="en-US" sz="4800" dirty="0" smtClean="0">
                <a:solidFill>
                  <a:srgbClr val="2D0AC2"/>
                </a:solidFill>
                <a:ea typeface="华文行楷" panose="02010800040101010101" pitchFamily="2" charset="-122"/>
              </a:rPr>
              <a:t>中的任务调度</a:t>
            </a:r>
            <a:endParaRPr lang="en-US" altLang="zh-CN" sz="4800" dirty="0" smtClean="0">
              <a:solidFill>
                <a:srgbClr val="2D0AC2"/>
              </a:solidFill>
              <a:ea typeface="华文行楷" panose="02010800040101010101" pitchFamily="2" charset="-122"/>
            </a:endParaRPr>
          </a:p>
        </p:txBody>
      </p:sp>
      <p:sp>
        <p:nvSpPr>
          <p:cNvPr id="3" name="矩形 2"/>
          <p:cNvSpPr/>
          <p:nvPr/>
        </p:nvSpPr>
        <p:spPr>
          <a:xfrm>
            <a:off x="574964" y="1554494"/>
            <a:ext cx="5597236" cy="3416320"/>
          </a:xfrm>
          <a:prstGeom prst="rect">
            <a:avLst/>
          </a:prstGeom>
        </p:spPr>
        <p:txBody>
          <a:bodyPr wrap="square">
            <a:spAutoFit/>
          </a:bodyPr>
          <a:lstStyle/>
          <a:p>
            <a:r>
              <a:rPr lang="en-US" sz="2400" b="1" dirty="0"/>
              <a:t> </a:t>
            </a:r>
            <a:r>
              <a:rPr lang="en-US" sz="2400" b="1" dirty="0">
                <a:solidFill>
                  <a:srgbClr val="C00000"/>
                </a:solidFill>
              </a:rPr>
              <a:t>#pragma </a:t>
            </a:r>
            <a:r>
              <a:rPr lang="en-US" sz="2400" b="1" dirty="0" err="1">
                <a:solidFill>
                  <a:srgbClr val="C00000"/>
                </a:solidFill>
              </a:rPr>
              <a:t>omp</a:t>
            </a:r>
            <a:r>
              <a:rPr lang="en-US" sz="2400" b="1" dirty="0">
                <a:solidFill>
                  <a:srgbClr val="C00000"/>
                </a:solidFill>
              </a:rPr>
              <a:t> parallel for schedule(static)</a:t>
            </a:r>
            <a:endParaRPr lang="en-US" sz="2400" b="1" dirty="0">
              <a:solidFill>
                <a:srgbClr val="C00000"/>
              </a:solidFill>
            </a:endParaRPr>
          </a:p>
          <a:p>
            <a:endParaRPr lang="en-US" sz="2400" b="1" dirty="0"/>
          </a:p>
          <a:p>
            <a:r>
              <a:rPr lang="en-US" sz="2400" b="1" dirty="0"/>
              <a:t>    for(</a:t>
            </a:r>
            <a:r>
              <a:rPr lang="en-US" sz="2400" b="1" dirty="0" err="1"/>
              <a:t>i</a:t>
            </a:r>
            <a:r>
              <a:rPr lang="en-US" sz="2400" b="1" dirty="0"/>
              <a:t> = 0; </a:t>
            </a:r>
            <a:r>
              <a:rPr lang="en-US" sz="2400" b="1" dirty="0" err="1"/>
              <a:t>i</a:t>
            </a:r>
            <a:r>
              <a:rPr lang="en-US" sz="2400" b="1" dirty="0"/>
              <a:t> &lt; 10; </a:t>
            </a:r>
            <a:r>
              <a:rPr lang="en-US" sz="2400" b="1" dirty="0" err="1"/>
              <a:t>i</a:t>
            </a:r>
            <a:r>
              <a:rPr lang="en-US" sz="2400" b="1" dirty="0"/>
              <a:t>++ )</a:t>
            </a:r>
            <a:endParaRPr lang="en-US" sz="2400" b="1" dirty="0"/>
          </a:p>
          <a:p>
            <a:endParaRPr lang="en-US" sz="2400" b="1" dirty="0"/>
          </a:p>
          <a:p>
            <a:r>
              <a:rPr lang="en-US" sz="2400" b="1" dirty="0"/>
              <a:t>    </a:t>
            </a:r>
            <a:r>
              <a:rPr lang="en-US" sz="2400" b="1" dirty="0" smtClean="0"/>
              <a:t>{</a:t>
            </a:r>
            <a:endParaRPr lang="en-US" sz="2400" b="1" dirty="0"/>
          </a:p>
          <a:p>
            <a:r>
              <a:rPr lang="en-US" sz="2400" b="1" dirty="0"/>
              <a:t>         </a:t>
            </a:r>
            <a:r>
              <a:rPr lang="en-US" sz="2400" b="1" dirty="0" err="1"/>
              <a:t>printf</a:t>
            </a:r>
            <a:r>
              <a:rPr lang="en-US" sz="2400" b="1" dirty="0"/>
              <a:t>("</a:t>
            </a:r>
            <a:r>
              <a:rPr lang="en-US" sz="2400" b="1" dirty="0" err="1"/>
              <a:t>i</a:t>
            </a:r>
            <a:r>
              <a:rPr lang="en-US" sz="2400" b="1" dirty="0"/>
              <a:t>=%d, </a:t>
            </a:r>
            <a:r>
              <a:rPr lang="en-US" sz="2400" b="1" dirty="0" err="1"/>
              <a:t>thread_id</a:t>
            </a:r>
            <a:r>
              <a:rPr lang="en-US" sz="2400" b="1" dirty="0"/>
              <a:t>=%d/n", </a:t>
            </a:r>
            <a:r>
              <a:rPr lang="en-US" sz="2400" b="1" dirty="0" err="1"/>
              <a:t>i</a:t>
            </a:r>
            <a:r>
              <a:rPr lang="en-US" sz="2400" b="1" dirty="0"/>
              <a:t>, </a:t>
            </a:r>
            <a:r>
              <a:rPr lang="en-US" sz="2400" b="1" dirty="0" err="1"/>
              <a:t>omp_get_thread_num</a:t>
            </a:r>
            <a:r>
              <a:rPr lang="en-US" sz="2400" b="1" dirty="0"/>
              <a:t>());</a:t>
            </a:r>
            <a:endParaRPr lang="en-US" sz="2400" b="1" dirty="0"/>
          </a:p>
          <a:p>
            <a:endParaRPr lang="en-US" sz="2400" b="1" dirty="0"/>
          </a:p>
          <a:p>
            <a:r>
              <a:rPr lang="en-US" sz="2400" b="1" dirty="0" smtClean="0"/>
              <a:t>     </a:t>
            </a:r>
            <a:r>
              <a:rPr lang="en-US" sz="2400" b="1" dirty="0"/>
              <a:t>}</a:t>
            </a:r>
            <a:endParaRPr lang="en-US" sz="2400" b="1" dirty="0"/>
          </a:p>
        </p:txBody>
      </p:sp>
      <p:sp>
        <p:nvSpPr>
          <p:cNvPr id="4" name="矩形 3"/>
          <p:cNvSpPr/>
          <p:nvPr/>
        </p:nvSpPr>
        <p:spPr>
          <a:xfrm>
            <a:off x="7343364" y="740374"/>
            <a:ext cx="2410691" cy="535531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r>
              <a:rPr lang="en-US" b="1" dirty="0" err="1"/>
              <a:t>i</a:t>
            </a:r>
            <a:r>
              <a:rPr lang="en-US" b="1" dirty="0"/>
              <a:t>=0, </a:t>
            </a:r>
            <a:r>
              <a:rPr lang="en-US" b="1" dirty="0" err="1"/>
              <a:t>thread_id</a:t>
            </a:r>
            <a:r>
              <a:rPr lang="en-US" b="1" dirty="0"/>
              <a:t>=0</a:t>
            </a:r>
            <a:endParaRPr lang="en-US" b="1" dirty="0"/>
          </a:p>
          <a:p>
            <a:endParaRPr lang="en-US" b="1" dirty="0"/>
          </a:p>
          <a:p>
            <a:r>
              <a:rPr lang="en-US" b="1" dirty="0" err="1"/>
              <a:t>i</a:t>
            </a:r>
            <a:r>
              <a:rPr lang="en-US" b="1" dirty="0"/>
              <a:t>=1, </a:t>
            </a:r>
            <a:r>
              <a:rPr lang="en-US" b="1" dirty="0" err="1"/>
              <a:t>thread_id</a:t>
            </a:r>
            <a:r>
              <a:rPr lang="en-US" b="1" dirty="0"/>
              <a:t>=0</a:t>
            </a:r>
            <a:endParaRPr lang="en-US" b="1" dirty="0"/>
          </a:p>
          <a:p>
            <a:endParaRPr lang="en-US" b="1" dirty="0"/>
          </a:p>
          <a:p>
            <a:r>
              <a:rPr lang="en-US" b="1" dirty="0" err="1"/>
              <a:t>i</a:t>
            </a:r>
            <a:r>
              <a:rPr lang="en-US" b="1" dirty="0"/>
              <a:t>=2, </a:t>
            </a:r>
            <a:r>
              <a:rPr lang="en-US" b="1" dirty="0" err="1"/>
              <a:t>thread_id</a:t>
            </a:r>
            <a:r>
              <a:rPr lang="en-US" b="1" dirty="0"/>
              <a:t>=0</a:t>
            </a:r>
            <a:endParaRPr lang="en-US" b="1" dirty="0"/>
          </a:p>
          <a:p>
            <a:endParaRPr lang="en-US" b="1" dirty="0"/>
          </a:p>
          <a:p>
            <a:r>
              <a:rPr lang="en-US" b="1" dirty="0" err="1"/>
              <a:t>i</a:t>
            </a:r>
            <a:r>
              <a:rPr lang="en-US" b="1" dirty="0"/>
              <a:t>=3, </a:t>
            </a:r>
            <a:r>
              <a:rPr lang="en-US" b="1" dirty="0" err="1"/>
              <a:t>thread_id</a:t>
            </a:r>
            <a:r>
              <a:rPr lang="en-US" b="1" dirty="0"/>
              <a:t>=0</a:t>
            </a:r>
            <a:endParaRPr lang="en-US" b="1" dirty="0"/>
          </a:p>
          <a:p>
            <a:endParaRPr lang="en-US" b="1" dirty="0"/>
          </a:p>
          <a:p>
            <a:r>
              <a:rPr lang="en-US" b="1" dirty="0" err="1"/>
              <a:t>i</a:t>
            </a:r>
            <a:r>
              <a:rPr lang="en-US" b="1" dirty="0"/>
              <a:t>=4, </a:t>
            </a:r>
            <a:r>
              <a:rPr lang="en-US" b="1" dirty="0" err="1"/>
              <a:t>thread_id</a:t>
            </a:r>
            <a:r>
              <a:rPr lang="en-US" b="1" dirty="0"/>
              <a:t>=0</a:t>
            </a:r>
            <a:endParaRPr lang="en-US" b="1" dirty="0"/>
          </a:p>
          <a:p>
            <a:endParaRPr lang="en-US" b="1" dirty="0"/>
          </a:p>
          <a:p>
            <a:r>
              <a:rPr lang="en-US" b="1" dirty="0" err="1"/>
              <a:t>i</a:t>
            </a:r>
            <a:r>
              <a:rPr lang="en-US" b="1" dirty="0"/>
              <a:t>=5, </a:t>
            </a:r>
            <a:r>
              <a:rPr lang="en-US" b="1" dirty="0" err="1"/>
              <a:t>thread_id</a:t>
            </a:r>
            <a:r>
              <a:rPr lang="en-US" b="1" dirty="0"/>
              <a:t>=1</a:t>
            </a:r>
            <a:endParaRPr lang="en-US" b="1" dirty="0"/>
          </a:p>
          <a:p>
            <a:endParaRPr lang="en-US" b="1" dirty="0"/>
          </a:p>
          <a:p>
            <a:r>
              <a:rPr lang="en-US" b="1" dirty="0" err="1"/>
              <a:t>i</a:t>
            </a:r>
            <a:r>
              <a:rPr lang="en-US" b="1" dirty="0"/>
              <a:t>=6, </a:t>
            </a:r>
            <a:r>
              <a:rPr lang="en-US" b="1" dirty="0" err="1"/>
              <a:t>thread_id</a:t>
            </a:r>
            <a:r>
              <a:rPr lang="en-US" b="1" dirty="0"/>
              <a:t>=1</a:t>
            </a:r>
            <a:endParaRPr lang="en-US" b="1" dirty="0"/>
          </a:p>
          <a:p>
            <a:endParaRPr lang="en-US" b="1" dirty="0"/>
          </a:p>
          <a:p>
            <a:r>
              <a:rPr lang="en-US" b="1" dirty="0" err="1"/>
              <a:t>i</a:t>
            </a:r>
            <a:r>
              <a:rPr lang="en-US" b="1" dirty="0"/>
              <a:t>=7, </a:t>
            </a:r>
            <a:r>
              <a:rPr lang="en-US" b="1" dirty="0" err="1"/>
              <a:t>thread_id</a:t>
            </a:r>
            <a:r>
              <a:rPr lang="en-US" b="1" dirty="0"/>
              <a:t>=1</a:t>
            </a:r>
            <a:endParaRPr lang="en-US" b="1" dirty="0"/>
          </a:p>
          <a:p>
            <a:endParaRPr lang="en-US" b="1" dirty="0"/>
          </a:p>
          <a:p>
            <a:r>
              <a:rPr lang="en-US" b="1" dirty="0" err="1"/>
              <a:t>i</a:t>
            </a:r>
            <a:r>
              <a:rPr lang="en-US" b="1" dirty="0"/>
              <a:t>=8, </a:t>
            </a:r>
            <a:r>
              <a:rPr lang="en-US" b="1" dirty="0" err="1"/>
              <a:t>thread_id</a:t>
            </a:r>
            <a:r>
              <a:rPr lang="en-US" b="1" dirty="0"/>
              <a:t>=1</a:t>
            </a:r>
            <a:endParaRPr lang="en-US" b="1" dirty="0"/>
          </a:p>
          <a:p>
            <a:endParaRPr lang="en-US" b="1" dirty="0"/>
          </a:p>
          <a:p>
            <a:r>
              <a:rPr lang="en-US" b="1" dirty="0" err="1"/>
              <a:t>i</a:t>
            </a:r>
            <a:r>
              <a:rPr lang="en-US" b="1" dirty="0"/>
              <a:t>=9, </a:t>
            </a:r>
            <a:r>
              <a:rPr lang="en-US" b="1" dirty="0" err="1"/>
              <a:t>thread_id</a:t>
            </a:r>
            <a:r>
              <a:rPr lang="en-US" b="1" dirty="0"/>
              <a:t>=1</a:t>
            </a:r>
            <a:endParaRPr lang="en-US" b="1" dirty="0"/>
          </a:p>
        </p:txBody>
      </p:sp>
      <p:sp>
        <p:nvSpPr>
          <p:cNvPr id="5" name="矩形 4"/>
          <p:cNvSpPr/>
          <p:nvPr/>
        </p:nvSpPr>
        <p:spPr>
          <a:xfrm>
            <a:off x="500781" y="5141265"/>
            <a:ext cx="6064911" cy="1077218"/>
          </a:xfrm>
          <a:prstGeom prst="rect">
            <a:avLst/>
          </a:prstGeom>
        </p:spPr>
        <p:txBody>
          <a:bodyPr wrap="square">
            <a:spAutoFit/>
          </a:bodyPr>
          <a:lstStyle/>
          <a:p>
            <a:r>
              <a:rPr lang="zh-CN" altLang="en-US" sz="3200" b="1" dirty="0">
                <a:solidFill>
                  <a:srgbClr val="6A247A"/>
                </a:solidFill>
                <a:latin typeface="华文新魏" panose="02010800040101010101" pitchFamily="2" charset="-122"/>
                <a:ea typeface="华文新魏" panose="02010800040101010101" pitchFamily="2" charset="-122"/>
              </a:rPr>
              <a:t>不使用</a:t>
            </a:r>
            <a:r>
              <a:rPr lang="en-US" altLang="zh-CN" sz="3200" b="1" dirty="0">
                <a:solidFill>
                  <a:srgbClr val="6A247A"/>
                </a:solidFill>
                <a:latin typeface="华文新魏" panose="02010800040101010101" pitchFamily="2" charset="-122"/>
                <a:ea typeface="华文新魏" panose="02010800040101010101" pitchFamily="2" charset="-122"/>
              </a:rPr>
              <a:t>size</a:t>
            </a:r>
            <a:r>
              <a:rPr lang="zh-CN" altLang="en-US" sz="3200" b="1" dirty="0">
                <a:solidFill>
                  <a:srgbClr val="6A247A"/>
                </a:solidFill>
                <a:latin typeface="华文新魏" panose="02010800040101010101" pitchFamily="2" charset="-122"/>
                <a:ea typeface="华文新魏" panose="02010800040101010101" pitchFamily="2" charset="-122"/>
              </a:rPr>
              <a:t>参数时，分配给每个线程的是</a:t>
            </a:r>
            <a:r>
              <a:rPr lang="en-US" altLang="zh-CN" sz="3200" b="1" dirty="0">
                <a:solidFill>
                  <a:srgbClr val="6A247A"/>
                </a:solidFill>
                <a:latin typeface="华文新魏" panose="02010800040101010101" pitchFamily="2" charset="-122"/>
                <a:ea typeface="华文新魏" panose="02010800040101010101" pitchFamily="2" charset="-122"/>
              </a:rPr>
              <a:t>n/t</a:t>
            </a:r>
            <a:r>
              <a:rPr lang="zh-CN" altLang="en-US" sz="3200" b="1" dirty="0">
                <a:solidFill>
                  <a:srgbClr val="6A247A"/>
                </a:solidFill>
                <a:latin typeface="华文新魏" panose="02010800040101010101" pitchFamily="2" charset="-122"/>
                <a:ea typeface="华文新魏" panose="02010800040101010101" pitchFamily="2" charset="-122"/>
              </a:rPr>
              <a:t>次连续的迭代</a:t>
            </a:r>
            <a:endParaRPr lang="en-US" sz="3200" b="1" dirty="0">
              <a:solidFill>
                <a:srgbClr val="6A247A"/>
              </a:solidFill>
              <a:latin typeface="华文新魏" panose="02010800040101010101" pitchFamily="2" charset="-122"/>
              <a:ea typeface="华文新魏" panose="02010800040101010101" pitchFamily="2" charset="-122"/>
            </a:endParaRPr>
          </a:p>
        </p:txBody>
      </p:sp>
    </p:spTree>
  </p:cSld>
  <p:clrMapOvr>
    <a:masterClrMapping/>
  </p:clrMapOvr>
  <p:transition spd="med" advTm="3025">
    <p:fade/>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55806" y="553046"/>
            <a:ext cx="6769649" cy="830997"/>
          </a:xfrm>
          <a:prstGeom prst="rect">
            <a:avLst/>
          </a:prstGeom>
          <a:noFill/>
        </p:spPr>
        <p:txBody>
          <a:bodyPr wrap="square" rtlCol="0">
            <a:spAutoFit/>
          </a:bodyPr>
          <a:lstStyle/>
          <a:p>
            <a:pPr algn="ctr"/>
            <a:r>
              <a:rPr lang="en-US" sz="4800" dirty="0" smtClean="0">
                <a:solidFill>
                  <a:srgbClr val="2D0AC2"/>
                </a:solidFill>
                <a:ea typeface="华文行楷" panose="02010800040101010101" pitchFamily="2" charset="-122"/>
              </a:rPr>
              <a:t>OpenMP</a:t>
            </a:r>
            <a:r>
              <a:rPr lang="zh-CN" altLang="en-US" sz="4800" dirty="0" smtClean="0">
                <a:solidFill>
                  <a:srgbClr val="2D0AC2"/>
                </a:solidFill>
                <a:ea typeface="华文行楷" panose="02010800040101010101" pitchFamily="2" charset="-122"/>
              </a:rPr>
              <a:t>中的任务调度</a:t>
            </a:r>
            <a:endParaRPr lang="en-US" altLang="zh-CN" sz="4800" dirty="0" smtClean="0">
              <a:solidFill>
                <a:srgbClr val="2D0AC2"/>
              </a:solidFill>
              <a:ea typeface="华文行楷" panose="02010800040101010101" pitchFamily="2" charset="-122"/>
            </a:endParaRPr>
          </a:p>
        </p:txBody>
      </p:sp>
      <p:sp>
        <p:nvSpPr>
          <p:cNvPr id="3" name="矩形 2"/>
          <p:cNvSpPr/>
          <p:nvPr/>
        </p:nvSpPr>
        <p:spPr>
          <a:xfrm>
            <a:off x="574964" y="1554494"/>
            <a:ext cx="5990728" cy="3416320"/>
          </a:xfrm>
          <a:prstGeom prst="rect">
            <a:avLst/>
          </a:prstGeom>
        </p:spPr>
        <p:txBody>
          <a:bodyPr wrap="square">
            <a:spAutoFit/>
          </a:bodyPr>
          <a:lstStyle/>
          <a:p>
            <a:r>
              <a:rPr lang="en-US" sz="2400" b="1" dirty="0">
                <a:solidFill>
                  <a:srgbClr val="C00000"/>
                </a:solidFill>
              </a:rPr>
              <a:t> #pragma </a:t>
            </a:r>
            <a:r>
              <a:rPr lang="en-US" sz="2400" b="1" dirty="0" err="1">
                <a:solidFill>
                  <a:srgbClr val="C00000"/>
                </a:solidFill>
              </a:rPr>
              <a:t>omp</a:t>
            </a:r>
            <a:r>
              <a:rPr lang="en-US" sz="2400" b="1" dirty="0">
                <a:solidFill>
                  <a:srgbClr val="C00000"/>
                </a:solidFill>
              </a:rPr>
              <a:t> parallel for </a:t>
            </a:r>
            <a:r>
              <a:rPr lang="en-US" sz="2400" b="1" dirty="0" smtClean="0">
                <a:solidFill>
                  <a:srgbClr val="C00000"/>
                </a:solidFill>
              </a:rPr>
              <a:t>schedule(static,2)</a:t>
            </a:r>
            <a:endParaRPr lang="en-US" sz="2400" b="1" dirty="0">
              <a:solidFill>
                <a:srgbClr val="C00000"/>
              </a:solidFill>
            </a:endParaRPr>
          </a:p>
          <a:p>
            <a:endParaRPr lang="en-US" sz="2400" b="1" dirty="0">
              <a:solidFill>
                <a:srgbClr val="000000"/>
              </a:solidFill>
            </a:endParaRPr>
          </a:p>
          <a:p>
            <a:r>
              <a:rPr lang="en-US" sz="2400" b="1" dirty="0">
                <a:solidFill>
                  <a:srgbClr val="000000"/>
                </a:solidFill>
              </a:rPr>
              <a:t>    for(</a:t>
            </a:r>
            <a:r>
              <a:rPr lang="en-US" sz="2400" b="1" dirty="0" err="1">
                <a:solidFill>
                  <a:srgbClr val="000000"/>
                </a:solidFill>
              </a:rPr>
              <a:t>i</a:t>
            </a:r>
            <a:r>
              <a:rPr lang="en-US" sz="2400" b="1" dirty="0">
                <a:solidFill>
                  <a:srgbClr val="000000"/>
                </a:solidFill>
              </a:rPr>
              <a:t> = 0; </a:t>
            </a:r>
            <a:r>
              <a:rPr lang="en-US" sz="2400" b="1" dirty="0" err="1">
                <a:solidFill>
                  <a:srgbClr val="000000"/>
                </a:solidFill>
              </a:rPr>
              <a:t>i</a:t>
            </a:r>
            <a:r>
              <a:rPr lang="en-US" sz="2400" b="1" dirty="0">
                <a:solidFill>
                  <a:srgbClr val="000000"/>
                </a:solidFill>
              </a:rPr>
              <a:t> &lt; 10; </a:t>
            </a:r>
            <a:r>
              <a:rPr lang="en-US" sz="2400" b="1" dirty="0" err="1">
                <a:solidFill>
                  <a:srgbClr val="000000"/>
                </a:solidFill>
              </a:rPr>
              <a:t>i</a:t>
            </a:r>
            <a:r>
              <a:rPr lang="en-US" sz="2400" b="1" dirty="0">
                <a:solidFill>
                  <a:srgbClr val="000000"/>
                </a:solidFill>
              </a:rPr>
              <a:t>++ )</a:t>
            </a:r>
            <a:endParaRPr lang="en-US" sz="2400" b="1" dirty="0">
              <a:solidFill>
                <a:srgbClr val="000000"/>
              </a:solidFill>
            </a:endParaRPr>
          </a:p>
          <a:p>
            <a:endParaRPr lang="en-US" sz="2400" b="1" dirty="0">
              <a:solidFill>
                <a:srgbClr val="000000"/>
              </a:solidFill>
            </a:endParaRPr>
          </a:p>
          <a:p>
            <a:r>
              <a:rPr lang="en-US" sz="2400" b="1" dirty="0">
                <a:solidFill>
                  <a:srgbClr val="000000"/>
                </a:solidFill>
              </a:rPr>
              <a:t>    </a:t>
            </a:r>
            <a:r>
              <a:rPr lang="en-US" sz="2400" b="1" dirty="0" smtClean="0">
                <a:solidFill>
                  <a:srgbClr val="000000"/>
                </a:solidFill>
              </a:rPr>
              <a:t>{</a:t>
            </a:r>
            <a:endParaRPr lang="en-US" sz="2400" b="1" dirty="0">
              <a:solidFill>
                <a:srgbClr val="000000"/>
              </a:solidFill>
            </a:endParaRPr>
          </a:p>
          <a:p>
            <a:r>
              <a:rPr lang="en-US" sz="2400" b="1" dirty="0">
                <a:solidFill>
                  <a:srgbClr val="000000"/>
                </a:solidFill>
              </a:rPr>
              <a:t>         </a:t>
            </a:r>
            <a:r>
              <a:rPr lang="en-US" sz="2400" b="1" dirty="0" err="1">
                <a:solidFill>
                  <a:srgbClr val="000000"/>
                </a:solidFill>
              </a:rPr>
              <a:t>printf</a:t>
            </a:r>
            <a:r>
              <a:rPr lang="en-US" sz="2400" b="1" dirty="0">
                <a:solidFill>
                  <a:srgbClr val="000000"/>
                </a:solidFill>
              </a:rPr>
              <a:t>("</a:t>
            </a:r>
            <a:r>
              <a:rPr lang="en-US" sz="2400" b="1" dirty="0" err="1">
                <a:solidFill>
                  <a:srgbClr val="000000"/>
                </a:solidFill>
              </a:rPr>
              <a:t>i</a:t>
            </a:r>
            <a:r>
              <a:rPr lang="en-US" sz="2400" b="1" dirty="0">
                <a:solidFill>
                  <a:srgbClr val="000000"/>
                </a:solidFill>
              </a:rPr>
              <a:t>=%d, </a:t>
            </a:r>
            <a:r>
              <a:rPr lang="en-US" sz="2400" b="1" dirty="0" err="1">
                <a:solidFill>
                  <a:srgbClr val="000000"/>
                </a:solidFill>
              </a:rPr>
              <a:t>thread_id</a:t>
            </a:r>
            <a:r>
              <a:rPr lang="en-US" sz="2400" b="1" dirty="0">
                <a:solidFill>
                  <a:srgbClr val="000000"/>
                </a:solidFill>
              </a:rPr>
              <a:t>=%d/n", </a:t>
            </a:r>
            <a:r>
              <a:rPr lang="en-US" sz="2400" b="1" dirty="0" err="1">
                <a:solidFill>
                  <a:srgbClr val="000000"/>
                </a:solidFill>
              </a:rPr>
              <a:t>i</a:t>
            </a:r>
            <a:r>
              <a:rPr lang="en-US" sz="2400" b="1" dirty="0">
                <a:solidFill>
                  <a:srgbClr val="000000"/>
                </a:solidFill>
              </a:rPr>
              <a:t>, </a:t>
            </a:r>
            <a:r>
              <a:rPr lang="en-US" sz="2400" b="1" dirty="0" err="1">
                <a:solidFill>
                  <a:srgbClr val="000000"/>
                </a:solidFill>
              </a:rPr>
              <a:t>omp_get_thread_num</a:t>
            </a:r>
            <a:r>
              <a:rPr lang="en-US" sz="2400" b="1" dirty="0">
                <a:solidFill>
                  <a:srgbClr val="000000"/>
                </a:solidFill>
              </a:rPr>
              <a:t>());</a:t>
            </a:r>
            <a:endParaRPr lang="en-US" sz="2400" b="1" dirty="0">
              <a:solidFill>
                <a:srgbClr val="000000"/>
              </a:solidFill>
            </a:endParaRPr>
          </a:p>
          <a:p>
            <a:endParaRPr lang="en-US" sz="2400" b="1" dirty="0">
              <a:solidFill>
                <a:srgbClr val="000000"/>
              </a:solidFill>
            </a:endParaRPr>
          </a:p>
          <a:p>
            <a:r>
              <a:rPr lang="en-US" sz="2400" b="1" dirty="0" smtClean="0">
                <a:solidFill>
                  <a:srgbClr val="000000"/>
                </a:solidFill>
              </a:rPr>
              <a:t>     </a:t>
            </a:r>
            <a:r>
              <a:rPr lang="en-US" sz="2400" b="1" dirty="0">
                <a:solidFill>
                  <a:srgbClr val="000000"/>
                </a:solidFill>
              </a:rPr>
              <a:t>}</a:t>
            </a:r>
            <a:endParaRPr lang="en-US" sz="2400" b="1" dirty="0">
              <a:solidFill>
                <a:srgbClr val="000000"/>
              </a:solidFill>
            </a:endParaRPr>
          </a:p>
        </p:txBody>
      </p:sp>
      <p:sp>
        <p:nvSpPr>
          <p:cNvPr id="4" name="矩形 3"/>
          <p:cNvSpPr/>
          <p:nvPr/>
        </p:nvSpPr>
        <p:spPr>
          <a:xfrm>
            <a:off x="6925455" y="725384"/>
            <a:ext cx="2410691" cy="535531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r>
              <a:rPr lang="en-US" b="1">
                <a:solidFill>
                  <a:srgbClr val="000000"/>
                </a:solidFill>
              </a:rPr>
              <a:t>i=0, thread_id=0</a:t>
            </a:r>
            <a:endParaRPr lang="en-US" b="1">
              <a:solidFill>
                <a:srgbClr val="000000"/>
              </a:solidFill>
            </a:endParaRPr>
          </a:p>
          <a:p>
            <a:endParaRPr lang="en-US" b="1">
              <a:solidFill>
                <a:srgbClr val="000000"/>
              </a:solidFill>
            </a:endParaRPr>
          </a:p>
          <a:p>
            <a:r>
              <a:rPr lang="en-US" b="1">
                <a:solidFill>
                  <a:srgbClr val="000000"/>
                </a:solidFill>
              </a:rPr>
              <a:t>i=1, thread_id=0</a:t>
            </a:r>
            <a:endParaRPr lang="en-US" b="1">
              <a:solidFill>
                <a:srgbClr val="000000"/>
              </a:solidFill>
            </a:endParaRPr>
          </a:p>
          <a:p>
            <a:endParaRPr lang="en-US" b="1">
              <a:solidFill>
                <a:srgbClr val="000000"/>
              </a:solidFill>
            </a:endParaRPr>
          </a:p>
          <a:p>
            <a:r>
              <a:rPr lang="en-US" b="1">
                <a:solidFill>
                  <a:srgbClr val="000000"/>
                </a:solidFill>
              </a:rPr>
              <a:t>i=4, thread_id=0</a:t>
            </a:r>
            <a:endParaRPr lang="en-US" b="1">
              <a:solidFill>
                <a:srgbClr val="000000"/>
              </a:solidFill>
            </a:endParaRPr>
          </a:p>
          <a:p>
            <a:endParaRPr lang="en-US" b="1">
              <a:solidFill>
                <a:srgbClr val="000000"/>
              </a:solidFill>
            </a:endParaRPr>
          </a:p>
          <a:p>
            <a:r>
              <a:rPr lang="en-US" b="1">
                <a:solidFill>
                  <a:srgbClr val="000000"/>
                </a:solidFill>
              </a:rPr>
              <a:t>i=5, thread_id=0</a:t>
            </a:r>
            <a:endParaRPr lang="en-US" b="1">
              <a:solidFill>
                <a:srgbClr val="000000"/>
              </a:solidFill>
            </a:endParaRPr>
          </a:p>
          <a:p>
            <a:endParaRPr lang="en-US" b="1">
              <a:solidFill>
                <a:srgbClr val="000000"/>
              </a:solidFill>
            </a:endParaRPr>
          </a:p>
          <a:p>
            <a:r>
              <a:rPr lang="en-US" b="1">
                <a:solidFill>
                  <a:srgbClr val="000000"/>
                </a:solidFill>
              </a:rPr>
              <a:t>i=8, thread_id=0</a:t>
            </a:r>
            <a:endParaRPr lang="en-US" b="1">
              <a:solidFill>
                <a:srgbClr val="000000"/>
              </a:solidFill>
            </a:endParaRPr>
          </a:p>
          <a:p>
            <a:endParaRPr lang="en-US" b="1">
              <a:solidFill>
                <a:srgbClr val="000000"/>
              </a:solidFill>
            </a:endParaRPr>
          </a:p>
          <a:p>
            <a:r>
              <a:rPr lang="en-US" b="1">
                <a:solidFill>
                  <a:srgbClr val="000000"/>
                </a:solidFill>
              </a:rPr>
              <a:t>i=9, thread_id=0</a:t>
            </a:r>
            <a:endParaRPr lang="en-US" b="1">
              <a:solidFill>
                <a:srgbClr val="000000"/>
              </a:solidFill>
            </a:endParaRPr>
          </a:p>
          <a:p>
            <a:endParaRPr lang="en-US" b="1">
              <a:solidFill>
                <a:srgbClr val="000000"/>
              </a:solidFill>
            </a:endParaRPr>
          </a:p>
          <a:p>
            <a:r>
              <a:rPr lang="en-US" b="1">
                <a:solidFill>
                  <a:srgbClr val="000000"/>
                </a:solidFill>
              </a:rPr>
              <a:t>i=2, thread_id=1</a:t>
            </a:r>
            <a:endParaRPr lang="en-US" b="1">
              <a:solidFill>
                <a:srgbClr val="000000"/>
              </a:solidFill>
            </a:endParaRPr>
          </a:p>
          <a:p>
            <a:endParaRPr lang="en-US" b="1">
              <a:solidFill>
                <a:srgbClr val="000000"/>
              </a:solidFill>
            </a:endParaRPr>
          </a:p>
          <a:p>
            <a:r>
              <a:rPr lang="en-US" b="1">
                <a:solidFill>
                  <a:srgbClr val="000000"/>
                </a:solidFill>
              </a:rPr>
              <a:t>i=3, thread_id=1</a:t>
            </a:r>
            <a:endParaRPr lang="en-US" b="1">
              <a:solidFill>
                <a:srgbClr val="000000"/>
              </a:solidFill>
            </a:endParaRPr>
          </a:p>
          <a:p>
            <a:endParaRPr lang="en-US" b="1">
              <a:solidFill>
                <a:srgbClr val="000000"/>
              </a:solidFill>
            </a:endParaRPr>
          </a:p>
          <a:p>
            <a:r>
              <a:rPr lang="en-US" b="1">
                <a:solidFill>
                  <a:srgbClr val="000000"/>
                </a:solidFill>
              </a:rPr>
              <a:t>i=6, thread_id=1</a:t>
            </a:r>
            <a:endParaRPr lang="en-US" b="1">
              <a:solidFill>
                <a:srgbClr val="000000"/>
              </a:solidFill>
            </a:endParaRPr>
          </a:p>
          <a:p>
            <a:endParaRPr lang="en-US" b="1">
              <a:solidFill>
                <a:srgbClr val="000000"/>
              </a:solidFill>
            </a:endParaRPr>
          </a:p>
          <a:p>
            <a:r>
              <a:rPr lang="en-US" b="1">
                <a:solidFill>
                  <a:srgbClr val="000000"/>
                </a:solidFill>
              </a:rPr>
              <a:t>i=7, thread_id=1</a:t>
            </a:r>
            <a:endParaRPr lang="en-US" b="1" dirty="0">
              <a:solidFill>
                <a:srgbClr val="000000"/>
              </a:solidFill>
            </a:endParaRPr>
          </a:p>
        </p:txBody>
      </p:sp>
      <p:sp>
        <p:nvSpPr>
          <p:cNvPr id="5" name="矩形 4"/>
          <p:cNvSpPr/>
          <p:nvPr/>
        </p:nvSpPr>
        <p:spPr>
          <a:xfrm>
            <a:off x="500781" y="5141265"/>
            <a:ext cx="6064911" cy="1077218"/>
          </a:xfrm>
          <a:prstGeom prst="rect">
            <a:avLst/>
          </a:prstGeom>
        </p:spPr>
        <p:txBody>
          <a:bodyPr wrap="square">
            <a:spAutoFit/>
          </a:bodyPr>
          <a:lstStyle/>
          <a:p>
            <a:r>
              <a:rPr lang="zh-CN" altLang="en-US" sz="3200" b="1" dirty="0" smtClean="0">
                <a:solidFill>
                  <a:srgbClr val="6A247A"/>
                </a:solidFill>
                <a:latin typeface="华文新魏" panose="02010800040101010101" pitchFamily="2" charset="-122"/>
                <a:ea typeface="华文新魏" panose="02010800040101010101" pitchFamily="2" charset="-122"/>
              </a:rPr>
              <a:t>使用</a:t>
            </a:r>
            <a:r>
              <a:rPr lang="en-US" altLang="zh-CN" sz="3200" b="1" dirty="0">
                <a:solidFill>
                  <a:srgbClr val="6A247A"/>
                </a:solidFill>
                <a:latin typeface="华文新魏" panose="02010800040101010101" pitchFamily="2" charset="-122"/>
                <a:ea typeface="华文新魏" panose="02010800040101010101" pitchFamily="2" charset="-122"/>
              </a:rPr>
              <a:t>size</a:t>
            </a:r>
            <a:r>
              <a:rPr lang="zh-CN" altLang="en-US" sz="3200" b="1" dirty="0">
                <a:solidFill>
                  <a:srgbClr val="6A247A"/>
                </a:solidFill>
                <a:latin typeface="华文新魏" panose="02010800040101010101" pitchFamily="2" charset="-122"/>
                <a:ea typeface="华文新魏" panose="02010800040101010101" pitchFamily="2" charset="-122"/>
              </a:rPr>
              <a:t>参数时，分配给每个线程的</a:t>
            </a:r>
            <a:r>
              <a:rPr lang="zh-CN" altLang="en-US" sz="3200" b="1" dirty="0" smtClean="0">
                <a:solidFill>
                  <a:srgbClr val="6A247A"/>
                </a:solidFill>
                <a:latin typeface="华文新魏" panose="02010800040101010101" pitchFamily="2" charset="-122"/>
                <a:ea typeface="华文新魏" panose="02010800040101010101" pitchFamily="2" charset="-122"/>
              </a:rPr>
              <a:t>是 </a:t>
            </a:r>
            <a:r>
              <a:rPr lang="en-US" altLang="zh-CN" sz="3200" b="1" dirty="0" smtClean="0">
                <a:solidFill>
                  <a:srgbClr val="6A247A"/>
                </a:solidFill>
                <a:latin typeface="华文新魏" panose="02010800040101010101" pitchFamily="2" charset="-122"/>
                <a:ea typeface="华文新魏" panose="02010800040101010101" pitchFamily="2" charset="-122"/>
              </a:rPr>
              <a:t>size </a:t>
            </a:r>
            <a:r>
              <a:rPr lang="zh-CN" altLang="en-US" sz="3200" b="1" dirty="0" smtClean="0">
                <a:solidFill>
                  <a:srgbClr val="6A247A"/>
                </a:solidFill>
                <a:latin typeface="华文新魏" panose="02010800040101010101" pitchFamily="2" charset="-122"/>
                <a:ea typeface="华文新魏" panose="02010800040101010101" pitchFamily="2" charset="-122"/>
              </a:rPr>
              <a:t>次</a:t>
            </a:r>
            <a:r>
              <a:rPr lang="zh-CN" altLang="en-US" sz="3200" b="1" dirty="0">
                <a:solidFill>
                  <a:srgbClr val="6A247A"/>
                </a:solidFill>
                <a:latin typeface="华文新魏" panose="02010800040101010101" pitchFamily="2" charset="-122"/>
                <a:ea typeface="华文新魏" panose="02010800040101010101" pitchFamily="2" charset="-122"/>
              </a:rPr>
              <a:t>连续的迭代</a:t>
            </a:r>
            <a:endParaRPr lang="en-US" sz="3200" b="1" dirty="0">
              <a:solidFill>
                <a:srgbClr val="6A247A"/>
              </a:solidFill>
              <a:latin typeface="华文新魏" panose="02010800040101010101" pitchFamily="2" charset="-122"/>
              <a:ea typeface="华文新魏" panose="02010800040101010101" pitchFamily="2" charset="-122"/>
            </a:endParaRPr>
          </a:p>
        </p:txBody>
      </p:sp>
      <p:sp>
        <p:nvSpPr>
          <p:cNvPr id="6" name="矩形 5"/>
          <p:cNvSpPr/>
          <p:nvPr/>
        </p:nvSpPr>
        <p:spPr>
          <a:xfrm>
            <a:off x="9443803" y="1384043"/>
            <a:ext cx="2748198" cy="3416320"/>
          </a:xfrm>
          <a:prstGeom prst="rect">
            <a:avLst/>
          </a:prstGeom>
        </p:spPr>
        <p:txBody>
          <a:bodyPr wrap="square">
            <a:spAutoFit/>
          </a:bodyPr>
          <a:lstStyle/>
          <a:p>
            <a:pPr>
              <a:lnSpc>
                <a:spcPct val="200000"/>
              </a:lnSpc>
            </a:pPr>
            <a:r>
              <a:rPr lang="en-US" altLang="zh-CN" b="1" dirty="0"/>
              <a:t>0</a:t>
            </a:r>
            <a:r>
              <a:rPr lang="zh-CN" altLang="en-US" b="1" dirty="0"/>
              <a:t>、</a:t>
            </a:r>
            <a:r>
              <a:rPr lang="en-US" altLang="zh-CN" b="1" dirty="0"/>
              <a:t>1</a:t>
            </a:r>
            <a:r>
              <a:rPr lang="zh-CN" altLang="en-US" b="1" dirty="0"/>
              <a:t>次迭代分配给</a:t>
            </a:r>
            <a:r>
              <a:rPr lang="zh-CN" altLang="en-US" b="1" dirty="0" smtClean="0"/>
              <a:t>线程</a:t>
            </a:r>
            <a:r>
              <a:rPr lang="en-US" altLang="zh-CN" b="1" dirty="0" smtClean="0"/>
              <a:t>0</a:t>
            </a:r>
            <a:endParaRPr lang="en-US" altLang="zh-CN" b="1" dirty="0" smtClean="0"/>
          </a:p>
          <a:p>
            <a:pPr>
              <a:lnSpc>
                <a:spcPct val="200000"/>
              </a:lnSpc>
            </a:pPr>
            <a:r>
              <a:rPr lang="en-US" altLang="zh-CN" b="1" dirty="0" smtClean="0"/>
              <a:t>2</a:t>
            </a:r>
            <a:r>
              <a:rPr lang="zh-CN" altLang="en-US" b="1" dirty="0"/>
              <a:t>、</a:t>
            </a:r>
            <a:r>
              <a:rPr lang="en-US" altLang="zh-CN" b="1" dirty="0"/>
              <a:t>3</a:t>
            </a:r>
            <a:r>
              <a:rPr lang="zh-CN" altLang="en-US" b="1" dirty="0"/>
              <a:t>次迭代分配给线程</a:t>
            </a:r>
            <a:r>
              <a:rPr lang="en-US" altLang="zh-CN" b="1" dirty="0" smtClean="0"/>
              <a:t>1</a:t>
            </a:r>
            <a:endParaRPr lang="en-US" altLang="zh-CN" b="1" dirty="0" smtClean="0"/>
          </a:p>
          <a:p>
            <a:pPr>
              <a:lnSpc>
                <a:spcPct val="200000"/>
              </a:lnSpc>
            </a:pPr>
            <a:r>
              <a:rPr lang="en-US" altLang="zh-CN" b="1" dirty="0" smtClean="0"/>
              <a:t>4</a:t>
            </a:r>
            <a:r>
              <a:rPr lang="zh-CN" altLang="en-US" b="1" dirty="0"/>
              <a:t>、</a:t>
            </a:r>
            <a:r>
              <a:rPr lang="en-US" altLang="zh-CN" b="1" dirty="0"/>
              <a:t>5</a:t>
            </a:r>
            <a:r>
              <a:rPr lang="zh-CN" altLang="en-US" b="1" dirty="0"/>
              <a:t>次迭代分配给线程</a:t>
            </a:r>
            <a:r>
              <a:rPr lang="en-US" altLang="zh-CN" b="1" dirty="0" smtClean="0"/>
              <a:t>0</a:t>
            </a:r>
            <a:endParaRPr lang="en-US" altLang="zh-CN" b="1" dirty="0" smtClean="0"/>
          </a:p>
          <a:p>
            <a:pPr>
              <a:lnSpc>
                <a:spcPct val="200000"/>
              </a:lnSpc>
            </a:pPr>
            <a:r>
              <a:rPr lang="en-US" altLang="zh-CN" b="1" dirty="0" smtClean="0"/>
              <a:t>6</a:t>
            </a:r>
            <a:r>
              <a:rPr lang="zh-CN" altLang="en-US" b="1" dirty="0"/>
              <a:t>、</a:t>
            </a:r>
            <a:r>
              <a:rPr lang="en-US" altLang="zh-CN" b="1" dirty="0"/>
              <a:t>7</a:t>
            </a:r>
            <a:r>
              <a:rPr lang="zh-CN" altLang="en-US" b="1" dirty="0"/>
              <a:t>次迭代分配给线程</a:t>
            </a:r>
            <a:r>
              <a:rPr lang="en-US" altLang="zh-CN" b="1" dirty="0" smtClean="0"/>
              <a:t>1</a:t>
            </a:r>
            <a:endParaRPr lang="en-US" altLang="zh-CN" b="1" dirty="0"/>
          </a:p>
          <a:p>
            <a:pPr>
              <a:lnSpc>
                <a:spcPct val="200000"/>
              </a:lnSpc>
            </a:pPr>
            <a:r>
              <a:rPr lang="en-US" altLang="zh-CN" b="1" dirty="0" smtClean="0"/>
              <a:t>8</a:t>
            </a:r>
            <a:r>
              <a:rPr lang="zh-CN" altLang="en-US" b="1" dirty="0" smtClean="0"/>
              <a:t>、</a:t>
            </a:r>
            <a:r>
              <a:rPr lang="en-US" altLang="zh-CN" b="1" dirty="0" smtClean="0"/>
              <a:t>9</a:t>
            </a:r>
            <a:r>
              <a:rPr lang="zh-CN" altLang="en-US" b="1" dirty="0" smtClean="0"/>
              <a:t>次</a:t>
            </a:r>
            <a:r>
              <a:rPr lang="zh-CN" altLang="en-US" b="1" dirty="0"/>
              <a:t>迭代分配给线程</a:t>
            </a:r>
            <a:r>
              <a:rPr lang="en-US" altLang="zh-CN" b="1" dirty="0" smtClean="0"/>
              <a:t>0</a:t>
            </a:r>
            <a:r>
              <a:rPr lang="zh-CN" altLang="en-US" b="1" dirty="0" smtClean="0"/>
              <a:t>     </a:t>
            </a:r>
            <a:endParaRPr lang="en-US" altLang="zh-CN" b="1" dirty="0" smtClean="0"/>
          </a:p>
          <a:p>
            <a:pPr>
              <a:lnSpc>
                <a:spcPct val="150000"/>
              </a:lnSpc>
            </a:pPr>
            <a:r>
              <a:rPr lang="en-US" altLang="zh-CN" sz="2400" b="1" dirty="0" smtClean="0">
                <a:solidFill>
                  <a:srgbClr val="C00000"/>
                </a:solidFill>
              </a:rPr>
              <a:t>        </a:t>
            </a:r>
            <a:endParaRPr lang="en-US" sz="2400" b="1" dirty="0">
              <a:solidFill>
                <a:srgbClr val="C00000"/>
              </a:solidFill>
            </a:endParaRPr>
          </a:p>
        </p:txBody>
      </p:sp>
    </p:spTree>
  </p:cSld>
  <p:clrMapOvr>
    <a:masterClrMapping/>
  </p:clrMapOvr>
  <p:transition spd="med" advTm="3025">
    <p:fade/>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25236" y="568036"/>
            <a:ext cx="10293928" cy="830997"/>
          </a:xfrm>
          <a:prstGeom prst="rect">
            <a:avLst/>
          </a:prstGeom>
          <a:noFill/>
        </p:spPr>
        <p:txBody>
          <a:bodyPr wrap="square" rtlCol="0">
            <a:spAutoFit/>
          </a:bodyPr>
          <a:lstStyle/>
          <a:p>
            <a:pPr algn="ctr"/>
            <a:r>
              <a:rPr lang="en-US" sz="4800" dirty="0" smtClean="0">
                <a:solidFill>
                  <a:srgbClr val="2D0AC2"/>
                </a:solidFill>
                <a:ea typeface="华文行楷" panose="02010800040101010101" pitchFamily="2" charset="-122"/>
              </a:rPr>
              <a:t>OpenMP</a:t>
            </a:r>
            <a:r>
              <a:rPr lang="zh-CN" altLang="en-US" sz="4800" dirty="0" smtClean="0">
                <a:solidFill>
                  <a:srgbClr val="2D0AC2"/>
                </a:solidFill>
                <a:ea typeface="华文行楷" panose="02010800040101010101" pitchFamily="2" charset="-122"/>
              </a:rPr>
              <a:t>中的任务调度</a:t>
            </a:r>
            <a:endParaRPr lang="en-US" altLang="zh-CN" sz="4800" dirty="0" smtClean="0">
              <a:solidFill>
                <a:srgbClr val="2D0AC2"/>
              </a:solidFill>
              <a:ea typeface="华文行楷" panose="02010800040101010101" pitchFamily="2" charset="-122"/>
            </a:endParaRPr>
          </a:p>
        </p:txBody>
      </p:sp>
      <p:sp>
        <p:nvSpPr>
          <p:cNvPr id="3" name="矩形 2"/>
          <p:cNvSpPr/>
          <p:nvPr/>
        </p:nvSpPr>
        <p:spPr>
          <a:xfrm>
            <a:off x="1259175" y="1399033"/>
            <a:ext cx="10178320" cy="4401205"/>
          </a:xfrm>
          <a:prstGeom prst="rect">
            <a:avLst/>
          </a:prstGeom>
        </p:spPr>
        <p:txBody>
          <a:bodyPr wrap="square">
            <a:spAutoFit/>
          </a:bodyPr>
          <a:lstStyle/>
          <a:p>
            <a:pPr marL="457200" lvl="0" indent="-457200">
              <a:lnSpc>
                <a:spcPct val="150000"/>
              </a:lnSpc>
              <a:buFont typeface="Wingdings" panose="05000000000000000000" pitchFamily="2" charset="2"/>
              <a:buChar char="v"/>
            </a:pPr>
            <a:r>
              <a:rPr lang="zh-CN" altLang="en-US" sz="3200" b="1" dirty="0" smtClean="0">
                <a:solidFill>
                  <a:srgbClr val="6A247A"/>
                </a:solidFill>
              </a:rPr>
              <a:t>动态调度（</a:t>
            </a:r>
            <a:r>
              <a:rPr lang="en-US" altLang="zh-CN" sz="3200" b="1" dirty="0" smtClean="0">
                <a:solidFill>
                  <a:srgbClr val="6A247A"/>
                </a:solidFill>
              </a:rPr>
              <a:t>dynamic</a:t>
            </a:r>
            <a:r>
              <a:rPr lang="zh-CN" altLang="en-US" sz="3200" b="1" dirty="0" smtClean="0">
                <a:solidFill>
                  <a:srgbClr val="6A247A"/>
                </a:solidFill>
              </a:rPr>
              <a:t>）</a:t>
            </a:r>
            <a:endParaRPr lang="en-US" altLang="zh-CN" sz="3200" b="1" dirty="0" smtClean="0">
              <a:solidFill>
                <a:srgbClr val="6A247A"/>
              </a:solidFill>
            </a:endParaRPr>
          </a:p>
          <a:p>
            <a:pPr lvl="0">
              <a:lnSpc>
                <a:spcPct val="200000"/>
              </a:lnSpc>
            </a:pPr>
            <a:r>
              <a:rPr lang="en-US" altLang="zh-CN" sz="3200" b="1" dirty="0" smtClean="0">
                <a:solidFill>
                  <a:srgbClr val="6A247A"/>
                </a:solidFill>
              </a:rPr>
              <a:t>        </a:t>
            </a:r>
            <a:r>
              <a:rPr lang="zh-CN" altLang="en-US" sz="2800" b="1" dirty="0" smtClean="0"/>
              <a:t>动态调度是动态地将迭代分配到各个线程，动态调度可以使用</a:t>
            </a:r>
            <a:r>
              <a:rPr lang="en-US" altLang="zh-CN" sz="2800" b="1" dirty="0" smtClean="0"/>
              <a:t>size</a:t>
            </a:r>
            <a:r>
              <a:rPr lang="zh-CN" altLang="en-US" sz="2800" b="1" dirty="0" smtClean="0"/>
              <a:t>参数也可以不使用</a:t>
            </a:r>
            <a:r>
              <a:rPr lang="en-US" altLang="zh-CN" sz="2800" b="1" dirty="0" smtClean="0"/>
              <a:t>size</a:t>
            </a:r>
            <a:r>
              <a:rPr lang="zh-CN" altLang="en-US" sz="2800" b="1" dirty="0" smtClean="0"/>
              <a:t>参数。</a:t>
            </a:r>
            <a:endParaRPr lang="en-US" altLang="zh-CN" sz="2800" b="1" dirty="0" smtClean="0"/>
          </a:p>
          <a:p>
            <a:pPr marL="457200" lvl="0" indent="-457200">
              <a:lnSpc>
                <a:spcPct val="200000"/>
              </a:lnSpc>
              <a:buFont typeface="Arial" panose="020B0604020202020204" pitchFamily="34" charset="0"/>
              <a:buChar char="•"/>
            </a:pPr>
            <a:r>
              <a:rPr lang="en-US" altLang="zh-CN" sz="2800" b="1" dirty="0" smtClean="0"/>
              <a:t> </a:t>
            </a:r>
            <a:r>
              <a:rPr lang="zh-CN" altLang="en-US" sz="2800" b="1" dirty="0" smtClean="0"/>
              <a:t>不</a:t>
            </a:r>
            <a:r>
              <a:rPr lang="zh-CN" altLang="en-US" sz="2800" b="1" dirty="0"/>
              <a:t>使用</a:t>
            </a:r>
            <a:r>
              <a:rPr lang="en-US" altLang="zh-CN" sz="2800" b="1" dirty="0"/>
              <a:t>size</a:t>
            </a:r>
            <a:r>
              <a:rPr lang="zh-CN" altLang="en-US" sz="2800" b="1" dirty="0"/>
              <a:t>参数</a:t>
            </a:r>
            <a:r>
              <a:rPr lang="zh-CN" altLang="en-US" sz="2800" b="1" dirty="0" smtClean="0"/>
              <a:t>时，是动态地将</a:t>
            </a:r>
            <a:r>
              <a:rPr lang="zh-CN" altLang="en-US" sz="2800" b="1" dirty="0"/>
              <a:t>迭代逐个地分配到各个</a:t>
            </a:r>
            <a:r>
              <a:rPr lang="zh-CN" altLang="en-US" sz="2800" b="1" dirty="0" smtClean="0"/>
              <a:t>线程</a:t>
            </a:r>
            <a:endParaRPr lang="en-US" altLang="zh-CN" sz="2800" b="1" dirty="0" smtClean="0"/>
          </a:p>
          <a:p>
            <a:pPr marL="457200" lvl="0" indent="-457200">
              <a:lnSpc>
                <a:spcPct val="200000"/>
              </a:lnSpc>
              <a:buFont typeface="Arial" panose="020B0604020202020204" pitchFamily="34" charset="0"/>
              <a:buChar char="•"/>
            </a:pPr>
            <a:r>
              <a:rPr lang="zh-CN" altLang="en-US" sz="2800" b="1" dirty="0" smtClean="0"/>
              <a:t>使用</a:t>
            </a:r>
            <a:r>
              <a:rPr lang="en-US" altLang="zh-CN" sz="2800" b="1" dirty="0"/>
              <a:t>size</a:t>
            </a:r>
            <a:r>
              <a:rPr lang="zh-CN" altLang="en-US" sz="2800" b="1" dirty="0"/>
              <a:t>参数时，每次分配给线程的迭代次数为指定的</a:t>
            </a:r>
            <a:r>
              <a:rPr lang="en-US" altLang="zh-CN" sz="2800" b="1" dirty="0"/>
              <a:t>size</a:t>
            </a:r>
            <a:r>
              <a:rPr lang="zh-CN" altLang="en-US" sz="2800" b="1" dirty="0"/>
              <a:t>次。</a:t>
            </a:r>
            <a:endParaRPr lang="en-US" sz="2800" b="1" dirty="0"/>
          </a:p>
        </p:txBody>
      </p:sp>
    </p:spTree>
  </p:cSld>
  <p:clrMapOvr>
    <a:masterClrMapping/>
  </p:clrMapOvr>
  <p:transition spd="med" advTm="3025">
    <p:fade/>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55806" y="553046"/>
            <a:ext cx="6769649" cy="830997"/>
          </a:xfrm>
          <a:prstGeom prst="rect">
            <a:avLst/>
          </a:prstGeom>
          <a:noFill/>
        </p:spPr>
        <p:txBody>
          <a:bodyPr wrap="square" rtlCol="0">
            <a:spAutoFit/>
          </a:bodyPr>
          <a:lstStyle/>
          <a:p>
            <a:pPr algn="ctr"/>
            <a:r>
              <a:rPr lang="en-US" sz="4800" dirty="0" smtClean="0">
                <a:solidFill>
                  <a:srgbClr val="2D0AC2"/>
                </a:solidFill>
                <a:ea typeface="华文行楷" panose="02010800040101010101" pitchFamily="2" charset="-122"/>
              </a:rPr>
              <a:t>OpenMP</a:t>
            </a:r>
            <a:r>
              <a:rPr lang="zh-CN" altLang="en-US" sz="4800" dirty="0" smtClean="0">
                <a:solidFill>
                  <a:srgbClr val="2D0AC2"/>
                </a:solidFill>
                <a:ea typeface="华文行楷" panose="02010800040101010101" pitchFamily="2" charset="-122"/>
              </a:rPr>
              <a:t>中的任务调度</a:t>
            </a:r>
            <a:endParaRPr lang="en-US" altLang="zh-CN" sz="4800" dirty="0" smtClean="0">
              <a:solidFill>
                <a:srgbClr val="2D0AC2"/>
              </a:solidFill>
              <a:ea typeface="华文行楷" panose="02010800040101010101" pitchFamily="2" charset="-122"/>
            </a:endParaRPr>
          </a:p>
        </p:txBody>
      </p:sp>
      <p:sp>
        <p:nvSpPr>
          <p:cNvPr id="3" name="矩形 2"/>
          <p:cNvSpPr/>
          <p:nvPr/>
        </p:nvSpPr>
        <p:spPr>
          <a:xfrm>
            <a:off x="574964" y="1554494"/>
            <a:ext cx="5990728" cy="3416320"/>
          </a:xfrm>
          <a:prstGeom prst="rect">
            <a:avLst/>
          </a:prstGeom>
        </p:spPr>
        <p:txBody>
          <a:bodyPr wrap="square">
            <a:spAutoFit/>
          </a:bodyPr>
          <a:lstStyle/>
          <a:p>
            <a:r>
              <a:rPr lang="en-US" sz="2400" b="1" dirty="0">
                <a:solidFill>
                  <a:srgbClr val="000000"/>
                </a:solidFill>
              </a:rPr>
              <a:t> </a:t>
            </a:r>
            <a:r>
              <a:rPr lang="en-US" sz="2400" b="1" dirty="0">
                <a:solidFill>
                  <a:srgbClr val="C00000"/>
                </a:solidFill>
              </a:rPr>
              <a:t>#pragma </a:t>
            </a:r>
            <a:r>
              <a:rPr lang="en-US" sz="2400" b="1" dirty="0" err="1">
                <a:solidFill>
                  <a:srgbClr val="C00000"/>
                </a:solidFill>
              </a:rPr>
              <a:t>omp</a:t>
            </a:r>
            <a:r>
              <a:rPr lang="en-US" sz="2400" b="1" dirty="0">
                <a:solidFill>
                  <a:srgbClr val="C00000"/>
                </a:solidFill>
              </a:rPr>
              <a:t> parallel for </a:t>
            </a:r>
            <a:r>
              <a:rPr lang="en-US" sz="2400" b="1" dirty="0" smtClean="0">
                <a:solidFill>
                  <a:srgbClr val="C00000"/>
                </a:solidFill>
              </a:rPr>
              <a:t>schedule(dynamic)</a:t>
            </a:r>
            <a:endParaRPr lang="en-US" sz="2400" b="1" dirty="0">
              <a:solidFill>
                <a:srgbClr val="C00000"/>
              </a:solidFill>
            </a:endParaRPr>
          </a:p>
          <a:p>
            <a:endParaRPr lang="en-US" sz="2400" b="1" dirty="0">
              <a:solidFill>
                <a:srgbClr val="000000"/>
              </a:solidFill>
            </a:endParaRPr>
          </a:p>
          <a:p>
            <a:r>
              <a:rPr lang="en-US" sz="2400" b="1" dirty="0">
                <a:solidFill>
                  <a:srgbClr val="000000"/>
                </a:solidFill>
              </a:rPr>
              <a:t>    for(</a:t>
            </a:r>
            <a:r>
              <a:rPr lang="en-US" sz="2400" b="1" dirty="0" err="1">
                <a:solidFill>
                  <a:srgbClr val="000000"/>
                </a:solidFill>
              </a:rPr>
              <a:t>i</a:t>
            </a:r>
            <a:r>
              <a:rPr lang="en-US" sz="2400" b="1" dirty="0">
                <a:solidFill>
                  <a:srgbClr val="000000"/>
                </a:solidFill>
              </a:rPr>
              <a:t> = 0; </a:t>
            </a:r>
            <a:r>
              <a:rPr lang="en-US" sz="2400" b="1" dirty="0" err="1">
                <a:solidFill>
                  <a:srgbClr val="000000"/>
                </a:solidFill>
              </a:rPr>
              <a:t>i</a:t>
            </a:r>
            <a:r>
              <a:rPr lang="en-US" sz="2400" b="1" dirty="0">
                <a:solidFill>
                  <a:srgbClr val="000000"/>
                </a:solidFill>
              </a:rPr>
              <a:t> &lt; 10; </a:t>
            </a:r>
            <a:r>
              <a:rPr lang="en-US" sz="2400" b="1" dirty="0" err="1">
                <a:solidFill>
                  <a:srgbClr val="000000"/>
                </a:solidFill>
              </a:rPr>
              <a:t>i</a:t>
            </a:r>
            <a:r>
              <a:rPr lang="en-US" sz="2400" b="1" dirty="0">
                <a:solidFill>
                  <a:srgbClr val="000000"/>
                </a:solidFill>
              </a:rPr>
              <a:t>++ )</a:t>
            </a:r>
            <a:endParaRPr lang="en-US" sz="2400" b="1" dirty="0">
              <a:solidFill>
                <a:srgbClr val="000000"/>
              </a:solidFill>
            </a:endParaRPr>
          </a:p>
          <a:p>
            <a:endParaRPr lang="en-US" sz="2400" b="1" dirty="0">
              <a:solidFill>
                <a:srgbClr val="000000"/>
              </a:solidFill>
            </a:endParaRPr>
          </a:p>
          <a:p>
            <a:r>
              <a:rPr lang="en-US" sz="2400" b="1" dirty="0">
                <a:solidFill>
                  <a:srgbClr val="000000"/>
                </a:solidFill>
              </a:rPr>
              <a:t>    </a:t>
            </a:r>
            <a:r>
              <a:rPr lang="en-US" sz="2400" b="1" dirty="0" smtClean="0">
                <a:solidFill>
                  <a:srgbClr val="000000"/>
                </a:solidFill>
              </a:rPr>
              <a:t>{</a:t>
            </a:r>
            <a:endParaRPr lang="en-US" sz="2400" b="1" dirty="0">
              <a:solidFill>
                <a:srgbClr val="000000"/>
              </a:solidFill>
            </a:endParaRPr>
          </a:p>
          <a:p>
            <a:r>
              <a:rPr lang="en-US" sz="2400" b="1" dirty="0">
                <a:solidFill>
                  <a:srgbClr val="000000"/>
                </a:solidFill>
              </a:rPr>
              <a:t>         </a:t>
            </a:r>
            <a:r>
              <a:rPr lang="en-US" sz="2400" b="1" dirty="0" err="1">
                <a:solidFill>
                  <a:srgbClr val="000000"/>
                </a:solidFill>
              </a:rPr>
              <a:t>printf</a:t>
            </a:r>
            <a:r>
              <a:rPr lang="en-US" sz="2400" b="1" dirty="0">
                <a:solidFill>
                  <a:srgbClr val="000000"/>
                </a:solidFill>
              </a:rPr>
              <a:t>("</a:t>
            </a:r>
            <a:r>
              <a:rPr lang="en-US" sz="2400" b="1" dirty="0" err="1">
                <a:solidFill>
                  <a:srgbClr val="000000"/>
                </a:solidFill>
              </a:rPr>
              <a:t>i</a:t>
            </a:r>
            <a:r>
              <a:rPr lang="en-US" sz="2400" b="1" dirty="0">
                <a:solidFill>
                  <a:srgbClr val="000000"/>
                </a:solidFill>
              </a:rPr>
              <a:t>=%d, </a:t>
            </a:r>
            <a:r>
              <a:rPr lang="en-US" sz="2400" b="1" dirty="0" err="1">
                <a:solidFill>
                  <a:srgbClr val="000000"/>
                </a:solidFill>
              </a:rPr>
              <a:t>thread_id</a:t>
            </a:r>
            <a:r>
              <a:rPr lang="en-US" sz="2400" b="1" dirty="0">
                <a:solidFill>
                  <a:srgbClr val="000000"/>
                </a:solidFill>
              </a:rPr>
              <a:t>=%d/n", </a:t>
            </a:r>
            <a:r>
              <a:rPr lang="en-US" sz="2400" b="1" dirty="0" err="1">
                <a:solidFill>
                  <a:srgbClr val="000000"/>
                </a:solidFill>
              </a:rPr>
              <a:t>i</a:t>
            </a:r>
            <a:r>
              <a:rPr lang="en-US" sz="2400" b="1" dirty="0">
                <a:solidFill>
                  <a:srgbClr val="000000"/>
                </a:solidFill>
              </a:rPr>
              <a:t>, </a:t>
            </a:r>
            <a:r>
              <a:rPr lang="en-US" sz="2400" b="1" dirty="0" err="1">
                <a:solidFill>
                  <a:srgbClr val="000000"/>
                </a:solidFill>
              </a:rPr>
              <a:t>omp_get_thread_num</a:t>
            </a:r>
            <a:r>
              <a:rPr lang="en-US" sz="2400" b="1" dirty="0">
                <a:solidFill>
                  <a:srgbClr val="000000"/>
                </a:solidFill>
              </a:rPr>
              <a:t>());</a:t>
            </a:r>
            <a:endParaRPr lang="en-US" sz="2400" b="1" dirty="0">
              <a:solidFill>
                <a:srgbClr val="000000"/>
              </a:solidFill>
            </a:endParaRPr>
          </a:p>
          <a:p>
            <a:endParaRPr lang="en-US" sz="2400" b="1" dirty="0">
              <a:solidFill>
                <a:srgbClr val="000000"/>
              </a:solidFill>
            </a:endParaRPr>
          </a:p>
          <a:p>
            <a:r>
              <a:rPr lang="en-US" sz="2400" b="1" dirty="0" smtClean="0">
                <a:solidFill>
                  <a:srgbClr val="000000"/>
                </a:solidFill>
              </a:rPr>
              <a:t>     </a:t>
            </a:r>
            <a:r>
              <a:rPr lang="en-US" sz="2400" b="1" dirty="0">
                <a:solidFill>
                  <a:srgbClr val="000000"/>
                </a:solidFill>
              </a:rPr>
              <a:t>}</a:t>
            </a:r>
            <a:endParaRPr lang="en-US" sz="2400" b="1" dirty="0">
              <a:solidFill>
                <a:srgbClr val="000000"/>
              </a:solidFill>
            </a:endParaRPr>
          </a:p>
        </p:txBody>
      </p:sp>
      <p:sp>
        <p:nvSpPr>
          <p:cNvPr id="4" name="矩形 3"/>
          <p:cNvSpPr/>
          <p:nvPr/>
        </p:nvSpPr>
        <p:spPr>
          <a:xfrm>
            <a:off x="7343364" y="740374"/>
            <a:ext cx="2410691" cy="535531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r>
              <a:rPr lang="en-US" b="1">
                <a:solidFill>
                  <a:srgbClr val="000000"/>
                </a:solidFill>
              </a:rPr>
              <a:t>i=0, thread_id=0</a:t>
            </a:r>
            <a:endParaRPr lang="en-US" b="1">
              <a:solidFill>
                <a:srgbClr val="000000"/>
              </a:solidFill>
            </a:endParaRPr>
          </a:p>
          <a:p>
            <a:endParaRPr lang="en-US" b="1">
              <a:solidFill>
                <a:srgbClr val="000000"/>
              </a:solidFill>
            </a:endParaRPr>
          </a:p>
          <a:p>
            <a:r>
              <a:rPr lang="en-US" b="1">
                <a:solidFill>
                  <a:srgbClr val="000000"/>
                </a:solidFill>
              </a:rPr>
              <a:t>i=1, thread_id=1</a:t>
            </a:r>
            <a:endParaRPr lang="en-US" b="1">
              <a:solidFill>
                <a:srgbClr val="000000"/>
              </a:solidFill>
            </a:endParaRPr>
          </a:p>
          <a:p>
            <a:endParaRPr lang="en-US" b="1">
              <a:solidFill>
                <a:srgbClr val="000000"/>
              </a:solidFill>
            </a:endParaRPr>
          </a:p>
          <a:p>
            <a:r>
              <a:rPr lang="en-US" b="1">
                <a:solidFill>
                  <a:srgbClr val="000000"/>
                </a:solidFill>
              </a:rPr>
              <a:t>i=2, thread_id=0</a:t>
            </a:r>
            <a:endParaRPr lang="en-US" b="1">
              <a:solidFill>
                <a:srgbClr val="000000"/>
              </a:solidFill>
            </a:endParaRPr>
          </a:p>
          <a:p>
            <a:endParaRPr lang="en-US" b="1">
              <a:solidFill>
                <a:srgbClr val="000000"/>
              </a:solidFill>
            </a:endParaRPr>
          </a:p>
          <a:p>
            <a:r>
              <a:rPr lang="en-US" b="1">
                <a:solidFill>
                  <a:srgbClr val="000000"/>
                </a:solidFill>
              </a:rPr>
              <a:t>i=3, thread_id=1</a:t>
            </a:r>
            <a:endParaRPr lang="en-US" b="1">
              <a:solidFill>
                <a:srgbClr val="000000"/>
              </a:solidFill>
            </a:endParaRPr>
          </a:p>
          <a:p>
            <a:endParaRPr lang="en-US" b="1">
              <a:solidFill>
                <a:srgbClr val="000000"/>
              </a:solidFill>
            </a:endParaRPr>
          </a:p>
          <a:p>
            <a:r>
              <a:rPr lang="en-US" b="1">
                <a:solidFill>
                  <a:srgbClr val="000000"/>
                </a:solidFill>
              </a:rPr>
              <a:t>i=5, thread_id=1</a:t>
            </a:r>
            <a:endParaRPr lang="en-US" b="1">
              <a:solidFill>
                <a:srgbClr val="000000"/>
              </a:solidFill>
            </a:endParaRPr>
          </a:p>
          <a:p>
            <a:endParaRPr lang="en-US" b="1">
              <a:solidFill>
                <a:srgbClr val="000000"/>
              </a:solidFill>
            </a:endParaRPr>
          </a:p>
          <a:p>
            <a:r>
              <a:rPr lang="en-US" b="1">
                <a:solidFill>
                  <a:srgbClr val="000000"/>
                </a:solidFill>
              </a:rPr>
              <a:t>i=6, thread_id=1</a:t>
            </a:r>
            <a:endParaRPr lang="en-US" b="1">
              <a:solidFill>
                <a:srgbClr val="000000"/>
              </a:solidFill>
            </a:endParaRPr>
          </a:p>
          <a:p>
            <a:endParaRPr lang="en-US" b="1">
              <a:solidFill>
                <a:srgbClr val="000000"/>
              </a:solidFill>
            </a:endParaRPr>
          </a:p>
          <a:p>
            <a:r>
              <a:rPr lang="en-US" b="1">
                <a:solidFill>
                  <a:srgbClr val="000000"/>
                </a:solidFill>
              </a:rPr>
              <a:t>i=7, thread_id=1</a:t>
            </a:r>
            <a:endParaRPr lang="en-US" b="1">
              <a:solidFill>
                <a:srgbClr val="000000"/>
              </a:solidFill>
            </a:endParaRPr>
          </a:p>
          <a:p>
            <a:endParaRPr lang="en-US" b="1">
              <a:solidFill>
                <a:srgbClr val="000000"/>
              </a:solidFill>
            </a:endParaRPr>
          </a:p>
          <a:p>
            <a:r>
              <a:rPr lang="en-US" b="1">
                <a:solidFill>
                  <a:srgbClr val="000000"/>
                </a:solidFill>
              </a:rPr>
              <a:t>i=8, thread_id=1</a:t>
            </a:r>
            <a:endParaRPr lang="en-US" b="1">
              <a:solidFill>
                <a:srgbClr val="000000"/>
              </a:solidFill>
            </a:endParaRPr>
          </a:p>
          <a:p>
            <a:endParaRPr lang="en-US" b="1">
              <a:solidFill>
                <a:srgbClr val="000000"/>
              </a:solidFill>
            </a:endParaRPr>
          </a:p>
          <a:p>
            <a:r>
              <a:rPr lang="en-US" b="1">
                <a:solidFill>
                  <a:srgbClr val="000000"/>
                </a:solidFill>
              </a:rPr>
              <a:t>i=4, thread_id=0</a:t>
            </a:r>
            <a:endParaRPr lang="en-US" b="1">
              <a:solidFill>
                <a:srgbClr val="000000"/>
              </a:solidFill>
            </a:endParaRPr>
          </a:p>
          <a:p>
            <a:endParaRPr lang="en-US" b="1">
              <a:solidFill>
                <a:srgbClr val="000000"/>
              </a:solidFill>
            </a:endParaRPr>
          </a:p>
          <a:p>
            <a:r>
              <a:rPr lang="en-US" b="1">
                <a:solidFill>
                  <a:srgbClr val="000000"/>
                </a:solidFill>
              </a:rPr>
              <a:t>i=9, thread_id=1</a:t>
            </a:r>
            <a:endParaRPr lang="en-US" b="1" dirty="0">
              <a:solidFill>
                <a:srgbClr val="000000"/>
              </a:solidFill>
            </a:endParaRPr>
          </a:p>
        </p:txBody>
      </p:sp>
      <p:sp>
        <p:nvSpPr>
          <p:cNvPr id="5" name="矩形 4"/>
          <p:cNvSpPr/>
          <p:nvPr/>
        </p:nvSpPr>
        <p:spPr>
          <a:xfrm>
            <a:off x="500781" y="5141265"/>
            <a:ext cx="6064911" cy="1077218"/>
          </a:xfrm>
          <a:prstGeom prst="rect">
            <a:avLst/>
          </a:prstGeom>
        </p:spPr>
        <p:txBody>
          <a:bodyPr wrap="square">
            <a:spAutoFit/>
          </a:bodyPr>
          <a:lstStyle/>
          <a:p>
            <a:r>
              <a:rPr lang="zh-CN" altLang="en-US" sz="3200" b="1" dirty="0">
                <a:solidFill>
                  <a:srgbClr val="6A247A"/>
                </a:solidFill>
                <a:latin typeface="华文新魏" panose="02010800040101010101" pitchFamily="2" charset="-122"/>
                <a:ea typeface="华文新魏" panose="02010800040101010101" pitchFamily="2" charset="-122"/>
              </a:rPr>
              <a:t>不使用</a:t>
            </a:r>
            <a:r>
              <a:rPr lang="en-US" altLang="zh-CN" sz="3200" b="1" dirty="0">
                <a:solidFill>
                  <a:srgbClr val="6A247A"/>
                </a:solidFill>
                <a:latin typeface="华文新魏" panose="02010800040101010101" pitchFamily="2" charset="-122"/>
                <a:ea typeface="华文新魏" panose="02010800040101010101" pitchFamily="2" charset="-122"/>
              </a:rPr>
              <a:t>size</a:t>
            </a:r>
            <a:r>
              <a:rPr lang="zh-CN" altLang="en-US" sz="3200" b="1" dirty="0">
                <a:solidFill>
                  <a:srgbClr val="6A247A"/>
                </a:solidFill>
                <a:latin typeface="华文新魏" panose="02010800040101010101" pitchFamily="2" charset="-122"/>
                <a:ea typeface="华文新魏" panose="02010800040101010101" pitchFamily="2" charset="-122"/>
              </a:rPr>
              <a:t>参数时，动态地将</a:t>
            </a:r>
            <a:r>
              <a:rPr lang="zh-CN" altLang="en-US" sz="3200" b="1" dirty="0" smtClean="0">
                <a:solidFill>
                  <a:srgbClr val="6A247A"/>
                </a:solidFill>
                <a:latin typeface="华文新魏" panose="02010800040101010101" pitchFamily="2" charset="-122"/>
                <a:ea typeface="华文新魏" panose="02010800040101010101" pitchFamily="2" charset="-122"/>
              </a:rPr>
              <a:t>迭代分配</a:t>
            </a:r>
            <a:r>
              <a:rPr lang="zh-CN" altLang="en-US" sz="3200" b="1" dirty="0">
                <a:solidFill>
                  <a:srgbClr val="6A247A"/>
                </a:solidFill>
                <a:latin typeface="华文新魏" panose="02010800040101010101" pitchFamily="2" charset="-122"/>
                <a:ea typeface="华文新魏" panose="02010800040101010101" pitchFamily="2" charset="-122"/>
              </a:rPr>
              <a:t>到各个线程</a:t>
            </a:r>
            <a:endParaRPr lang="en-US" sz="3200" b="1" dirty="0">
              <a:solidFill>
                <a:srgbClr val="6A247A"/>
              </a:solidFill>
              <a:latin typeface="华文新魏" panose="02010800040101010101" pitchFamily="2" charset="-122"/>
              <a:ea typeface="华文新魏" panose="02010800040101010101" pitchFamily="2" charset="-122"/>
            </a:endParaRPr>
          </a:p>
        </p:txBody>
      </p:sp>
    </p:spTree>
  </p:cSld>
  <p:clrMapOvr>
    <a:masterClrMapping/>
  </p:clrMapOvr>
  <p:transition spd="med" advTm="3025">
    <p:fade/>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55806" y="553046"/>
            <a:ext cx="6769649" cy="830997"/>
          </a:xfrm>
          <a:prstGeom prst="rect">
            <a:avLst/>
          </a:prstGeom>
          <a:noFill/>
        </p:spPr>
        <p:txBody>
          <a:bodyPr wrap="square" rtlCol="0">
            <a:spAutoFit/>
          </a:bodyPr>
          <a:lstStyle/>
          <a:p>
            <a:pPr algn="ctr"/>
            <a:r>
              <a:rPr lang="en-US" sz="4800" dirty="0" smtClean="0">
                <a:solidFill>
                  <a:srgbClr val="2D0AC2"/>
                </a:solidFill>
                <a:ea typeface="华文行楷" panose="02010800040101010101" pitchFamily="2" charset="-122"/>
              </a:rPr>
              <a:t>OpenMP</a:t>
            </a:r>
            <a:r>
              <a:rPr lang="zh-CN" altLang="en-US" sz="4800" dirty="0" smtClean="0">
                <a:solidFill>
                  <a:srgbClr val="2D0AC2"/>
                </a:solidFill>
                <a:ea typeface="华文行楷" panose="02010800040101010101" pitchFamily="2" charset="-122"/>
              </a:rPr>
              <a:t>中的任务调度</a:t>
            </a:r>
            <a:endParaRPr lang="en-US" altLang="zh-CN" sz="4800" dirty="0" smtClean="0">
              <a:solidFill>
                <a:srgbClr val="2D0AC2"/>
              </a:solidFill>
              <a:ea typeface="华文行楷" panose="02010800040101010101" pitchFamily="2" charset="-122"/>
            </a:endParaRPr>
          </a:p>
        </p:txBody>
      </p:sp>
      <p:sp>
        <p:nvSpPr>
          <p:cNvPr id="3" name="矩形 2"/>
          <p:cNvSpPr/>
          <p:nvPr/>
        </p:nvSpPr>
        <p:spPr>
          <a:xfrm>
            <a:off x="574963" y="1554494"/>
            <a:ext cx="6408638" cy="3416320"/>
          </a:xfrm>
          <a:prstGeom prst="rect">
            <a:avLst/>
          </a:prstGeom>
        </p:spPr>
        <p:txBody>
          <a:bodyPr wrap="square">
            <a:spAutoFit/>
          </a:bodyPr>
          <a:lstStyle/>
          <a:p>
            <a:r>
              <a:rPr lang="en-US" sz="2400" b="1" dirty="0">
                <a:solidFill>
                  <a:srgbClr val="000000"/>
                </a:solidFill>
              </a:rPr>
              <a:t> </a:t>
            </a:r>
            <a:r>
              <a:rPr lang="en-US" sz="2400" b="1" dirty="0">
                <a:solidFill>
                  <a:srgbClr val="C00000"/>
                </a:solidFill>
              </a:rPr>
              <a:t>#pragma </a:t>
            </a:r>
            <a:r>
              <a:rPr lang="en-US" sz="2400" b="1" dirty="0" err="1">
                <a:solidFill>
                  <a:srgbClr val="C00000"/>
                </a:solidFill>
              </a:rPr>
              <a:t>omp</a:t>
            </a:r>
            <a:r>
              <a:rPr lang="en-US" sz="2400" b="1" dirty="0">
                <a:solidFill>
                  <a:srgbClr val="C00000"/>
                </a:solidFill>
              </a:rPr>
              <a:t> parallel for </a:t>
            </a:r>
            <a:r>
              <a:rPr lang="en-US" sz="2400" b="1" dirty="0" smtClean="0">
                <a:solidFill>
                  <a:srgbClr val="C00000"/>
                </a:solidFill>
              </a:rPr>
              <a:t>schedule(dynamic</a:t>
            </a:r>
            <a:r>
              <a:rPr lang="zh-CN" altLang="en-US" sz="2400" b="1" dirty="0" smtClean="0">
                <a:solidFill>
                  <a:srgbClr val="C00000"/>
                </a:solidFill>
              </a:rPr>
              <a:t>，</a:t>
            </a:r>
            <a:r>
              <a:rPr lang="en-US" altLang="zh-CN" sz="2400" b="1" dirty="0" smtClean="0">
                <a:solidFill>
                  <a:srgbClr val="C00000"/>
                </a:solidFill>
              </a:rPr>
              <a:t>2</a:t>
            </a:r>
            <a:r>
              <a:rPr lang="en-US" sz="2400" b="1" dirty="0" smtClean="0">
                <a:solidFill>
                  <a:srgbClr val="C00000"/>
                </a:solidFill>
              </a:rPr>
              <a:t>)</a:t>
            </a:r>
            <a:endParaRPr lang="en-US" sz="2400" b="1" dirty="0">
              <a:solidFill>
                <a:srgbClr val="C00000"/>
              </a:solidFill>
            </a:endParaRPr>
          </a:p>
          <a:p>
            <a:endParaRPr lang="en-US" sz="2400" b="1" dirty="0">
              <a:solidFill>
                <a:srgbClr val="000000"/>
              </a:solidFill>
            </a:endParaRPr>
          </a:p>
          <a:p>
            <a:r>
              <a:rPr lang="en-US" sz="2400" b="1" dirty="0">
                <a:solidFill>
                  <a:srgbClr val="000000"/>
                </a:solidFill>
              </a:rPr>
              <a:t>    for(</a:t>
            </a:r>
            <a:r>
              <a:rPr lang="en-US" sz="2400" b="1" dirty="0" err="1">
                <a:solidFill>
                  <a:srgbClr val="000000"/>
                </a:solidFill>
              </a:rPr>
              <a:t>i</a:t>
            </a:r>
            <a:r>
              <a:rPr lang="en-US" sz="2400" b="1" dirty="0">
                <a:solidFill>
                  <a:srgbClr val="000000"/>
                </a:solidFill>
              </a:rPr>
              <a:t> = 0; </a:t>
            </a:r>
            <a:r>
              <a:rPr lang="en-US" sz="2400" b="1" dirty="0" err="1">
                <a:solidFill>
                  <a:srgbClr val="000000"/>
                </a:solidFill>
              </a:rPr>
              <a:t>i</a:t>
            </a:r>
            <a:r>
              <a:rPr lang="en-US" sz="2400" b="1" dirty="0">
                <a:solidFill>
                  <a:srgbClr val="000000"/>
                </a:solidFill>
              </a:rPr>
              <a:t> &lt; 10; </a:t>
            </a:r>
            <a:r>
              <a:rPr lang="en-US" sz="2400" b="1" dirty="0" err="1">
                <a:solidFill>
                  <a:srgbClr val="000000"/>
                </a:solidFill>
              </a:rPr>
              <a:t>i</a:t>
            </a:r>
            <a:r>
              <a:rPr lang="en-US" sz="2400" b="1" dirty="0">
                <a:solidFill>
                  <a:srgbClr val="000000"/>
                </a:solidFill>
              </a:rPr>
              <a:t>++ )</a:t>
            </a:r>
            <a:endParaRPr lang="en-US" sz="2400" b="1" dirty="0">
              <a:solidFill>
                <a:srgbClr val="000000"/>
              </a:solidFill>
            </a:endParaRPr>
          </a:p>
          <a:p>
            <a:endParaRPr lang="en-US" sz="2400" b="1" dirty="0">
              <a:solidFill>
                <a:srgbClr val="000000"/>
              </a:solidFill>
            </a:endParaRPr>
          </a:p>
          <a:p>
            <a:r>
              <a:rPr lang="en-US" sz="2400" b="1" dirty="0">
                <a:solidFill>
                  <a:srgbClr val="000000"/>
                </a:solidFill>
              </a:rPr>
              <a:t>    </a:t>
            </a:r>
            <a:r>
              <a:rPr lang="en-US" sz="2400" b="1" dirty="0" smtClean="0">
                <a:solidFill>
                  <a:srgbClr val="000000"/>
                </a:solidFill>
              </a:rPr>
              <a:t>{</a:t>
            </a:r>
            <a:endParaRPr lang="en-US" sz="2400" b="1" dirty="0">
              <a:solidFill>
                <a:srgbClr val="000000"/>
              </a:solidFill>
            </a:endParaRPr>
          </a:p>
          <a:p>
            <a:r>
              <a:rPr lang="en-US" sz="2400" b="1" dirty="0">
                <a:solidFill>
                  <a:srgbClr val="000000"/>
                </a:solidFill>
              </a:rPr>
              <a:t>         </a:t>
            </a:r>
            <a:r>
              <a:rPr lang="en-US" sz="2400" b="1" dirty="0" err="1">
                <a:solidFill>
                  <a:srgbClr val="000000"/>
                </a:solidFill>
              </a:rPr>
              <a:t>printf</a:t>
            </a:r>
            <a:r>
              <a:rPr lang="en-US" sz="2400" b="1" dirty="0">
                <a:solidFill>
                  <a:srgbClr val="000000"/>
                </a:solidFill>
              </a:rPr>
              <a:t>("</a:t>
            </a:r>
            <a:r>
              <a:rPr lang="en-US" sz="2400" b="1" dirty="0" err="1">
                <a:solidFill>
                  <a:srgbClr val="000000"/>
                </a:solidFill>
              </a:rPr>
              <a:t>i</a:t>
            </a:r>
            <a:r>
              <a:rPr lang="en-US" sz="2400" b="1" dirty="0">
                <a:solidFill>
                  <a:srgbClr val="000000"/>
                </a:solidFill>
              </a:rPr>
              <a:t>=%d, </a:t>
            </a:r>
            <a:r>
              <a:rPr lang="en-US" sz="2400" b="1" dirty="0" err="1">
                <a:solidFill>
                  <a:srgbClr val="000000"/>
                </a:solidFill>
              </a:rPr>
              <a:t>thread_id</a:t>
            </a:r>
            <a:r>
              <a:rPr lang="en-US" sz="2400" b="1" dirty="0">
                <a:solidFill>
                  <a:srgbClr val="000000"/>
                </a:solidFill>
              </a:rPr>
              <a:t>=%d/n", </a:t>
            </a:r>
            <a:r>
              <a:rPr lang="en-US" sz="2400" b="1" dirty="0" err="1">
                <a:solidFill>
                  <a:srgbClr val="000000"/>
                </a:solidFill>
              </a:rPr>
              <a:t>i</a:t>
            </a:r>
            <a:r>
              <a:rPr lang="en-US" sz="2400" b="1" dirty="0">
                <a:solidFill>
                  <a:srgbClr val="000000"/>
                </a:solidFill>
              </a:rPr>
              <a:t>, </a:t>
            </a:r>
            <a:r>
              <a:rPr lang="en-US" sz="2400" b="1" dirty="0" err="1">
                <a:solidFill>
                  <a:srgbClr val="000000"/>
                </a:solidFill>
              </a:rPr>
              <a:t>omp_get_thread_num</a:t>
            </a:r>
            <a:r>
              <a:rPr lang="en-US" sz="2400" b="1" dirty="0">
                <a:solidFill>
                  <a:srgbClr val="000000"/>
                </a:solidFill>
              </a:rPr>
              <a:t>());</a:t>
            </a:r>
            <a:endParaRPr lang="en-US" sz="2400" b="1" dirty="0">
              <a:solidFill>
                <a:srgbClr val="000000"/>
              </a:solidFill>
            </a:endParaRPr>
          </a:p>
          <a:p>
            <a:endParaRPr lang="en-US" sz="2400" b="1" dirty="0">
              <a:solidFill>
                <a:srgbClr val="000000"/>
              </a:solidFill>
            </a:endParaRPr>
          </a:p>
          <a:p>
            <a:r>
              <a:rPr lang="en-US" sz="2400" b="1" dirty="0" smtClean="0">
                <a:solidFill>
                  <a:srgbClr val="000000"/>
                </a:solidFill>
              </a:rPr>
              <a:t>     </a:t>
            </a:r>
            <a:r>
              <a:rPr lang="en-US" sz="2400" b="1" dirty="0">
                <a:solidFill>
                  <a:srgbClr val="000000"/>
                </a:solidFill>
              </a:rPr>
              <a:t>}</a:t>
            </a:r>
            <a:endParaRPr lang="en-US" sz="2400" b="1" dirty="0">
              <a:solidFill>
                <a:srgbClr val="000000"/>
              </a:solidFill>
            </a:endParaRPr>
          </a:p>
        </p:txBody>
      </p:sp>
      <p:sp>
        <p:nvSpPr>
          <p:cNvPr id="4" name="矩形 3"/>
          <p:cNvSpPr/>
          <p:nvPr/>
        </p:nvSpPr>
        <p:spPr>
          <a:xfrm>
            <a:off x="7193462" y="725384"/>
            <a:ext cx="2410691" cy="535531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r>
              <a:rPr lang="en-US" b="1">
                <a:solidFill>
                  <a:srgbClr val="000000"/>
                </a:solidFill>
              </a:rPr>
              <a:t>i=0, thread_id=0</a:t>
            </a:r>
            <a:endParaRPr lang="en-US" b="1">
              <a:solidFill>
                <a:srgbClr val="000000"/>
              </a:solidFill>
            </a:endParaRPr>
          </a:p>
          <a:p>
            <a:endParaRPr lang="en-US" b="1">
              <a:solidFill>
                <a:srgbClr val="000000"/>
              </a:solidFill>
            </a:endParaRPr>
          </a:p>
          <a:p>
            <a:r>
              <a:rPr lang="en-US" b="1">
                <a:solidFill>
                  <a:srgbClr val="000000"/>
                </a:solidFill>
              </a:rPr>
              <a:t>i=1, thread_id=0</a:t>
            </a:r>
            <a:endParaRPr lang="en-US" b="1">
              <a:solidFill>
                <a:srgbClr val="000000"/>
              </a:solidFill>
            </a:endParaRPr>
          </a:p>
          <a:p>
            <a:endParaRPr lang="en-US" b="1">
              <a:solidFill>
                <a:srgbClr val="000000"/>
              </a:solidFill>
            </a:endParaRPr>
          </a:p>
          <a:p>
            <a:r>
              <a:rPr lang="en-US" b="1">
                <a:solidFill>
                  <a:srgbClr val="000000"/>
                </a:solidFill>
              </a:rPr>
              <a:t>i=4, thread_id=0</a:t>
            </a:r>
            <a:endParaRPr lang="en-US" b="1">
              <a:solidFill>
                <a:srgbClr val="000000"/>
              </a:solidFill>
            </a:endParaRPr>
          </a:p>
          <a:p>
            <a:endParaRPr lang="en-US" b="1">
              <a:solidFill>
                <a:srgbClr val="000000"/>
              </a:solidFill>
            </a:endParaRPr>
          </a:p>
          <a:p>
            <a:r>
              <a:rPr lang="en-US" b="1">
                <a:solidFill>
                  <a:srgbClr val="000000"/>
                </a:solidFill>
              </a:rPr>
              <a:t>i=2, thread_id=1</a:t>
            </a:r>
            <a:endParaRPr lang="en-US" b="1">
              <a:solidFill>
                <a:srgbClr val="000000"/>
              </a:solidFill>
            </a:endParaRPr>
          </a:p>
          <a:p>
            <a:endParaRPr lang="en-US" b="1">
              <a:solidFill>
                <a:srgbClr val="000000"/>
              </a:solidFill>
            </a:endParaRPr>
          </a:p>
          <a:p>
            <a:r>
              <a:rPr lang="en-US" b="1">
                <a:solidFill>
                  <a:srgbClr val="000000"/>
                </a:solidFill>
              </a:rPr>
              <a:t>i=5, thread_id=0</a:t>
            </a:r>
            <a:endParaRPr lang="en-US" b="1">
              <a:solidFill>
                <a:srgbClr val="000000"/>
              </a:solidFill>
            </a:endParaRPr>
          </a:p>
          <a:p>
            <a:endParaRPr lang="en-US" b="1">
              <a:solidFill>
                <a:srgbClr val="000000"/>
              </a:solidFill>
            </a:endParaRPr>
          </a:p>
          <a:p>
            <a:r>
              <a:rPr lang="en-US" b="1">
                <a:solidFill>
                  <a:srgbClr val="000000"/>
                </a:solidFill>
              </a:rPr>
              <a:t>i=3, thread_id=1</a:t>
            </a:r>
            <a:endParaRPr lang="en-US" b="1">
              <a:solidFill>
                <a:srgbClr val="000000"/>
              </a:solidFill>
            </a:endParaRPr>
          </a:p>
          <a:p>
            <a:endParaRPr lang="en-US" b="1">
              <a:solidFill>
                <a:srgbClr val="000000"/>
              </a:solidFill>
            </a:endParaRPr>
          </a:p>
          <a:p>
            <a:r>
              <a:rPr lang="en-US" b="1">
                <a:solidFill>
                  <a:srgbClr val="000000"/>
                </a:solidFill>
              </a:rPr>
              <a:t>i=6, thread_id=0</a:t>
            </a:r>
            <a:endParaRPr lang="en-US" b="1">
              <a:solidFill>
                <a:srgbClr val="000000"/>
              </a:solidFill>
            </a:endParaRPr>
          </a:p>
          <a:p>
            <a:endParaRPr lang="en-US" b="1">
              <a:solidFill>
                <a:srgbClr val="000000"/>
              </a:solidFill>
            </a:endParaRPr>
          </a:p>
          <a:p>
            <a:r>
              <a:rPr lang="en-US" b="1">
                <a:solidFill>
                  <a:srgbClr val="000000"/>
                </a:solidFill>
              </a:rPr>
              <a:t>i=8, thread_id=1</a:t>
            </a:r>
            <a:endParaRPr lang="en-US" b="1">
              <a:solidFill>
                <a:srgbClr val="000000"/>
              </a:solidFill>
            </a:endParaRPr>
          </a:p>
          <a:p>
            <a:endParaRPr lang="en-US" b="1">
              <a:solidFill>
                <a:srgbClr val="000000"/>
              </a:solidFill>
            </a:endParaRPr>
          </a:p>
          <a:p>
            <a:r>
              <a:rPr lang="en-US" b="1">
                <a:solidFill>
                  <a:srgbClr val="000000"/>
                </a:solidFill>
              </a:rPr>
              <a:t>i=7, thread_id=0</a:t>
            </a:r>
            <a:endParaRPr lang="en-US" b="1">
              <a:solidFill>
                <a:srgbClr val="000000"/>
              </a:solidFill>
            </a:endParaRPr>
          </a:p>
          <a:p>
            <a:endParaRPr lang="en-US" b="1">
              <a:solidFill>
                <a:srgbClr val="000000"/>
              </a:solidFill>
            </a:endParaRPr>
          </a:p>
          <a:p>
            <a:r>
              <a:rPr lang="en-US" b="1">
                <a:solidFill>
                  <a:srgbClr val="000000"/>
                </a:solidFill>
              </a:rPr>
              <a:t>i=9, thread_id=1</a:t>
            </a:r>
            <a:endParaRPr lang="en-US" b="1" dirty="0">
              <a:solidFill>
                <a:srgbClr val="000000"/>
              </a:solidFill>
            </a:endParaRPr>
          </a:p>
        </p:txBody>
      </p:sp>
      <p:sp>
        <p:nvSpPr>
          <p:cNvPr id="5" name="矩形 4"/>
          <p:cNvSpPr/>
          <p:nvPr/>
        </p:nvSpPr>
        <p:spPr>
          <a:xfrm>
            <a:off x="500781" y="5141265"/>
            <a:ext cx="6064911" cy="1077218"/>
          </a:xfrm>
          <a:prstGeom prst="rect">
            <a:avLst/>
          </a:prstGeom>
        </p:spPr>
        <p:txBody>
          <a:bodyPr wrap="square">
            <a:spAutoFit/>
          </a:bodyPr>
          <a:lstStyle/>
          <a:p>
            <a:r>
              <a:rPr lang="zh-CN" altLang="en-US" sz="3200" b="1" dirty="0" smtClean="0">
                <a:solidFill>
                  <a:srgbClr val="6A247A"/>
                </a:solidFill>
                <a:latin typeface="华文新魏" panose="02010800040101010101" pitchFamily="2" charset="-122"/>
                <a:ea typeface="华文新魏" panose="02010800040101010101" pitchFamily="2" charset="-122"/>
              </a:rPr>
              <a:t>使用</a:t>
            </a:r>
            <a:r>
              <a:rPr lang="en-US" altLang="zh-CN" sz="3200" b="1" dirty="0">
                <a:solidFill>
                  <a:srgbClr val="6A247A"/>
                </a:solidFill>
                <a:latin typeface="华文新魏" panose="02010800040101010101" pitchFamily="2" charset="-122"/>
                <a:ea typeface="华文新魏" panose="02010800040101010101" pitchFamily="2" charset="-122"/>
              </a:rPr>
              <a:t>size</a:t>
            </a:r>
            <a:r>
              <a:rPr lang="zh-CN" altLang="en-US" sz="3200" b="1" dirty="0">
                <a:solidFill>
                  <a:srgbClr val="6A247A"/>
                </a:solidFill>
                <a:latin typeface="华文新魏" panose="02010800040101010101" pitchFamily="2" charset="-122"/>
                <a:ea typeface="华文新魏" panose="02010800040101010101" pitchFamily="2" charset="-122"/>
              </a:rPr>
              <a:t>参数时，动态地</a:t>
            </a:r>
            <a:r>
              <a:rPr lang="zh-CN" altLang="en-US" sz="3200" b="1" dirty="0" smtClean="0">
                <a:solidFill>
                  <a:srgbClr val="6A247A"/>
                </a:solidFill>
                <a:latin typeface="华文新魏" panose="02010800040101010101" pitchFamily="2" charset="-122"/>
                <a:ea typeface="华文新魏" panose="02010800040101010101" pitchFamily="2" charset="-122"/>
              </a:rPr>
              <a:t>将</a:t>
            </a:r>
            <a:r>
              <a:rPr lang="en-US" altLang="zh-CN" sz="3200" b="1" dirty="0" smtClean="0">
                <a:solidFill>
                  <a:srgbClr val="6A247A"/>
                </a:solidFill>
                <a:latin typeface="华文新魏" panose="02010800040101010101" pitchFamily="2" charset="-122"/>
                <a:ea typeface="华文新魏" panose="02010800040101010101" pitchFamily="2" charset="-122"/>
              </a:rPr>
              <a:t>size</a:t>
            </a:r>
            <a:r>
              <a:rPr lang="zh-CN" altLang="en-US" sz="3200" b="1" dirty="0" smtClean="0">
                <a:solidFill>
                  <a:srgbClr val="6A247A"/>
                </a:solidFill>
                <a:latin typeface="华文新魏" panose="02010800040101010101" pitchFamily="2" charset="-122"/>
                <a:ea typeface="华文新魏" panose="02010800040101010101" pitchFamily="2" charset="-122"/>
              </a:rPr>
              <a:t>次迭代分配</a:t>
            </a:r>
            <a:r>
              <a:rPr lang="zh-CN" altLang="en-US" sz="3200" b="1" dirty="0">
                <a:solidFill>
                  <a:srgbClr val="6A247A"/>
                </a:solidFill>
                <a:latin typeface="华文新魏" panose="02010800040101010101" pitchFamily="2" charset="-122"/>
                <a:ea typeface="华文新魏" panose="02010800040101010101" pitchFamily="2" charset="-122"/>
              </a:rPr>
              <a:t>到各个线程</a:t>
            </a:r>
            <a:endParaRPr lang="en-US" sz="3200" b="1" dirty="0">
              <a:solidFill>
                <a:srgbClr val="6A247A"/>
              </a:solidFill>
              <a:latin typeface="华文新魏" panose="02010800040101010101" pitchFamily="2" charset="-122"/>
              <a:ea typeface="华文新魏" panose="02010800040101010101" pitchFamily="2" charset="-122"/>
            </a:endParaRPr>
          </a:p>
        </p:txBody>
      </p:sp>
      <p:sp>
        <p:nvSpPr>
          <p:cNvPr id="6" name="矩形 5"/>
          <p:cNvSpPr/>
          <p:nvPr/>
        </p:nvSpPr>
        <p:spPr>
          <a:xfrm>
            <a:off x="9872160" y="1231329"/>
            <a:ext cx="2104981" cy="3539430"/>
          </a:xfrm>
          <a:prstGeom prst="rect">
            <a:avLst/>
          </a:prstGeom>
        </p:spPr>
        <p:txBody>
          <a:bodyPr wrap="square">
            <a:spAutoFit/>
          </a:bodyPr>
          <a:lstStyle/>
          <a:p>
            <a:r>
              <a:rPr lang="zh-CN" altLang="en-US" sz="2800" b="1" dirty="0" smtClean="0">
                <a:latin typeface="华文新魏" panose="02010800040101010101" pitchFamily="2" charset="-122"/>
                <a:ea typeface="华文新魏" panose="02010800040101010101" pitchFamily="2" charset="-122"/>
              </a:rPr>
              <a:t>      注意</a:t>
            </a:r>
            <a:r>
              <a:rPr lang="zh-CN" altLang="en-US" sz="2800" b="1" dirty="0">
                <a:latin typeface="华文新魏" panose="02010800040101010101" pitchFamily="2" charset="-122"/>
                <a:ea typeface="华文新魏" panose="02010800040101010101" pitchFamily="2" charset="-122"/>
              </a:rPr>
              <a:t>由于多线程执行时序的随机性，每次执行时打印的结果顺序可能存在</a:t>
            </a:r>
            <a:r>
              <a:rPr lang="zh-CN" altLang="en-US" sz="2800" b="1" dirty="0" smtClean="0">
                <a:latin typeface="华文新魏" panose="02010800040101010101" pitchFamily="2" charset="-122"/>
                <a:ea typeface="华文新魏" panose="02010800040101010101" pitchFamily="2" charset="-122"/>
              </a:rPr>
              <a:t>差别！</a:t>
            </a:r>
            <a:endParaRPr lang="en-US" sz="2800" b="1" dirty="0">
              <a:latin typeface="华文新魏" panose="02010800040101010101" pitchFamily="2" charset="-122"/>
              <a:ea typeface="华文新魏" panose="02010800040101010101" pitchFamily="2" charset="-122"/>
            </a:endParaRPr>
          </a:p>
        </p:txBody>
      </p:sp>
    </p:spTree>
  </p:cSld>
  <p:clrMapOvr>
    <a:masterClrMapping/>
  </p:clrMapOvr>
  <p:transition spd="med" advTm="3025">
    <p:fade/>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25236" y="568036"/>
            <a:ext cx="10293928" cy="830997"/>
          </a:xfrm>
          <a:prstGeom prst="rect">
            <a:avLst/>
          </a:prstGeom>
          <a:noFill/>
        </p:spPr>
        <p:txBody>
          <a:bodyPr wrap="square" rtlCol="0">
            <a:spAutoFit/>
          </a:bodyPr>
          <a:lstStyle/>
          <a:p>
            <a:pPr algn="ctr"/>
            <a:r>
              <a:rPr lang="en-US" sz="4800" dirty="0" smtClean="0">
                <a:solidFill>
                  <a:srgbClr val="2D0AC2"/>
                </a:solidFill>
                <a:ea typeface="华文行楷" panose="02010800040101010101" pitchFamily="2" charset="-122"/>
              </a:rPr>
              <a:t>OpenMP</a:t>
            </a:r>
            <a:r>
              <a:rPr lang="zh-CN" altLang="en-US" sz="4800" dirty="0" smtClean="0">
                <a:solidFill>
                  <a:srgbClr val="2D0AC2"/>
                </a:solidFill>
                <a:ea typeface="华文行楷" panose="02010800040101010101" pitchFamily="2" charset="-122"/>
              </a:rPr>
              <a:t>中的任务调度</a:t>
            </a:r>
            <a:endParaRPr lang="en-US" altLang="zh-CN" sz="4800" dirty="0" smtClean="0">
              <a:solidFill>
                <a:srgbClr val="2D0AC2"/>
              </a:solidFill>
              <a:ea typeface="华文行楷" panose="02010800040101010101" pitchFamily="2" charset="-122"/>
            </a:endParaRPr>
          </a:p>
        </p:txBody>
      </p:sp>
      <p:sp>
        <p:nvSpPr>
          <p:cNvPr id="3" name="矩形 2"/>
          <p:cNvSpPr/>
          <p:nvPr/>
        </p:nvSpPr>
        <p:spPr>
          <a:xfrm>
            <a:off x="1259175" y="1399033"/>
            <a:ext cx="10178320" cy="4524315"/>
          </a:xfrm>
          <a:prstGeom prst="rect">
            <a:avLst/>
          </a:prstGeom>
        </p:spPr>
        <p:txBody>
          <a:bodyPr wrap="square">
            <a:spAutoFit/>
          </a:bodyPr>
          <a:lstStyle/>
          <a:p>
            <a:pPr marL="457200" indent="-457200">
              <a:lnSpc>
                <a:spcPct val="150000"/>
              </a:lnSpc>
              <a:buFont typeface="Wingdings" panose="05000000000000000000" pitchFamily="2" charset="2"/>
              <a:buChar char="v"/>
            </a:pPr>
            <a:r>
              <a:rPr lang="zh-CN" altLang="en-US" sz="3200" b="1" dirty="0">
                <a:solidFill>
                  <a:srgbClr val="6A247A"/>
                </a:solidFill>
              </a:rPr>
              <a:t>指导</a:t>
            </a:r>
            <a:r>
              <a:rPr lang="zh-CN" altLang="en-US" sz="3200" b="1" dirty="0" smtClean="0">
                <a:solidFill>
                  <a:srgbClr val="6A247A"/>
                </a:solidFill>
              </a:rPr>
              <a:t>调度</a:t>
            </a:r>
            <a:r>
              <a:rPr lang="en-US" altLang="zh-CN" sz="3200" b="1" dirty="0" smtClean="0">
                <a:solidFill>
                  <a:srgbClr val="6A247A"/>
                </a:solidFill>
              </a:rPr>
              <a:t>/</a:t>
            </a:r>
            <a:r>
              <a:rPr lang="zh-CN" altLang="en-US" sz="3200" b="1" dirty="0" smtClean="0">
                <a:solidFill>
                  <a:srgbClr val="6A247A"/>
                </a:solidFill>
              </a:rPr>
              <a:t>启发式调度（</a:t>
            </a:r>
            <a:r>
              <a:rPr lang="en-US" altLang="zh-CN" sz="3200" b="1" dirty="0" smtClean="0">
                <a:solidFill>
                  <a:srgbClr val="6A247A"/>
                </a:solidFill>
              </a:rPr>
              <a:t>guided</a:t>
            </a:r>
            <a:r>
              <a:rPr lang="zh-CN" altLang="en-US" sz="3200" b="1" dirty="0" smtClean="0">
                <a:solidFill>
                  <a:srgbClr val="6A247A"/>
                </a:solidFill>
              </a:rPr>
              <a:t>）</a:t>
            </a:r>
            <a:endParaRPr lang="en-US" altLang="zh-CN" sz="3200" b="1" dirty="0" smtClean="0">
              <a:solidFill>
                <a:srgbClr val="6A247A"/>
              </a:solidFill>
            </a:endParaRPr>
          </a:p>
          <a:p>
            <a:pPr>
              <a:lnSpc>
                <a:spcPct val="150000"/>
              </a:lnSpc>
            </a:pPr>
            <a:r>
              <a:rPr lang="en-US" altLang="zh-CN" sz="3200" b="1" dirty="0" smtClean="0"/>
              <a:t>        guided</a:t>
            </a:r>
            <a:r>
              <a:rPr lang="zh-CN" altLang="en-US" sz="3200" b="1" dirty="0"/>
              <a:t>调度是一种采用指导性的启发式自调度方法。</a:t>
            </a:r>
            <a:r>
              <a:rPr lang="zh-CN" altLang="en-US" sz="3200" b="1" dirty="0">
                <a:solidFill>
                  <a:srgbClr val="2D0AC2"/>
                </a:solidFill>
              </a:rPr>
              <a:t>开始时每个线程会分配到较大的迭代块，之后分配到的迭代块会逐渐递减。</a:t>
            </a:r>
            <a:r>
              <a:rPr lang="zh-CN" altLang="en-US" sz="3200" b="1" dirty="0"/>
              <a:t>迭代块的大小会按指数级下降到指定的</a:t>
            </a:r>
            <a:r>
              <a:rPr lang="en-US" altLang="zh-CN" sz="3200" b="1" dirty="0"/>
              <a:t>size</a:t>
            </a:r>
            <a:r>
              <a:rPr lang="zh-CN" altLang="en-US" sz="3200" b="1" dirty="0"/>
              <a:t>大小，如果没有指定</a:t>
            </a:r>
            <a:r>
              <a:rPr lang="en-US" altLang="zh-CN" sz="3200" b="1" dirty="0"/>
              <a:t>size</a:t>
            </a:r>
            <a:r>
              <a:rPr lang="zh-CN" altLang="en-US" sz="3200" b="1" dirty="0"/>
              <a:t>参数，那么迭代块大小最小会降到</a:t>
            </a:r>
            <a:r>
              <a:rPr lang="en-US" altLang="zh-CN" sz="3200" b="1" dirty="0"/>
              <a:t>1</a:t>
            </a:r>
            <a:r>
              <a:rPr lang="zh-CN" altLang="en-US" sz="3200" b="1" dirty="0"/>
              <a:t>。</a:t>
            </a:r>
            <a:endParaRPr lang="en-US" altLang="zh-CN" sz="3200" b="1" dirty="0" smtClean="0"/>
          </a:p>
        </p:txBody>
      </p:sp>
    </p:spTree>
  </p:cSld>
  <p:clrMapOvr>
    <a:masterClrMapping/>
  </p:clrMapOvr>
  <p:transition spd="med" advTm="3025">
    <p:fade/>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55806" y="553046"/>
            <a:ext cx="6769649" cy="830997"/>
          </a:xfrm>
          <a:prstGeom prst="rect">
            <a:avLst/>
          </a:prstGeom>
          <a:noFill/>
        </p:spPr>
        <p:txBody>
          <a:bodyPr wrap="square" rtlCol="0">
            <a:spAutoFit/>
          </a:bodyPr>
          <a:lstStyle/>
          <a:p>
            <a:pPr algn="ctr"/>
            <a:r>
              <a:rPr lang="en-US" sz="4800" dirty="0" smtClean="0">
                <a:solidFill>
                  <a:srgbClr val="2D0AC2"/>
                </a:solidFill>
                <a:ea typeface="华文行楷" panose="02010800040101010101" pitchFamily="2" charset="-122"/>
              </a:rPr>
              <a:t>OpenMP</a:t>
            </a:r>
            <a:r>
              <a:rPr lang="zh-CN" altLang="en-US" sz="4800" dirty="0" smtClean="0">
                <a:solidFill>
                  <a:srgbClr val="2D0AC2"/>
                </a:solidFill>
                <a:ea typeface="华文行楷" panose="02010800040101010101" pitchFamily="2" charset="-122"/>
              </a:rPr>
              <a:t>中的任务调度</a:t>
            </a:r>
            <a:endParaRPr lang="en-US" altLang="zh-CN" sz="4800" dirty="0" smtClean="0">
              <a:solidFill>
                <a:srgbClr val="2D0AC2"/>
              </a:solidFill>
              <a:ea typeface="华文行楷" panose="02010800040101010101" pitchFamily="2" charset="-122"/>
            </a:endParaRPr>
          </a:p>
        </p:txBody>
      </p:sp>
      <p:sp>
        <p:nvSpPr>
          <p:cNvPr id="3" name="矩形 2"/>
          <p:cNvSpPr/>
          <p:nvPr/>
        </p:nvSpPr>
        <p:spPr>
          <a:xfrm>
            <a:off x="574963" y="1554494"/>
            <a:ext cx="6408638" cy="3416320"/>
          </a:xfrm>
          <a:prstGeom prst="rect">
            <a:avLst/>
          </a:prstGeom>
        </p:spPr>
        <p:txBody>
          <a:bodyPr wrap="square">
            <a:spAutoFit/>
          </a:bodyPr>
          <a:lstStyle/>
          <a:p>
            <a:r>
              <a:rPr lang="en-US" sz="2400" b="1" dirty="0">
                <a:solidFill>
                  <a:srgbClr val="000000"/>
                </a:solidFill>
              </a:rPr>
              <a:t> </a:t>
            </a:r>
            <a:r>
              <a:rPr lang="en-US" sz="2400" b="1" dirty="0">
                <a:solidFill>
                  <a:srgbClr val="C00000"/>
                </a:solidFill>
              </a:rPr>
              <a:t>#pragma </a:t>
            </a:r>
            <a:r>
              <a:rPr lang="en-US" sz="2400" b="1" dirty="0" err="1">
                <a:solidFill>
                  <a:srgbClr val="C00000"/>
                </a:solidFill>
              </a:rPr>
              <a:t>omp</a:t>
            </a:r>
            <a:r>
              <a:rPr lang="en-US" sz="2400" b="1" dirty="0">
                <a:solidFill>
                  <a:srgbClr val="C00000"/>
                </a:solidFill>
              </a:rPr>
              <a:t> parallel for </a:t>
            </a:r>
            <a:r>
              <a:rPr lang="en-US" sz="2400" b="1" dirty="0" smtClean="0">
                <a:solidFill>
                  <a:srgbClr val="C00000"/>
                </a:solidFill>
              </a:rPr>
              <a:t>schedule(guided</a:t>
            </a:r>
            <a:r>
              <a:rPr lang="zh-CN" altLang="en-US" sz="2400" b="1" dirty="0" smtClean="0">
                <a:solidFill>
                  <a:srgbClr val="C00000"/>
                </a:solidFill>
              </a:rPr>
              <a:t>，</a:t>
            </a:r>
            <a:r>
              <a:rPr lang="en-US" altLang="zh-CN" sz="2400" b="1" dirty="0" smtClean="0">
                <a:solidFill>
                  <a:srgbClr val="C00000"/>
                </a:solidFill>
              </a:rPr>
              <a:t>2</a:t>
            </a:r>
            <a:r>
              <a:rPr lang="en-US" sz="2400" b="1" dirty="0" smtClean="0">
                <a:solidFill>
                  <a:srgbClr val="C00000"/>
                </a:solidFill>
              </a:rPr>
              <a:t>)</a:t>
            </a:r>
            <a:endParaRPr lang="en-US" sz="2400" b="1" dirty="0">
              <a:solidFill>
                <a:srgbClr val="C00000"/>
              </a:solidFill>
            </a:endParaRPr>
          </a:p>
          <a:p>
            <a:endParaRPr lang="en-US" sz="2400" b="1" dirty="0">
              <a:solidFill>
                <a:srgbClr val="000000"/>
              </a:solidFill>
            </a:endParaRPr>
          </a:p>
          <a:p>
            <a:r>
              <a:rPr lang="en-US" sz="2400" b="1" dirty="0">
                <a:solidFill>
                  <a:srgbClr val="000000"/>
                </a:solidFill>
              </a:rPr>
              <a:t>    for(</a:t>
            </a:r>
            <a:r>
              <a:rPr lang="en-US" sz="2400" b="1" dirty="0" err="1">
                <a:solidFill>
                  <a:srgbClr val="000000"/>
                </a:solidFill>
              </a:rPr>
              <a:t>i</a:t>
            </a:r>
            <a:r>
              <a:rPr lang="en-US" sz="2400" b="1" dirty="0">
                <a:solidFill>
                  <a:srgbClr val="000000"/>
                </a:solidFill>
              </a:rPr>
              <a:t> = 0; </a:t>
            </a:r>
            <a:r>
              <a:rPr lang="en-US" sz="2400" b="1" dirty="0" err="1">
                <a:solidFill>
                  <a:srgbClr val="000000"/>
                </a:solidFill>
              </a:rPr>
              <a:t>i</a:t>
            </a:r>
            <a:r>
              <a:rPr lang="en-US" sz="2400" b="1" dirty="0">
                <a:solidFill>
                  <a:srgbClr val="000000"/>
                </a:solidFill>
              </a:rPr>
              <a:t> &lt; 10; </a:t>
            </a:r>
            <a:r>
              <a:rPr lang="en-US" sz="2400" b="1" dirty="0" err="1">
                <a:solidFill>
                  <a:srgbClr val="000000"/>
                </a:solidFill>
              </a:rPr>
              <a:t>i</a:t>
            </a:r>
            <a:r>
              <a:rPr lang="en-US" sz="2400" b="1" dirty="0">
                <a:solidFill>
                  <a:srgbClr val="000000"/>
                </a:solidFill>
              </a:rPr>
              <a:t>++ )</a:t>
            </a:r>
            <a:endParaRPr lang="en-US" sz="2400" b="1" dirty="0">
              <a:solidFill>
                <a:srgbClr val="000000"/>
              </a:solidFill>
            </a:endParaRPr>
          </a:p>
          <a:p>
            <a:endParaRPr lang="en-US" sz="2400" b="1" dirty="0">
              <a:solidFill>
                <a:srgbClr val="000000"/>
              </a:solidFill>
            </a:endParaRPr>
          </a:p>
          <a:p>
            <a:r>
              <a:rPr lang="en-US" sz="2400" b="1" dirty="0">
                <a:solidFill>
                  <a:srgbClr val="000000"/>
                </a:solidFill>
              </a:rPr>
              <a:t>    </a:t>
            </a:r>
            <a:r>
              <a:rPr lang="en-US" sz="2400" b="1" dirty="0" smtClean="0">
                <a:solidFill>
                  <a:srgbClr val="000000"/>
                </a:solidFill>
              </a:rPr>
              <a:t>{</a:t>
            </a:r>
            <a:endParaRPr lang="en-US" sz="2400" b="1" dirty="0">
              <a:solidFill>
                <a:srgbClr val="000000"/>
              </a:solidFill>
            </a:endParaRPr>
          </a:p>
          <a:p>
            <a:r>
              <a:rPr lang="en-US" sz="2400" b="1" dirty="0">
                <a:solidFill>
                  <a:srgbClr val="000000"/>
                </a:solidFill>
              </a:rPr>
              <a:t>         </a:t>
            </a:r>
            <a:r>
              <a:rPr lang="en-US" sz="2400" b="1" dirty="0" err="1">
                <a:solidFill>
                  <a:srgbClr val="000000"/>
                </a:solidFill>
              </a:rPr>
              <a:t>printf</a:t>
            </a:r>
            <a:r>
              <a:rPr lang="en-US" sz="2400" b="1" dirty="0">
                <a:solidFill>
                  <a:srgbClr val="000000"/>
                </a:solidFill>
              </a:rPr>
              <a:t>("</a:t>
            </a:r>
            <a:r>
              <a:rPr lang="en-US" sz="2400" b="1" dirty="0" err="1">
                <a:solidFill>
                  <a:srgbClr val="000000"/>
                </a:solidFill>
              </a:rPr>
              <a:t>i</a:t>
            </a:r>
            <a:r>
              <a:rPr lang="en-US" sz="2400" b="1" dirty="0">
                <a:solidFill>
                  <a:srgbClr val="000000"/>
                </a:solidFill>
              </a:rPr>
              <a:t>=%d, </a:t>
            </a:r>
            <a:r>
              <a:rPr lang="en-US" sz="2400" b="1" dirty="0" err="1">
                <a:solidFill>
                  <a:srgbClr val="000000"/>
                </a:solidFill>
              </a:rPr>
              <a:t>thread_id</a:t>
            </a:r>
            <a:r>
              <a:rPr lang="en-US" sz="2400" b="1" dirty="0">
                <a:solidFill>
                  <a:srgbClr val="000000"/>
                </a:solidFill>
              </a:rPr>
              <a:t>=%d/n", </a:t>
            </a:r>
            <a:r>
              <a:rPr lang="en-US" sz="2400" b="1" dirty="0" err="1">
                <a:solidFill>
                  <a:srgbClr val="000000"/>
                </a:solidFill>
              </a:rPr>
              <a:t>i</a:t>
            </a:r>
            <a:r>
              <a:rPr lang="en-US" sz="2400" b="1" dirty="0">
                <a:solidFill>
                  <a:srgbClr val="000000"/>
                </a:solidFill>
              </a:rPr>
              <a:t>, </a:t>
            </a:r>
            <a:r>
              <a:rPr lang="en-US" sz="2400" b="1" dirty="0" err="1">
                <a:solidFill>
                  <a:srgbClr val="000000"/>
                </a:solidFill>
              </a:rPr>
              <a:t>omp_get_thread_num</a:t>
            </a:r>
            <a:r>
              <a:rPr lang="en-US" sz="2400" b="1" dirty="0">
                <a:solidFill>
                  <a:srgbClr val="000000"/>
                </a:solidFill>
              </a:rPr>
              <a:t>());</a:t>
            </a:r>
            <a:endParaRPr lang="en-US" sz="2400" b="1" dirty="0">
              <a:solidFill>
                <a:srgbClr val="000000"/>
              </a:solidFill>
            </a:endParaRPr>
          </a:p>
          <a:p>
            <a:endParaRPr lang="en-US" sz="2400" b="1" dirty="0">
              <a:solidFill>
                <a:srgbClr val="000000"/>
              </a:solidFill>
            </a:endParaRPr>
          </a:p>
          <a:p>
            <a:r>
              <a:rPr lang="en-US" sz="2400" b="1" dirty="0" smtClean="0">
                <a:solidFill>
                  <a:srgbClr val="000000"/>
                </a:solidFill>
              </a:rPr>
              <a:t>     </a:t>
            </a:r>
            <a:r>
              <a:rPr lang="en-US" sz="2400" b="1" dirty="0">
                <a:solidFill>
                  <a:srgbClr val="000000"/>
                </a:solidFill>
              </a:rPr>
              <a:t>}</a:t>
            </a:r>
            <a:endParaRPr lang="en-US" sz="2400" b="1" dirty="0">
              <a:solidFill>
                <a:srgbClr val="000000"/>
              </a:solidFill>
            </a:endParaRPr>
          </a:p>
        </p:txBody>
      </p:sp>
      <p:sp>
        <p:nvSpPr>
          <p:cNvPr id="4" name="矩形 3"/>
          <p:cNvSpPr/>
          <p:nvPr/>
        </p:nvSpPr>
        <p:spPr>
          <a:xfrm>
            <a:off x="7193462" y="725384"/>
            <a:ext cx="2410691" cy="535531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r>
              <a:rPr lang="en-US" b="1">
                <a:solidFill>
                  <a:srgbClr val="000000"/>
                </a:solidFill>
              </a:rPr>
              <a:t>i=0, thread_id=0</a:t>
            </a:r>
            <a:endParaRPr lang="en-US" b="1">
              <a:solidFill>
                <a:srgbClr val="000000"/>
              </a:solidFill>
            </a:endParaRPr>
          </a:p>
          <a:p>
            <a:endParaRPr lang="en-US" b="1">
              <a:solidFill>
                <a:srgbClr val="000000"/>
              </a:solidFill>
            </a:endParaRPr>
          </a:p>
          <a:p>
            <a:r>
              <a:rPr lang="en-US" b="1">
                <a:solidFill>
                  <a:srgbClr val="000000"/>
                </a:solidFill>
              </a:rPr>
              <a:t>i=1, thread_id=0</a:t>
            </a:r>
            <a:endParaRPr lang="en-US" b="1">
              <a:solidFill>
                <a:srgbClr val="000000"/>
              </a:solidFill>
            </a:endParaRPr>
          </a:p>
          <a:p>
            <a:endParaRPr lang="en-US" b="1">
              <a:solidFill>
                <a:srgbClr val="000000"/>
              </a:solidFill>
            </a:endParaRPr>
          </a:p>
          <a:p>
            <a:r>
              <a:rPr lang="en-US" b="1">
                <a:solidFill>
                  <a:srgbClr val="000000"/>
                </a:solidFill>
              </a:rPr>
              <a:t>i=2, thread_id=0</a:t>
            </a:r>
            <a:endParaRPr lang="en-US" b="1">
              <a:solidFill>
                <a:srgbClr val="000000"/>
              </a:solidFill>
            </a:endParaRPr>
          </a:p>
          <a:p>
            <a:endParaRPr lang="en-US" b="1">
              <a:solidFill>
                <a:srgbClr val="000000"/>
              </a:solidFill>
            </a:endParaRPr>
          </a:p>
          <a:p>
            <a:r>
              <a:rPr lang="en-US" b="1">
                <a:solidFill>
                  <a:srgbClr val="000000"/>
                </a:solidFill>
              </a:rPr>
              <a:t>i=3, thread_id=0</a:t>
            </a:r>
            <a:endParaRPr lang="en-US" b="1">
              <a:solidFill>
                <a:srgbClr val="000000"/>
              </a:solidFill>
            </a:endParaRPr>
          </a:p>
          <a:p>
            <a:endParaRPr lang="en-US" b="1">
              <a:solidFill>
                <a:srgbClr val="000000"/>
              </a:solidFill>
            </a:endParaRPr>
          </a:p>
          <a:p>
            <a:r>
              <a:rPr lang="en-US" b="1">
                <a:solidFill>
                  <a:srgbClr val="000000"/>
                </a:solidFill>
              </a:rPr>
              <a:t>i=4, thread_id=0</a:t>
            </a:r>
            <a:endParaRPr lang="en-US" b="1">
              <a:solidFill>
                <a:srgbClr val="000000"/>
              </a:solidFill>
            </a:endParaRPr>
          </a:p>
          <a:p>
            <a:endParaRPr lang="en-US" b="1">
              <a:solidFill>
                <a:srgbClr val="000000"/>
              </a:solidFill>
            </a:endParaRPr>
          </a:p>
          <a:p>
            <a:r>
              <a:rPr lang="en-US" b="1">
                <a:solidFill>
                  <a:srgbClr val="000000"/>
                </a:solidFill>
              </a:rPr>
              <a:t>i=8, thread_id=0</a:t>
            </a:r>
            <a:endParaRPr lang="en-US" b="1">
              <a:solidFill>
                <a:srgbClr val="000000"/>
              </a:solidFill>
            </a:endParaRPr>
          </a:p>
          <a:p>
            <a:endParaRPr lang="en-US" b="1">
              <a:solidFill>
                <a:srgbClr val="000000"/>
              </a:solidFill>
            </a:endParaRPr>
          </a:p>
          <a:p>
            <a:r>
              <a:rPr lang="en-US" b="1">
                <a:solidFill>
                  <a:srgbClr val="000000"/>
                </a:solidFill>
              </a:rPr>
              <a:t>i=9, thread_id=0</a:t>
            </a:r>
            <a:endParaRPr lang="en-US" b="1">
              <a:solidFill>
                <a:srgbClr val="000000"/>
              </a:solidFill>
            </a:endParaRPr>
          </a:p>
          <a:p>
            <a:endParaRPr lang="en-US" b="1">
              <a:solidFill>
                <a:srgbClr val="000000"/>
              </a:solidFill>
            </a:endParaRPr>
          </a:p>
          <a:p>
            <a:r>
              <a:rPr lang="en-US" b="1">
                <a:solidFill>
                  <a:srgbClr val="000000"/>
                </a:solidFill>
              </a:rPr>
              <a:t>i=5, thread_id=1</a:t>
            </a:r>
            <a:endParaRPr lang="en-US" b="1">
              <a:solidFill>
                <a:srgbClr val="000000"/>
              </a:solidFill>
            </a:endParaRPr>
          </a:p>
          <a:p>
            <a:endParaRPr lang="en-US" b="1">
              <a:solidFill>
                <a:srgbClr val="000000"/>
              </a:solidFill>
            </a:endParaRPr>
          </a:p>
          <a:p>
            <a:r>
              <a:rPr lang="en-US" b="1">
                <a:solidFill>
                  <a:srgbClr val="000000"/>
                </a:solidFill>
              </a:rPr>
              <a:t>i=6, thread_id=1</a:t>
            </a:r>
            <a:endParaRPr lang="en-US" b="1">
              <a:solidFill>
                <a:srgbClr val="000000"/>
              </a:solidFill>
            </a:endParaRPr>
          </a:p>
          <a:p>
            <a:endParaRPr lang="en-US" b="1">
              <a:solidFill>
                <a:srgbClr val="000000"/>
              </a:solidFill>
            </a:endParaRPr>
          </a:p>
          <a:p>
            <a:r>
              <a:rPr lang="en-US" b="1">
                <a:solidFill>
                  <a:srgbClr val="000000"/>
                </a:solidFill>
              </a:rPr>
              <a:t>i=7, thread_id=1</a:t>
            </a:r>
            <a:endParaRPr lang="en-US" b="1" dirty="0">
              <a:solidFill>
                <a:srgbClr val="000000"/>
              </a:solidFill>
            </a:endParaRPr>
          </a:p>
        </p:txBody>
      </p:sp>
      <p:sp>
        <p:nvSpPr>
          <p:cNvPr id="7" name="矩形 6"/>
          <p:cNvSpPr/>
          <p:nvPr/>
        </p:nvSpPr>
        <p:spPr>
          <a:xfrm>
            <a:off x="9814014" y="536466"/>
            <a:ext cx="2377078" cy="5632311"/>
          </a:xfrm>
          <a:prstGeom prst="rect">
            <a:avLst/>
          </a:prstGeom>
        </p:spPr>
        <p:txBody>
          <a:bodyPr wrap="square">
            <a:spAutoFit/>
          </a:bodyPr>
          <a:lstStyle/>
          <a:p>
            <a:pPr>
              <a:lnSpc>
                <a:spcPct val="150000"/>
              </a:lnSpc>
            </a:pPr>
            <a:r>
              <a:rPr lang="zh-CN" altLang="en-US" sz="2400" b="1" dirty="0"/>
              <a:t>第</a:t>
            </a:r>
            <a:r>
              <a:rPr lang="en-US" altLang="zh-CN" sz="2400" b="1" dirty="0"/>
              <a:t>0</a:t>
            </a:r>
            <a:r>
              <a:rPr lang="zh-CN" altLang="en-US" sz="2400" b="1" dirty="0"/>
              <a:t>、</a:t>
            </a:r>
            <a:r>
              <a:rPr lang="en-US" altLang="zh-CN" sz="2400" b="1" dirty="0"/>
              <a:t>1</a:t>
            </a:r>
            <a:r>
              <a:rPr lang="zh-CN" altLang="en-US" sz="2400" b="1" dirty="0"/>
              <a:t>、</a:t>
            </a:r>
            <a:r>
              <a:rPr lang="en-US" altLang="zh-CN" sz="2400" b="1" dirty="0"/>
              <a:t>2</a:t>
            </a:r>
            <a:r>
              <a:rPr lang="zh-CN" altLang="en-US" sz="2400" b="1" dirty="0"/>
              <a:t>、</a:t>
            </a:r>
            <a:r>
              <a:rPr lang="en-US" altLang="zh-CN" sz="2400" b="1" dirty="0"/>
              <a:t>3</a:t>
            </a:r>
            <a:r>
              <a:rPr lang="zh-CN" altLang="en-US" sz="2400" b="1" dirty="0"/>
              <a:t>、</a:t>
            </a:r>
            <a:r>
              <a:rPr lang="en-US" altLang="zh-CN" sz="2400" b="1" dirty="0"/>
              <a:t>4</a:t>
            </a:r>
            <a:r>
              <a:rPr lang="zh-CN" altLang="en-US" sz="2400" b="1" dirty="0"/>
              <a:t>次迭代被分配给线程</a:t>
            </a:r>
            <a:r>
              <a:rPr lang="en-US" altLang="zh-CN" sz="2400" b="1" dirty="0"/>
              <a:t>0</a:t>
            </a:r>
            <a:r>
              <a:rPr lang="zh-CN" altLang="en-US" sz="2400" b="1" dirty="0"/>
              <a:t>，第</a:t>
            </a:r>
            <a:r>
              <a:rPr lang="en-US" altLang="zh-CN" sz="2400" b="1" dirty="0"/>
              <a:t>5</a:t>
            </a:r>
            <a:r>
              <a:rPr lang="zh-CN" altLang="en-US" sz="2400" b="1" dirty="0"/>
              <a:t>、</a:t>
            </a:r>
            <a:r>
              <a:rPr lang="en-US" altLang="zh-CN" sz="2400" b="1" dirty="0"/>
              <a:t>6</a:t>
            </a:r>
            <a:r>
              <a:rPr lang="zh-CN" altLang="en-US" sz="2400" b="1" dirty="0"/>
              <a:t>、</a:t>
            </a:r>
            <a:r>
              <a:rPr lang="en-US" altLang="zh-CN" sz="2400" b="1" dirty="0"/>
              <a:t>7</a:t>
            </a:r>
            <a:r>
              <a:rPr lang="zh-CN" altLang="en-US" sz="2400" b="1" dirty="0"/>
              <a:t>次迭代被分配给线程</a:t>
            </a:r>
            <a:r>
              <a:rPr lang="en-US" altLang="zh-CN" sz="2400" b="1" dirty="0"/>
              <a:t>1</a:t>
            </a:r>
            <a:r>
              <a:rPr lang="zh-CN" altLang="en-US" sz="2400" b="1" dirty="0"/>
              <a:t>，第</a:t>
            </a:r>
            <a:r>
              <a:rPr lang="en-US" altLang="zh-CN" sz="2400" b="1" dirty="0"/>
              <a:t>8</a:t>
            </a:r>
            <a:r>
              <a:rPr lang="zh-CN" altLang="en-US" sz="2400" b="1" dirty="0"/>
              <a:t>、</a:t>
            </a:r>
            <a:r>
              <a:rPr lang="en-US" altLang="zh-CN" sz="2400" b="1" dirty="0"/>
              <a:t>9</a:t>
            </a:r>
            <a:r>
              <a:rPr lang="zh-CN" altLang="en-US" sz="2400" b="1" dirty="0"/>
              <a:t>次迭代被分配给线程</a:t>
            </a:r>
            <a:r>
              <a:rPr lang="en-US" altLang="zh-CN" sz="2400" b="1" dirty="0" smtClean="0"/>
              <a:t>0</a:t>
            </a:r>
            <a:r>
              <a:rPr lang="zh-CN" altLang="en-US" sz="2400" b="1" dirty="0"/>
              <a:t>。</a:t>
            </a:r>
            <a:r>
              <a:rPr lang="zh-CN" altLang="en-US" sz="2400" b="1" dirty="0" smtClean="0">
                <a:solidFill>
                  <a:srgbClr val="6A247A"/>
                </a:solidFill>
              </a:rPr>
              <a:t>分配</a:t>
            </a:r>
            <a:r>
              <a:rPr lang="zh-CN" altLang="en-US" sz="2400" b="1" dirty="0">
                <a:solidFill>
                  <a:srgbClr val="6A247A"/>
                </a:solidFill>
              </a:rPr>
              <a:t>的迭代次数呈递减趋势，最后一次递减到</a:t>
            </a:r>
            <a:r>
              <a:rPr lang="en-US" altLang="zh-CN" sz="2400" b="1" dirty="0">
                <a:solidFill>
                  <a:srgbClr val="6A247A"/>
                </a:solidFill>
              </a:rPr>
              <a:t>2</a:t>
            </a:r>
            <a:r>
              <a:rPr lang="zh-CN" altLang="en-US" sz="2400" b="1" dirty="0">
                <a:solidFill>
                  <a:srgbClr val="6A247A"/>
                </a:solidFill>
              </a:rPr>
              <a:t>次。</a:t>
            </a:r>
            <a:endParaRPr lang="en-US" sz="2400" b="1" dirty="0">
              <a:solidFill>
                <a:srgbClr val="6A247A"/>
              </a:solidFill>
            </a:endParaRPr>
          </a:p>
        </p:txBody>
      </p:sp>
    </p:spTree>
  </p:cSld>
  <p:clrMapOvr>
    <a:masterClrMapping/>
  </p:clrMapOvr>
  <p:transition spd="med" advTm="3025">
    <p:fade/>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25236" y="373164"/>
            <a:ext cx="10293928" cy="830997"/>
          </a:xfrm>
          <a:prstGeom prst="rect">
            <a:avLst/>
          </a:prstGeom>
          <a:noFill/>
        </p:spPr>
        <p:txBody>
          <a:bodyPr wrap="square" rtlCol="0">
            <a:spAutoFit/>
          </a:bodyPr>
          <a:lstStyle/>
          <a:p>
            <a:pPr algn="ctr"/>
            <a:r>
              <a:rPr lang="en-US" sz="4800" dirty="0" smtClean="0">
                <a:solidFill>
                  <a:srgbClr val="2D0AC2"/>
                </a:solidFill>
                <a:ea typeface="华文行楷" panose="02010800040101010101" pitchFamily="2" charset="-122"/>
              </a:rPr>
              <a:t>OpenMP</a:t>
            </a:r>
            <a:r>
              <a:rPr lang="zh-CN" altLang="en-US" sz="4800" dirty="0" smtClean="0">
                <a:solidFill>
                  <a:srgbClr val="2D0AC2"/>
                </a:solidFill>
                <a:ea typeface="华文行楷" panose="02010800040101010101" pitchFamily="2" charset="-122"/>
              </a:rPr>
              <a:t>中的任务调度</a:t>
            </a:r>
            <a:endParaRPr lang="en-US" altLang="zh-CN" sz="4800" dirty="0" smtClean="0">
              <a:solidFill>
                <a:srgbClr val="2D0AC2"/>
              </a:solidFill>
              <a:ea typeface="华文行楷" panose="02010800040101010101" pitchFamily="2" charset="-122"/>
            </a:endParaRPr>
          </a:p>
        </p:txBody>
      </p:sp>
      <p:sp>
        <p:nvSpPr>
          <p:cNvPr id="3" name="矩形 2"/>
          <p:cNvSpPr/>
          <p:nvPr/>
        </p:nvSpPr>
        <p:spPr>
          <a:xfrm>
            <a:off x="1083040" y="1084240"/>
            <a:ext cx="10178320" cy="5160387"/>
          </a:xfrm>
          <a:prstGeom prst="rect">
            <a:avLst/>
          </a:prstGeom>
        </p:spPr>
        <p:txBody>
          <a:bodyPr wrap="square">
            <a:spAutoFit/>
          </a:bodyPr>
          <a:lstStyle/>
          <a:p>
            <a:pPr marL="457200" indent="-457200">
              <a:lnSpc>
                <a:spcPct val="150000"/>
              </a:lnSpc>
              <a:buFont typeface="Wingdings" panose="05000000000000000000" pitchFamily="2" charset="2"/>
              <a:buChar char="v"/>
            </a:pPr>
            <a:r>
              <a:rPr lang="zh-CN" altLang="en-US" sz="3200" b="1" dirty="0" smtClean="0">
                <a:solidFill>
                  <a:srgbClr val="6A247A"/>
                </a:solidFill>
              </a:rPr>
              <a:t>运行时调度</a:t>
            </a:r>
            <a:r>
              <a:rPr lang="zh-CN" altLang="en-US" sz="3200" b="1" dirty="0">
                <a:solidFill>
                  <a:srgbClr val="6A247A"/>
                </a:solidFill>
              </a:rPr>
              <a:t>（</a:t>
            </a:r>
            <a:r>
              <a:rPr lang="en-US" altLang="zh-CN" sz="3200" b="1" dirty="0" err="1">
                <a:solidFill>
                  <a:srgbClr val="6A247A"/>
                </a:solidFill>
              </a:rPr>
              <a:t>rumtime</a:t>
            </a:r>
            <a:r>
              <a:rPr lang="zh-CN" altLang="en-US" sz="3200" b="1" dirty="0">
                <a:solidFill>
                  <a:srgbClr val="6A247A"/>
                </a:solidFill>
              </a:rPr>
              <a:t>）</a:t>
            </a:r>
            <a:endParaRPr lang="zh-CN" altLang="en-US" sz="3200" b="1" dirty="0">
              <a:solidFill>
                <a:srgbClr val="6A247A"/>
              </a:solidFill>
            </a:endParaRPr>
          </a:p>
          <a:p>
            <a:pPr>
              <a:lnSpc>
                <a:spcPts val="4600"/>
              </a:lnSpc>
            </a:pPr>
            <a:r>
              <a:rPr lang="en-US" altLang="zh-CN" sz="3200" b="1" dirty="0" smtClean="0"/>
              <a:t>         runtime</a:t>
            </a:r>
            <a:r>
              <a:rPr lang="zh-CN" altLang="en-US" sz="3200" b="1" dirty="0"/>
              <a:t>调度并不是和前面三种调度方式似的真实调度方式，它是在运行时根据</a:t>
            </a:r>
            <a:r>
              <a:rPr lang="zh-CN" altLang="en-US" sz="3200" b="1" dirty="0">
                <a:solidFill>
                  <a:srgbClr val="C00000"/>
                </a:solidFill>
              </a:rPr>
              <a:t>环境变量</a:t>
            </a:r>
            <a:r>
              <a:rPr lang="en-US" altLang="zh-CN" sz="3200" b="1" dirty="0">
                <a:solidFill>
                  <a:srgbClr val="C00000"/>
                </a:solidFill>
              </a:rPr>
              <a:t>OMP_SCHEDULE</a:t>
            </a:r>
            <a:r>
              <a:rPr lang="zh-CN" altLang="en-US" sz="3200" b="1" dirty="0"/>
              <a:t>来确定调度类型，最终使用的调度类型仍然是上述三种调度方式中的某种。</a:t>
            </a:r>
            <a:endParaRPr lang="zh-CN" altLang="en-US" sz="3200" b="1" dirty="0"/>
          </a:p>
          <a:p>
            <a:pPr marL="457200" indent="-457200">
              <a:buFont typeface="Wingdings" panose="05000000000000000000" pitchFamily="2" charset="2"/>
              <a:buChar char="ü"/>
            </a:pPr>
            <a:r>
              <a:rPr lang="zh-CN" altLang="en-US" sz="3200" b="1" dirty="0" smtClean="0">
                <a:solidFill>
                  <a:srgbClr val="2D0AC2"/>
                </a:solidFill>
              </a:rPr>
              <a:t>在</a:t>
            </a:r>
            <a:r>
              <a:rPr lang="en-US" altLang="zh-CN" sz="3200" b="1" dirty="0" err="1">
                <a:solidFill>
                  <a:srgbClr val="2D0AC2"/>
                </a:solidFill>
              </a:rPr>
              <a:t>unix</a:t>
            </a:r>
            <a:r>
              <a:rPr lang="zh-CN" altLang="en-US" sz="3200" b="1" dirty="0">
                <a:solidFill>
                  <a:srgbClr val="2D0AC2"/>
                </a:solidFill>
              </a:rPr>
              <a:t>系统中，可以使用</a:t>
            </a:r>
            <a:r>
              <a:rPr lang="en-US" altLang="zh-CN" sz="3200" b="1" dirty="0" err="1">
                <a:solidFill>
                  <a:srgbClr val="2D0AC2"/>
                </a:solidFill>
              </a:rPr>
              <a:t>setenv</a:t>
            </a:r>
            <a:r>
              <a:rPr lang="zh-CN" altLang="en-US" sz="3200" b="1" dirty="0">
                <a:solidFill>
                  <a:srgbClr val="2D0AC2"/>
                </a:solidFill>
              </a:rPr>
              <a:t>命令来</a:t>
            </a:r>
            <a:r>
              <a:rPr lang="zh-CN" altLang="en-US" sz="3200" b="1" dirty="0" smtClean="0">
                <a:solidFill>
                  <a:srgbClr val="2D0AC2"/>
                </a:solidFill>
              </a:rPr>
              <a:t>设置</a:t>
            </a:r>
            <a:endParaRPr lang="en-US" altLang="zh-CN" sz="3200" b="1" dirty="0">
              <a:solidFill>
                <a:srgbClr val="2D0AC2"/>
              </a:solidFill>
            </a:endParaRPr>
          </a:p>
          <a:p>
            <a:r>
              <a:rPr lang="en-US" altLang="zh-CN" sz="3200" b="1" dirty="0" smtClean="0"/>
              <a:t>$ </a:t>
            </a:r>
            <a:r>
              <a:rPr lang="en-US" altLang="zh-CN" sz="3200" b="1" dirty="0" err="1" smtClean="0"/>
              <a:t>setenv</a:t>
            </a:r>
            <a:r>
              <a:rPr lang="en-US" altLang="zh-CN" sz="3200" b="1" dirty="0" smtClean="0"/>
              <a:t>   OMP_SCHEDULE  </a:t>
            </a:r>
            <a:r>
              <a:rPr lang="en-US" altLang="zh-CN" sz="3200" b="1" dirty="0"/>
              <a:t>“dynamic, 2</a:t>
            </a:r>
            <a:r>
              <a:rPr lang="en-US" altLang="zh-CN" sz="3200" b="1" dirty="0" smtClean="0"/>
              <a:t>”</a:t>
            </a:r>
            <a:endParaRPr lang="en-US" altLang="zh-CN" sz="3200" b="1" dirty="0" smtClean="0"/>
          </a:p>
          <a:p>
            <a:pPr marL="457200" indent="-457200">
              <a:buFont typeface="Wingdings" panose="05000000000000000000" pitchFamily="2" charset="2"/>
              <a:buChar char="ü"/>
            </a:pPr>
            <a:r>
              <a:rPr lang="zh-CN" altLang="en-US" sz="3200" b="1" dirty="0"/>
              <a:t>在</a:t>
            </a:r>
            <a:r>
              <a:rPr lang="en-US" altLang="zh-CN" sz="3200" b="1" dirty="0"/>
              <a:t>windows</a:t>
            </a:r>
            <a:r>
              <a:rPr lang="zh-CN" altLang="en-US" sz="3200" b="1" dirty="0"/>
              <a:t>环境中，可以</a:t>
            </a:r>
            <a:r>
              <a:rPr lang="zh-CN" altLang="en-US" sz="3200" b="1" dirty="0" smtClean="0"/>
              <a:t>在</a:t>
            </a:r>
            <a:r>
              <a:rPr lang="zh-CN" altLang="en-US" sz="3200" b="1" dirty="0" smtClean="0">
                <a:solidFill>
                  <a:srgbClr val="C00000"/>
                </a:solidFill>
              </a:rPr>
              <a:t>“系统</a:t>
            </a:r>
            <a:r>
              <a:rPr lang="zh-CN" altLang="en-US" sz="3200" b="1" dirty="0">
                <a:solidFill>
                  <a:srgbClr val="C00000"/>
                </a:solidFill>
              </a:rPr>
              <a:t>属性</a:t>
            </a:r>
            <a:r>
              <a:rPr lang="en-US" altLang="zh-CN" sz="3200" b="1" dirty="0">
                <a:solidFill>
                  <a:srgbClr val="C00000"/>
                </a:solidFill>
              </a:rPr>
              <a:t>|</a:t>
            </a:r>
            <a:r>
              <a:rPr lang="zh-CN" altLang="en-US" sz="3200" b="1" dirty="0">
                <a:solidFill>
                  <a:srgbClr val="C00000"/>
                </a:solidFill>
              </a:rPr>
              <a:t>高级</a:t>
            </a:r>
            <a:r>
              <a:rPr lang="en-US" altLang="zh-CN" sz="3200" b="1" dirty="0">
                <a:solidFill>
                  <a:srgbClr val="C00000"/>
                </a:solidFill>
              </a:rPr>
              <a:t>|</a:t>
            </a:r>
            <a:r>
              <a:rPr lang="zh-CN" altLang="en-US" sz="3200" b="1" dirty="0">
                <a:solidFill>
                  <a:srgbClr val="C00000"/>
                </a:solidFill>
              </a:rPr>
              <a:t>环境变量”</a:t>
            </a:r>
            <a:r>
              <a:rPr lang="zh-CN" altLang="en-US" sz="3200" b="1" dirty="0"/>
              <a:t>对话框中进行设置环境变量。</a:t>
            </a:r>
            <a:endParaRPr lang="en-US" altLang="zh-CN" sz="3200" b="1" dirty="0"/>
          </a:p>
        </p:txBody>
      </p:sp>
    </p:spTree>
  </p:cSld>
  <p:clrMapOvr>
    <a:masterClrMapping/>
  </p:clrMapOvr>
  <p:transition spd="med" advTm="3025">
    <p:fade/>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71055" y="699655"/>
            <a:ext cx="10972800" cy="4525963"/>
          </a:xfrm>
        </p:spPr>
        <p:txBody>
          <a:bodyPr/>
          <a:lstStyle/>
          <a:p>
            <a:pPr marL="0" indent="0" algn="ctr">
              <a:buNone/>
            </a:pPr>
            <a:r>
              <a:rPr lang="en-US" sz="4800" b="1" dirty="0" smtClean="0">
                <a:solidFill>
                  <a:srgbClr val="2D0AC2"/>
                </a:solidFill>
                <a:latin typeface="+mj-lt"/>
                <a:ea typeface="隶书" panose="02010509060101010101" pitchFamily="49" charset="-122"/>
              </a:rPr>
              <a:t>OpenMP</a:t>
            </a:r>
            <a:r>
              <a:rPr lang="zh-CN" altLang="en-US" sz="4800" b="1" dirty="0" smtClean="0">
                <a:solidFill>
                  <a:srgbClr val="2D0AC2"/>
                </a:solidFill>
                <a:latin typeface="+mj-lt"/>
                <a:ea typeface="隶书" panose="02010509060101010101" pitchFamily="49" charset="-122"/>
              </a:rPr>
              <a:t>运行时函数库</a:t>
            </a:r>
            <a:endParaRPr lang="en-US" altLang="zh-CN" sz="4800" b="1" dirty="0" smtClean="0">
              <a:solidFill>
                <a:srgbClr val="2D0AC2"/>
              </a:solidFill>
              <a:latin typeface="+mj-lt"/>
              <a:ea typeface="隶书" panose="02010509060101010101" pitchFamily="49" charset="-122"/>
            </a:endParaRPr>
          </a:p>
          <a:p>
            <a:pPr marL="0" indent="0" algn="ctr">
              <a:buNone/>
            </a:pPr>
            <a:endParaRPr lang="en-US" altLang="zh-CN" sz="1000" b="1" dirty="0" smtClean="0">
              <a:solidFill>
                <a:srgbClr val="2D0AC2"/>
              </a:solidFill>
              <a:latin typeface="+mj-lt"/>
              <a:ea typeface="隶书" panose="02010509060101010101" pitchFamily="49" charset="-122"/>
            </a:endParaRPr>
          </a:p>
          <a:p>
            <a:pPr>
              <a:buFont typeface="Wingdings" panose="05000000000000000000" pitchFamily="2" charset="2"/>
              <a:buChar char="q"/>
            </a:pPr>
            <a:r>
              <a:rPr lang="zh-CN" altLang="en-US" b="1" dirty="0" smtClean="0">
                <a:solidFill>
                  <a:srgbClr val="2D0AC2"/>
                </a:solidFill>
                <a:latin typeface="+mj-lt"/>
                <a:ea typeface="隶书" panose="02010509060101010101" pitchFamily="49" charset="-122"/>
              </a:rPr>
              <a:t>执行环境函数：用于控制和查询并行执行环境</a:t>
            </a:r>
            <a:endParaRPr lang="en-US" altLang="zh-CN" b="1" dirty="0" smtClean="0">
              <a:solidFill>
                <a:srgbClr val="2D0AC2"/>
              </a:solidFill>
              <a:latin typeface="+mj-lt"/>
              <a:ea typeface="隶书" panose="02010509060101010101" pitchFamily="49" charset="-122"/>
            </a:endParaRPr>
          </a:p>
          <a:p>
            <a:pPr>
              <a:buFont typeface="Wingdings" panose="05000000000000000000" pitchFamily="2" charset="2"/>
              <a:buChar char="q"/>
            </a:pPr>
            <a:r>
              <a:rPr lang="zh-CN" altLang="en-US" b="1" dirty="0" smtClean="0">
                <a:solidFill>
                  <a:srgbClr val="2D0AC2"/>
                </a:solidFill>
                <a:latin typeface="+mj-lt"/>
                <a:ea typeface="隶书" panose="02010509060101010101" pitchFamily="49" charset="-122"/>
              </a:rPr>
              <a:t>锁函数：用于同步数据访问</a:t>
            </a:r>
            <a:endParaRPr lang="en-US" altLang="zh-CN" b="1" dirty="0" smtClean="0">
              <a:solidFill>
                <a:srgbClr val="2D0AC2"/>
              </a:solidFill>
              <a:latin typeface="+mj-lt"/>
              <a:ea typeface="隶书" panose="02010509060101010101" pitchFamily="49" charset="-122"/>
            </a:endParaRPr>
          </a:p>
          <a:p>
            <a:pPr>
              <a:buFont typeface="Wingdings" panose="05000000000000000000" pitchFamily="2" charset="2"/>
              <a:buChar char="q"/>
            </a:pPr>
            <a:r>
              <a:rPr lang="zh-CN" altLang="en-US" b="1" dirty="0" smtClean="0">
                <a:solidFill>
                  <a:srgbClr val="2D0AC2"/>
                </a:solidFill>
                <a:latin typeface="+mj-lt"/>
                <a:ea typeface="隶书" panose="02010509060101010101" pitchFamily="49" charset="-122"/>
              </a:rPr>
              <a:t>时间函数</a:t>
            </a:r>
            <a:endParaRPr lang="en-US" altLang="zh-CN" b="1" dirty="0" smtClean="0">
              <a:solidFill>
                <a:srgbClr val="2D0AC2"/>
              </a:solidFill>
              <a:latin typeface="+mj-lt"/>
              <a:ea typeface="隶书" panose="02010509060101010101" pitchFamily="49" charset="-122"/>
            </a:endParaRPr>
          </a:p>
          <a:p>
            <a:pPr>
              <a:buFont typeface="Wingdings" panose="05000000000000000000" pitchFamily="2" charset="2"/>
              <a:buChar char="q"/>
            </a:pPr>
            <a:endParaRPr lang="en-US" altLang="zh-CN" b="1" dirty="0" smtClean="0">
              <a:solidFill>
                <a:srgbClr val="2D0AC2"/>
              </a:solidFill>
              <a:latin typeface="+mj-lt"/>
              <a:ea typeface="隶书" panose="02010509060101010101" pitchFamily="49" charset="-122"/>
            </a:endParaRPr>
          </a:p>
          <a:p>
            <a:r>
              <a:rPr lang="en-US" b="1" dirty="0" smtClean="0">
                <a:solidFill>
                  <a:srgbClr val="2D0AC2"/>
                </a:solidFill>
                <a:latin typeface="+mj-lt"/>
                <a:ea typeface="隶书" panose="02010509060101010101" pitchFamily="49" charset="-122"/>
              </a:rPr>
              <a:t>C</a:t>
            </a:r>
            <a:r>
              <a:rPr lang="zh-CN" altLang="en-US" b="1" dirty="0" smtClean="0">
                <a:solidFill>
                  <a:srgbClr val="2D0AC2"/>
                </a:solidFill>
                <a:latin typeface="+mj-lt"/>
                <a:ea typeface="隶书" panose="02010509060101010101" pitchFamily="49" charset="-122"/>
              </a:rPr>
              <a:t>语言：库函数的原型位于头文件</a:t>
            </a:r>
            <a:r>
              <a:rPr lang="en-US" altLang="zh-CN" b="1" dirty="0" err="1" smtClean="0">
                <a:solidFill>
                  <a:srgbClr val="2D0AC2"/>
                </a:solidFill>
                <a:latin typeface="+mj-lt"/>
                <a:ea typeface="隶书" panose="02010509060101010101" pitchFamily="49" charset="-122"/>
              </a:rPr>
              <a:t>omp.h</a:t>
            </a:r>
            <a:r>
              <a:rPr lang="zh-CN" altLang="en-US" b="1" dirty="0" smtClean="0">
                <a:solidFill>
                  <a:srgbClr val="2D0AC2"/>
                </a:solidFill>
                <a:latin typeface="+mj-lt"/>
                <a:ea typeface="隶书" panose="02010509060101010101" pitchFamily="49" charset="-122"/>
              </a:rPr>
              <a:t>中</a:t>
            </a:r>
            <a:endParaRPr lang="en-US" altLang="zh-CN" b="1" dirty="0" smtClean="0">
              <a:solidFill>
                <a:srgbClr val="2D0AC2"/>
              </a:solidFill>
              <a:latin typeface="+mj-lt"/>
              <a:ea typeface="隶书" panose="02010509060101010101" pitchFamily="49" charset="-122"/>
            </a:endParaRPr>
          </a:p>
          <a:p>
            <a:r>
              <a:rPr lang="en-US" b="1" dirty="0" smtClean="0">
                <a:solidFill>
                  <a:srgbClr val="2D0AC2"/>
                </a:solidFill>
                <a:latin typeface="+mj-lt"/>
                <a:ea typeface="隶书" panose="02010509060101010101" pitchFamily="49" charset="-122"/>
              </a:rPr>
              <a:t>Fortran</a:t>
            </a:r>
            <a:r>
              <a:rPr lang="zh-CN" altLang="en-US" b="1" dirty="0" smtClean="0">
                <a:solidFill>
                  <a:srgbClr val="2D0AC2"/>
                </a:solidFill>
                <a:latin typeface="+mj-lt"/>
                <a:ea typeface="隶书" panose="02010509060101010101" pitchFamily="49" charset="-122"/>
              </a:rPr>
              <a:t>语言：</a:t>
            </a:r>
            <a:r>
              <a:rPr lang="en-US" altLang="zh-CN" b="1" dirty="0" err="1" smtClean="0">
                <a:solidFill>
                  <a:srgbClr val="2D0AC2"/>
                </a:solidFill>
                <a:latin typeface="+mj-lt"/>
                <a:ea typeface="隶书" panose="02010509060101010101" pitchFamily="49" charset="-122"/>
              </a:rPr>
              <a:t>omp_lib.h</a:t>
            </a:r>
            <a:endParaRPr lang="en-US" b="1" dirty="0">
              <a:solidFill>
                <a:srgbClr val="2D0AC2"/>
              </a:solidFill>
              <a:latin typeface="+mj-lt"/>
              <a:ea typeface="隶书" panose="02010509060101010101" pitchFamily="49" charset="-122"/>
            </a:endParaRPr>
          </a:p>
        </p:txBody>
      </p:sp>
    </p:spTree>
  </p:cSld>
  <p:clrMapOvr>
    <a:masterClrMapping/>
  </p:clrMapOvr>
  <p:transition spd="med" advTm="3025">
    <p:fade/>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71055" y="408710"/>
            <a:ext cx="10972800" cy="5811981"/>
          </a:xfrm>
        </p:spPr>
        <p:txBody>
          <a:bodyPr/>
          <a:lstStyle/>
          <a:p>
            <a:pPr marL="0" indent="0" algn="ctr">
              <a:buNone/>
            </a:pPr>
            <a:r>
              <a:rPr lang="en-US" sz="4800" b="1" dirty="0" smtClean="0">
                <a:solidFill>
                  <a:srgbClr val="2D0AC2"/>
                </a:solidFill>
                <a:latin typeface="+mj-lt"/>
                <a:ea typeface="隶书" panose="02010509060101010101" pitchFamily="49" charset="-122"/>
              </a:rPr>
              <a:t>OpenMP</a:t>
            </a:r>
            <a:r>
              <a:rPr lang="zh-CN" altLang="en-US" sz="4800" b="1" dirty="0" smtClean="0">
                <a:solidFill>
                  <a:srgbClr val="2D0AC2"/>
                </a:solidFill>
                <a:latin typeface="+mj-lt"/>
                <a:ea typeface="隶书" panose="02010509060101010101" pitchFamily="49" charset="-122"/>
              </a:rPr>
              <a:t>运行时函数库</a:t>
            </a:r>
            <a:endParaRPr lang="en-US" altLang="zh-CN" sz="4800" b="1" dirty="0" smtClean="0">
              <a:solidFill>
                <a:srgbClr val="2D0AC2"/>
              </a:solidFill>
              <a:latin typeface="+mj-lt"/>
              <a:ea typeface="隶书" panose="02010509060101010101" pitchFamily="49" charset="-122"/>
            </a:endParaRPr>
          </a:p>
          <a:p>
            <a:pPr marL="0" indent="0" algn="ctr">
              <a:buNone/>
            </a:pPr>
            <a:endParaRPr lang="en-US" altLang="zh-CN" sz="1000" b="1" dirty="0" smtClean="0">
              <a:solidFill>
                <a:srgbClr val="2D0AC2"/>
              </a:solidFill>
              <a:latin typeface="+mj-lt"/>
              <a:ea typeface="隶书" panose="02010509060101010101" pitchFamily="49" charset="-122"/>
            </a:endParaRPr>
          </a:p>
          <a:p>
            <a:pPr marL="0" indent="0">
              <a:buNone/>
            </a:pPr>
            <a:r>
              <a:rPr lang="zh-CN" altLang="en-US" b="1" dirty="0" smtClean="0">
                <a:solidFill>
                  <a:srgbClr val="2D0AC2"/>
                </a:solidFill>
                <a:latin typeface="+mj-lt"/>
                <a:ea typeface="隶书" panose="02010509060101010101" pitchFamily="49" charset="-122"/>
              </a:rPr>
              <a:t>执行环境函数：用于控制和查询并行执行环境</a:t>
            </a:r>
            <a:endParaRPr lang="en-US" altLang="zh-CN" b="1" dirty="0" smtClean="0">
              <a:solidFill>
                <a:srgbClr val="2D0AC2"/>
              </a:solidFill>
              <a:latin typeface="+mj-lt"/>
              <a:ea typeface="隶书" panose="02010509060101010101" pitchFamily="49" charset="-122"/>
            </a:endParaRPr>
          </a:p>
          <a:p>
            <a:r>
              <a:rPr lang="en-US" altLang="zh-CN" b="1" dirty="0" smtClean="0">
                <a:latin typeface="+mj-lt"/>
                <a:ea typeface="隶书" panose="02010509060101010101" pitchFamily="49" charset="-122"/>
              </a:rPr>
              <a:t>omp_set_num_threads</a:t>
            </a:r>
            <a:r>
              <a:rPr lang="zh-CN" altLang="en-US" b="1" dirty="0" smtClean="0">
                <a:latin typeface="+mj-lt"/>
                <a:ea typeface="隶书" panose="02010509060101010101" pitchFamily="49" charset="-122"/>
              </a:rPr>
              <a:t>函数</a:t>
            </a:r>
            <a:endParaRPr lang="en-US" altLang="zh-CN" b="1" dirty="0" smtClean="0">
              <a:latin typeface="+mj-lt"/>
              <a:ea typeface="隶书" panose="02010509060101010101" pitchFamily="49" charset="-122"/>
            </a:endParaRPr>
          </a:p>
          <a:p>
            <a:r>
              <a:rPr lang="en-US" altLang="zh-CN" b="1" dirty="0" smtClean="0">
                <a:latin typeface="+mj-lt"/>
                <a:ea typeface="隶书" panose="02010509060101010101" pitchFamily="49" charset="-122"/>
              </a:rPr>
              <a:t>omp_get_num_threads</a:t>
            </a:r>
            <a:r>
              <a:rPr lang="zh-CN" altLang="en-US" b="1" dirty="0" smtClean="0">
                <a:latin typeface="+mj-lt"/>
                <a:ea typeface="隶书" panose="02010509060101010101" pitchFamily="49" charset="-122"/>
              </a:rPr>
              <a:t>函数</a:t>
            </a:r>
            <a:endParaRPr lang="en-US" altLang="zh-CN" b="1" dirty="0" smtClean="0">
              <a:latin typeface="+mj-lt"/>
              <a:ea typeface="隶书" panose="02010509060101010101" pitchFamily="49" charset="-122"/>
            </a:endParaRPr>
          </a:p>
          <a:p>
            <a:r>
              <a:rPr lang="en-US" altLang="zh-CN" b="1" dirty="0" err="1" smtClean="0">
                <a:latin typeface="+mj-lt"/>
                <a:ea typeface="隶书" panose="02010509060101010101" pitchFamily="49" charset="-122"/>
              </a:rPr>
              <a:t>omp_get_max_threads</a:t>
            </a:r>
            <a:r>
              <a:rPr lang="zh-CN" altLang="en-US" b="1" dirty="0" smtClean="0">
                <a:latin typeface="+mj-lt"/>
                <a:ea typeface="隶书" panose="02010509060101010101" pitchFamily="49" charset="-122"/>
              </a:rPr>
              <a:t>函数</a:t>
            </a:r>
            <a:endParaRPr lang="en-US" altLang="zh-CN" b="1" dirty="0" smtClean="0">
              <a:latin typeface="+mj-lt"/>
              <a:ea typeface="隶书" panose="02010509060101010101" pitchFamily="49" charset="-122"/>
            </a:endParaRPr>
          </a:p>
          <a:p>
            <a:r>
              <a:rPr lang="en-US" altLang="zh-CN" b="1" dirty="0" err="1" smtClean="0">
                <a:latin typeface="+mj-lt"/>
                <a:ea typeface="隶书" panose="02010509060101010101" pitchFamily="49" charset="-122"/>
              </a:rPr>
              <a:t>omp_get_thread_num</a:t>
            </a:r>
            <a:r>
              <a:rPr lang="zh-CN" altLang="en-US" b="1" dirty="0" smtClean="0">
                <a:latin typeface="+mj-lt"/>
                <a:ea typeface="隶书" panose="02010509060101010101" pitchFamily="49" charset="-122"/>
              </a:rPr>
              <a:t>函数</a:t>
            </a:r>
            <a:endParaRPr lang="en-US" altLang="zh-CN" b="1" dirty="0" smtClean="0">
              <a:latin typeface="+mj-lt"/>
              <a:ea typeface="隶书" panose="02010509060101010101" pitchFamily="49" charset="-122"/>
            </a:endParaRPr>
          </a:p>
          <a:p>
            <a:r>
              <a:rPr lang="en-US" altLang="zh-CN" b="1" dirty="0" err="1" smtClean="0">
                <a:latin typeface="+mj-lt"/>
                <a:ea typeface="隶书" panose="02010509060101010101" pitchFamily="49" charset="-122"/>
              </a:rPr>
              <a:t>omp_get_num_procs</a:t>
            </a:r>
            <a:r>
              <a:rPr lang="zh-CN" altLang="en-US" b="1" dirty="0" smtClean="0">
                <a:latin typeface="+mj-lt"/>
                <a:ea typeface="隶书" panose="02010509060101010101" pitchFamily="49" charset="-122"/>
              </a:rPr>
              <a:t>函数</a:t>
            </a:r>
            <a:endParaRPr lang="en-US" altLang="zh-CN" b="1" dirty="0" smtClean="0">
              <a:latin typeface="+mj-lt"/>
              <a:ea typeface="隶书" panose="02010509060101010101" pitchFamily="49" charset="-122"/>
            </a:endParaRPr>
          </a:p>
          <a:p>
            <a:r>
              <a:rPr lang="en-US" altLang="zh-CN" b="1" dirty="0" err="1" smtClean="0">
                <a:latin typeface="+mj-lt"/>
                <a:ea typeface="隶书" panose="02010509060101010101" pitchFamily="49" charset="-122"/>
              </a:rPr>
              <a:t>omp_in_paralle</a:t>
            </a:r>
            <a:r>
              <a:rPr lang="zh-CN" altLang="en-US" b="1" dirty="0" smtClean="0">
                <a:latin typeface="+mj-lt"/>
                <a:ea typeface="隶书" panose="02010509060101010101" pitchFamily="49" charset="-122"/>
              </a:rPr>
              <a:t>函数：确认该</a:t>
            </a:r>
            <a:r>
              <a:rPr lang="zh-CN" altLang="en-US" b="1" dirty="0">
                <a:latin typeface="+mj-lt"/>
                <a:ea typeface="隶书" panose="02010509060101010101" pitchFamily="49" charset="-122"/>
              </a:rPr>
              <a:t>函数</a:t>
            </a:r>
            <a:r>
              <a:rPr lang="zh-CN" altLang="en-US" b="1" dirty="0" smtClean="0">
                <a:latin typeface="+mj-lt"/>
                <a:ea typeface="隶书" panose="02010509060101010101" pitchFamily="49" charset="-122"/>
              </a:rPr>
              <a:t>是否在并行区域内</a:t>
            </a:r>
            <a:endParaRPr lang="en-US" altLang="zh-CN" b="1" dirty="0" smtClean="0">
              <a:latin typeface="+mj-lt"/>
              <a:ea typeface="隶书" panose="02010509060101010101" pitchFamily="49" charset="-122"/>
            </a:endParaRPr>
          </a:p>
          <a:p>
            <a:pPr marL="0" indent="0">
              <a:buNone/>
            </a:pPr>
            <a:r>
              <a:rPr lang="zh-CN" altLang="en-US" b="1" dirty="0" smtClean="0">
                <a:latin typeface="+mj-lt"/>
                <a:ea typeface="隶书" panose="02010509060101010101" pitchFamily="49" charset="-122"/>
              </a:rPr>
              <a:t>在并行区域内</a:t>
            </a:r>
            <a:r>
              <a:rPr lang="en-US" altLang="zh-CN" b="1" dirty="0" smtClean="0">
                <a:latin typeface="+mj-lt"/>
                <a:ea typeface="隶书" panose="02010509060101010101" pitchFamily="49" charset="-122"/>
              </a:rPr>
              <a:t>——</a:t>
            </a:r>
            <a:r>
              <a:rPr lang="zh-CN" altLang="en-US" b="1" dirty="0" smtClean="0">
                <a:latin typeface="+mj-lt"/>
                <a:ea typeface="隶书" panose="02010509060101010101" pitchFamily="49" charset="-122"/>
              </a:rPr>
              <a:t>返回非</a:t>
            </a:r>
            <a:r>
              <a:rPr lang="en-US" altLang="zh-CN" b="1" dirty="0" smtClean="0">
                <a:latin typeface="+mj-lt"/>
                <a:ea typeface="隶书" panose="02010509060101010101" pitchFamily="49" charset="-122"/>
              </a:rPr>
              <a:t>0</a:t>
            </a:r>
            <a:r>
              <a:rPr lang="zh-CN" altLang="en-US" b="1" dirty="0" smtClean="0">
                <a:latin typeface="+mj-lt"/>
                <a:ea typeface="隶书" panose="02010509060101010101" pitchFamily="49" charset="-122"/>
              </a:rPr>
              <a:t>的整数；    不在</a:t>
            </a:r>
            <a:r>
              <a:rPr lang="en-US" altLang="zh-CN" b="1" dirty="0" smtClean="0">
                <a:latin typeface="+mj-lt"/>
                <a:ea typeface="隶书" panose="02010509060101010101" pitchFamily="49" charset="-122"/>
              </a:rPr>
              <a:t>——</a:t>
            </a:r>
            <a:r>
              <a:rPr lang="zh-CN" altLang="en-US" b="1" dirty="0" smtClean="0">
                <a:latin typeface="+mj-lt"/>
                <a:ea typeface="隶书" panose="02010509060101010101" pitchFamily="49" charset="-122"/>
              </a:rPr>
              <a:t>返回</a:t>
            </a:r>
            <a:r>
              <a:rPr lang="en-US" altLang="zh-CN" b="1" dirty="0" smtClean="0">
                <a:latin typeface="+mj-lt"/>
                <a:ea typeface="隶书" panose="02010509060101010101" pitchFamily="49" charset="-122"/>
              </a:rPr>
              <a:t>0</a:t>
            </a:r>
            <a:endParaRPr lang="en-US" altLang="zh-CN" b="1" dirty="0" smtClean="0">
              <a:latin typeface="+mj-lt"/>
              <a:ea typeface="隶书" panose="02010509060101010101" pitchFamily="49" charset="-122"/>
            </a:endParaRPr>
          </a:p>
          <a:p>
            <a:pPr marL="0" indent="0">
              <a:buNone/>
            </a:pPr>
            <a:endParaRPr lang="en-US" altLang="zh-CN" b="1" dirty="0" smtClean="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en-US" altLang="zh-CN" b="1" dirty="0" smtClean="0">
              <a:latin typeface="+mj-lt"/>
              <a:ea typeface="隶书" panose="02010509060101010101" pitchFamily="49" charset="-122"/>
            </a:endParaRPr>
          </a:p>
          <a:p>
            <a:pPr marL="0" indent="0">
              <a:buNone/>
            </a:pPr>
            <a:endParaRPr lang="en-US" altLang="zh-CN" b="1" dirty="0" smtClean="0">
              <a:solidFill>
                <a:srgbClr val="2D0AC2"/>
              </a:solidFill>
              <a:latin typeface="+mj-lt"/>
              <a:ea typeface="隶书" panose="02010509060101010101" pitchFamily="49" charset="-122"/>
            </a:endParaRPr>
          </a:p>
        </p:txBody>
      </p:sp>
    </p:spTree>
  </p:cSld>
  <p:clrMapOvr>
    <a:masterClrMapping/>
  </p:clrMapOvr>
  <p:transition spd="med" advTm="3025">
    <p:fade/>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71055" y="408710"/>
            <a:ext cx="10972800" cy="5811981"/>
          </a:xfrm>
        </p:spPr>
        <p:txBody>
          <a:bodyPr/>
          <a:lstStyle/>
          <a:p>
            <a:pPr marL="0" indent="0" algn="ctr">
              <a:buNone/>
            </a:pPr>
            <a:r>
              <a:rPr lang="en-US" sz="4800" b="1" dirty="0" smtClean="0">
                <a:solidFill>
                  <a:srgbClr val="2D0AC2"/>
                </a:solidFill>
                <a:latin typeface="+mj-lt"/>
                <a:ea typeface="隶书" panose="02010509060101010101" pitchFamily="49" charset="-122"/>
              </a:rPr>
              <a:t>OpenMP</a:t>
            </a:r>
            <a:r>
              <a:rPr lang="zh-CN" altLang="en-US" sz="4800" b="1" dirty="0" smtClean="0">
                <a:solidFill>
                  <a:srgbClr val="2D0AC2"/>
                </a:solidFill>
                <a:latin typeface="+mj-lt"/>
                <a:ea typeface="隶书" panose="02010509060101010101" pitchFamily="49" charset="-122"/>
              </a:rPr>
              <a:t>运行时函数库</a:t>
            </a:r>
            <a:endParaRPr lang="en-US" altLang="zh-CN" b="1" dirty="0" smtClean="0">
              <a:solidFill>
                <a:srgbClr val="2D0AC2"/>
              </a:solidFill>
              <a:latin typeface="+mj-lt"/>
              <a:ea typeface="隶书" panose="02010509060101010101" pitchFamily="49" charset="-122"/>
            </a:endParaRPr>
          </a:p>
          <a:p>
            <a:r>
              <a:rPr lang="en-US" altLang="zh-CN" b="1" dirty="0" err="1" smtClean="0">
                <a:latin typeface="+mj-lt"/>
                <a:ea typeface="隶书" panose="02010509060101010101" pitchFamily="49" charset="-122"/>
              </a:rPr>
              <a:t>omp_set_dynamic</a:t>
            </a:r>
            <a:r>
              <a:rPr lang="zh-CN" altLang="en-US" b="1" dirty="0" smtClean="0">
                <a:latin typeface="+mj-lt"/>
                <a:ea typeface="隶书" panose="02010509060101010101" pitchFamily="49" charset="-122"/>
              </a:rPr>
              <a:t>函数</a:t>
            </a:r>
            <a:r>
              <a:rPr lang="en-US" altLang="zh-CN" b="1" dirty="0" smtClean="0">
                <a:latin typeface="+mj-lt"/>
                <a:ea typeface="隶书" panose="02010509060101010101" pitchFamily="49" charset="-122"/>
              </a:rPr>
              <a:t>:</a:t>
            </a:r>
            <a:r>
              <a:rPr lang="zh-CN" altLang="en-US" b="1" dirty="0" smtClean="0">
                <a:latin typeface="+mj-lt"/>
                <a:ea typeface="隶书" panose="02010509060101010101" pitchFamily="49" charset="-122"/>
              </a:rPr>
              <a:t>设置线程数是否允许动态调节</a:t>
            </a:r>
            <a:endParaRPr lang="en-US" altLang="zh-CN" b="1" dirty="0" smtClean="0">
              <a:latin typeface="+mj-lt"/>
              <a:ea typeface="隶书" panose="02010509060101010101" pitchFamily="49" charset="-122"/>
            </a:endParaRPr>
          </a:p>
          <a:p>
            <a:r>
              <a:rPr lang="en-US" altLang="zh-CN" b="1" dirty="0" err="1" smtClean="0">
                <a:latin typeface="+mj-lt"/>
                <a:ea typeface="隶书" panose="02010509060101010101" pitchFamily="49" charset="-122"/>
              </a:rPr>
              <a:t>omp_get_dynamic</a:t>
            </a:r>
            <a:r>
              <a:rPr lang="zh-CN" altLang="en-US" b="1" dirty="0" smtClean="0">
                <a:latin typeface="+mj-lt"/>
                <a:ea typeface="隶书" panose="02010509060101010101" pitchFamily="49" charset="-122"/>
              </a:rPr>
              <a:t>函数</a:t>
            </a:r>
            <a:r>
              <a:rPr lang="en-US" altLang="zh-CN" b="1" dirty="0" smtClean="0">
                <a:latin typeface="+mj-lt"/>
                <a:ea typeface="隶书" panose="02010509060101010101" pitchFamily="49" charset="-122"/>
              </a:rPr>
              <a:t>:</a:t>
            </a:r>
            <a:r>
              <a:rPr lang="zh-CN" altLang="en-US" b="1" dirty="0" smtClean="0">
                <a:latin typeface="+mj-lt"/>
                <a:ea typeface="隶书" panose="02010509060101010101" pitchFamily="49" charset="-122"/>
              </a:rPr>
              <a:t>动态线程数调节是否打开</a:t>
            </a:r>
            <a:endParaRPr lang="en-US" altLang="zh-CN" b="1" dirty="0" smtClean="0">
              <a:latin typeface="+mj-lt"/>
              <a:ea typeface="隶书" panose="02010509060101010101" pitchFamily="49" charset="-122"/>
            </a:endParaRPr>
          </a:p>
          <a:p>
            <a:r>
              <a:rPr lang="en-US" altLang="zh-CN" b="1" dirty="0" err="1" smtClean="0">
                <a:latin typeface="+mj-lt"/>
                <a:ea typeface="隶书" panose="02010509060101010101" pitchFamily="49" charset="-122"/>
              </a:rPr>
              <a:t>omp_set_nested</a:t>
            </a:r>
            <a:r>
              <a:rPr lang="zh-CN" altLang="en-US" b="1" dirty="0" smtClean="0">
                <a:latin typeface="+mj-lt"/>
                <a:ea typeface="隶书" panose="02010509060101010101" pitchFamily="49" charset="-122"/>
              </a:rPr>
              <a:t>（非</a:t>
            </a:r>
            <a:r>
              <a:rPr lang="en-US" altLang="zh-CN" b="1" dirty="0" smtClean="0">
                <a:latin typeface="+mj-lt"/>
                <a:ea typeface="隶书" panose="02010509060101010101" pitchFamily="49" charset="-122"/>
              </a:rPr>
              <a:t>0/0</a:t>
            </a:r>
            <a:r>
              <a:rPr lang="zh-CN" altLang="en-US" b="1" dirty="0" smtClean="0">
                <a:latin typeface="+mj-lt"/>
                <a:ea typeface="隶书" panose="02010509060101010101" pitchFamily="49" charset="-122"/>
              </a:rPr>
              <a:t>）</a:t>
            </a:r>
            <a:r>
              <a:rPr lang="en-US" altLang="zh-CN" b="1" dirty="0" smtClean="0">
                <a:latin typeface="+mj-lt"/>
                <a:ea typeface="隶书" panose="02010509060101010101" pitchFamily="49" charset="-122"/>
              </a:rPr>
              <a:t>:</a:t>
            </a:r>
            <a:r>
              <a:rPr lang="zh-CN" altLang="en-US" b="1" dirty="0" smtClean="0">
                <a:latin typeface="+mj-lt"/>
                <a:ea typeface="隶书" panose="02010509060101010101" pitchFamily="49" charset="-122"/>
              </a:rPr>
              <a:t>决定是否开启嵌套并行</a:t>
            </a:r>
            <a:endParaRPr lang="en-US" altLang="zh-CN" b="1" dirty="0" smtClean="0">
              <a:latin typeface="+mj-lt"/>
              <a:ea typeface="隶书" panose="02010509060101010101" pitchFamily="49" charset="-122"/>
            </a:endParaRPr>
          </a:p>
          <a:p>
            <a:r>
              <a:rPr lang="en-US" altLang="zh-CN" b="1" dirty="0" err="1" smtClean="0">
                <a:latin typeface="+mj-lt"/>
                <a:ea typeface="隶书" panose="02010509060101010101" pitchFamily="49" charset="-122"/>
              </a:rPr>
              <a:t>omp_get_nested</a:t>
            </a:r>
            <a:r>
              <a:rPr lang="zh-CN" altLang="en-US" b="1" dirty="0" smtClean="0">
                <a:latin typeface="+mj-lt"/>
                <a:ea typeface="隶书" panose="02010509060101010101" pitchFamily="49" charset="-122"/>
              </a:rPr>
              <a:t>函数</a:t>
            </a:r>
            <a:r>
              <a:rPr lang="en-US" altLang="zh-CN" b="1" dirty="0" smtClean="0">
                <a:latin typeface="+mj-lt"/>
                <a:ea typeface="隶书" panose="02010509060101010101" pitchFamily="49" charset="-122"/>
              </a:rPr>
              <a:t>:</a:t>
            </a:r>
            <a:r>
              <a:rPr lang="zh-CN" altLang="en-US" b="1" dirty="0" smtClean="0">
                <a:latin typeface="+mj-lt"/>
                <a:ea typeface="隶书" panose="02010509060101010101" pitchFamily="49" charset="-122"/>
              </a:rPr>
              <a:t>查看嵌套并行是否开启</a:t>
            </a:r>
            <a:endParaRPr lang="en-US" altLang="zh-CN" b="1" dirty="0" smtClean="0">
              <a:latin typeface="+mj-lt"/>
              <a:ea typeface="隶书" panose="02010509060101010101" pitchFamily="49" charset="-122"/>
            </a:endParaRPr>
          </a:p>
          <a:p>
            <a:r>
              <a:rPr lang="en-US" altLang="zh-CN" b="1" dirty="0" err="1" smtClean="0">
                <a:latin typeface="+mj-lt"/>
                <a:ea typeface="隶书" panose="02010509060101010101" pitchFamily="49" charset="-122"/>
              </a:rPr>
              <a:t>omp_set_schedule</a:t>
            </a:r>
            <a:r>
              <a:rPr lang="zh-CN" altLang="en-US" b="1" dirty="0" smtClean="0">
                <a:latin typeface="+mj-lt"/>
                <a:ea typeface="隶书" panose="02010509060101010101" pitchFamily="49" charset="-122"/>
              </a:rPr>
              <a:t>函数</a:t>
            </a:r>
            <a:r>
              <a:rPr lang="en-US" altLang="zh-CN" b="1" dirty="0" smtClean="0">
                <a:latin typeface="+mj-lt"/>
                <a:ea typeface="隶书" panose="02010509060101010101" pitchFamily="49" charset="-122"/>
              </a:rPr>
              <a:t>:</a:t>
            </a:r>
            <a:r>
              <a:rPr lang="zh-CN" altLang="en-US" b="1" dirty="0" smtClean="0">
                <a:latin typeface="+mj-lt"/>
                <a:ea typeface="隶书" panose="02010509060101010101" pitchFamily="49" charset="-122"/>
              </a:rPr>
              <a:t>在运行时设置循环的调度方式和分块大小</a:t>
            </a:r>
            <a:endParaRPr lang="en-US" altLang="zh-CN" b="1" dirty="0" smtClean="0">
              <a:latin typeface="+mj-lt"/>
              <a:ea typeface="隶书" panose="02010509060101010101" pitchFamily="49" charset="-122"/>
            </a:endParaRPr>
          </a:p>
          <a:p>
            <a:r>
              <a:rPr lang="en-US" altLang="zh-CN" b="1" dirty="0" err="1" smtClean="0">
                <a:latin typeface="+mj-lt"/>
                <a:ea typeface="隶书" panose="02010509060101010101" pitchFamily="49" charset="-122"/>
              </a:rPr>
              <a:t>omp_get_schedule</a:t>
            </a:r>
            <a:r>
              <a:rPr lang="zh-CN" altLang="en-US" b="1" dirty="0" smtClean="0">
                <a:latin typeface="+mj-lt"/>
                <a:ea typeface="隶书" panose="02010509060101010101" pitchFamily="49" charset="-122"/>
              </a:rPr>
              <a:t>函数：获得循环的调度方式和分块大小</a:t>
            </a:r>
            <a:endParaRPr lang="en-US" altLang="zh-CN" b="1" dirty="0" smtClean="0">
              <a:latin typeface="+mj-lt"/>
              <a:ea typeface="隶书" panose="02010509060101010101" pitchFamily="49" charset="-122"/>
            </a:endParaRPr>
          </a:p>
          <a:p>
            <a:r>
              <a:rPr lang="en-US" altLang="zh-CN" b="1" dirty="0" err="1" smtClean="0">
                <a:latin typeface="+mj-lt"/>
                <a:ea typeface="隶书" panose="02010509060101010101" pitchFamily="49" charset="-122"/>
              </a:rPr>
              <a:t>omp_get_thread_limit</a:t>
            </a:r>
            <a:r>
              <a:rPr lang="zh-CN" altLang="en-US" b="1" dirty="0" smtClean="0">
                <a:latin typeface="+mj-lt"/>
                <a:ea typeface="隶书" panose="02010509060101010101" pitchFamily="49" charset="-122"/>
              </a:rPr>
              <a:t>函数：返回适合程序的线程最大数</a:t>
            </a:r>
            <a:endParaRPr lang="en-US" altLang="zh-CN" b="1" dirty="0" smtClean="0">
              <a:latin typeface="+mj-lt"/>
              <a:ea typeface="隶书" panose="02010509060101010101" pitchFamily="49" charset="-122"/>
            </a:endParaRPr>
          </a:p>
          <a:p>
            <a:pPr marL="0" indent="0">
              <a:buNone/>
            </a:pPr>
            <a:endParaRPr lang="en-US" altLang="zh-CN" b="1" dirty="0" smtClean="0">
              <a:latin typeface="+mj-lt"/>
              <a:ea typeface="隶书" panose="02010509060101010101" pitchFamily="49" charset="-122"/>
            </a:endParaRPr>
          </a:p>
          <a:p>
            <a:pPr marL="0" indent="0">
              <a:buNone/>
            </a:pPr>
            <a:endParaRPr lang="en-US" altLang="zh-CN" b="1" dirty="0" smtClean="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en-US" altLang="zh-CN" b="1" dirty="0" smtClean="0">
              <a:latin typeface="+mj-lt"/>
              <a:ea typeface="隶书" panose="02010509060101010101" pitchFamily="49" charset="-122"/>
            </a:endParaRPr>
          </a:p>
          <a:p>
            <a:pPr marL="0" indent="0">
              <a:buNone/>
            </a:pPr>
            <a:endParaRPr lang="en-US" altLang="zh-CN" b="1" dirty="0" smtClean="0">
              <a:solidFill>
                <a:srgbClr val="2D0AC2"/>
              </a:solidFill>
              <a:latin typeface="+mj-lt"/>
              <a:ea typeface="隶书" panose="02010509060101010101" pitchFamily="49" charset="-122"/>
            </a:endParaRPr>
          </a:p>
        </p:txBody>
      </p:sp>
    </p:spTree>
  </p:cSld>
  <p:clrMapOvr>
    <a:masterClrMapping/>
  </p:clrMapOvr>
  <p:transition spd="med" advTm="3025">
    <p:fad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71055" y="408710"/>
            <a:ext cx="10972800" cy="5811981"/>
          </a:xfrm>
        </p:spPr>
        <p:txBody>
          <a:bodyPr/>
          <a:lstStyle/>
          <a:p>
            <a:pPr marL="0" indent="0" algn="ctr">
              <a:buNone/>
            </a:pPr>
            <a:r>
              <a:rPr lang="en-US" sz="4800" b="1" dirty="0" smtClean="0">
                <a:solidFill>
                  <a:srgbClr val="2D0AC2"/>
                </a:solidFill>
                <a:latin typeface="+mj-lt"/>
                <a:ea typeface="隶书" panose="02010509060101010101" pitchFamily="49" charset="-122"/>
              </a:rPr>
              <a:t>OpenMP</a:t>
            </a:r>
            <a:r>
              <a:rPr lang="zh-CN" altLang="en-US" sz="4800" b="1" dirty="0" smtClean="0">
                <a:solidFill>
                  <a:srgbClr val="2D0AC2"/>
                </a:solidFill>
                <a:latin typeface="+mj-lt"/>
                <a:ea typeface="隶书" panose="02010509060101010101" pitchFamily="49" charset="-122"/>
              </a:rPr>
              <a:t>运行时函数库</a:t>
            </a:r>
            <a:endParaRPr lang="en-US" altLang="zh-CN" b="1" dirty="0" smtClean="0">
              <a:solidFill>
                <a:srgbClr val="2D0AC2"/>
              </a:solidFill>
              <a:latin typeface="+mj-lt"/>
              <a:ea typeface="隶书" panose="02010509060101010101" pitchFamily="49" charset="-122"/>
            </a:endParaRPr>
          </a:p>
          <a:p>
            <a:pPr>
              <a:lnSpc>
                <a:spcPts val="4500"/>
              </a:lnSpc>
            </a:pPr>
            <a:r>
              <a:rPr lang="en-US" altLang="zh-CN" b="1" dirty="0" err="1" smtClean="0">
                <a:latin typeface="+mj-lt"/>
                <a:ea typeface="隶书" panose="02010509060101010101" pitchFamily="49" charset="-122"/>
              </a:rPr>
              <a:t>omp_set_max_active_levels</a:t>
            </a:r>
            <a:r>
              <a:rPr lang="zh-CN" altLang="en-US" b="1" dirty="0" smtClean="0">
                <a:latin typeface="+mj-lt"/>
                <a:ea typeface="隶书" panose="02010509060101010101" pitchFamily="49" charset="-122"/>
              </a:rPr>
              <a:t>函数</a:t>
            </a:r>
            <a:r>
              <a:rPr lang="en-US" altLang="zh-CN" b="1" dirty="0" smtClean="0">
                <a:latin typeface="+mj-lt"/>
                <a:ea typeface="隶书" panose="02010509060101010101" pitchFamily="49" charset="-122"/>
              </a:rPr>
              <a:t>:</a:t>
            </a:r>
            <a:r>
              <a:rPr lang="zh-CN" altLang="en-US" b="1" dirty="0" smtClean="0">
                <a:latin typeface="+mj-lt"/>
                <a:ea typeface="隶书" panose="02010509060101010101" pitchFamily="49" charset="-122"/>
              </a:rPr>
              <a:t>设置嵌套的活动并行区的最大个数</a:t>
            </a:r>
            <a:endParaRPr lang="en-US" altLang="zh-CN" b="1" dirty="0" smtClean="0">
              <a:latin typeface="+mj-lt"/>
              <a:ea typeface="隶书" panose="02010509060101010101" pitchFamily="49" charset="-122"/>
            </a:endParaRPr>
          </a:p>
          <a:p>
            <a:pPr>
              <a:lnSpc>
                <a:spcPts val="4500"/>
              </a:lnSpc>
            </a:pPr>
            <a:r>
              <a:rPr lang="en-US" altLang="zh-CN" b="1" dirty="0" err="1" smtClean="0">
                <a:latin typeface="+mj-lt"/>
                <a:ea typeface="隶书" panose="02010509060101010101" pitchFamily="49" charset="-122"/>
              </a:rPr>
              <a:t>omp_get_max_active_levels</a:t>
            </a:r>
            <a:r>
              <a:rPr lang="zh-CN" altLang="en-US" b="1" dirty="0" smtClean="0">
                <a:latin typeface="+mj-lt"/>
                <a:ea typeface="隶书" panose="02010509060101010101" pitchFamily="49" charset="-122"/>
              </a:rPr>
              <a:t>函数</a:t>
            </a:r>
            <a:r>
              <a:rPr lang="en-US" altLang="zh-CN" b="1" dirty="0" smtClean="0">
                <a:latin typeface="+mj-lt"/>
                <a:ea typeface="隶书" panose="02010509060101010101" pitchFamily="49" charset="-122"/>
              </a:rPr>
              <a:t>:</a:t>
            </a:r>
            <a:r>
              <a:rPr lang="zh-CN" altLang="en-US" b="1" dirty="0" smtClean="0">
                <a:latin typeface="+mj-lt"/>
                <a:ea typeface="隶书" panose="02010509060101010101" pitchFamily="49" charset="-122"/>
              </a:rPr>
              <a:t>返回嵌套的活动并行区的最大个数</a:t>
            </a:r>
            <a:endParaRPr lang="en-US" altLang="zh-CN" b="1" dirty="0" smtClean="0">
              <a:latin typeface="+mj-lt"/>
              <a:ea typeface="隶书" panose="02010509060101010101" pitchFamily="49" charset="-122"/>
            </a:endParaRPr>
          </a:p>
          <a:p>
            <a:pPr>
              <a:lnSpc>
                <a:spcPts val="4500"/>
              </a:lnSpc>
            </a:pPr>
            <a:r>
              <a:rPr lang="en-US" altLang="zh-CN" b="1" dirty="0" err="1" smtClean="0">
                <a:latin typeface="+mj-lt"/>
                <a:ea typeface="隶书" panose="02010509060101010101" pitchFamily="49" charset="-122"/>
              </a:rPr>
              <a:t>omp_get_level</a:t>
            </a:r>
            <a:r>
              <a:rPr lang="zh-CN" altLang="en-US" b="1" dirty="0">
                <a:latin typeface="+mj-lt"/>
                <a:ea typeface="隶书" panose="02010509060101010101" pitchFamily="49" charset="-122"/>
              </a:rPr>
              <a:t>函数</a:t>
            </a:r>
            <a:r>
              <a:rPr lang="en-US" altLang="zh-CN" b="1" dirty="0" smtClean="0">
                <a:latin typeface="+mj-lt"/>
                <a:ea typeface="隶书" panose="02010509060101010101" pitchFamily="49" charset="-122"/>
              </a:rPr>
              <a:t>:</a:t>
            </a:r>
            <a:r>
              <a:rPr lang="zh-CN" altLang="en-US" b="1" dirty="0">
                <a:latin typeface="+mj-lt"/>
                <a:ea typeface="隶书" panose="02010509060101010101" pitchFamily="49" charset="-122"/>
              </a:rPr>
              <a:t>返回</a:t>
            </a:r>
            <a:r>
              <a:rPr lang="zh-CN" altLang="en-US" b="1" dirty="0" smtClean="0">
                <a:latin typeface="+mj-lt"/>
                <a:ea typeface="隶书" panose="02010509060101010101" pitchFamily="49" charset="-122"/>
              </a:rPr>
              <a:t>嵌套并行区的个数</a:t>
            </a:r>
            <a:endParaRPr lang="en-US" altLang="zh-CN" b="1" dirty="0" smtClean="0">
              <a:latin typeface="+mj-lt"/>
              <a:ea typeface="隶书" panose="02010509060101010101" pitchFamily="49" charset="-122"/>
            </a:endParaRPr>
          </a:p>
          <a:p>
            <a:pPr marL="0" indent="0">
              <a:lnSpc>
                <a:spcPts val="4500"/>
              </a:lnSpc>
              <a:buNone/>
            </a:pPr>
            <a:r>
              <a:rPr lang="en-US" altLang="zh-CN" b="1" dirty="0" smtClean="0">
                <a:latin typeface="+mj-lt"/>
                <a:ea typeface="隶书" panose="02010509060101010101" pitchFamily="49" charset="-122"/>
              </a:rPr>
              <a:t>                ——</a:t>
            </a:r>
            <a:r>
              <a:rPr lang="zh-CN" altLang="en-US" b="1" dirty="0" smtClean="0">
                <a:latin typeface="+mj-lt"/>
                <a:ea typeface="隶书" panose="02010509060101010101" pitchFamily="49" charset="-122"/>
              </a:rPr>
              <a:t>该函数在串行部分调用时返回</a:t>
            </a:r>
            <a:r>
              <a:rPr lang="en-US" altLang="zh-CN" b="1" dirty="0" smtClean="0">
                <a:latin typeface="+mj-lt"/>
                <a:ea typeface="隶书" panose="02010509060101010101" pitchFamily="49" charset="-122"/>
              </a:rPr>
              <a:t>0</a:t>
            </a:r>
            <a:endParaRPr lang="en-US" altLang="zh-CN" b="1" dirty="0" smtClean="0">
              <a:latin typeface="+mj-lt"/>
              <a:ea typeface="隶书" panose="02010509060101010101" pitchFamily="49" charset="-122"/>
            </a:endParaRPr>
          </a:p>
          <a:p>
            <a:pPr>
              <a:lnSpc>
                <a:spcPts val="4500"/>
              </a:lnSpc>
            </a:pPr>
            <a:r>
              <a:rPr lang="en-US" altLang="zh-CN" b="1" dirty="0" err="1" smtClean="0">
                <a:latin typeface="+mj-lt"/>
                <a:ea typeface="隶书" panose="02010509060101010101" pitchFamily="49" charset="-122"/>
              </a:rPr>
              <a:t>omp_get_ancestor_thread_num</a:t>
            </a:r>
            <a:r>
              <a:rPr lang="zh-CN" altLang="en-US" b="1" dirty="0" smtClean="0">
                <a:latin typeface="+mj-lt"/>
                <a:ea typeface="隶书" panose="02010509060101010101" pitchFamily="49" charset="-122"/>
              </a:rPr>
              <a:t>函数</a:t>
            </a:r>
            <a:r>
              <a:rPr lang="en-US" altLang="zh-CN" b="1" dirty="0" smtClean="0">
                <a:latin typeface="+mj-lt"/>
                <a:ea typeface="隶书" panose="02010509060101010101" pitchFamily="49" charset="-122"/>
              </a:rPr>
              <a:t>:</a:t>
            </a:r>
            <a:r>
              <a:rPr lang="zh-CN" altLang="en-US" b="1" dirty="0" smtClean="0">
                <a:latin typeface="+mj-lt"/>
                <a:ea typeface="隶书" panose="02010509060101010101" pitchFamily="49" charset="-122"/>
              </a:rPr>
              <a:t>返回当前线程祖先的线程号</a:t>
            </a:r>
            <a:endParaRPr lang="en-US" altLang="zh-CN" b="1" dirty="0" smtClean="0">
              <a:latin typeface="+mj-lt"/>
              <a:ea typeface="隶书" panose="02010509060101010101" pitchFamily="49" charset="-122"/>
            </a:endParaRPr>
          </a:p>
          <a:p>
            <a:pPr marL="0" indent="0">
              <a:buNone/>
            </a:pPr>
            <a:endParaRPr lang="en-US" altLang="zh-CN" b="1" dirty="0" smtClean="0">
              <a:latin typeface="+mj-lt"/>
              <a:ea typeface="隶书" panose="02010509060101010101" pitchFamily="49" charset="-122"/>
            </a:endParaRPr>
          </a:p>
          <a:p>
            <a:pPr marL="0" indent="0">
              <a:buNone/>
            </a:pPr>
            <a:endParaRPr lang="en-US" altLang="zh-CN" b="1" dirty="0" smtClean="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en-US" altLang="zh-CN" b="1" dirty="0" smtClean="0">
              <a:latin typeface="+mj-lt"/>
              <a:ea typeface="隶书" panose="02010509060101010101" pitchFamily="49" charset="-122"/>
            </a:endParaRPr>
          </a:p>
          <a:p>
            <a:pPr marL="0" indent="0">
              <a:buNone/>
            </a:pPr>
            <a:endParaRPr lang="en-US" altLang="zh-CN" b="1" dirty="0" smtClean="0">
              <a:solidFill>
                <a:srgbClr val="2D0AC2"/>
              </a:solidFill>
              <a:latin typeface="+mj-lt"/>
              <a:ea typeface="隶书" panose="02010509060101010101" pitchFamily="49" charset="-122"/>
            </a:endParaRPr>
          </a:p>
        </p:txBody>
      </p:sp>
    </p:spTree>
  </p:cSld>
  <p:clrMapOvr>
    <a:masterClrMapping/>
  </p:clrMapOvr>
  <p:transition spd="med" advTm="3025">
    <p:fade/>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71055" y="408710"/>
            <a:ext cx="10972800" cy="5811981"/>
          </a:xfrm>
        </p:spPr>
        <p:txBody>
          <a:bodyPr/>
          <a:lstStyle/>
          <a:p>
            <a:pPr marL="0" indent="0" algn="ctr">
              <a:buNone/>
            </a:pPr>
            <a:r>
              <a:rPr lang="en-US" sz="4800" b="1" dirty="0" smtClean="0">
                <a:solidFill>
                  <a:srgbClr val="2D0AC2"/>
                </a:solidFill>
                <a:latin typeface="+mj-lt"/>
                <a:ea typeface="隶书" panose="02010509060101010101" pitchFamily="49" charset="-122"/>
              </a:rPr>
              <a:t>OpenMP</a:t>
            </a:r>
            <a:r>
              <a:rPr lang="zh-CN" altLang="en-US" sz="4800" b="1" dirty="0" smtClean="0">
                <a:solidFill>
                  <a:srgbClr val="2D0AC2"/>
                </a:solidFill>
                <a:latin typeface="+mj-lt"/>
                <a:ea typeface="隶书" panose="02010509060101010101" pitchFamily="49" charset="-122"/>
              </a:rPr>
              <a:t>运行时函数库</a:t>
            </a:r>
            <a:endParaRPr lang="en-US" altLang="zh-CN" sz="4800" b="1" dirty="0" smtClean="0">
              <a:solidFill>
                <a:srgbClr val="2D0AC2"/>
              </a:solidFill>
              <a:latin typeface="+mj-lt"/>
              <a:ea typeface="隶书" panose="02010509060101010101" pitchFamily="49" charset="-122"/>
            </a:endParaRPr>
          </a:p>
          <a:p>
            <a:pPr marL="0" indent="0" algn="ctr">
              <a:buNone/>
            </a:pPr>
            <a:endParaRPr lang="en-US" altLang="zh-CN" b="1" dirty="0" smtClean="0">
              <a:solidFill>
                <a:srgbClr val="2D0AC2"/>
              </a:solidFill>
              <a:latin typeface="+mj-lt"/>
              <a:ea typeface="隶书" panose="02010509060101010101" pitchFamily="49" charset="-122"/>
            </a:endParaRPr>
          </a:p>
          <a:p>
            <a:pPr>
              <a:lnSpc>
                <a:spcPct val="150000"/>
              </a:lnSpc>
            </a:pPr>
            <a:r>
              <a:rPr lang="en-US" altLang="zh-CN" b="1" dirty="0" err="1" smtClean="0">
                <a:latin typeface="+mj-lt"/>
                <a:ea typeface="隶书" panose="02010509060101010101" pitchFamily="49" charset="-122"/>
              </a:rPr>
              <a:t>omp_get_team_size</a:t>
            </a:r>
            <a:r>
              <a:rPr lang="zh-CN" altLang="en-US" b="1" dirty="0" smtClean="0">
                <a:latin typeface="+mj-lt"/>
                <a:ea typeface="隶书" panose="02010509060101010101" pitchFamily="49" charset="-122"/>
              </a:rPr>
              <a:t>函数：返回当前线程所在线程组的线程个数</a:t>
            </a:r>
            <a:endParaRPr lang="en-US" altLang="zh-CN" b="1" dirty="0" smtClean="0">
              <a:latin typeface="+mj-lt"/>
              <a:ea typeface="隶书" panose="02010509060101010101" pitchFamily="49" charset="-122"/>
            </a:endParaRPr>
          </a:p>
          <a:p>
            <a:pPr>
              <a:lnSpc>
                <a:spcPct val="150000"/>
              </a:lnSpc>
            </a:pPr>
            <a:r>
              <a:rPr lang="en-US" altLang="zh-CN" b="1" dirty="0" err="1" smtClean="0">
                <a:latin typeface="+mj-lt"/>
                <a:ea typeface="隶书" panose="02010509060101010101" pitchFamily="49" charset="-122"/>
              </a:rPr>
              <a:t>omp_get_active_level</a:t>
            </a:r>
            <a:r>
              <a:rPr lang="zh-CN" altLang="en-US" b="1" dirty="0" smtClean="0">
                <a:latin typeface="+mj-lt"/>
                <a:ea typeface="隶书" panose="02010509060101010101" pitchFamily="49" charset="-122"/>
              </a:rPr>
              <a:t>函数</a:t>
            </a:r>
            <a:r>
              <a:rPr lang="en-US" altLang="zh-CN" b="1" dirty="0" smtClean="0">
                <a:latin typeface="+mj-lt"/>
                <a:ea typeface="隶书" panose="02010509060101010101" pitchFamily="49" charset="-122"/>
              </a:rPr>
              <a:t>:</a:t>
            </a:r>
            <a:r>
              <a:rPr lang="zh-CN" altLang="en-US" b="1" dirty="0" smtClean="0">
                <a:latin typeface="+mj-lt"/>
                <a:ea typeface="隶书" panose="02010509060101010101" pitchFamily="49" charset="-122"/>
              </a:rPr>
              <a:t>返回嵌套数</a:t>
            </a:r>
            <a:endParaRPr lang="en-US" altLang="zh-CN" b="1" dirty="0" smtClean="0">
              <a:latin typeface="+mj-lt"/>
              <a:ea typeface="隶书" panose="02010509060101010101" pitchFamily="49" charset="-122"/>
            </a:endParaRPr>
          </a:p>
          <a:p>
            <a:pPr>
              <a:lnSpc>
                <a:spcPct val="150000"/>
              </a:lnSpc>
            </a:pPr>
            <a:r>
              <a:rPr lang="en-US" altLang="zh-CN" b="1" dirty="0" err="1" smtClean="0">
                <a:latin typeface="+mj-lt"/>
                <a:ea typeface="隶书" panose="02010509060101010101" pitchFamily="49" charset="-122"/>
              </a:rPr>
              <a:t>omp_in_final</a:t>
            </a:r>
            <a:r>
              <a:rPr lang="zh-CN" altLang="en-US" b="1" dirty="0" smtClean="0">
                <a:latin typeface="+mj-lt"/>
                <a:ea typeface="隶书" panose="02010509060101010101" pitchFamily="49" charset="-122"/>
              </a:rPr>
              <a:t>函数</a:t>
            </a:r>
            <a:r>
              <a:rPr lang="en-US" altLang="zh-CN" b="1" dirty="0" smtClean="0">
                <a:latin typeface="+mj-lt"/>
                <a:ea typeface="隶书" panose="02010509060101010101" pitchFamily="49" charset="-122"/>
              </a:rPr>
              <a:t>:</a:t>
            </a:r>
            <a:endParaRPr lang="en-US" altLang="zh-CN" b="1" dirty="0" smtClean="0">
              <a:latin typeface="+mj-lt"/>
              <a:ea typeface="隶书" panose="02010509060101010101" pitchFamily="49" charset="-122"/>
            </a:endParaRPr>
          </a:p>
          <a:p>
            <a:pPr marL="0" indent="0">
              <a:lnSpc>
                <a:spcPct val="150000"/>
              </a:lnSpc>
              <a:buNone/>
            </a:pPr>
            <a:r>
              <a:rPr lang="en-US" altLang="zh-CN" b="1" dirty="0" smtClean="0">
                <a:latin typeface="+mj-lt"/>
                <a:ea typeface="隶书" panose="02010509060101010101" pitchFamily="49" charset="-122"/>
              </a:rPr>
              <a:t>                ——</a:t>
            </a:r>
            <a:r>
              <a:rPr lang="zh-CN" altLang="en-US" b="1" dirty="0" smtClean="0">
                <a:latin typeface="+mj-lt"/>
                <a:ea typeface="隶书" panose="02010509060101010101" pitchFamily="49" charset="-122"/>
              </a:rPr>
              <a:t>用于判断当前函数是否是最终任务</a:t>
            </a:r>
            <a:endParaRPr lang="en-US" altLang="zh-CN" b="1" dirty="0" smtClean="0">
              <a:latin typeface="+mj-lt"/>
              <a:ea typeface="隶书" panose="02010509060101010101" pitchFamily="49" charset="-122"/>
            </a:endParaRPr>
          </a:p>
          <a:p>
            <a:pPr marL="0" indent="0">
              <a:buNone/>
            </a:pPr>
            <a:endParaRPr lang="en-US" altLang="zh-CN" b="1" dirty="0" smtClean="0">
              <a:latin typeface="+mj-lt"/>
              <a:ea typeface="隶书" panose="02010509060101010101" pitchFamily="49" charset="-122"/>
            </a:endParaRPr>
          </a:p>
          <a:p>
            <a:pPr marL="0" indent="0">
              <a:buNone/>
            </a:pPr>
            <a:endParaRPr lang="en-US" altLang="zh-CN" b="1" dirty="0" smtClean="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en-US" altLang="zh-CN" b="1" dirty="0" smtClean="0">
              <a:latin typeface="+mj-lt"/>
              <a:ea typeface="隶书" panose="02010509060101010101" pitchFamily="49" charset="-122"/>
            </a:endParaRPr>
          </a:p>
          <a:p>
            <a:pPr marL="0" indent="0">
              <a:buNone/>
            </a:pPr>
            <a:endParaRPr lang="en-US" altLang="zh-CN" b="1" dirty="0" smtClean="0">
              <a:solidFill>
                <a:srgbClr val="2D0AC2"/>
              </a:solidFill>
              <a:latin typeface="+mj-lt"/>
              <a:ea typeface="隶书" panose="02010509060101010101" pitchFamily="49" charset="-122"/>
            </a:endParaRPr>
          </a:p>
        </p:txBody>
      </p:sp>
    </p:spTree>
  </p:cSld>
  <p:clrMapOvr>
    <a:masterClrMapping/>
  </p:clrMapOvr>
  <p:transition spd="med" advTm="3025">
    <p:fad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71055" y="408710"/>
            <a:ext cx="10972800" cy="5811981"/>
          </a:xfrm>
        </p:spPr>
        <p:txBody>
          <a:bodyPr/>
          <a:lstStyle/>
          <a:p>
            <a:pPr marL="0" indent="0" algn="ctr">
              <a:buNone/>
            </a:pPr>
            <a:r>
              <a:rPr lang="en-US" sz="4800" b="1" dirty="0" smtClean="0">
                <a:solidFill>
                  <a:srgbClr val="2D0AC2"/>
                </a:solidFill>
                <a:latin typeface="+mj-lt"/>
                <a:ea typeface="隶书" panose="02010509060101010101" pitchFamily="49" charset="-122"/>
              </a:rPr>
              <a:t>OpenMP</a:t>
            </a:r>
            <a:r>
              <a:rPr lang="zh-CN" altLang="en-US" sz="4800" b="1" dirty="0" smtClean="0">
                <a:solidFill>
                  <a:srgbClr val="2D0AC2"/>
                </a:solidFill>
                <a:latin typeface="+mj-lt"/>
                <a:ea typeface="隶书" panose="02010509060101010101" pitchFamily="49" charset="-122"/>
              </a:rPr>
              <a:t>运行时函数库</a:t>
            </a:r>
            <a:endParaRPr lang="en-US" altLang="zh-CN" sz="4800" b="1" dirty="0" smtClean="0">
              <a:solidFill>
                <a:srgbClr val="2D0AC2"/>
              </a:solidFill>
              <a:latin typeface="+mj-lt"/>
              <a:ea typeface="隶书" panose="02010509060101010101" pitchFamily="49" charset="-122"/>
            </a:endParaRPr>
          </a:p>
          <a:p>
            <a:pPr marL="0" indent="0">
              <a:buNone/>
            </a:pPr>
            <a:r>
              <a:rPr lang="zh-CN" altLang="en-US" b="1" dirty="0" smtClean="0">
                <a:solidFill>
                  <a:srgbClr val="C00000"/>
                </a:solidFill>
                <a:latin typeface="+mj-lt"/>
                <a:ea typeface="隶书" panose="02010509060101010101" pitchFamily="49" charset="-122"/>
              </a:rPr>
              <a:t>锁函数</a:t>
            </a:r>
            <a:endParaRPr lang="en-US" altLang="zh-CN" b="1" dirty="0" smtClean="0">
              <a:solidFill>
                <a:srgbClr val="C00000"/>
              </a:solidFill>
              <a:latin typeface="+mj-lt"/>
              <a:ea typeface="隶书" panose="02010509060101010101" pitchFamily="49" charset="-122"/>
            </a:endParaRPr>
          </a:p>
          <a:p>
            <a:pPr marL="0" indent="0">
              <a:buNone/>
            </a:pPr>
            <a:r>
              <a:rPr lang="en-US" altLang="zh-CN" b="1" dirty="0" smtClean="0">
                <a:latin typeface="+mj-lt"/>
                <a:ea typeface="隶书" panose="02010509060101010101" pitchFamily="49" charset="-122"/>
              </a:rPr>
              <a:t>OpenMP</a:t>
            </a:r>
            <a:r>
              <a:rPr lang="zh-CN" altLang="en-US" b="1" dirty="0" smtClean="0">
                <a:latin typeface="+mj-lt"/>
                <a:ea typeface="隶书" panose="02010509060101010101" pitchFamily="49" charset="-122"/>
              </a:rPr>
              <a:t>锁是一种特殊变量</a:t>
            </a:r>
            <a:endParaRPr lang="en-US" altLang="zh-CN" b="1" dirty="0" smtClean="0">
              <a:latin typeface="+mj-lt"/>
              <a:ea typeface="隶书" panose="02010509060101010101" pitchFamily="49" charset="-122"/>
            </a:endParaRPr>
          </a:p>
          <a:p>
            <a:pPr marL="0" indent="0">
              <a:buNone/>
            </a:pPr>
            <a:r>
              <a:rPr lang="zh-CN" altLang="en-US" b="1" dirty="0" smtClean="0">
                <a:latin typeface="+mj-lt"/>
                <a:ea typeface="隶书" panose="02010509060101010101" pitchFamily="49" charset="-122"/>
              </a:rPr>
              <a:t>包括两类锁：简单锁和嵌套锁</a:t>
            </a:r>
            <a:endParaRPr lang="en-US" altLang="zh-CN" b="1" dirty="0" smtClean="0">
              <a:latin typeface="+mj-lt"/>
              <a:ea typeface="隶书" panose="02010509060101010101" pitchFamily="49" charset="-122"/>
            </a:endParaRPr>
          </a:p>
          <a:p>
            <a:pPr marL="0" indent="0">
              <a:buNone/>
            </a:pPr>
            <a:r>
              <a:rPr lang="zh-CN" altLang="en-US" b="1" dirty="0" smtClean="0">
                <a:latin typeface="+mj-lt"/>
                <a:ea typeface="隶书" panose="02010509060101010101" pitchFamily="49" charset="-122"/>
              </a:rPr>
              <a:t>每一类都有三种状态：未初始化、未上锁、已上锁</a:t>
            </a:r>
            <a:endParaRPr lang="en-US" altLang="zh-CN" b="1" dirty="0" smtClean="0">
              <a:latin typeface="+mj-lt"/>
              <a:ea typeface="隶书" panose="02010509060101010101" pitchFamily="49" charset="-122"/>
            </a:endParaRPr>
          </a:p>
          <a:p>
            <a:pPr marL="0" indent="0">
              <a:buNone/>
            </a:pPr>
            <a:r>
              <a:rPr lang="zh-CN" altLang="en-US" b="1" dirty="0" smtClean="0">
                <a:latin typeface="+mj-lt"/>
                <a:ea typeface="隶书" panose="02010509060101010101" pitchFamily="49" charset="-122"/>
              </a:rPr>
              <a:t>简单锁（</a:t>
            </a:r>
            <a:r>
              <a:rPr lang="en-US" altLang="zh-CN" b="1" dirty="0" smtClean="0">
                <a:latin typeface="+mj-lt"/>
                <a:ea typeface="隶书" panose="02010509060101010101" pitchFamily="49" charset="-122"/>
              </a:rPr>
              <a:t>simple lock</a:t>
            </a:r>
            <a:r>
              <a:rPr lang="zh-CN" altLang="en-US" b="1" dirty="0" smtClean="0">
                <a:latin typeface="+mj-lt"/>
                <a:ea typeface="隶书" panose="02010509060101010101" pitchFamily="49" charset="-122"/>
              </a:rPr>
              <a:t>）：它被一个线程设定，而别的线程仅能在设定锁的线程解除锁后才能重新设定锁</a:t>
            </a:r>
            <a:endParaRPr lang="en-US" altLang="zh-CN" b="1" dirty="0" smtClean="0">
              <a:latin typeface="+mj-lt"/>
              <a:ea typeface="隶书" panose="02010509060101010101" pitchFamily="49" charset="-122"/>
            </a:endParaRPr>
          </a:p>
          <a:p>
            <a:pPr marL="0" indent="0">
              <a:buNone/>
            </a:pPr>
            <a:r>
              <a:rPr lang="zh-CN" altLang="en-US" b="1" dirty="0" smtClean="0">
                <a:latin typeface="+mj-lt"/>
                <a:ea typeface="隶书" panose="02010509060101010101" pitchFamily="49" charset="-122"/>
              </a:rPr>
              <a:t>嵌套锁（</a:t>
            </a:r>
            <a:r>
              <a:rPr lang="en-US" altLang="zh-CN" b="1" dirty="0" err="1" smtClean="0">
                <a:latin typeface="+mj-lt"/>
                <a:ea typeface="隶书" panose="02010509060101010101" pitchFamily="49" charset="-122"/>
              </a:rPr>
              <a:t>nestable</a:t>
            </a:r>
            <a:r>
              <a:rPr lang="en-US" altLang="zh-CN" b="1" dirty="0" smtClean="0">
                <a:latin typeface="+mj-lt"/>
                <a:ea typeface="隶书" panose="02010509060101010101" pitchFamily="49" charset="-122"/>
              </a:rPr>
              <a:t> lock</a:t>
            </a:r>
            <a:r>
              <a:rPr lang="zh-CN" altLang="en-US" b="1" dirty="0" smtClean="0">
                <a:latin typeface="+mj-lt"/>
                <a:ea typeface="隶书" panose="02010509060101010101" pitchFamily="49" charset="-122"/>
              </a:rPr>
              <a:t>）：可以被锁的拥有线程设置多次而不阻塞。</a:t>
            </a:r>
            <a:endParaRPr lang="en-US" altLang="zh-CN" b="1" dirty="0" smtClean="0">
              <a:latin typeface="+mj-lt"/>
              <a:ea typeface="隶书" panose="02010509060101010101" pitchFamily="49" charset="-122"/>
            </a:endParaRPr>
          </a:p>
          <a:p>
            <a:pPr marL="0" indent="0">
              <a:buNone/>
            </a:pPr>
            <a:endParaRPr lang="en-US" altLang="zh-CN" b="1" dirty="0" smtClean="0">
              <a:latin typeface="+mj-lt"/>
              <a:ea typeface="隶书" panose="02010509060101010101" pitchFamily="49" charset="-122"/>
            </a:endParaRPr>
          </a:p>
          <a:p>
            <a:pPr marL="0" indent="0">
              <a:buNone/>
            </a:pPr>
            <a:endParaRPr lang="en-US" altLang="zh-CN" b="1" dirty="0" smtClean="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en-US" altLang="zh-CN" b="1" dirty="0" smtClean="0">
              <a:latin typeface="+mj-lt"/>
              <a:ea typeface="隶书" panose="02010509060101010101" pitchFamily="49" charset="-122"/>
            </a:endParaRPr>
          </a:p>
          <a:p>
            <a:pPr marL="0" indent="0">
              <a:buNone/>
            </a:pPr>
            <a:endParaRPr lang="en-US" altLang="zh-CN" b="1" dirty="0" smtClean="0">
              <a:solidFill>
                <a:srgbClr val="2D0AC2"/>
              </a:solidFill>
              <a:latin typeface="+mj-lt"/>
              <a:ea typeface="隶书" panose="02010509060101010101" pitchFamily="49" charset="-122"/>
            </a:endParaRPr>
          </a:p>
        </p:txBody>
      </p:sp>
    </p:spTree>
  </p:cSld>
  <p:clrMapOvr>
    <a:masterClrMapping/>
  </p:clrMapOvr>
  <p:transition spd="med" advTm="3025">
    <p:fade/>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71055" y="408710"/>
            <a:ext cx="10972800" cy="5811981"/>
          </a:xfrm>
        </p:spPr>
        <p:txBody>
          <a:bodyPr/>
          <a:lstStyle/>
          <a:p>
            <a:pPr marL="0" indent="0" algn="ctr">
              <a:buNone/>
            </a:pPr>
            <a:r>
              <a:rPr lang="en-US" sz="4800" b="1" dirty="0" smtClean="0">
                <a:solidFill>
                  <a:srgbClr val="2D0AC2"/>
                </a:solidFill>
                <a:latin typeface="+mj-lt"/>
                <a:ea typeface="隶书" panose="02010509060101010101" pitchFamily="49" charset="-122"/>
              </a:rPr>
              <a:t>OpenMP</a:t>
            </a:r>
            <a:r>
              <a:rPr lang="zh-CN" altLang="en-US" sz="4800" b="1" dirty="0" smtClean="0">
                <a:solidFill>
                  <a:srgbClr val="2D0AC2"/>
                </a:solidFill>
                <a:latin typeface="+mj-lt"/>
                <a:ea typeface="隶书" panose="02010509060101010101" pitchFamily="49" charset="-122"/>
              </a:rPr>
              <a:t>运行时函数库</a:t>
            </a:r>
            <a:endParaRPr lang="en-US" altLang="zh-CN" b="1" dirty="0" smtClean="0">
              <a:solidFill>
                <a:srgbClr val="2D0AC2"/>
              </a:solidFill>
              <a:latin typeface="+mj-lt"/>
              <a:ea typeface="隶书" panose="02010509060101010101" pitchFamily="49" charset="-122"/>
            </a:endParaRPr>
          </a:p>
          <a:p>
            <a:pPr marL="0" indent="0">
              <a:buNone/>
            </a:pPr>
            <a:r>
              <a:rPr lang="zh-CN" altLang="en-US" b="1" dirty="0" smtClean="0">
                <a:solidFill>
                  <a:srgbClr val="2D0AC2"/>
                </a:solidFill>
                <a:latin typeface="+mj-lt"/>
                <a:ea typeface="隶书" panose="02010509060101010101" pitchFamily="49" charset="-122"/>
              </a:rPr>
              <a:t>对于</a:t>
            </a:r>
            <a:r>
              <a:rPr lang="en-US" altLang="zh-CN" b="1" dirty="0" smtClean="0">
                <a:solidFill>
                  <a:srgbClr val="2D0AC2"/>
                </a:solidFill>
                <a:latin typeface="+mj-lt"/>
                <a:ea typeface="隶书" panose="02010509060101010101" pitchFamily="49" charset="-122"/>
              </a:rPr>
              <a:t>C</a:t>
            </a:r>
            <a:r>
              <a:rPr lang="zh-CN" altLang="en-US" b="1" dirty="0" smtClean="0">
                <a:solidFill>
                  <a:srgbClr val="2D0AC2"/>
                </a:solidFill>
                <a:latin typeface="+mj-lt"/>
                <a:ea typeface="隶书" panose="02010509060101010101" pitchFamily="49" charset="-122"/>
              </a:rPr>
              <a:t>程序，</a:t>
            </a:r>
            <a:r>
              <a:rPr lang="en-US" altLang="zh-CN" b="1" dirty="0" err="1" smtClean="0">
                <a:solidFill>
                  <a:srgbClr val="2D0AC2"/>
                </a:solidFill>
                <a:latin typeface="+mj-lt"/>
                <a:ea typeface="隶书" panose="02010509060101010101" pitchFamily="49" charset="-122"/>
              </a:rPr>
              <a:t>omp_lock_t</a:t>
            </a:r>
            <a:r>
              <a:rPr lang="en-US" altLang="zh-CN" b="1" dirty="0" smtClean="0">
                <a:solidFill>
                  <a:srgbClr val="2D0AC2"/>
                </a:solidFill>
                <a:latin typeface="+mj-lt"/>
                <a:ea typeface="隶书" panose="02010509060101010101" pitchFamily="49" charset="-122"/>
              </a:rPr>
              <a:t>  </a:t>
            </a:r>
            <a:r>
              <a:rPr lang="zh-CN" altLang="en-US" b="1" dirty="0" smtClean="0">
                <a:solidFill>
                  <a:srgbClr val="2D0AC2"/>
                </a:solidFill>
                <a:latin typeface="+mj-lt"/>
                <a:ea typeface="隶书" panose="02010509060101010101" pitchFamily="49" charset="-122"/>
              </a:rPr>
              <a:t>是简单锁的数据类型</a:t>
            </a:r>
            <a:endParaRPr lang="en-US" altLang="zh-CN" b="1" dirty="0" smtClean="0">
              <a:solidFill>
                <a:srgbClr val="2D0AC2"/>
              </a:solidFill>
              <a:latin typeface="+mj-lt"/>
              <a:ea typeface="隶书" panose="02010509060101010101" pitchFamily="49" charset="-122"/>
            </a:endParaRPr>
          </a:p>
          <a:p>
            <a:pPr marL="0" indent="0">
              <a:buNone/>
            </a:pPr>
            <a:r>
              <a:rPr lang="en-US" altLang="zh-CN" b="1" dirty="0">
                <a:solidFill>
                  <a:srgbClr val="2D0AC2"/>
                </a:solidFill>
                <a:latin typeface="+mj-lt"/>
                <a:ea typeface="隶书" panose="02010509060101010101" pitchFamily="49" charset="-122"/>
              </a:rPr>
              <a:t> </a:t>
            </a:r>
            <a:r>
              <a:rPr lang="en-US" altLang="zh-CN" b="1" dirty="0" smtClean="0">
                <a:solidFill>
                  <a:srgbClr val="2D0AC2"/>
                </a:solidFill>
                <a:latin typeface="+mj-lt"/>
                <a:ea typeface="隶书" panose="02010509060101010101" pitchFamily="49" charset="-122"/>
              </a:rPr>
              <a:t>                        </a:t>
            </a:r>
            <a:r>
              <a:rPr lang="en-US" altLang="zh-CN" b="1" dirty="0" err="1" smtClean="0">
                <a:solidFill>
                  <a:srgbClr val="2D0AC2"/>
                </a:solidFill>
                <a:latin typeface="+mj-lt"/>
                <a:ea typeface="隶书" panose="02010509060101010101" pitchFamily="49" charset="-122"/>
              </a:rPr>
              <a:t>omp_nest_lock_t</a:t>
            </a:r>
            <a:r>
              <a:rPr lang="en-US" altLang="zh-CN" b="1" dirty="0" smtClean="0">
                <a:solidFill>
                  <a:srgbClr val="2D0AC2"/>
                </a:solidFill>
                <a:latin typeface="+mj-lt"/>
                <a:ea typeface="隶书" panose="02010509060101010101" pitchFamily="49" charset="-122"/>
              </a:rPr>
              <a:t>  </a:t>
            </a:r>
            <a:r>
              <a:rPr lang="zh-CN" altLang="en-US" b="1" dirty="0" smtClean="0">
                <a:solidFill>
                  <a:srgbClr val="2D0AC2"/>
                </a:solidFill>
                <a:latin typeface="+mj-lt"/>
                <a:ea typeface="隶书" panose="02010509060101010101" pitchFamily="49" charset="-122"/>
              </a:rPr>
              <a:t>是嵌套锁的数据类型</a:t>
            </a:r>
            <a:endParaRPr lang="en-US" altLang="zh-CN" b="1" dirty="0" smtClean="0">
              <a:solidFill>
                <a:srgbClr val="2D0AC2"/>
              </a:solidFill>
              <a:latin typeface="+mj-lt"/>
              <a:ea typeface="隶书" panose="02010509060101010101" pitchFamily="49" charset="-122"/>
            </a:endParaRPr>
          </a:p>
          <a:p>
            <a:pPr marL="0" indent="0">
              <a:buNone/>
            </a:pPr>
            <a:r>
              <a:rPr lang="en-US" altLang="zh-CN" b="1" dirty="0" smtClean="0">
                <a:solidFill>
                  <a:srgbClr val="2D0AC2"/>
                </a:solidFill>
                <a:latin typeface="+mj-lt"/>
                <a:ea typeface="隶书" panose="02010509060101010101" pitchFamily="49" charset="-122"/>
              </a:rPr>
              <a:t>——</a:t>
            </a:r>
            <a:r>
              <a:rPr lang="zh-CN" altLang="en-US" b="1" dirty="0" smtClean="0">
                <a:solidFill>
                  <a:srgbClr val="2D0AC2"/>
                </a:solidFill>
                <a:latin typeface="+mj-lt"/>
                <a:ea typeface="隶书" panose="02010509060101010101" pitchFamily="49" charset="-122"/>
              </a:rPr>
              <a:t>通过指针方式将锁变量传递给锁操作函数</a:t>
            </a:r>
            <a:endParaRPr lang="en-US" altLang="zh-CN" b="1" dirty="0" smtClean="0">
              <a:solidFill>
                <a:srgbClr val="2D0AC2"/>
              </a:solidFill>
              <a:latin typeface="+mj-lt"/>
              <a:ea typeface="隶书" panose="02010509060101010101" pitchFamily="49" charset="-122"/>
            </a:endParaRPr>
          </a:p>
          <a:p>
            <a:pPr marL="0" indent="0">
              <a:buNone/>
            </a:pPr>
            <a:r>
              <a:rPr lang="zh-CN" altLang="en-US" b="1" dirty="0" smtClean="0">
                <a:solidFill>
                  <a:srgbClr val="2D0AC2"/>
                </a:solidFill>
                <a:latin typeface="+mj-lt"/>
                <a:ea typeface="隶书" panose="02010509060101010101" pitchFamily="49" charset="-122"/>
              </a:rPr>
              <a:t>对于</a:t>
            </a:r>
            <a:r>
              <a:rPr lang="en-US" altLang="zh-CN" b="1" dirty="0" smtClean="0">
                <a:solidFill>
                  <a:srgbClr val="2D0AC2"/>
                </a:solidFill>
                <a:latin typeface="+mj-lt"/>
                <a:ea typeface="隶书" panose="02010509060101010101" pitchFamily="49" charset="-122"/>
              </a:rPr>
              <a:t>Fortran</a:t>
            </a:r>
            <a:r>
              <a:rPr lang="zh-CN" altLang="en-US" b="1" dirty="0" smtClean="0">
                <a:solidFill>
                  <a:srgbClr val="2D0AC2"/>
                </a:solidFill>
                <a:latin typeface="+mj-lt"/>
                <a:ea typeface="隶书" panose="02010509060101010101" pitchFamily="49" charset="-122"/>
              </a:rPr>
              <a:t>程序，简单锁和嵌套锁都是整型变量</a:t>
            </a:r>
            <a:endParaRPr lang="en-US" altLang="zh-CN" b="1" dirty="0" smtClean="0">
              <a:solidFill>
                <a:srgbClr val="2D0AC2"/>
              </a:solidFill>
              <a:latin typeface="+mj-lt"/>
              <a:ea typeface="隶书" panose="02010509060101010101" pitchFamily="49" charset="-122"/>
            </a:endParaRPr>
          </a:p>
          <a:p>
            <a:pPr marL="0" indent="0">
              <a:buNone/>
            </a:pPr>
            <a:r>
              <a:rPr lang="en-US" altLang="zh-CN" sz="2800" b="1" dirty="0" smtClean="0">
                <a:latin typeface="+mj-lt"/>
                <a:ea typeface="隶书" panose="02010509060101010101" pitchFamily="49" charset="-122"/>
              </a:rPr>
              <a:t>OpenMP</a:t>
            </a:r>
            <a:r>
              <a:rPr lang="zh-CN" altLang="en-US" sz="2800" b="1" dirty="0" smtClean="0">
                <a:latin typeface="+mj-lt"/>
                <a:ea typeface="隶书" panose="02010509060101010101" pitchFamily="49" charset="-122"/>
              </a:rPr>
              <a:t>包括五种锁操作函数：初始化</a:t>
            </a:r>
            <a:endParaRPr lang="en-US" altLang="zh-CN" sz="2800" b="1" dirty="0" smtClean="0">
              <a:latin typeface="+mj-lt"/>
              <a:ea typeface="隶书" panose="02010509060101010101" pitchFamily="49" charset="-122"/>
            </a:endParaRPr>
          </a:p>
          <a:p>
            <a:pPr marL="0" indent="0">
              <a:buNone/>
            </a:pPr>
            <a:r>
              <a:rPr lang="en-US" altLang="zh-CN" sz="2800" b="1" dirty="0">
                <a:latin typeface="+mj-lt"/>
                <a:ea typeface="隶书" panose="02010509060101010101" pitchFamily="49" charset="-122"/>
              </a:rPr>
              <a:t> </a:t>
            </a:r>
            <a:r>
              <a:rPr lang="en-US" altLang="zh-CN" sz="2800" b="1" dirty="0" smtClean="0">
                <a:latin typeface="+mj-lt"/>
                <a:ea typeface="隶书" panose="02010509060101010101" pitchFamily="49" charset="-122"/>
              </a:rPr>
              <a:t>                                                             </a:t>
            </a:r>
            <a:r>
              <a:rPr lang="zh-CN" altLang="en-US" sz="2800" b="1" dirty="0" smtClean="0">
                <a:latin typeface="+mj-lt"/>
                <a:ea typeface="隶书" panose="02010509060101010101" pitchFamily="49" charset="-122"/>
              </a:rPr>
              <a:t>销毁</a:t>
            </a:r>
            <a:endParaRPr lang="en-US" altLang="zh-CN" sz="2800" b="1" dirty="0" smtClean="0">
              <a:latin typeface="+mj-lt"/>
              <a:ea typeface="隶书" panose="02010509060101010101" pitchFamily="49" charset="-122"/>
            </a:endParaRPr>
          </a:p>
          <a:p>
            <a:pPr marL="0" indent="0">
              <a:buNone/>
            </a:pPr>
            <a:r>
              <a:rPr lang="en-US" altLang="zh-CN" sz="2800" b="1" dirty="0">
                <a:latin typeface="+mj-lt"/>
                <a:ea typeface="隶书" panose="02010509060101010101" pitchFamily="49" charset="-122"/>
              </a:rPr>
              <a:t> </a:t>
            </a:r>
            <a:r>
              <a:rPr lang="en-US" altLang="zh-CN" sz="2800" b="1" dirty="0" smtClean="0">
                <a:latin typeface="+mj-lt"/>
                <a:ea typeface="隶书" panose="02010509060101010101" pitchFamily="49" charset="-122"/>
              </a:rPr>
              <a:t>                                                             </a:t>
            </a:r>
            <a:r>
              <a:rPr lang="zh-CN" altLang="en-US" sz="2800" b="1" dirty="0" smtClean="0">
                <a:latin typeface="+mj-lt"/>
                <a:ea typeface="隶书" panose="02010509060101010101" pitchFamily="49" charset="-122"/>
              </a:rPr>
              <a:t>上锁</a:t>
            </a:r>
            <a:endParaRPr lang="en-US" altLang="zh-CN" sz="2800" b="1" dirty="0" smtClean="0">
              <a:latin typeface="+mj-lt"/>
              <a:ea typeface="隶书" panose="02010509060101010101" pitchFamily="49" charset="-122"/>
            </a:endParaRPr>
          </a:p>
          <a:p>
            <a:pPr marL="0" indent="0">
              <a:buNone/>
            </a:pPr>
            <a:r>
              <a:rPr lang="en-US" altLang="zh-CN" sz="2800" b="1" dirty="0">
                <a:latin typeface="+mj-lt"/>
                <a:ea typeface="隶书" panose="02010509060101010101" pitchFamily="49" charset="-122"/>
              </a:rPr>
              <a:t> </a:t>
            </a:r>
            <a:r>
              <a:rPr lang="en-US" altLang="zh-CN" sz="2800" b="1" dirty="0" smtClean="0">
                <a:latin typeface="+mj-lt"/>
                <a:ea typeface="隶书" panose="02010509060101010101" pitchFamily="49" charset="-122"/>
              </a:rPr>
              <a:t>                                                             </a:t>
            </a:r>
            <a:r>
              <a:rPr lang="zh-CN" altLang="en-US" sz="2800" b="1" dirty="0" smtClean="0">
                <a:latin typeface="+mj-lt"/>
                <a:ea typeface="隶书" panose="02010509060101010101" pitchFamily="49" charset="-122"/>
              </a:rPr>
              <a:t>解锁</a:t>
            </a:r>
            <a:endParaRPr lang="en-US" altLang="zh-CN" sz="2800" b="1" dirty="0" smtClean="0">
              <a:latin typeface="+mj-lt"/>
              <a:ea typeface="隶书" panose="02010509060101010101" pitchFamily="49" charset="-122"/>
            </a:endParaRPr>
          </a:p>
          <a:p>
            <a:pPr marL="0" indent="0">
              <a:buNone/>
            </a:pPr>
            <a:r>
              <a:rPr lang="en-US" altLang="zh-CN" sz="2800" b="1" dirty="0">
                <a:latin typeface="+mj-lt"/>
                <a:ea typeface="隶书" panose="02010509060101010101" pitchFamily="49" charset="-122"/>
              </a:rPr>
              <a:t> </a:t>
            </a:r>
            <a:r>
              <a:rPr lang="en-US" altLang="zh-CN" sz="2800" b="1" dirty="0" smtClean="0">
                <a:latin typeface="+mj-lt"/>
                <a:ea typeface="隶书" panose="02010509060101010101" pitchFamily="49" charset="-122"/>
              </a:rPr>
              <a:t>                                                             </a:t>
            </a:r>
            <a:r>
              <a:rPr lang="zh-CN" altLang="en-US" sz="2800" b="1" dirty="0" smtClean="0">
                <a:latin typeface="+mj-lt"/>
                <a:ea typeface="隶书" panose="02010509060101010101" pitchFamily="49" charset="-122"/>
              </a:rPr>
              <a:t>测试</a:t>
            </a:r>
            <a:endParaRPr lang="en-US" altLang="zh-CN" sz="2800" b="1" dirty="0" smtClean="0">
              <a:latin typeface="+mj-lt"/>
              <a:ea typeface="隶书" panose="02010509060101010101" pitchFamily="49" charset="-122"/>
            </a:endParaRPr>
          </a:p>
          <a:p>
            <a:pPr marL="0" indent="0">
              <a:buNone/>
            </a:pPr>
            <a:endParaRPr lang="en-US" altLang="zh-CN" b="1" dirty="0" smtClean="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en-US" altLang="zh-CN" b="1" dirty="0" smtClean="0">
              <a:latin typeface="+mj-lt"/>
              <a:ea typeface="隶书" panose="02010509060101010101" pitchFamily="49" charset="-122"/>
            </a:endParaRPr>
          </a:p>
          <a:p>
            <a:pPr marL="0" indent="0">
              <a:buNone/>
            </a:pPr>
            <a:endParaRPr lang="en-US" altLang="zh-CN" b="1" dirty="0" smtClean="0">
              <a:solidFill>
                <a:srgbClr val="2D0AC2"/>
              </a:solidFill>
              <a:latin typeface="+mj-lt"/>
              <a:ea typeface="隶书" panose="02010509060101010101" pitchFamily="49" charset="-122"/>
            </a:endParaRPr>
          </a:p>
        </p:txBody>
      </p:sp>
    </p:spTree>
  </p:cSld>
  <p:clrMapOvr>
    <a:masterClrMapping/>
  </p:clrMapOvr>
  <p:transition spd="med" advTm="3025">
    <p:fad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71055" y="408710"/>
            <a:ext cx="10972800" cy="5811981"/>
          </a:xfrm>
        </p:spPr>
        <p:txBody>
          <a:bodyPr/>
          <a:lstStyle/>
          <a:p>
            <a:pPr marL="0" indent="0" algn="ctr">
              <a:buNone/>
            </a:pPr>
            <a:r>
              <a:rPr lang="en-US" sz="4800" b="1" dirty="0" smtClean="0">
                <a:solidFill>
                  <a:srgbClr val="2D0AC2"/>
                </a:solidFill>
                <a:latin typeface="+mj-lt"/>
                <a:ea typeface="隶书" panose="02010509060101010101" pitchFamily="49" charset="-122"/>
              </a:rPr>
              <a:t>OpenMP</a:t>
            </a:r>
            <a:r>
              <a:rPr lang="zh-CN" altLang="en-US" sz="4800" b="1" dirty="0" smtClean="0">
                <a:solidFill>
                  <a:srgbClr val="2D0AC2"/>
                </a:solidFill>
                <a:latin typeface="+mj-lt"/>
                <a:ea typeface="隶书" panose="02010509060101010101" pitchFamily="49" charset="-122"/>
              </a:rPr>
              <a:t>运行时函数库</a:t>
            </a:r>
            <a:endParaRPr lang="en-US" altLang="zh-CN" sz="4800" b="1" dirty="0" smtClean="0">
              <a:solidFill>
                <a:srgbClr val="2D0AC2"/>
              </a:solidFill>
              <a:latin typeface="+mj-lt"/>
              <a:ea typeface="隶书" panose="02010509060101010101" pitchFamily="49" charset="-122"/>
            </a:endParaRPr>
          </a:p>
          <a:p>
            <a:pPr marL="0" indent="0">
              <a:buNone/>
            </a:pPr>
            <a:r>
              <a:rPr lang="zh-CN" altLang="en-US" b="1" dirty="0" smtClean="0">
                <a:solidFill>
                  <a:srgbClr val="2D0AC2"/>
                </a:solidFill>
                <a:latin typeface="+mj-lt"/>
                <a:ea typeface="隶书" panose="02010509060101010101" pitchFamily="49" charset="-122"/>
              </a:rPr>
              <a:t>锁函数</a:t>
            </a:r>
            <a:endParaRPr lang="en-US" altLang="zh-CN" b="1" dirty="0" smtClean="0">
              <a:solidFill>
                <a:srgbClr val="2D0AC2"/>
              </a:solidFill>
              <a:latin typeface="+mj-lt"/>
              <a:ea typeface="隶书" panose="02010509060101010101" pitchFamily="49" charset="-122"/>
            </a:endParaRPr>
          </a:p>
          <a:p>
            <a:pPr marL="0" indent="0">
              <a:buNone/>
            </a:pPr>
            <a:r>
              <a:rPr lang="zh-CN" altLang="en-US" b="1" dirty="0" smtClean="0">
                <a:solidFill>
                  <a:srgbClr val="2D0AC2"/>
                </a:solidFill>
                <a:latin typeface="+mj-lt"/>
                <a:ea typeface="隶书" panose="02010509060101010101" pitchFamily="49" charset="-122"/>
              </a:rPr>
              <a:t>初始化：</a:t>
            </a:r>
            <a:r>
              <a:rPr lang="en-US" altLang="zh-CN" b="1" dirty="0" smtClean="0">
                <a:solidFill>
                  <a:srgbClr val="2D0AC2"/>
                </a:solidFill>
                <a:latin typeface="+mj-lt"/>
                <a:ea typeface="隶书" panose="02010509060101010101" pitchFamily="49" charset="-122"/>
              </a:rPr>
              <a:t>opm_init_lock( )</a:t>
            </a:r>
            <a:endParaRPr lang="en-US" altLang="zh-CN" b="1" dirty="0" smtClean="0">
              <a:solidFill>
                <a:srgbClr val="2D0AC2"/>
              </a:solidFill>
              <a:latin typeface="+mj-lt"/>
              <a:ea typeface="隶书" panose="02010509060101010101" pitchFamily="49" charset="-122"/>
            </a:endParaRPr>
          </a:p>
          <a:p>
            <a:pPr marL="0" indent="0">
              <a:buNone/>
            </a:pPr>
            <a:r>
              <a:rPr lang="en-US" altLang="zh-CN" b="1" dirty="0" smtClean="0">
                <a:solidFill>
                  <a:srgbClr val="2D0AC2"/>
                </a:solidFill>
                <a:latin typeface="+mj-lt"/>
                <a:ea typeface="隶书" panose="02010509060101010101" pitchFamily="49" charset="-122"/>
              </a:rPr>
              <a:t>                  </a:t>
            </a:r>
            <a:r>
              <a:rPr lang="en-US" altLang="zh-CN" b="1" dirty="0" err="1" smtClean="0">
                <a:solidFill>
                  <a:srgbClr val="2D0AC2"/>
                </a:solidFill>
                <a:latin typeface="+mj-lt"/>
                <a:ea typeface="隶书" panose="02010509060101010101" pitchFamily="49" charset="-122"/>
              </a:rPr>
              <a:t>opm_init_nest_lock</a:t>
            </a:r>
            <a:r>
              <a:rPr lang="en-US" altLang="zh-CN" b="1" dirty="0">
                <a:solidFill>
                  <a:srgbClr val="2D0AC2"/>
                </a:solidFill>
                <a:latin typeface="+mj-lt"/>
                <a:ea typeface="隶书" panose="02010509060101010101" pitchFamily="49" charset="-122"/>
              </a:rPr>
              <a:t>( </a:t>
            </a:r>
            <a:r>
              <a:rPr lang="en-US" altLang="zh-CN" b="1" dirty="0" smtClean="0">
                <a:solidFill>
                  <a:srgbClr val="2D0AC2"/>
                </a:solidFill>
                <a:latin typeface="+mj-lt"/>
                <a:ea typeface="隶书" panose="02010509060101010101" pitchFamily="49" charset="-122"/>
              </a:rPr>
              <a:t>)</a:t>
            </a:r>
            <a:endParaRPr lang="en-US" altLang="zh-CN" b="1" dirty="0" smtClean="0">
              <a:solidFill>
                <a:srgbClr val="2D0AC2"/>
              </a:solidFill>
              <a:latin typeface="+mj-lt"/>
              <a:ea typeface="隶书" panose="02010509060101010101" pitchFamily="49" charset="-122"/>
            </a:endParaRPr>
          </a:p>
          <a:p>
            <a:pPr marL="0" indent="0">
              <a:buNone/>
            </a:pPr>
            <a:endParaRPr lang="en-US" altLang="zh-CN" b="1" dirty="0" smtClean="0">
              <a:solidFill>
                <a:srgbClr val="2D0AC2"/>
              </a:solidFill>
              <a:latin typeface="+mj-lt"/>
              <a:ea typeface="隶书" panose="02010509060101010101" pitchFamily="49" charset="-122"/>
            </a:endParaRPr>
          </a:p>
          <a:p>
            <a:pPr marL="0" indent="0">
              <a:buNone/>
            </a:pPr>
            <a:r>
              <a:rPr lang="zh-CN" altLang="en-US" b="1" dirty="0" smtClean="0">
                <a:solidFill>
                  <a:srgbClr val="2D0AC2"/>
                </a:solidFill>
                <a:latin typeface="+mj-lt"/>
                <a:ea typeface="隶书" panose="02010509060101010101" pitchFamily="49" charset="-122"/>
              </a:rPr>
              <a:t>销毁：       </a:t>
            </a:r>
            <a:r>
              <a:rPr lang="en-US" altLang="zh-CN" b="1" dirty="0" err="1" smtClean="0">
                <a:solidFill>
                  <a:srgbClr val="2D0AC2"/>
                </a:solidFill>
                <a:latin typeface="+mj-lt"/>
                <a:ea typeface="隶书" panose="02010509060101010101" pitchFamily="49" charset="-122"/>
              </a:rPr>
              <a:t>opm_destroy_lock</a:t>
            </a:r>
            <a:r>
              <a:rPr lang="en-US" altLang="zh-CN" b="1" dirty="0">
                <a:solidFill>
                  <a:srgbClr val="2D0AC2"/>
                </a:solidFill>
                <a:latin typeface="+mj-lt"/>
                <a:ea typeface="隶书" panose="02010509060101010101" pitchFamily="49" charset="-122"/>
              </a:rPr>
              <a:t>( )</a:t>
            </a:r>
            <a:endParaRPr lang="en-US" altLang="zh-CN" b="1" dirty="0">
              <a:solidFill>
                <a:srgbClr val="2D0AC2"/>
              </a:solidFill>
              <a:latin typeface="+mj-lt"/>
              <a:ea typeface="隶书" panose="02010509060101010101" pitchFamily="49" charset="-122"/>
            </a:endParaRPr>
          </a:p>
          <a:p>
            <a:pPr marL="0" indent="0">
              <a:buNone/>
            </a:pPr>
            <a:r>
              <a:rPr lang="en-US" altLang="zh-CN" b="1" dirty="0" smtClean="0">
                <a:solidFill>
                  <a:srgbClr val="2D0AC2"/>
                </a:solidFill>
                <a:latin typeface="+mj-lt"/>
                <a:ea typeface="隶书" panose="02010509060101010101" pitchFamily="49" charset="-122"/>
              </a:rPr>
              <a:t>                    </a:t>
            </a:r>
            <a:r>
              <a:rPr lang="en-US" altLang="zh-CN" b="1" dirty="0" err="1" smtClean="0">
                <a:solidFill>
                  <a:srgbClr val="2D0AC2"/>
                </a:solidFill>
                <a:latin typeface="+mj-lt"/>
                <a:ea typeface="隶书" panose="02010509060101010101" pitchFamily="49" charset="-122"/>
              </a:rPr>
              <a:t>opm_destroy_nest_lock</a:t>
            </a:r>
            <a:r>
              <a:rPr lang="en-US" altLang="zh-CN" b="1" dirty="0">
                <a:solidFill>
                  <a:srgbClr val="2D0AC2"/>
                </a:solidFill>
                <a:latin typeface="+mj-lt"/>
                <a:ea typeface="隶书" panose="02010509060101010101" pitchFamily="49" charset="-122"/>
              </a:rPr>
              <a:t>( )</a:t>
            </a:r>
            <a:endParaRPr lang="en-US" altLang="zh-CN" b="1" dirty="0">
              <a:solidFill>
                <a:srgbClr val="2D0AC2"/>
              </a:solidFill>
              <a:latin typeface="+mj-lt"/>
              <a:ea typeface="隶书" panose="02010509060101010101" pitchFamily="49" charset="-122"/>
            </a:endParaRPr>
          </a:p>
          <a:p>
            <a:pPr marL="0" indent="0">
              <a:buNone/>
            </a:pPr>
            <a:endParaRPr lang="en-US" altLang="zh-CN" b="1" dirty="0">
              <a:solidFill>
                <a:srgbClr val="2D0AC2"/>
              </a:solidFill>
              <a:latin typeface="+mj-lt"/>
              <a:ea typeface="隶书" panose="02010509060101010101" pitchFamily="49" charset="-122"/>
            </a:endParaRPr>
          </a:p>
          <a:p>
            <a:pPr marL="0" indent="0">
              <a:buNone/>
            </a:pPr>
            <a:endParaRPr lang="en-US" altLang="zh-CN" b="1" dirty="0" smtClean="0">
              <a:solidFill>
                <a:srgbClr val="2D0AC2"/>
              </a:solidFill>
              <a:latin typeface="+mj-lt"/>
              <a:ea typeface="隶书" panose="02010509060101010101" pitchFamily="49" charset="-122"/>
            </a:endParaRPr>
          </a:p>
          <a:p>
            <a:pPr marL="0" indent="0">
              <a:buNone/>
            </a:pPr>
            <a:endParaRPr lang="en-US" altLang="zh-CN" b="1" dirty="0" smtClean="0">
              <a:latin typeface="+mj-lt"/>
              <a:ea typeface="隶书" panose="02010509060101010101" pitchFamily="49" charset="-122"/>
            </a:endParaRPr>
          </a:p>
          <a:p>
            <a:pPr marL="0" indent="0">
              <a:buNone/>
            </a:pPr>
            <a:endParaRPr lang="en-US" altLang="zh-CN" b="1" dirty="0" smtClean="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en-US" altLang="zh-CN" b="1" dirty="0" smtClean="0">
              <a:latin typeface="+mj-lt"/>
              <a:ea typeface="隶书" panose="02010509060101010101" pitchFamily="49" charset="-122"/>
            </a:endParaRPr>
          </a:p>
          <a:p>
            <a:pPr marL="0" indent="0">
              <a:buNone/>
            </a:pPr>
            <a:endParaRPr lang="en-US" altLang="zh-CN" b="1" dirty="0" smtClean="0">
              <a:solidFill>
                <a:srgbClr val="2D0AC2"/>
              </a:solidFill>
              <a:latin typeface="+mj-lt"/>
              <a:ea typeface="隶书" panose="02010509060101010101" pitchFamily="49" charset="-122"/>
            </a:endParaRPr>
          </a:p>
        </p:txBody>
      </p:sp>
    </p:spTree>
  </p:cSld>
  <p:clrMapOvr>
    <a:masterClrMapping/>
  </p:clrMapOvr>
  <p:transition spd="med" advTm="3025">
    <p:fade/>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71055" y="408710"/>
            <a:ext cx="10972800" cy="5811981"/>
          </a:xfrm>
        </p:spPr>
        <p:txBody>
          <a:bodyPr/>
          <a:lstStyle/>
          <a:p>
            <a:pPr marL="0" indent="0" algn="ctr">
              <a:buNone/>
            </a:pPr>
            <a:r>
              <a:rPr lang="en-US" sz="4800" b="1" dirty="0" smtClean="0">
                <a:solidFill>
                  <a:srgbClr val="2D0AC2"/>
                </a:solidFill>
                <a:latin typeface="+mj-lt"/>
                <a:ea typeface="隶书" panose="02010509060101010101" pitchFamily="49" charset="-122"/>
              </a:rPr>
              <a:t>OpenMP</a:t>
            </a:r>
            <a:r>
              <a:rPr lang="zh-CN" altLang="en-US" sz="4800" b="1" dirty="0" smtClean="0">
                <a:solidFill>
                  <a:srgbClr val="2D0AC2"/>
                </a:solidFill>
                <a:latin typeface="+mj-lt"/>
                <a:ea typeface="隶书" panose="02010509060101010101" pitchFamily="49" charset="-122"/>
              </a:rPr>
              <a:t>运行时函数库</a:t>
            </a:r>
            <a:endParaRPr lang="en-US" altLang="zh-CN" b="1" dirty="0" smtClean="0">
              <a:solidFill>
                <a:srgbClr val="2D0AC2"/>
              </a:solidFill>
              <a:latin typeface="+mj-lt"/>
              <a:ea typeface="隶书" panose="02010509060101010101" pitchFamily="49" charset="-122"/>
            </a:endParaRPr>
          </a:p>
          <a:p>
            <a:pPr marL="0" indent="0">
              <a:buNone/>
            </a:pPr>
            <a:r>
              <a:rPr lang="zh-CN" altLang="en-US" b="1" dirty="0">
                <a:solidFill>
                  <a:srgbClr val="2D0AC2"/>
                </a:solidFill>
                <a:latin typeface="+mj-lt"/>
                <a:ea typeface="隶书" panose="02010509060101010101" pitchFamily="49" charset="-122"/>
              </a:rPr>
              <a:t>上锁</a:t>
            </a:r>
            <a:r>
              <a:rPr lang="zh-CN" altLang="en-US" b="1" dirty="0" smtClean="0">
                <a:solidFill>
                  <a:srgbClr val="2D0AC2"/>
                </a:solidFill>
                <a:latin typeface="+mj-lt"/>
                <a:ea typeface="隶书" panose="02010509060101010101" pitchFamily="49" charset="-122"/>
              </a:rPr>
              <a:t>：     </a:t>
            </a:r>
            <a:r>
              <a:rPr lang="en-US" altLang="zh-CN" b="1" dirty="0" smtClean="0">
                <a:solidFill>
                  <a:srgbClr val="2D0AC2"/>
                </a:solidFill>
                <a:latin typeface="+mj-lt"/>
                <a:ea typeface="隶书" panose="02010509060101010101" pitchFamily="49" charset="-122"/>
              </a:rPr>
              <a:t>opm_set_lock( )</a:t>
            </a:r>
            <a:endParaRPr lang="en-US" altLang="zh-CN" b="1" dirty="0" smtClean="0">
              <a:solidFill>
                <a:srgbClr val="2D0AC2"/>
              </a:solidFill>
              <a:latin typeface="+mj-lt"/>
              <a:ea typeface="隶书" panose="02010509060101010101" pitchFamily="49" charset="-122"/>
            </a:endParaRPr>
          </a:p>
          <a:p>
            <a:pPr marL="0" indent="0">
              <a:buNone/>
            </a:pPr>
            <a:r>
              <a:rPr lang="en-US" altLang="zh-CN" b="1" dirty="0" smtClean="0">
                <a:solidFill>
                  <a:srgbClr val="2D0AC2"/>
                </a:solidFill>
                <a:latin typeface="+mj-lt"/>
                <a:ea typeface="隶书" panose="02010509060101010101" pitchFamily="49" charset="-122"/>
              </a:rPr>
              <a:t>                  </a:t>
            </a:r>
            <a:r>
              <a:rPr lang="en-US" altLang="zh-CN" b="1" dirty="0" err="1" smtClean="0">
                <a:solidFill>
                  <a:srgbClr val="2D0AC2"/>
                </a:solidFill>
                <a:latin typeface="+mj-lt"/>
                <a:ea typeface="隶书" panose="02010509060101010101" pitchFamily="49" charset="-122"/>
              </a:rPr>
              <a:t>opm_set_nest_lock</a:t>
            </a:r>
            <a:r>
              <a:rPr lang="en-US" altLang="zh-CN" b="1" dirty="0">
                <a:solidFill>
                  <a:srgbClr val="2D0AC2"/>
                </a:solidFill>
                <a:latin typeface="+mj-lt"/>
                <a:ea typeface="隶书" panose="02010509060101010101" pitchFamily="49" charset="-122"/>
              </a:rPr>
              <a:t>( </a:t>
            </a:r>
            <a:r>
              <a:rPr lang="en-US" altLang="zh-CN" b="1" dirty="0" smtClean="0">
                <a:solidFill>
                  <a:srgbClr val="2D0AC2"/>
                </a:solidFill>
                <a:latin typeface="+mj-lt"/>
                <a:ea typeface="隶书" panose="02010509060101010101" pitchFamily="49" charset="-122"/>
              </a:rPr>
              <a:t>)</a:t>
            </a:r>
            <a:endParaRPr lang="en-US" altLang="zh-CN" b="1" dirty="0" smtClean="0">
              <a:solidFill>
                <a:srgbClr val="2D0AC2"/>
              </a:solidFill>
              <a:latin typeface="+mj-lt"/>
              <a:ea typeface="隶书" panose="02010509060101010101" pitchFamily="49" charset="-122"/>
            </a:endParaRPr>
          </a:p>
          <a:p>
            <a:pPr marL="0" indent="0">
              <a:buNone/>
            </a:pPr>
            <a:endParaRPr lang="en-US" altLang="zh-CN" b="1" dirty="0" smtClean="0">
              <a:solidFill>
                <a:srgbClr val="2D0AC2"/>
              </a:solidFill>
              <a:latin typeface="+mj-lt"/>
              <a:ea typeface="隶书" panose="02010509060101010101" pitchFamily="49" charset="-122"/>
            </a:endParaRPr>
          </a:p>
          <a:p>
            <a:pPr marL="0" indent="0">
              <a:buNone/>
            </a:pPr>
            <a:r>
              <a:rPr lang="zh-CN" altLang="en-US" b="1" dirty="0">
                <a:solidFill>
                  <a:srgbClr val="2D0AC2"/>
                </a:solidFill>
                <a:latin typeface="+mj-lt"/>
                <a:ea typeface="隶书" panose="02010509060101010101" pitchFamily="49" charset="-122"/>
              </a:rPr>
              <a:t>解锁</a:t>
            </a:r>
            <a:r>
              <a:rPr lang="zh-CN" altLang="en-US" b="1" dirty="0" smtClean="0">
                <a:solidFill>
                  <a:srgbClr val="2D0AC2"/>
                </a:solidFill>
                <a:latin typeface="+mj-lt"/>
                <a:ea typeface="隶书" panose="02010509060101010101" pitchFamily="49" charset="-122"/>
              </a:rPr>
              <a:t>：       </a:t>
            </a:r>
            <a:r>
              <a:rPr lang="en-US" altLang="zh-CN" b="1" dirty="0" err="1" smtClean="0">
                <a:solidFill>
                  <a:srgbClr val="2D0AC2"/>
                </a:solidFill>
                <a:latin typeface="+mj-lt"/>
                <a:ea typeface="隶书" panose="02010509060101010101" pitchFamily="49" charset="-122"/>
              </a:rPr>
              <a:t>opm_unset_lock</a:t>
            </a:r>
            <a:r>
              <a:rPr lang="en-US" altLang="zh-CN" b="1" dirty="0">
                <a:solidFill>
                  <a:srgbClr val="2D0AC2"/>
                </a:solidFill>
                <a:latin typeface="+mj-lt"/>
                <a:ea typeface="隶书" panose="02010509060101010101" pitchFamily="49" charset="-122"/>
              </a:rPr>
              <a:t>( )</a:t>
            </a:r>
            <a:endParaRPr lang="en-US" altLang="zh-CN" b="1" dirty="0">
              <a:solidFill>
                <a:srgbClr val="2D0AC2"/>
              </a:solidFill>
              <a:latin typeface="+mj-lt"/>
              <a:ea typeface="隶书" panose="02010509060101010101" pitchFamily="49" charset="-122"/>
            </a:endParaRPr>
          </a:p>
          <a:p>
            <a:pPr marL="0" indent="0">
              <a:buNone/>
            </a:pPr>
            <a:r>
              <a:rPr lang="en-US" altLang="zh-CN" b="1" dirty="0" smtClean="0">
                <a:solidFill>
                  <a:srgbClr val="2D0AC2"/>
                </a:solidFill>
                <a:latin typeface="+mj-lt"/>
                <a:ea typeface="隶书" panose="02010509060101010101" pitchFamily="49" charset="-122"/>
              </a:rPr>
              <a:t>                    </a:t>
            </a:r>
            <a:r>
              <a:rPr lang="en-US" altLang="zh-CN" b="1" dirty="0" err="1" smtClean="0">
                <a:solidFill>
                  <a:srgbClr val="2D0AC2"/>
                </a:solidFill>
                <a:latin typeface="+mj-lt"/>
                <a:ea typeface="隶书" panose="02010509060101010101" pitchFamily="49" charset="-122"/>
              </a:rPr>
              <a:t>opm_unset_nest_lock</a:t>
            </a:r>
            <a:r>
              <a:rPr lang="en-US" altLang="zh-CN" b="1" dirty="0">
                <a:solidFill>
                  <a:srgbClr val="2D0AC2"/>
                </a:solidFill>
                <a:latin typeface="+mj-lt"/>
                <a:ea typeface="隶书" panose="02010509060101010101" pitchFamily="49" charset="-122"/>
              </a:rPr>
              <a:t>( </a:t>
            </a:r>
            <a:r>
              <a:rPr lang="en-US" altLang="zh-CN" b="1" dirty="0" smtClean="0">
                <a:solidFill>
                  <a:srgbClr val="2D0AC2"/>
                </a:solidFill>
                <a:latin typeface="+mj-lt"/>
                <a:ea typeface="隶书" panose="02010509060101010101" pitchFamily="49" charset="-122"/>
              </a:rPr>
              <a:t>)</a:t>
            </a:r>
            <a:endParaRPr lang="en-US" altLang="zh-CN" b="1" dirty="0" smtClean="0">
              <a:solidFill>
                <a:srgbClr val="2D0AC2"/>
              </a:solidFill>
              <a:latin typeface="+mj-lt"/>
              <a:ea typeface="隶书" panose="02010509060101010101" pitchFamily="49" charset="-122"/>
            </a:endParaRPr>
          </a:p>
          <a:p>
            <a:pPr marL="0" indent="0">
              <a:buNone/>
            </a:pPr>
            <a:endParaRPr lang="en-US" altLang="zh-CN" b="1" dirty="0" smtClean="0">
              <a:solidFill>
                <a:srgbClr val="2D0AC2"/>
              </a:solidFill>
              <a:latin typeface="+mj-lt"/>
              <a:ea typeface="隶书" panose="02010509060101010101" pitchFamily="49" charset="-122"/>
            </a:endParaRPr>
          </a:p>
          <a:p>
            <a:pPr marL="0" indent="0">
              <a:buNone/>
            </a:pPr>
            <a:r>
              <a:rPr lang="zh-CN" altLang="en-US" b="1" dirty="0" smtClean="0">
                <a:solidFill>
                  <a:srgbClr val="2D0AC2"/>
                </a:solidFill>
                <a:latin typeface="+mj-lt"/>
                <a:ea typeface="隶书" panose="02010509060101010101" pitchFamily="49" charset="-122"/>
              </a:rPr>
              <a:t>测试：     </a:t>
            </a:r>
            <a:r>
              <a:rPr lang="en-US" altLang="zh-CN" b="1" dirty="0" err="1" smtClean="0">
                <a:solidFill>
                  <a:srgbClr val="2D0AC2"/>
                </a:solidFill>
                <a:latin typeface="+mj-lt"/>
                <a:ea typeface="隶书" panose="02010509060101010101" pitchFamily="49" charset="-122"/>
              </a:rPr>
              <a:t>opm_test_lock</a:t>
            </a:r>
            <a:r>
              <a:rPr lang="en-US" altLang="zh-CN" b="1" dirty="0">
                <a:solidFill>
                  <a:srgbClr val="2D0AC2"/>
                </a:solidFill>
                <a:latin typeface="+mj-lt"/>
                <a:ea typeface="隶书" panose="02010509060101010101" pitchFamily="49" charset="-122"/>
              </a:rPr>
              <a:t>( )</a:t>
            </a:r>
            <a:endParaRPr lang="en-US" altLang="zh-CN" b="1" dirty="0">
              <a:solidFill>
                <a:srgbClr val="2D0AC2"/>
              </a:solidFill>
              <a:latin typeface="+mj-lt"/>
              <a:ea typeface="隶书" panose="02010509060101010101" pitchFamily="49" charset="-122"/>
            </a:endParaRPr>
          </a:p>
          <a:p>
            <a:pPr marL="0" indent="0">
              <a:buNone/>
            </a:pPr>
            <a:r>
              <a:rPr lang="en-US" altLang="zh-CN" b="1" dirty="0">
                <a:solidFill>
                  <a:srgbClr val="2D0AC2"/>
                </a:solidFill>
                <a:latin typeface="+mj-lt"/>
                <a:ea typeface="隶书" panose="02010509060101010101" pitchFamily="49" charset="-122"/>
              </a:rPr>
              <a:t>                  </a:t>
            </a:r>
            <a:r>
              <a:rPr lang="en-US" altLang="zh-CN" b="1" dirty="0" err="1" smtClean="0">
                <a:solidFill>
                  <a:srgbClr val="2D0AC2"/>
                </a:solidFill>
                <a:latin typeface="+mj-lt"/>
                <a:ea typeface="隶书" panose="02010509060101010101" pitchFamily="49" charset="-122"/>
              </a:rPr>
              <a:t>opm_test_nest_lock</a:t>
            </a:r>
            <a:r>
              <a:rPr lang="en-US" altLang="zh-CN" b="1" dirty="0">
                <a:solidFill>
                  <a:srgbClr val="2D0AC2"/>
                </a:solidFill>
                <a:latin typeface="+mj-lt"/>
                <a:ea typeface="隶书" panose="02010509060101010101" pitchFamily="49" charset="-122"/>
              </a:rPr>
              <a:t>( )</a:t>
            </a:r>
            <a:endParaRPr lang="en-US" altLang="zh-CN" b="1" dirty="0">
              <a:solidFill>
                <a:srgbClr val="2D0AC2"/>
              </a:solidFill>
              <a:latin typeface="+mj-lt"/>
              <a:ea typeface="隶书" panose="02010509060101010101" pitchFamily="49" charset="-122"/>
            </a:endParaRPr>
          </a:p>
          <a:p>
            <a:pPr marL="0" indent="0">
              <a:buNone/>
            </a:pPr>
            <a:endParaRPr lang="en-US" altLang="zh-CN" b="1" dirty="0">
              <a:solidFill>
                <a:srgbClr val="2D0AC2"/>
              </a:solidFill>
              <a:latin typeface="+mj-lt"/>
              <a:ea typeface="隶书" panose="02010509060101010101" pitchFamily="49" charset="-122"/>
            </a:endParaRPr>
          </a:p>
          <a:p>
            <a:pPr marL="0" indent="0">
              <a:buNone/>
            </a:pPr>
            <a:endParaRPr lang="en-US" altLang="zh-CN" b="1" dirty="0">
              <a:solidFill>
                <a:srgbClr val="2D0AC2"/>
              </a:solidFill>
              <a:latin typeface="+mj-lt"/>
              <a:ea typeface="隶书" panose="02010509060101010101" pitchFamily="49" charset="-122"/>
            </a:endParaRPr>
          </a:p>
          <a:p>
            <a:pPr marL="0" indent="0">
              <a:buNone/>
            </a:pPr>
            <a:endParaRPr lang="en-US" altLang="zh-CN" b="1" dirty="0" smtClean="0">
              <a:solidFill>
                <a:srgbClr val="2D0AC2"/>
              </a:solidFill>
              <a:latin typeface="+mj-lt"/>
              <a:ea typeface="隶书" panose="02010509060101010101" pitchFamily="49" charset="-122"/>
            </a:endParaRPr>
          </a:p>
          <a:p>
            <a:pPr marL="0" indent="0">
              <a:buNone/>
            </a:pPr>
            <a:endParaRPr lang="en-US" altLang="zh-CN" b="1" dirty="0" smtClean="0">
              <a:latin typeface="+mj-lt"/>
              <a:ea typeface="隶书" panose="02010509060101010101" pitchFamily="49" charset="-122"/>
            </a:endParaRPr>
          </a:p>
          <a:p>
            <a:pPr marL="0" indent="0">
              <a:buNone/>
            </a:pPr>
            <a:endParaRPr lang="en-US" altLang="zh-CN" b="1" dirty="0" smtClean="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en-US" altLang="zh-CN" b="1" dirty="0" smtClean="0">
              <a:latin typeface="+mj-lt"/>
              <a:ea typeface="隶书" panose="02010509060101010101" pitchFamily="49" charset="-122"/>
            </a:endParaRPr>
          </a:p>
          <a:p>
            <a:pPr marL="0" indent="0">
              <a:buNone/>
            </a:pPr>
            <a:endParaRPr lang="en-US" altLang="zh-CN" b="1" dirty="0" smtClean="0">
              <a:solidFill>
                <a:srgbClr val="2D0AC2"/>
              </a:solidFill>
              <a:latin typeface="+mj-lt"/>
              <a:ea typeface="隶书" panose="02010509060101010101" pitchFamily="49" charset="-122"/>
            </a:endParaRPr>
          </a:p>
        </p:txBody>
      </p:sp>
      <p:sp>
        <p:nvSpPr>
          <p:cNvPr id="2" name="云形 1"/>
          <p:cNvSpPr/>
          <p:nvPr/>
        </p:nvSpPr>
        <p:spPr bwMode="auto">
          <a:xfrm>
            <a:off x="6248400" y="4197927"/>
            <a:ext cx="4835236" cy="1856509"/>
          </a:xfrm>
          <a:prstGeom prst="cloud">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smtClean="0">
              <a:ln>
                <a:noFill/>
              </a:ln>
              <a:solidFill>
                <a:schemeClr val="tx1"/>
              </a:solidFill>
              <a:effectLst/>
              <a:latin typeface="Arial" panose="020B0604020202020204" pitchFamily="34" charset="0"/>
              <a:ea typeface="隶书" panose="02010509060101010101" pitchFamily="49" charset="-122"/>
            </a:endParaRPr>
          </a:p>
        </p:txBody>
      </p:sp>
      <p:sp>
        <p:nvSpPr>
          <p:cNvPr id="5" name="文本框 4"/>
          <p:cNvSpPr txBox="1"/>
          <p:nvPr/>
        </p:nvSpPr>
        <p:spPr>
          <a:xfrm>
            <a:off x="7065818" y="4649127"/>
            <a:ext cx="3408218" cy="954107"/>
          </a:xfrm>
          <a:prstGeom prst="rect">
            <a:avLst/>
          </a:prstGeom>
          <a:noFill/>
        </p:spPr>
        <p:txBody>
          <a:bodyPr wrap="square" rtlCol="0">
            <a:spAutoFit/>
          </a:bodyPr>
          <a:lstStyle/>
          <a:p>
            <a:r>
              <a:rPr lang="zh-CN" altLang="en-US" sz="2800" b="1" dirty="0" smtClean="0">
                <a:solidFill>
                  <a:srgbClr val="FFFF00"/>
                </a:solidFill>
                <a:latin typeface="+mj-ea"/>
                <a:ea typeface="+mj-ea"/>
              </a:rPr>
              <a:t>尝试去设置锁为已上锁状态（非阻塞）</a:t>
            </a:r>
            <a:endParaRPr lang="en-US" sz="2800" b="1" dirty="0">
              <a:solidFill>
                <a:srgbClr val="FFFF00"/>
              </a:solidFill>
              <a:latin typeface="+mj-ea"/>
              <a:ea typeface="+mj-ea"/>
            </a:endParaRPr>
          </a:p>
        </p:txBody>
      </p:sp>
    </p:spTree>
  </p:cSld>
  <p:clrMapOvr>
    <a:masterClrMapping/>
  </p:clrMapOvr>
  <p:transition spd="med" advTm="3025">
    <p:fad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19726" y="470757"/>
            <a:ext cx="11592392" cy="5755422"/>
          </a:xfrm>
          <a:prstGeom prst="rect">
            <a:avLst/>
          </a:prstGeom>
        </p:spPr>
        <p:txBody>
          <a:bodyPr wrap="square">
            <a:spAutoFit/>
          </a:bodyPr>
          <a:lstStyle/>
          <a:p>
            <a:pPr algn="ctr"/>
            <a:r>
              <a:rPr lang="en-US" sz="3200" b="1" dirty="0" smtClean="0">
                <a:solidFill>
                  <a:srgbClr val="2D0AC2"/>
                </a:solidFill>
              </a:rPr>
              <a:t>OpenMP</a:t>
            </a:r>
            <a:r>
              <a:rPr lang="zh-CN" altLang="en-US" sz="3200" b="1" dirty="0" smtClean="0">
                <a:solidFill>
                  <a:srgbClr val="2D0AC2"/>
                </a:solidFill>
              </a:rPr>
              <a:t>常用</a:t>
            </a:r>
            <a:r>
              <a:rPr lang="zh-CN" altLang="en-US" sz="3200" b="1" dirty="0">
                <a:solidFill>
                  <a:srgbClr val="2D0AC2"/>
                </a:solidFill>
              </a:rPr>
              <a:t>的库</a:t>
            </a:r>
            <a:r>
              <a:rPr lang="zh-CN" altLang="en-US" sz="3200" b="1" dirty="0" smtClean="0">
                <a:solidFill>
                  <a:srgbClr val="2D0AC2"/>
                </a:solidFill>
              </a:rPr>
              <a:t>函数</a:t>
            </a:r>
            <a:endParaRPr lang="en-US" altLang="zh-CN" sz="3200" b="1" dirty="0" smtClean="0">
              <a:solidFill>
                <a:srgbClr val="2D0AC2"/>
              </a:solidFill>
            </a:endParaRPr>
          </a:p>
          <a:p>
            <a:pPr marL="457200" indent="-457200">
              <a:lnSpc>
                <a:spcPct val="150000"/>
              </a:lnSpc>
              <a:buFont typeface="Arial" panose="020B0604020202020204" pitchFamily="34" charset="0"/>
              <a:buChar char="•"/>
            </a:pPr>
            <a:r>
              <a:rPr lang="en-US" sz="2800" b="1" dirty="0" err="1" smtClean="0">
                <a:solidFill>
                  <a:srgbClr val="000000"/>
                </a:solidFill>
              </a:rPr>
              <a:t>omp_get_num_procs</a:t>
            </a:r>
            <a:r>
              <a:rPr lang="en-US" sz="2800" b="1" dirty="0">
                <a:solidFill>
                  <a:srgbClr val="000000"/>
                </a:solidFill>
              </a:rPr>
              <a:t>, </a:t>
            </a:r>
            <a:r>
              <a:rPr lang="zh-CN" altLang="en-US" sz="2800" b="1" dirty="0">
                <a:solidFill>
                  <a:srgbClr val="000000"/>
                </a:solidFill>
              </a:rPr>
              <a:t>返回运</a:t>
            </a:r>
            <a:r>
              <a:rPr lang="zh-CN" altLang="en-US" sz="2800" b="1" dirty="0" smtClean="0">
                <a:solidFill>
                  <a:srgbClr val="000000"/>
                </a:solidFill>
              </a:rPr>
              <a:t>行程</a:t>
            </a:r>
            <a:r>
              <a:rPr lang="zh-CN" altLang="en-US" sz="2800" b="1" dirty="0">
                <a:solidFill>
                  <a:srgbClr val="000000"/>
                </a:solidFill>
              </a:rPr>
              <a:t>序</a:t>
            </a:r>
            <a:r>
              <a:rPr lang="zh-CN" altLang="en-US" sz="2800" b="1" dirty="0" smtClean="0">
                <a:solidFill>
                  <a:srgbClr val="000000"/>
                </a:solidFill>
              </a:rPr>
              <a:t>的并行机</a:t>
            </a:r>
            <a:r>
              <a:rPr lang="zh-CN" altLang="en-US" sz="2800" b="1" dirty="0">
                <a:solidFill>
                  <a:srgbClr val="000000"/>
                </a:solidFill>
              </a:rPr>
              <a:t>的处理器个数</a:t>
            </a:r>
            <a:r>
              <a:rPr lang="zh-CN" altLang="en-US" sz="2800" b="1" dirty="0" smtClean="0">
                <a:solidFill>
                  <a:srgbClr val="000000"/>
                </a:solidFill>
              </a:rPr>
              <a:t>。   </a:t>
            </a:r>
            <a:endParaRPr lang="en-US" altLang="zh-CN" sz="2800" b="1" dirty="0" smtClean="0">
              <a:solidFill>
                <a:srgbClr val="000000"/>
              </a:solidFill>
            </a:endParaRPr>
          </a:p>
          <a:p>
            <a:pPr marL="457200" indent="-457200">
              <a:lnSpc>
                <a:spcPct val="150000"/>
              </a:lnSpc>
              <a:buFont typeface="Arial" panose="020B0604020202020204" pitchFamily="34" charset="0"/>
              <a:buChar char="•"/>
            </a:pPr>
            <a:r>
              <a:rPr lang="en-US" sz="2800" b="1" dirty="0" err="1" smtClean="0">
                <a:solidFill>
                  <a:srgbClr val="000000"/>
                </a:solidFill>
              </a:rPr>
              <a:t>omp_get_num_threads</a:t>
            </a:r>
            <a:r>
              <a:rPr lang="en-US" sz="2800" b="1" dirty="0">
                <a:solidFill>
                  <a:srgbClr val="000000"/>
                </a:solidFill>
              </a:rPr>
              <a:t>, </a:t>
            </a:r>
            <a:r>
              <a:rPr lang="zh-CN" altLang="en-US" sz="2800" b="1" dirty="0">
                <a:solidFill>
                  <a:srgbClr val="000000"/>
                </a:solidFill>
              </a:rPr>
              <a:t>返回当前并行区域中的活动线程</a:t>
            </a:r>
            <a:r>
              <a:rPr lang="zh-CN" altLang="en-US" sz="2800" b="1" dirty="0" smtClean="0">
                <a:solidFill>
                  <a:srgbClr val="000000"/>
                </a:solidFill>
              </a:rPr>
              <a:t>个数 </a:t>
            </a:r>
            <a:endParaRPr lang="en-US" altLang="zh-CN" sz="2800" b="1" dirty="0" smtClean="0">
              <a:solidFill>
                <a:srgbClr val="000000"/>
              </a:solidFill>
            </a:endParaRPr>
          </a:p>
          <a:p>
            <a:pPr marL="457200" indent="-457200">
              <a:lnSpc>
                <a:spcPct val="150000"/>
              </a:lnSpc>
              <a:buFont typeface="Arial" panose="020B0604020202020204" pitchFamily="34" charset="0"/>
              <a:buChar char="•"/>
            </a:pPr>
            <a:r>
              <a:rPr lang="en-US" sz="2800" b="1" dirty="0" err="1" smtClean="0">
                <a:solidFill>
                  <a:srgbClr val="000000"/>
                </a:solidFill>
              </a:rPr>
              <a:t>omp_get_thread_num</a:t>
            </a:r>
            <a:r>
              <a:rPr lang="en-US" sz="2800" b="1" dirty="0">
                <a:solidFill>
                  <a:srgbClr val="000000"/>
                </a:solidFill>
              </a:rPr>
              <a:t>, </a:t>
            </a:r>
            <a:r>
              <a:rPr lang="zh-CN" altLang="en-US" sz="2800" b="1" dirty="0">
                <a:solidFill>
                  <a:srgbClr val="000000"/>
                </a:solidFill>
              </a:rPr>
              <a:t>返回线程</a:t>
            </a:r>
            <a:r>
              <a:rPr lang="zh-CN" altLang="en-US" sz="2800" b="1" dirty="0" smtClean="0">
                <a:solidFill>
                  <a:srgbClr val="000000"/>
                </a:solidFill>
              </a:rPr>
              <a:t>号</a:t>
            </a:r>
            <a:endParaRPr lang="en-US" altLang="zh-CN" sz="2800" b="1" dirty="0" smtClean="0">
              <a:solidFill>
                <a:srgbClr val="000000"/>
              </a:solidFill>
            </a:endParaRPr>
          </a:p>
          <a:p>
            <a:pPr marL="457200" indent="-457200">
              <a:lnSpc>
                <a:spcPct val="150000"/>
              </a:lnSpc>
              <a:buFont typeface="Arial" panose="020B0604020202020204" pitchFamily="34" charset="0"/>
              <a:buChar char="•"/>
            </a:pPr>
            <a:r>
              <a:rPr lang="en-US" sz="2800" b="1" dirty="0" err="1" smtClean="0">
                <a:solidFill>
                  <a:srgbClr val="000000"/>
                </a:solidFill>
              </a:rPr>
              <a:t>omp_set_num_threads</a:t>
            </a:r>
            <a:r>
              <a:rPr lang="en-US" sz="2800" b="1" dirty="0">
                <a:solidFill>
                  <a:srgbClr val="000000"/>
                </a:solidFill>
              </a:rPr>
              <a:t>, </a:t>
            </a:r>
            <a:r>
              <a:rPr lang="zh-CN" altLang="en-US" sz="2800" b="1" dirty="0">
                <a:solidFill>
                  <a:srgbClr val="2D0AC2"/>
                </a:solidFill>
              </a:rPr>
              <a:t>设置</a:t>
            </a:r>
            <a:r>
              <a:rPr lang="zh-CN" altLang="en-US" sz="2800" b="1" dirty="0">
                <a:solidFill>
                  <a:srgbClr val="000000"/>
                </a:solidFill>
              </a:rPr>
              <a:t>并行执行代码时的线程</a:t>
            </a:r>
            <a:r>
              <a:rPr lang="zh-CN" altLang="en-US" sz="2800" b="1" dirty="0" smtClean="0">
                <a:solidFill>
                  <a:srgbClr val="000000"/>
                </a:solidFill>
              </a:rPr>
              <a:t>个数</a:t>
            </a:r>
            <a:endParaRPr lang="zh-CN" altLang="en-US" sz="2800" b="1" dirty="0">
              <a:solidFill>
                <a:srgbClr val="000000"/>
              </a:solidFill>
            </a:endParaRPr>
          </a:p>
          <a:p>
            <a:pPr marL="457200" indent="-457200">
              <a:lnSpc>
                <a:spcPct val="150000"/>
              </a:lnSpc>
              <a:buFont typeface="Arial" panose="020B0604020202020204" pitchFamily="34" charset="0"/>
              <a:buChar char="•"/>
            </a:pPr>
            <a:r>
              <a:rPr lang="en-US" sz="2800" b="1" dirty="0" err="1" smtClean="0">
                <a:solidFill>
                  <a:srgbClr val="000000"/>
                </a:solidFill>
              </a:rPr>
              <a:t>omp_init_lock</a:t>
            </a:r>
            <a:r>
              <a:rPr lang="en-US" sz="2800" b="1" dirty="0">
                <a:solidFill>
                  <a:srgbClr val="000000"/>
                </a:solidFill>
              </a:rPr>
              <a:t>, </a:t>
            </a:r>
            <a:r>
              <a:rPr lang="zh-CN" altLang="en-US" sz="2800" b="1" dirty="0">
                <a:solidFill>
                  <a:srgbClr val="000000"/>
                </a:solidFill>
              </a:rPr>
              <a:t>初始化一个简单</a:t>
            </a:r>
            <a:r>
              <a:rPr lang="zh-CN" altLang="en-US" sz="2800" b="1" dirty="0" smtClean="0">
                <a:solidFill>
                  <a:srgbClr val="000000"/>
                </a:solidFill>
              </a:rPr>
              <a:t>锁</a:t>
            </a:r>
            <a:endParaRPr lang="en-US" altLang="zh-CN" sz="2800" b="1" dirty="0" smtClean="0">
              <a:solidFill>
                <a:srgbClr val="000000"/>
              </a:solidFill>
            </a:endParaRPr>
          </a:p>
          <a:p>
            <a:pPr marL="457200" indent="-457200">
              <a:lnSpc>
                <a:spcPct val="150000"/>
              </a:lnSpc>
              <a:buFont typeface="Arial" panose="020B0604020202020204" pitchFamily="34" charset="0"/>
              <a:buChar char="•"/>
            </a:pPr>
            <a:r>
              <a:rPr lang="en-US" sz="2800" b="1" dirty="0" err="1" smtClean="0">
                <a:solidFill>
                  <a:srgbClr val="2D0AC2"/>
                </a:solidFill>
              </a:rPr>
              <a:t>omp_set_lock</a:t>
            </a:r>
            <a:r>
              <a:rPr lang="en-US" sz="2800" b="1" dirty="0">
                <a:solidFill>
                  <a:srgbClr val="2D0AC2"/>
                </a:solidFill>
              </a:rPr>
              <a:t>， </a:t>
            </a:r>
            <a:r>
              <a:rPr lang="zh-CN" altLang="en-US" sz="2800" b="1" dirty="0">
                <a:solidFill>
                  <a:srgbClr val="2D0AC2"/>
                </a:solidFill>
              </a:rPr>
              <a:t>上锁</a:t>
            </a:r>
            <a:r>
              <a:rPr lang="zh-CN" altLang="en-US" sz="2800" b="1" dirty="0" smtClean="0">
                <a:solidFill>
                  <a:srgbClr val="2D0AC2"/>
                </a:solidFill>
              </a:rPr>
              <a:t>操作</a:t>
            </a:r>
            <a:endParaRPr lang="en-US" altLang="zh-CN" sz="2800" b="1" dirty="0" smtClean="0">
              <a:solidFill>
                <a:srgbClr val="2D0AC2"/>
              </a:solidFill>
            </a:endParaRPr>
          </a:p>
          <a:p>
            <a:pPr marL="457200" indent="-457200">
              <a:lnSpc>
                <a:spcPct val="150000"/>
              </a:lnSpc>
              <a:buFont typeface="Arial" panose="020B0604020202020204" pitchFamily="34" charset="0"/>
              <a:buChar char="•"/>
            </a:pPr>
            <a:r>
              <a:rPr lang="en-US" sz="2800" b="1" dirty="0" err="1" smtClean="0">
                <a:solidFill>
                  <a:srgbClr val="2D0AC2"/>
                </a:solidFill>
              </a:rPr>
              <a:t>omp_unset_lock</a:t>
            </a:r>
            <a:r>
              <a:rPr lang="en-US" sz="2800" b="1" dirty="0">
                <a:solidFill>
                  <a:srgbClr val="2D0AC2"/>
                </a:solidFill>
              </a:rPr>
              <a:t>， </a:t>
            </a:r>
            <a:r>
              <a:rPr lang="zh-CN" altLang="en-US" sz="2800" b="1" dirty="0">
                <a:solidFill>
                  <a:srgbClr val="2D0AC2"/>
                </a:solidFill>
              </a:rPr>
              <a:t>解锁操作，要和</a:t>
            </a:r>
            <a:r>
              <a:rPr lang="en-US" sz="2800" b="1" dirty="0" err="1">
                <a:solidFill>
                  <a:srgbClr val="2D0AC2"/>
                </a:solidFill>
              </a:rPr>
              <a:t>omp_set_lock</a:t>
            </a:r>
            <a:r>
              <a:rPr lang="zh-CN" altLang="en-US" sz="2800" b="1" dirty="0">
                <a:solidFill>
                  <a:srgbClr val="2D0AC2"/>
                </a:solidFill>
              </a:rPr>
              <a:t>函数配对使用</a:t>
            </a:r>
            <a:r>
              <a:rPr lang="zh-CN" altLang="en-US" sz="2800" b="1" dirty="0" smtClean="0">
                <a:solidFill>
                  <a:srgbClr val="2D0AC2"/>
                </a:solidFill>
              </a:rPr>
              <a:t>。</a:t>
            </a:r>
            <a:endParaRPr lang="zh-CN" altLang="en-US" sz="2800" b="1" dirty="0">
              <a:solidFill>
                <a:srgbClr val="2D0AC2"/>
              </a:solidFill>
            </a:endParaRPr>
          </a:p>
          <a:p>
            <a:pPr marL="457200" indent="-457200">
              <a:lnSpc>
                <a:spcPct val="150000"/>
              </a:lnSpc>
              <a:buFont typeface="Arial" panose="020B0604020202020204" pitchFamily="34" charset="0"/>
              <a:buChar char="•"/>
            </a:pPr>
            <a:r>
              <a:rPr lang="en-US" sz="2800" b="1" dirty="0" err="1" smtClean="0">
                <a:solidFill>
                  <a:srgbClr val="000000"/>
                </a:solidFill>
              </a:rPr>
              <a:t>omp_destroy_lock</a:t>
            </a:r>
            <a:r>
              <a:rPr lang="en-US" sz="2800" b="1" dirty="0">
                <a:solidFill>
                  <a:srgbClr val="000000"/>
                </a:solidFill>
              </a:rPr>
              <a:t>， </a:t>
            </a:r>
            <a:r>
              <a:rPr lang="en-US" sz="2800" b="1" dirty="0" err="1">
                <a:solidFill>
                  <a:srgbClr val="000000"/>
                </a:solidFill>
              </a:rPr>
              <a:t>omp_init_lock</a:t>
            </a:r>
            <a:r>
              <a:rPr lang="zh-CN" altLang="en-US" sz="2800" b="1" dirty="0">
                <a:solidFill>
                  <a:srgbClr val="000000"/>
                </a:solidFill>
              </a:rPr>
              <a:t>函数的配对操作函数，关闭一个锁</a:t>
            </a:r>
            <a:endParaRPr lang="en-US" sz="2800" b="1" dirty="0">
              <a:solidFill>
                <a:srgbClr val="000000"/>
              </a:solidFill>
            </a:endParaRPr>
          </a:p>
        </p:txBody>
      </p:sp>
    </p:spTree>
  </p:cSld>
  <p:clrMapOvr>
    <a:masterClrMapping/>
  </p:clrMapOvr>
  <p:transition spd="med" advTm="3025">
    <p:fade/>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12881" y="561095"/>
            <a:ext cx="7907934" cy="769441"/>
          </a:xfrm>
          <a:prstGeom prst="rect">
            <a:avLst/>
          </a:prstGeom>
        </p:spPr>
        <p:txBody>
          <a:bodyPr wrap="none">
            <a:spAutoFit/>
          </a:bodyPr>
          <a:lstStyle/>
          <a:p>
            <a:r>
              <a:rPr lang="zh-CN" altLang="en-US" sz="4400" b="1" dirty="0">
                <a:solidFill>
                  <a:srgbClr val="2D0AC2"/>
                </a:solidFill>
              </a:rPr>
              <a:t>几个容易混淆的</a:t>
            </a:r>
            <a:r>
              <a:rPr lang="en-US" altLang="zh-CN" sz="4400" b="1" dirty="0" smtClean="0">
                <a:solidFill>
                  <a:srgbClr val="2D0AC2"/>
                </a:solidFill>
              </a:rPr>
              <a:t>OpenMP</a:t>
            </a:r>
            <a:r>
              <a:rPr lang="zh-CN" altLang="en-US" sz="4400" b="1" dirty="0" smtClean="0">
                <a:solidFill>
                  <a:srgbClr val="2D0AC2"/>
                </a:solidFill>
              </a:rPr>
              <a:t>库函数</a:t>
            </a:r>
            <a:endParaRPr lang="en-US" sz="4400" b="1" dirty="0">
              <a:solidFill>
                <a:srgbClr val="2D0AC2"/>
              </a:solidFill>
            </a:endParaRPr>
          </a:p>
        </p:txBody>
      </p:sp>
      <p:sp>
        <p:nvSpPr>
          <p:cNvPr id="3" name="矩形 2"/>
          <p:cNvSpPr/>
          <p:nvPr/>
        </p:nvSpPr>
        <p:spPr>
          <a:xfrm>
            <a:off x="829455" y="1581703"/>
            <a:ext cx="11027765" cy="4247317"/>
          </a:xfrm>
          <a:prstGeom prst="rect">
            <a:avLst/>
          </a:prstGeom>
        </p:spPr>
        <p:txBody>
          <a:bodyPr wrap="square">
            <a:spAutoFit/>
          </a:bodyPr>
          <a:lstStyle/>
          <a:p>
            <a:pPr>
              <a:lnSpc>
                <a:spcPct val="150000"/>
              </a:lnSpc>
            </a:pPr>
            <a:r>
              <a:rPr lang="en-US" altLang="zh-CN" sz="2800" b="1" dirty="0">
                <a:solidFill>
                  <a:srgbClr val="C00000"/>
                </a:solidFill>
              </a:rPr>
              <a:t>1. </a:t>
            </a:r>
            <a:r>
              <a:rPr lang="en-US" altLang="zh-CN" sz="2800" b="1" dirty="0" err="1" smtClean="0">
                <a:solidFill>
                  <a:srgbClr val="C00000"/>
                </a:solidFill>
              </a:rPr>
              <a:t>omp_get_thread_num</a:t>
            </a:r>
            <a:endParaRPr lang="en-US" altLang="zh-CN" sz="2800" b="1" dirty="0"/>
          </a:p>
          <a:p>
            <a:pPr marL="457200" indent="-457200">
              <a:lnSpc>
                <a:spcPct val="150000"/>
              </a:lnSpc>
              <a:buFont typeface="Arial" panose="020B0604020202020204" pitchFamily="34" charset="0"/>
              <a:buChar char="•"/>
            </a:pPr>
            <a:r>
              <a:rPr lang="zh-CN" altLang="en-US" sz="2800" b="1" dirty="0"/>
              <a:t>获取线程的</a:t>
            </a:r>
            <a:r>
              <a:rPr lang="en-US" altLang="zh-CN" sz="2800" b="1" dirty="0" err="1"/>
              <a:t>num</a:t>
            </a:r>
            <a:r>
              <a:rPr lang="zh-CN" altLang="en-US" sz="2800" b="1" dirty="0"/>
              <a:t>，即</a:t>
            </a:r>
            <a:r>
              <a:rPr lang="en-US" altLang="zh-CN" sz="2800" b="1" dirty="0"/>
              <a:t>ID</a:t>
            </a:r>
            <a:r>
              <a:rPr lang="zh-CN" altLang="en-US" sz="2800" b="1" dirty="0"/>
              <a:t>。这里的</a:t>
            </a:r>
            <a:r>
              <a:rPr lang="en-US" altLang="zh-CN" sz="2800" b="1" dirty="0"/>
              <a:t>ID</a:t>
            </a:r>
            <a:r>
              <a:rPr lang="zh-CN" altLang="en-US" sz="2800" b="1" dirty="0"/>
              <a:t>是</a:t>
            </a:r>
            <a:r>
              <a:rPr lang="en-US" altLang="zh-CN" sz="2800" b="1" dirty="0"/>
              <a:t>OpenMP</a:t>
            </a:r>
            <a:r>
              <a:rPr lang="zh-CN" altLang="en-US" sz="2800" b="1" dirty="0"/>
              <a:t>的</a:t>
            </a:r>
            <a:r>
              <a:rPr lang="en-US" altLang="zh-CN" sz="2800" b="1" dirty="0"/>
              <a:t>team</a:t>
            </a:r>
            <a:r>
              <a:rPr lang="zh-CN" altLang="en-US" sz="2800" b="1" dirty="0"/>
              <a:t>内的</a:t>
            </a:r>
            <a:r>
              <a:rPr lang="en-US" altLang="zh-CN" sz="2800" b="1" dirty="0" smtClean="0"/>
              <a:t>ID</a:t>
            </a:r>
            <a:r>
              <a:rPr lang="zh-CN" altLang="en-US" sz="2800" b="1" dirty="0" smtClean="0"/>
              <a:t>。</a:t>
            </a:r>
            <a:endParaRPr lang="en-US" altLang="zh-CN" sz="2800" b="1" dirty="0" smtClean="0"/>
          </a:p>
          <a:p>
            <a:pPr marL="457200" indent="-457200">
              <a:lnSpc>
                <a:spcPct val="150000"/>
              </a:lnSpc>
              <a:buFont typeface="Arial" panose="020B0604020202020204" pitchFamily="34" charset="0"/>
              <a:buChar char="•"/>
            </a:pPr>
            <a:r>
              <a:rPr lang="zh-CN" altLang="en-US" sz="2800" b="1" dirty="0" smtClean="0"/>
              <a:t>在</a:t>
            </a:r>
            <a:r>
              <a:rPr lang="en-US" altLang="zh-CN" sz="2800" b="1" dirty="0"/>
              <a:t>OpenMP</a:t>
            </a:r>
            <a:r>
              <a:rPr lang="zh-CN" altLang="en-US" sz="2800" b="1" dirty="0"/>
              <a:t>中，一个</a:t>
            </a:r>
            <a:r>
              <a:rPr lang="en-US" altLang="zh-CN" sz="2800" b="1" dirty="0"/>
              <a:t>team</a:t>
            </a:r>
            <a:r>
              <a:rPr lang="zh-CN" altLang="en-US" sz="2800" b="1" dirty="0"/>
              <a:t>内的线程的</a:t>
            </a:r>
            <a:r>
              <a:rPr lang="en-US" altLang="zh-CN" sz="2800" b="1" dirty="0"/>
              <a:t>ID</a:t>
            </a:r>
            <a:r>
              <a:rPr lang="zh-CN" altLang="en-US" sz="2800" b="1" dirty="0" smtClean="0"/>
              <a:t>是按顺序排列</a:t>
            </a:r>
            <a:r>
              <a:rPr lang="zh-CN" altLang="en-US" sz="2800" b="1" dirty="0"/>
              <a:t>的，</a:t>
            </a:r>
            <a:r>
              <a:rPr lang="en-US" altLang="zh-CN" sz="2800" b="1" dirty="0"/>
              <a:t>0</a:t>
            </a:r>
            <a:r>
              <a:rPr lang="zh-CN" altLang="en-US" sz="2800" b="1" dirty="0"/>
              <a:t>、</a:t>
            </a:r>
            <a:r>
              <a:rPr lang="en-US" altLang="zh-CN" sz="2800" b="1" dirty="0"/>
              <a:t>1</a:t>
            </a:r>
            <a:r>
              <a:rPr lang="zh-CN" altLang="en-US" sz="2800" b="1" dirty="0"/>
              <a:t>、</a:t>
            </a:r>
            <a:r>
              <a:rPr lang="en-US" altLang="zh-CN" sz="2800" b="1" dirty="0"/>
              <a:t>2...</a:t>
            </a:r>
            <a:endParaRPr lang="en-US" altLang="zh-CN" sz="2800" b="1" dirty="0"/>
          </a:p>
          <a:p>
            <a:pPr>
              <a:lnSpc>
                <a:spcPct val="150000"/>
              </a:lnSpc>
            </a:pPr>
            <a:endParaRPr lang="en-US" altLang="zh-CN" sz="1200" b="1" dirty="0"/>
          </a:p>
          <a:p>
            <a:pPr>
              <a:lnSpc>
                <a:spcPct val="150000"/>
              </a:lnSpc>
            </a:pPr>
            <a:r>
              <a:rPr lang="zh-CN" altLang="en-US" sz="2800" b="1" dirty="0"/>
              <a:t>说明：此函数在并行区域外或者并行区域内都可以调用</a:t>
            </a:r>
            <a:r>
              <a:rPr lang="zh-CN" altLang="en-US" sz="2800" b="1" dirty="0" smtClean="0"/>
              <a:t>。</a:t>
            </a:r>
            <a:endParaRPr lang="en-US" altLang="zh-CN" sz="2800" b="1" dirty="0" smtClean="0"/>
          </a:p>
          <a:p>
            <a:pPr marL="457200" indent="-457200">
              <a:lnSpc>
                <a:spcPct val="150000"/>
              </a:lnSpc>
              <a:buFont typeface="Arial" panose="020B0604020202020204" pitchFamily="34" charset="0"/>
              <a:buChar char="•"/>
            </a:pPr>
            <a:r>
              <a:rPr lang="zh-CN" altLang="en-US" sz="2800" b="1" dirty="0" smtClean="0"/>
              <a:t>在</a:t>
            </a:r>
            <a:r>
              <a:rPr lang="zh-CN" altLang="en-US" sz="2800" b="1" dirty="0"/>
              <a:t>并行区域外，获取的是</a:t>
            </a:r>
            <a:r>
              <a:rPr lang="en-US" altLang="zh-CN" sz="2800" b="1" dirty="0"/>
              <a:t>master</a:t>
            </a:r>
            <a:r>
              <a:rPr lang="zh-CN" altLang="en-US" sz="2800" b="1" dirty="0"/>
              <a:t>线程的</a:t>
            </a:r>
            <a:r>
              <a:rPr lang="en-US" altLang="zh-CN" sz="2800" b="1" dirty="0"/>
              <a:t>ID</a:t>
            </a:r>
            <a:r>
              <a:rPr lang="zh-CN" altLang="en-US" sz="2800" b="1" dirty="0"/>
              <a:t>，即为</a:t>
            </a:r>
            <a:r>
              <a:rPr lang="en-US" altLang="zh-CN" sz="2800" b="1" dirty="0"/>
              <a:t>0</a:t>
            </a:r>
            <a:r>
              <a:rPr lang="zh-CN" altLang="en-US" sz="2800" b="1" dirty="0" smtClean="0"/>
              <a:t>。</a:t>
            </a:r>
            <a:endParaRPr lang="en-US" altLang="zh-CN" sz="2800" b="1" dirty="0" smtClean="0"/>
          </a:p>
          <a:p>
            <a:pPr marL="457200" indent="-457200">
              <a:lnSpc>
                <a:spcPct val="150000"/>
              </a:lnSpc>
              <a:buFont typeface="Arial" panose="020B0604020202020204" pitchFamily="34" charset="0"/>
              <a:buChar char="•"/>
            </a:pPr>
            <a:r>
              <a:rPr lang="zh-CN" altLang="en-US" sz="2800" b="1" dirty="0" smtClean="0"/>
              <a:t>在</a:t>
            </a:r>
            <a:r>
              <a:rPr lang="zh-CN" altLang="en-US" sz="2800" b="1" dirty="0"/>
              <a:t>并行区域内，每次执行到此函数，获取的是当前执行线程的</a:t>
            </a:r>
            <a:r>
              <a:rPr lang="en-US" altLang="zh-CN" sz="2800" b="1" dirty="0"/>
              <a:t>ID</a:t>
            </a:r>
            <a:r>
              <a:rPr lang="zh-CN" altLang="en-US" sz="2800" b="1" dirty="0"/>
              <a:t>。</a:t>
            </a:r>
            <a:endParaRPr lang="zh-CN" altLang="en-US" sz="2800" b="1" dirty="0"/>
          </a:p>
        </p:txBody>
      </p:sp>
    </p:spTree>
  </p:cSld>
  <p:clrMapOvr>
    <a:masterClrMapping/>
  </p:clrMapOvr>
  <p:transition spd="med" advTm="3025">
    <p:fade/>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12881" y="561095"/>
            <a:ext cx="7907934" cy="769441"/>
          </a:xfrm>
          <a:prstGeom prst="rect">
            <a:avLst/>
          </a:prstGeom>
        </p:spPr>
        <p:txBody>
          <a:bodyPr wrap="none">
            <a:spAutoFit/>
          </a:bodyPr>
          <a:lstStyle/>
          <a:p>
            <a:r>
              <a:rPr lang="zh-CN" altLang="en-US" sz="4400" b="1" dirty="0">
                <a:solidFill>
                  <a:srgbClr val="2D0AC2"/>
                </a:solidFill>
              </a:rPr>
              <a:t>几个容易混淆的</a:t>
            </a:r>
            <a:r>
              <a:rPr lang="en-US" altLang="zh-CN" sz="4400" b="1" dirty="0" smtClean="0">
                <a:solidFill>
                  <a:srgbClr val="2D0AC2"/>
                </a:solidFill>
              </a:rPr>
              <a:t>OpenMP</a:t>
            </a:r>
            <a:r>
              <a:rPr lang="zh-CN" altLang="en-US" sz="4400" b="1" dirty="0" smtClean="0">
                <a:solidFill>
                  <a:srgbClr val="2D0AC2"/>
                </a:solidFill>
              </a:rPr>
              <a:t>库函数</a:t>
            </a:r>
            <a:endParaRPr lang="en-US" sz="4400" b="1" dirty="0">
              <a:solidFill>
                <a:srgbClr val="2D0AC2"/>
              </a:solidFill>
            </a:endParaRPr>
          </a:p>
        </p:txBody>
      </p:sp>
      <p:sp>
        <p:nvSpPr>
          <p:cNvPr id="3" name="矩形 2"/>
          <p:cNvSpPr/>
          <p:nvPr/>
        </p:nvSpPr>
        <p:spPr>
          <a:xfrm>
            <a:off x="994347" y="1330536"/>
            <a:ext cx="10638020" cy="4201150"/>
          </a:xfrm>
          <a:prstGeom prst="rect">
            <a:avLst/>
          </a:prstGeom>
        </p:spPr>
        <p:txBody>
          <a:bodyPr wrap="square">
            <a:spAutoFit/>
          </a:bodyPr>
          <a:lstStyle/>
          <a:p>
            <a:pPr>
              <a:lnSpc>
                <a:spcPct val="150000"/>
              </a:lnSpc>
            </a:pPr>
            <a:r>
              <a:rPr lang="en-US" sz="2800" b="1" dirty="0">
                <a:solidFill>
                  <a:srgbClr val="C00000"/>
                </a:solidFill>
              </a:rPr>
              <a:t>2. </a:t>
            </a:r>
            <a:r>
              <a:rPr lang="en-US" sz="2800" b="1" dirty="0" err="1">
                <a:solidFill>
                  <a:srgbClr val="C00000"/>
                </a:solidFill>
              </a:rPr>
              <a:t>omp_get_num_threads</a:t>
            </a:r>
            <a:r>
              <a:rPr lang="en-US" sz="2800" b="1" dirty="0">
                <a:solidFill>
                  <a:srgbClr val="C00000"/>
                </a:solidFill>
              </a:rPr>
              <a:t>/</a:t>
            </a:r>
            <a:r>
              <a:rPr lang="en-US" sz="2800" b="1" dirty="0" err="1">
                <a:solidFill>
                  <a:srgbClr val="C00000"/>
                </a:solidFill>
              </a:rPr>
              <a:t>omp_set_num_threads</a:t>
            </a:r>
            <a:endParaRPr lang="en-US" sz="2800" b="1" dirty="0">
              <a:solidFill>
                <a:srgbClr val="C00000"/>
              </a:solidFill>
            </a:endParaRPr>
          </a:p>
          <a:p>
            <a:pPr>
              <a:lnSpc>
                <a:spcPct val="150000"/>
              </a:lnSpc>
            </a:pPr>
            <a:endParaRPr lang="en-US" sz="1000" dirty="0"/>
          </a:p>
          <a:p>
            <a:pPr marL="457200" indent="-457200">
              <a:lnSpc>
                <a:spcPct val="150000"/>
              </a:lnSpc>
              <a:buFont typeface="Arial" panose="020B0604020202020204" pitchFamily="34" charset="0"/>
              <a:buChar char="•"/>
            </a:pPr>
            <a:r>
              <a:rPr lang="zh-CN" altLang="en-US" sz="2800" b="1" dirty="0" smtClean="0">
                <a:solidFill>
                  <a:srgbClr val="C00000"/>
                </a:solidFill>
              </a:rPr>
              <a:t>获取</a:t>
            </a:r>
            <a:r>
              <a:rPr lang="en-US" altLang="zh-CN" sz="2800" b="1" dirty="0" smtClean="0">
                <a:solidFill>
                  <a:srgbClr val="C00000"/>
                </a:solidFill>
              </a:rPr>
              <a:t>/</a:t>
            </a:r>
            <a:r>
              <a:rPr lang="zh-CN" altLang="en-US" sz="2800" b="1" dirty="0" smtClean="0">
                <a:solidFill>
                  <a:srgbClr val="C00000"/>
                </a:solidFill>
              </a:rPr>
              <a:t>设置线程数量</a:t>
            </a:r>
            <a:endParaRPr lang="en-US" altLang="zh-CN" sz="2800" b="1" dirty="0" smtClean="0"/>
          </a:p>
          <a:p>
            <a:pPr marL="457200" indent="-457200">
              <a:lnSpc>
                <a:spcPct val="150000"/>
              </a:lnSpc>
              <a:buFont typeface="Arial" panose="020B0604020202020204" pitchFamily="34" charset="0"/>
              <a:buChar char="•"/>
            </a:pPr>
            <a:r>
              <a:rPr lang="zh-CN" altLang="en-US" sz="2800" b="1" dirty="0" smtClean="0"/>
              <a:t>此</a:t>
            </a:r>
            <a:r>
              <a:rPr lang="en-US" sz="2800" b="1" dirty="0"/>
              <a:t>set</a:t>
            </a:r>
            <a:r>
              <a:rPr lang="zh-CN" altLang="en-US" sz="2800" b="1" dirty="0"/>
              <a:t>函数</a:t>
            </a:r>
            <a:r>
              <a:rPr lang="zh-CN" altLang="en-US" sz="2800" b="1" dirty="0" smtClean="0"/>
              <a:t>是遇到</a:t>
            </a:r>
            <a:r>
              <a:rPr lang="en-US" sz="2800" b="1" dirty="0"/>
              <a:t>parallel</a:t>
            </a:r>
            <a:r>
              <a:rPr lang="zh-CN" altLang="en-US" sz="2800" b="1" dirty="0"/>
              <a:t>指令后创建</a:t>
            </a:r>
            <a:r>
              <a:rPr lang="en-US" sz="2800" b="1" dirty="0"/>
              <a:t>team</a:t>
            </a:r>
            <a:r>
              <a:rPr lang="zh-CN" altLang="en-US" sz="2800" b="1" dirty="0"/>
              <a:t>的线程的决定方式之一，用于</a:t>
            </a:r>
            <a:r>
              <a:rPr lang="zh-CN" altLang="en-US" sz="2800" b="1" dirty="0" smtClean="0"/>
              <a:t>覆盖</a:t>
            </a:r>
            <a:r>
              <a:rPr lang="en-US" sz="2800" b="1" dirty="0" smtClean="0"/>
              <a:t>OMP_NUM_THREADS</a:t>
            </a:r>
            <a:r>
              <a:rPr lang="zh-CN" altLang="en-US" sz="2800" b="1" dirty="0"/>
              <a:t>环境变量的设置</a:t>
            </a:r>
            <a:r>
              <a:rPr lang="zh-CN" altLang="en-US" sz="2800" b="1" dirty="0" smtClean="0"/>
              <a:t>。</a:t>
            </a:r>
            <a:endParaRPr lang="zh-CN" altLang="en-US" sz="2800" b="1" dirty="0"/>
          </a:p>
          <a:p>
            <a:pPr marL="457200" indent="-457200">
              <a:lnSpc>
                <a:spcPct val="150000"/>
              </a:lnSpc>
              <a:buFont typeface="Arial" panose="020B0604020202020204" pitchFamily="34" charset="0"/>
              <a:buChar char="•"/>
            </a:pPr>
            <a:r>
              <a:rPr lang="en-US" sz="2800" b="1" dirty="0" smtClean="0"/>
              <a:t>set</a:t>
            </a:r>
            <a:r>
              <a:rPr lang="zh-CN" altLang="en-US" sz="2800" b="1" dirty="0"/>
              <a:t>之后马上</a:t>
            </a:r>
            <a:r>
              <a:rPr lang="en-US" sz="2800" b="1" dirty="0"/>
              <a:t>get，</a:t>
            </a:r>
            <a:r>
              <a:rPr lang="zh-CN" altLang="en-US" sz="2800" b="1" dirty="0"/>
              <a:t>其值不一定等于</a:t>
            </a:r>
            <a:r>
              <a:rPr lang="en-US" sz="2800" b="1" dirty="0"/>
              <a:t>set</a:t>
            </a:r>
            <a:r>
              <a:rPr lang="zh-CN" altLang="en-US" sz="2800" b="1" dirty="0"/>
              <a:t>的结果，而且大部分情况都是不相等的！</a:t>
            </a:r>
            <a:endParaRPr lang="zh-CN" altLang="en-US" sz="2800" b="1" dirty="0"/>
          </a:p>
        </p:txBody>
      </p:sp>
    </p:spTree>
  </p:cSld>
  <p:clrMapOvr>
    <a:masterClrMapping/>
  </p:clrMapOvr>
  <p:transition spd="med" advTm="3025">
    <p:fade/>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12881" y="561095"/>
            <a:ext cx="7907934" cy="769441"/>
          </a:xfrm>
          <a:prstGeom prst="rect">
            <a:avLst/>
          </a:prstGeom>
        </p:spPr>
        <p:txBody>
          <a:bodyPr wrap="none">
            <a:spAutoFit/>
          </a:bodyPr>
          <a:lstStyle/>
          <a:p>
            <a:r>
              <a:rPr lang="zh-CN" altLang="en-US" sz="4400" b="1" dirty="0">
                <a:solidFill>
                  <a:srgbClr val="2D0AC2"/>
                </a:solidFill>
              </a:rPr>
              <a:t>几个容易混淆的</a:t>
            </a:r>
            <a:r>
              <a:rPr lang="en-US" altLang="zh-CN" sz="4400" b="1" dirty="0" smtClean="0">
                <a:solidFill>
                  <a:srgbClr val="2D0AC2"/>
                </a:solidFill>
              </a:rPr>
              <a:t>OpenMP</a:t>
            </a:r>
            <a:r>
              <a:rPr lang="zh-CN" altLang="en-US" sz="4400" b="1" dirty="0" smtClean="0">
                <a:solidFill>
                  <a:srgbClr val="2D0AC2"/>
                </a:solidFill>
              </a:rPr>
              <a:t>库函数</a:t>
            </a:r>
            <a:endParaRPr lang="en-US" sz="4400" b="1" dirty="0">
              <a:solidFill>
                <a:srgbClr val="2D0AC2"/>
              </a:solidFill>
            </a:endParaRPr>
          </a:p>
        </p:txBody>
      </p:sp>
      <p:sp>
        <p:nvSpPr>
          <p:cNvPr id="3" name="矩形 2"/>
          <p:cNvSpPr/>
          <p:nvPr/>
        </p:nvSpPr>
        <p:spPr>
          <a:xfrm>
            <a:off x="847838" y="1210614"/>
            <a:ext cx="10638020" cy="4847481"/>
          </a:xfrm>
          <a:prstGeom prst="rect">
            <a:avLst/>
          </a:prstGeom>
        </p:spPr>
        <p:txBody>
          <a:bodyPr wrap="square">
            <a:spAutoFit/>
          </a:bodyPr>
          <a:lstStyle/>
          <a:p>
            <a:pPr>
              <a:lnSpc>
                <a:spcPct val="150000"/>
              </a:lnSpc>
            </a:pPr>
            <a:r>
              <a:rPr lang="en-US" sz="2800" b="1" dirty="0">
                <a:solidFill>
                  <a:srgbClr val="C00000"/>
                </a:solidFill>
              </a:rPr>
              <a:t>2. </a:t>
            </a:r>
            <a:r>
              <a:rPr lang="en-US" sz="2800" b="1" dirty="0" err="1" smtClean="0">
                <a:solidFill>
                  <a:srgbClr val="C00000"/>
                </a:solidFill>
              </a:rPr>
              <a:t>omp_set_num_threads</a:t>
            </a:r>
            <a:r>
              <a:rPr lang="zh-CN" altLang="en-US" sz="2800" b="1" dirty="0" smtClean="0">
                <a:solidFill>
                  <a:srgbClr val="C00000"/>
                </a:solidFill>
              </a:rPr>
              <a:t>（）</a:t>
            </a:r>
            <a:endParaRPr lang="en-US" sz="2800" b="1" dirty="0">
              <a:solidFill>
                <a:srgbClr val="C00000"/>
              </a:solidFill>
            </a:endParaRPr>
          </a:p>
          <a:p>
            <a:pPr>
              <a:lnSpc>
                <a:spcPct val="150000"/>
              </a:lnSpc>
            </a:pPr>
            <a:endParaRPr lang="en-US" sz="1000" dirty="0">
              <a:solidFill>
                <a:srgbClr val="000000"/>
              </a:solidFill>
            </a:endParaRPr>
          </a:p>
          <a:p>
            <a:pPr marL="457200" indent="-457200">
              <a:lnSpc>
                <a:spcPct val="150000"/>
              </a:lnSpc>
              <a:buFont typeface="Arial" panose="020B0604020202020204" pitchFamily="34" charset="0"/>
              <a:buChar char="•"/>
            </a:pPr>
            <a:r>
              <a:rPr lang="zh-CN" altLang="en-US" sz="2800" b="1" dirty="0">
                <a:solidFill>
                  <a:srgbClr val="000000"/>
                </a:solidFill>
              </a:rPr>
              <a:t>用于覆盖环境变量</a:t>
            </a:r>
            <a:r>
              <a:rPr lang="en-US" altLang="zh-CN" sz="2800" b="1" dirty="0">
                <a:solidFill>
                  <a:srgbClr val="000000"/>
                </a:solidFill>
              </a:rPr>
              <a:t>OMP_NUM_THREDS</a:t>
            </a:r>
            <a:r>
              <a:rPr lang="zh-CN" altLang="en-US" sz="2800" b="1" dirty="0">
                <a:solidFill>
                  <a:srgbClr val="000000"/>
                </a:solidFill>
              </a:rPr>
              <a:t>的</a:t>
            </a:r>
            <a:r>
              <a:rPr lang="zh-CN" altLang="en-US" sz="2800" b="1" dirty="0" smtClean="0">
                <a:solidFill>
                  <a:srgbClr val="000000"/>
                </a:solidFill>
              </a:rPr>
              <a:t>设置</a:t>
            </a:r>
            <a:endParaRPr lang="en-US" altLang="zh-CN" sz="2800" b="1" dirty="0" smtClean="0">
              <a:solidFill>
                <a:srgbClr val="000000"/>
              </a:solidFill>
            </a:endParaRPr>
          </a:p>
          <a:p>
            <a:pPr marL="457200" indent="-457200">
              <a:lnSpc>
                <a:spcPct val="150000"/>
              </a:lnSpc>
              <a:buFont typeface="Arial" panose="020B0604020202020204" pitchFamily="34" charset="0"/>
              <a:buChar char="•"/>
            </a:pPr>
            <a:r>
              <a:rPr lang="zh-CN" altLang="en-US" sz="2800" b="1" dirty="0" smtClean="0">
                <a:solidFill>
                  <a:srgbClr val="000000"/>
                </a:solidFill>
              </a:rPr>
              <a:t>只能</a:t>
            </a:r>
            <a:r>
              <a:rPr lang="zh-CN" altLang="en-US" sz="2800" b="1" dirty="0">
                <a:solidFill>
                  <a:srgbClr val="000000"/>
                </a:solidFill>
              </a:rPr>
              <a:t>用于并行区域之外，如果用于并行区域之内</a:t>
            </a:r>
            <a:r>
              <a:rPr lang="zh-CN" altLang="en-US" sz="2800" b="1" dirty="0" smtClean="0">
                <a:solidFill>
                  <a:srgbClr val="000000"/>
                </a:solidFill>
              </a:rPr>
              <a:t>，</a:t>
            </a:r>
            <a:endParaRPr lang="en-US" altLang="zh-CN" sz="2800" b="1" dirty="0" smtClean="0">
              <a:solidFill>
                <a:srgbClr val="000000"/>
              </a:solidFill>
            </a:endParaRPr>
          </a:p>
          <a:p>
            <a:pPr>
              <a:lnSpc>
                <a:spcPct val="150000"/>
              </a:lnSpc>
            </a:pPr>
            <a:r>
              <a:rPr lang="en-US" altLang="zh-CN" sz="2800" b="1" dirty="0">
                <a:solidFill>
                  <a:srgbClr val="000000"/>
                </a:solidFill>
              </a:rPr>
              <a:t> </a:t>
            </a:r>
            <a:r>
              <a:rPr lang="en-US" altLang="zh-CN" sz="2800" b="1" dirty="0" smtClean="0">
                <a:solidFill>
                  <a:srgbClr val="000000"/>
                </a:solidFill>
              </a:rPr>
              <a:t>  </a:t>
            </a:r>
            <a:r>
              <a:rPr lang="zh-CN" altLang="en-US" sz="2800" b="1" dirty="0" smtClean="0">
                <a:solidFill>
                  <a:srgbClr val="000000"/>
                </a:solidFill>
              </a:rPr>
              <a:t>在</a:t>
            </a:r>
            <a:r>
              <a:rPr lang="en-US" altLang="zh-CN" sz="2800" b="1" dirty="0">
                <a:solidFill>
                  <a:srgbClr val="000000"/>
                </a:solidFill>
              </a:rPr>
              <a:t>Debug</a:t>
            </a:r>
            <a:r>
              <a:rPr lang="zh-CN" altLang="en-US" sz="2800" b="1" dirty="0">
                <a:solidFill>
                  <a:srgbClr val="000000"/>
                </a:solidFill>
              </a:rPr>
              <a:t>下运行时会输出“</a:t>
            </a:r>
            <a:r>
              <a:rPr lang="en-US" altLang="zh-CN" sz="2800" b="1" dirty="0">
                <a:solidFill>
                  <a:srgbClr val="000000"/>
                </a:solidFill>
              </a:rPr>
              <a:t>User Error 1001: </a:t>
            </a:r>
            <a:r>
              <a:rPr lang="en-US" altLang="zh-CN" sz="2800" b="1" dirty="0" err="1">
                <a:solidFill>
                  <a:srgbClr val="000000"/>
                </a:solidFill>
              </a:rPr>
              <a:t>omp_set_num_threads</a:t>
            </a:r>
            <a:r>
              <a:rPr lang="en-US" altLang="zh-CN" sz="2800" b="1" dirty="0">
                <a:solidFill>
                  <a:srgbClr val="000000"/>
                </a:solidFill>
              </a:rPr>
              <a:t> should only be called in serial regions”</a:t>
            </a:r>
            <a:r>
              <a:rPr lang="zh-CN" altLang="en-US" sz="2800" b="1" dirty="0">
                <a:solidFill>
                  <a:srgbClr val="000000"/>
                </a:solidFill>
              </a:rPr>
              <a:t>到控制台，如果是</a:t>
            </a:r>
            <a:r>
              <a:rPr lang="en-US" altLang="zh-CN" sz="2800" b="1" dirty="0">
                <a:solidFill>
                  <a:srgbClr val="000000"/>
                </a:solidFill>
              </a:rPr>
              <a:t>Release</a:t>
            </a:r>
            <a:r>
              <a:rPr lang="zh-CN" altLang="en-US" sz="2800" b="1" dirty="0">
                <a:solidFill>
                  <a:srgbClr val="000000"/>
                </a:solidFill>
              </a:rPr>
              <a:t>模式不会输出，理论上应该是被忽略了。</a:t>
            </a:r>
            <a:r>
              <a:rPr lang="zh-CN" altLang="en-US" sz="2800" b="1" dirty="0">
                <a:solidFill>
                  <a:srgbClr val="6A247A"/>
                </a:solidFill>
              </a:rPr>
              <a:t>总之</a:t>
            </a:r>
            <a:r>
              <a:rPr lang="zh-CN" altLang="en-US" sz="2800" b="1" dirty="0" smtClean="0">
                <a:solidFill>
                  <a:srgbClr val="6A247A"/>
                </a:solidFill>
              </a:rPr>
              <a:t>，应在</a:t>
            </a:r>
            <a:r>
              <a:rPr lang="zh-CN" altLang="en-US" sz="2800" b="1" dirty="0">
                <a:solidFill>
                  <a:srgbClr val="6A247A"/>
                </a:solidFill>
              </a:rPr>
              <a:t>串行代码区调用</a:t>
            </a:r>
            <a:r>
              <a:rPr lang="en-US" altLang="zh-CN" sz="2800" b="1" dirty="0" err="1">
                <a:solidFill>
                  <a:srgbClr val="6A247A"/>
                </a:solidFill>
              </a:rPr>
              <a:t>omp_set_num_threads</a:t>
            </a:r>
            <a:r>
              <a:rPr lang="zh-CN" altLang="en-US" sz="2800" b="1" dirty="0">
                <a:solidFill>
                  <a:srgbClr val="6A247A"/>
                </a:solidFill>
              </a:rPr>
              <a:t>来设置线程数量。</a:t>
            </a:r>
            <a:endParaRPr lang="zh-CN" altLang="en-US" sz="2800" b="1" dirty="0">
              <a:solidFill>
                <a:srgbClr val="6A247A"/>
              </a:solidFill>
            </a:endParaRPr>
          </a:p>
        </p:txBody>
      </p:sp>
    </p:spTree>
  </p:cSld>
  <p:clrMapOvr>
    <a:masterClrMapping/>
  </p:clrMapOvr>
  <p:transition spd="med" advTm="3025">
    <p:fade/>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12881" y="561095"/>
            <a:ext cx="7907934" cy="769441"/>
          </a:xfrm>
          <a:prstGeom prst="rect">
            <a:avLst/>
          </a:prstGeom>
        </p:spPr>
        <p:txBody>
          <a:bodyPr wrap="none">
            <a:spAutoFit/>
          </a:bodyPr>
          <a:lstStyle/>
          <a:p>
            <a:r>
              <a:rPr lang="zh-CN" altLang="en-US" sz="4400" b="1" dirty="0">
                <a:solidFill>
                  <a:srgbClr val="2D0AC2"/>
                </a:solidFill>
              </a:rPr>
              <a:t>几个容易混淆的</a:t>
            </a:r>
            <a:r>
              <a:rPr lang="en-US" altLang="zh-CN" sz="4400" b="1" dirty="0" smtClean="0">
                <a:solidFill>
                  <a:srgbClr val="2D0AC2"/>
                </a:solidFill>
              </a:rPr>
              <a:t>OpenMP</a:t>
            </a:r>
            <a:r>
              <a:rPr lang="zh-CN" altLang="en-US" sz="4400" b="1" dirty="0" smtClean="0">
                <a:solidFill>
                  <a:srgbClr val="2D0AC2"/>
                </a:solidFill>
              </a:rPr>
              <a:t>库函数</a:t>
            </a:r>
            <a:endParaRPr lang="en-US" sz="4400" b="1" dirty="0">
              <a:solidFill>
                <a:srgbClr val="2D0AC2"/>
              </a:solidFill>
            </a:endParaRPr>
          </a:p>
        </p:txBody>
      </p:sp>
      <p:sp>
        <p:nvSpPr>
          <p:cNvPr id="3" name="矩形 2"/>
          <p:cNvSpPr/>
          <p:nvPr/>
        </p:nvSpPr>
        <p:spPr>
          <a:xfrm>
            <a:off x="554636" y="1439056"/>
            <a:ext cx="10822898" cy="4555093"/>
          </a:xfrm>
          <a:prstGeom prst="rect">
            <a:avLst/>
          </a:prstGeom>
        </p:spPr>
        <p:txBody>
          <a:bodyPr wrap="square">
            <a:spAutoFit/>
          </a:bodyPr>
          <a:lstStyle/>
          <a:p>
            <a:r>
              <a:rPr lang="en-US" altLang="zh-CN" sz="2800" b="1" dirty="0" err="1">
                <a:solidFill>
                  <a:srgbClr val="C00000"/>
                </a:solidFill>
              </a:rPr>
              <a:t>omp_get_num_threads</a:t>
            </a:r>
            <a:r>
              <a:rPr lang="en-US" altLang="zh-CN" sz="2800" b="1" dirty="0" smtClean="0">
                <a:solidFill>
                  <a:srgbClr val="C00000"/>
                </a:solidFill>
              </a:rPr>
              <a:t>( )</a:t>
            </a:r>
            <a:r>
              <a:rPr lang="zh-CN" altLang="en-US" sz="2800" b="1" dirty="0" smtClean="0">
                <a:solidFill>
                  <a:srgbClr val="C00000"/>
                </a:solidFill>
              </a:rPr>
              <a:t>：</a:t>
            </a:r>
            <a:endParaRPr lang="zh-CN" altLang="en-US" sz="2800" b="1" dirty="0"/>
          </a:p>
          <a:p>
            <a:pPr marL="457200" indent="-457200">
              <a:buFont typeface="Arial" panose="020B0604020202020204" pitchFamily="34" charset="0"/>
              <a:buChar char="•"/>
            </a:pPr>
            <a:r>
              <a:rPr lang="zh-CN" altLang="en-US" sz="2800" b="1" dirty="0"/>
              <a:t>用于获取当前线程组（</a:t>
            </a:r>
            <a:r>
              <a:rPr lang="en-US" altLang="zh-CN" sz="2800" b="1" dirty="0"/>
              <a:t>team</a:t>
            </a:r>
            <a:r>
              <a:rPr lang="zh-CN" altLang="en-US" sz="2800" b="1" dirty="0"/>
              <a:t>）的线程</a:t>
            </a:r>
            <a:r>
              <a:rPr lang="zh-CN" altLang="en-US" sz="2800" b="1" dirty="0" smtClean="0"/>
              <a:t>数量</a:t>
            </a:r>
            <a:endParaRPr lang="en-US" altLang="zh-CN" sz="2800" b="1" dirty="0"/>
          </a:p>
          <a:p>
            <a:pPr marL="457200" indent="-457200">
              <a:buFont typeface="Arial" panose="020B0604020202020204" pitchFamily="34" charset="0"/>
              <a:buChar char="•"/>
            </a:pPr>
            <a:r>
              <a:rPr lang="zh-CN" altLang="en-US" sz="2800" b="1" dirty="0" smtClean="0"/>
              <a:t>一般</a:t>
            </a:r>
            <a:r>
              <a:rPr lang="zh-CN" altLang="en-US" sz="2800" b="1" dirty="0"/>
              <a:t>会在并行区域调用，其返回的</a:t>
            </a:r>
            <a:r>
              <a:rPr lang="zh-CN" altLang="en-US" sz="2800" b="1" dirty="0" smtClean="0"/>
              <a:t>是</a:t>
            </a:r>
            <a:r>
              <a:rPr lang="en-US" altLang="zh-CN" sz="2800" b="1" dirty="0" smtClean="0"/>
              <a:t>parallel</a:t>
            </a:r>
            <a:r>
              <a:rPr lang="zh-CN" altLang="en-US" sz="2800" b="1" dirty="0"/>
              <a:t>区域</a:t>
            </a:r>
            <a:r>
              <a:rPr lang="zh-CN" altLang="en-US" sz="2800" b="1" dirty="0" smtClean="0"/>
              <a:t>内实际运行</a:t>
            </a:r>
            <a:r>
              <a:rPr lang="zh-CN" altLang="en-US" sz="2800" b="1" dirty="0"/>
              <a:t>的线程数量，并不是</a:t>
            </a:r>
            <a:r>
              <a:rPr lang="en-US" altLang="zh-CN" sz="2800" b="1" dirty="0"/>
              <a:t>set</a:t>
            </a:r>
            <a:r>
              <a:rPr lang="zh-CN" altLang="en-US" sz="2800" b="1" dirty="0"/>
              <a:t>的</a:t>
            </a:r>
            <a:r>
              <a:rPr lang="zh-CN" altLang="en-US" sz="2800" b="1" dirty="0" smtClean="0"/>
              <a:t>值。</a:t>
            </a:r>
            <a:endParaRPr lang="en-US" altLang="zh-CN" sz="2800" b="1" dirty="0" smtClean="0"/>
          </a:p>
          <a:p>
            <a:pPr marL="457200" indent="-457200">
              <a:buFont typeface="Arial" panose="020B0604020202020204" pitchFamily="34" charset="0"/>
              <a:buChar char="•"/>
            </a:pPr>
            <a:r>
              <a:rPr lang="zh-CN" altLang="en-US" sz="2800" b="1" dirty="0" smtClean="0"/>
              <a:t>在</a:t>
            </a:r>
            <a:r>
              <a:rPr lang="zh-CN" altLang="en-US" sz="2800" b="1" dirty="0"/>
              <a:t>串行</a:t>
            </a:r>
            <a:r>
              <a:rPr lang="zh-CN" altLang="en-US" sz="2800" b="1" dirty="0" smtClean="0"/>
              <a:t>区域调用</a:t>
            </a:r>
            <a:r>
              <a:rPr lang="zh-CN" altLang="en-US" sz="2800" b="1" dirty="0"/>
              <a:t>它会返回</a:t>
            </a:r>
            <a:r>
              <a:rPr lang="en-US" altLang="zh-CN" sz="2800" b="1" dirty="0"/>
              <a:t>1</a:t>
            </a:r>
            <a:r>
              <a:rPr lang="zh-CN" altLang="en-US" sz="2800" b="1" dirty="0"/>
              <a:t>（所以一般也不会在串行区去</a:t>
            </a:r>
            <a:r>
              <a:rPr lang="zh-CN" altLang="en-US" sz="2800" b="1" dirty="0" smtClean="0"/>
              <a:t>调用它）</a:t>
            </a:r>
            <a:r>
              <a:rPr lang="zh-CN" altLang="en-US" sz="2800" b="1" dirty="0"/>
              <a:t>。</a:t>
            </a:r>
            <a:endParaRPr lang="zh-CN" altLang="en-US" sz="2800" b="1" dirty="0"/>
          </a:p>
          <a:p>
            <a:endParaRPr lang="zh-CN" altLang="en-US" sz="2400" b="1" dirty="0"/>
          </a:p>
          <a:p>
            <a:pPr>
              <a:lnSpc>
                <a:spcPct val="150000"/>
              </a:lnSpc>
            </a:pPr>
            <a:r>
              <a:rPr lang="zh-CN" altLang="en-US" sz="2800" b="1" dirty="0">
                <a:solidFill>
                  <a:srgbClr val="6A247A"/>
                </a:solidFill>
              </a:rPr>
              <a:t>总结</a:t>
            </a:r>
            <a:r>
              <a:rPr lang="zh-CN" altLang="en-US" sz="2800" b="1" dirty="0" smtClean="0">
                <a:solidFill>
                  <a:srgbClr val="6A247A"/>
                </a:solidFill>
              </a:rPr>
              <a:t>：         </a:t>
            </a:r>
            <a:r>
              <a:rPr lang="en-US" altLang="zh-CN" sz="2800" b="1" dirty="0" err="1" smtClean="0">
                <a:solidFill>
                  <a:srgbClr val="6A247A"/>
                </a:solidFill>
              </a:rPr>
              <a:t>omp_set_num_threads</a:t>
            </a:r>
            <a:r>
              <a:rPr lang="zh-CN" altLang="en-US" sz="2800" b="1" dirty="0">
                <a:solidFill>
                  <a:srgbClr val="6A247A"/>
                </a:solidFill>
              </a:rPr>
              <a:t>在串行区域调用才会有效，</a:t>
            </a:r>
            <a:r>
              <a:rPr lang="en-US" altLang="zh-CN" sz="2800" b="1" dirty="0" err="1">
                <a:solidFill>
                  <a:srgbClr val="6A247A"/>
                </a:solidFill>
              </a:rPr>
              <a:t>omp_get_num_threads</a:t>
            </a:r>
            <a:r>
              <a:rPr lang="zh-CN" altLang="en-US" sz="2800" b="1" dirty="0">
                <a:solidFill>
                  <a:srgbClr val="6A247A"/>
                </a:solidFill>
              </a:rPr>
              <a:t>获取当前线程组的线程数量，一般在并行区域调用，在串行区域调用返回为</a:t>
            </a:r>
            <a:r>
              <a:rPr lang="en-US" altLang="zh-CN" sz="2800" b="1" dirty="0">
                <a:solidFill>
                  <a:srgbClr val="6A247A"/>
                </a:solidFill>
              </a:rPr>
              <a:t>1</a:t>
            </a:r>
            <a:r>
              <a:rPr lang="zh-CN" altLang="en-US" sz="2800" b="1" dirty="0">
                <a:solidFill>
                  <a:srgbClr val="6A247A"/>
                </a:solidFill>
              </a:rPr>
              <a:t>。两个函数没有本质上的数量关系！</a:t>
            </a:r>
            <a:endParaRPr lang="zh-CN" altLang="en-US" sz="2800" b="1" dirty="0">
              <a:solidFill>
                <a:srgbClr val="6A247A"/>
              </a:solidFill>
            </a:endParaRPr>
          </a:p>
        </p:txBody>
      </p:sp>
    </p:spTree>
  </p:cSld>
  <p:clrMapOvr>
    <a:masterClrMapping/>
  </p:clrMapOvr>
  <p:transition spd="med" advTm="3025">
    <p:fade/>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12881" y="561095"/>
            <a:ext cx="7907934" cy="769441"/>
          </a:xfrm>
          <a:prstGeom prst="rect">
            <a:avLst/>
          </a:prstGeom>
        </p:spPr>
        <p:txBody>
          <a:bodyPr wrap="none">
            <a:spAutoFit/>
          </a:bodyPr>
          <a:lstStyle/>
          <a:p>
            <a:r>
              <a:rPr lang="zh-CN" altLang="en-US" sz="4400" b="1" dirty="0">
                <a:solidFill>
                  <a:srgbClr val="2D0AC2"/>
                </a:solidFill>
              </a:rPr>
              <a:t>几个容易混淆的</a:t>
            </a:r>
            <a:r>
              <a:rPr lang="en-US" altLang="zh-CN" sz="4400" b="1" dirty="0" smtClean="0">
                <a:solidFill>
                  <a:srgbClr val="2D0AC2"/>
                </a:solidFill>
              </a:rPr>
              <a:t>OpenMP</a:t>
            </a:r>
            <a:r>
              <a:rPr lang="zh-CN" altLang="en-US" sz="4400" b="1" dirty="0" smtClean="0">
                <a:solidFill>
                  <a:srgbClr val="2D0AC2"/>
                </a:solidFill>
              </a:rPr>
              <a:t>库函数</a:t>
            </a:r>
            <a:endParaRPr lang="en-US" sz="4400" b="1" dirty="0">
              <a:solidFill>
                <a:srgbClr val="2D0AC2"/>
              </a:solidFill>
            </a:endParaRPr>
          </a:p>
        </p:txBody>
      </p:sp>
      <p:sp>
        <p:nvSpPr>
          <p:cNvPr id="3" name="矩形 2"/>
          <p:cNvSpPr/>
          <p:nvPr/>
        </p:nvSpPr>
        <p:spPr>
          <a:xfrm>
            <a:off x="604603" y="1330536"/>
            <a:ext cx="10832892" cy="4401205"/>
          </a:xfrm>
          <a:prstGeom prst="rect">
            <a:avLst/>
          </a:prstGeom>
        </p:spPr>
        <p:txBody>
          <a:bodyPr wrap="square">
            <a:spAutoFit/>
          </a:bodyPr>
          <a:lstStyle/>
          <a:p>
            <a:r>
              <a:rPr lang="en-US" sz="2800" b="1" dirty="0">
                <a:solidFill>
                  <a:srgbClr val="C00000"/>
                </a:solidFill>
              </a:rPr>
              <a:t>3. </a:t>
            </a:r>
            <a:r>
              <a:rPr lang="en-US" sz="2800" b="1" dirty="0" err="1" smtClean="0">
                <a:solidFill>
                  <a:srgbClr val="C00000"/>
                </a:solidFill>
              </a:rPr>
              <a:t>omp_get_max_threads</a:t>
            </a:r>
            <a:r>
              <a:rPr lang="zh-CN" altLang="en-US" sz="2800" b="1" dirty="0" smtClean="0">
                <a:solidFill>
                  <a:srgbClr val="C00000"/>
                </a:solidFill>
              </a:rPr>
              <a:t>（）</a:t>
            </a:r>
            <a:r>
              <a:rPr lang="en-US" sz="2800" b="1" dirty="0" smtClean="0">
                <a:solidFill>
                  <a:srgbClr val="C00000"/>
                </a:solidFill>
              </a:rPr>
              <a:t>：</a:t>
            </a:r>
            <a:endParaRPr lang="en-US" sz="2800" b="1" dirty="0">
              <a:solidFill>
                <a:srgbClr val="C00000"/>
              </a:solidFill>
            </a:endParaRPr>
          </a:p>
          <a:p>
            <a:pPr marL="457200" indent="-457200">
              <a:buFont typeface="Arial" panose="020B0604020202020204" pitchFamily="34" charset="0"/>
              <a:buChar char="•"/>
            </a:pPr>
            <a:r>
              <a:rPr lang="zh-CN" altLang="en-US" sz="2800" b="1" dirty="0" smtClean="0"/>
              <a:t>获取</a:t>
            </a:r>
            <a:r>
              <a:rPr lang="zh-CN" altLang="en-US" sz="2800" b="1" dirty="0"/>
              <a:t>最大</a:t>
            </a:r>
            <a:r>
              <a:rPr lang="zh-CN" altLang="en-US" sz="2800" b="1" dirty="0" smtClean="0"/>
              <a:t>的线程数量</a:t>
            </a:r>
            <a:endParaRPr lang="en-US" altLang="zh-CN" sz="2800" b="1" dirty="0" smtClean="0"/>
          </a:p>
          <a:p>
            <a:pPr marL="457200" indent="-457200">
              <a:buFont typeface="Arial" panose="020B0604020202020204" pitchFamily="34" charset="0"/>
              <a:buChar char="•"/>
            </a:pPr>
            <a:r>
              <a:rPr lang="zh-CN" altLang="en-US" sz="2800" b="1" dirty="0" smtClean="0"/>
              <a:t>它能获取</a:t>
            </a:r>
            <a:r>
              <a:rPr lang="en-US" altLang="zh-CN" sz="2800" b="1" dirty="0" smtClean="0"/>
              <a:t>OpenMP</a:t>
            </a:r>
            <a:r>
              <a:rPr lang="zh-CN" altLang="en-US" sz="2800" b="1" dirty="0"/>
              <a:t>形成一个新的</a:t>
            </a:r>
            <a:r>
              <a:rPr lang="en-US" altLang="zh-CN" sz="2800" b="1" dirty="0"/>
              <a:t>team</a:t>
            </a:r>
            <a:r>
              <a:rPr lang="zh-CN" altLang="en-US" sz="2800" b="1" dirty="0"/>
              <a:t>能创建的最大线程数量</a:t>
            </a:r>
            <a:r>
              <a:rPr lang="zh-CN" altLang="en-US" sz="2800" b="1" dirty="0" smtClean="0"/>
              <a:t>。这个值往往是</a:t>
            </a:r>
            <a:r>
              <a:rPr lang="zh-CN" altLang="en-US" sz="2800" b="1" dirty="0"/>
              <a:t>由以下三者确定：</a:t>
            </a:r>
            <a:r>
              <a:rPr lang="en-US" altLang="zh-CN" sz="2800" b="1" dirty="0" err="1"/>
              <a:t>omp_set_num_threads</a:t>
            </a:r>
            <a:r>
              <a:rPr lang="zh-CN" altLang="en-US" sz="2800" b="1" dirty="0"/>
              <a:t>、</a:t>
            </a:r>
            <a:r>
              <a:rPr lang="en-US" altLang="zh-CN" sz="2800" b="1" dirty="0"/>
              <a:t>OMP_NUM</a:t>
            </a:r>
            <a:r>
              <a:rPr lang="en-US" altLang="zh-CN" sz="2800" b="1" dirty="0" smtClean="0"/>
              <a:t>_ THREADS</a:t>
            </a:r>
            <a:r>
              <a:rPr lang="zh-CN" altLang="en-US" sz="2800" b="1" dirty="0"/>
              <a:t>、编译器默认实现。</a:t>
            </a:r>
            <a:endParaRPr lang="zh-CN" altLang="en-US" sz="2800" b="1" dirty="0"/>
          </a:p>
          <a:p>
            <a:endParaRPr lang="zh-CN" altLang="en-US" sz="2800" b="1" dirty="0"/>
          </a:p>
          <a:p>
            <a:r>
              <a:rPr lang="zh-CN" altLang="en-US" sz="2800" b="1" dirty="0"/>
              <a:t>注意</a:t>
            </a:r>
            <a:r>
              <a:rPr lang="zh-CN" altLang="en-US" sz="2800" b="1" dirty="0" smtClean="0"/>
              <a:t>：</a:t>
            </a:r>
            <a:endParaRPr lang="en-US" altLang="zh-CN" sz="2800" b="1" dirty="0" smtClean="0"/>
          </a:p>
          <a:p>
            <a:pPr marL="457200" indent="-457200">
              <a:buFont typeface="Arial" panose="020B0604020202020204" pitchFamily="34" charset="0"/>
              <a:buChar char="•"/>
            </a:pPr>
            <a:r>
              <a:rPr lang="en-US" altLang="zh-CN" sz="2800" b="1" dirty="0" err="1" smtClean="0"/>
              <a:t>omp_get_max_threads</a:t>
            </a:r>
            <a:r>
              <a:rPr lang="zh-CN" altLang="en-US" sz="2800" b="1" dirty="0"/>
              <a:t>可以在串行或并行区域内调用，而且其结果是一样</a:t>
            </a:r>
            <a:r>
              <a:rPr lang="zh-CN" altLang="en-US" sz="2800" b="1" dirty="0" smtClean="0"/>
              <a:t>的</a:t>
            </a:r>
            <a:endParaRPr lang="en-US" altLang="zh-CN" sz="2800" b="1" dirty="0" smtClean="0"/>
          </a:p>
          <a:p>
            <a:pPr marL="457200" indent="-457200">
              <a:buFont typeface="Arial" panose="020B0604020202020204" pitchFamily="34" charset="0"/>
              <a:buChar char="•"/>
            </a:pPr>
            <a:r>
              <a:rPr lang="en-US" altLang="zh-CN" sz="2800" b="1" dirty="0" err="1" smtClean="0"/>
              <a:t>omp_get_max_threads</a:t>
            </a:r>
            <a:r>
              <a:rPr lang="zh-CN" altLang="en-US" sz="2800" b="1" dirty="0"/>
              <a:t>的返回值可能会小于</a:t>
            </a:r>
            <a:r>
              <a:rPr lang="en-US" altLang="zh-CN" sz="2800" b="1" dirty="0" err="1"/>
              <a:t>omp_set_num_threads</a:t>
            </a:r>
            <a:r>
              <a:rPr lang="zh-CN" altLang="en-US" sz="2800" b="1" dirty="0" smtClean="0"/>
              <a:t>。</a:t>
            </a:r>
            <a:endParaRPr lang="zh-CN" altLang="en-US" sz="2800" b="1" dirty="0"/>
          </a:p>
        </p:txBody>
      </p:sp>
    </p:spTree>
  </p:cSld>
  <p:clrMapOvr>
    <a:masterClrMapping/>
  </p:clrMapOvr>
  <p:transition spd="med" advTm="3025">
    <p:fade/>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69429" y="567874"/>
            <a:ext cx="10583055" cy="5940088"/>
          </a:xfrm>
          <a:prstGeom prst="rect">
            <a:avLst/>
          </a:prstGeom>
        </p:spPr>
        <p:txBody>
          <a:bodyPr wrap="square">
            <a:spAutoFit/>
          </a:bodyPr>
          <a:lstStyle/>
          <a:p>
            <a:pPr algn="ctr"/>
            <a:r>
              <a:rPr lang="zh-CN" altLang="en-US" sz="3600" b="1" dirty="0">
                <a:solidFill>
                  <a:srgbClr val="C00000"/>
                </a:solidFill>
                <a:latin typeface="隶书" panose="02010509060101010101" pitchFamily="49" charset="-122"/>
                <a:ea typeface="隶书" panose="02010509060101010101" pitchFamily="49" charset="-122"/>
              </a:rPr>
              <a:t>并行</a:t>
            </a:r>
            <a:r>
              <a:rPr lang="zh-CN" altLang="en-US" sz="3600" b="1" dirty="0" smtClean="0">
                <a:solidFill>
                  <a:srgbClr val="C00000"/>
                </a:solidFill>
                <a:latin typeface="隶书" panose="02010509060101010101" pitchFamily="49" charset="-122"/>
                <a:ea typeface="隶书" panose="02010509060101010101" pitchFamily="49" charset="-122"/>
              </a:rPr>
              <a:t>区域线程数量</a:t>
            </a:r>
            <a:r>
              <a:rPr lang="zh-CN" altLang="en-US" sz="3600" b="1" dirty="0">
                <a:solidFill>
                  <a:srgbClr val="C00000"/>
                </a:solidFill>
                <a:latin typeface="隶书" panose="02010509060101010101" pitchFamily="49" charset="-122"/>
                <a:ea typeface="隶书" panose="02010509060101010101" pitchFamily="49" charset="-122"/>
              </a:rPr>
              <a:t>的</a:t>
            </a:r>
            <a:r>
              <a:rPr lang="zh-CN" altLang="en-US" sz="3600" b="1" dirty="0" smtClean="0">
                <a:solidFill>
                  <a:srgbClr val="C00000"/>
                </a:solidFill>
                <a:latin typeface="隶书" panose="02010509060101010101" pitchFamily="49" charset="-122"/>
                <a:ea typeface="隶书" panose="02010509060101010101" pitchFamily="49" charset="-122"/>
              </a:rPr>
              <a:t>确定</a:t>
            </a:r>
            <a:endParaRPr lang="zh-CN" altLang="en-US" sz="2800" b="1" dirty="0"/>
          </a:p>
          <a:p>
            <a:r>
              <a:rPr lang="en-US" altLang="zh-CN" sz="2800" b="1" dirty="0"/>
              <a:t>OpenMP</a:t>
            </a:r>
            <a:r>
              <a:rPr lang="zh-CN" altLang="en-US" sz="2800" b="1" dirty="0"/>
              <a:t>的遇到</a:t>
            </a:r>
            <a:r>
              <a:rPr lang="en-US" altLang="zh-CN" sz="2800" b="1" dirty="0"/>
              <a:t>parallel</a:t>
            </a:r>
            <a:r>
              <a:rPr lang="zh-CN" altLang="en-US" sz="2800" b="1" dirty="0"/>
              <a:t>指令后创建的线程</a:t>
            </a:r>
            <a:r>
              <a:rPr lang="en-US" altLang="zh-CN" sz="2800" b="1" dirty="0"/>
              <a:t>team</a:t>
            </a:r>
            <a:r>
              <a:rPr lang="zh-CN" altLang="en-US" sz="2800" b="1" dirty="0"/>
              <a:t>的数量由如下过程决定</a:t>
            </a:r>
            <a:r>
              <a:rPr lang="zh-CN" altLang="en-US" sz="2800" b="1" dirty="0" smtClean="0"/>
              <a:t>：</a:t>
            </a:r>
            <a:endParaRPr lang="zh-CN" altLang="en-US" sz="2800" b="1" dirty="0"/>
          </a:p>
          <a:p>
            <a:r>
              <a:rPr lang="en-US" altLang="zh-CN" sz="2800" b="1" dirty="0"/>
              <a:t>1. if</a:t>
            </a:r>
            <a:r>
              <a:rPr lang="zh-CN" altLang="en-US" sz="2800" b="1" dirty="0"/>
              <a:t>子句的结果</a:t>
            </a:r>
            <a:endParaRPr lang="zh-CN" altLang="en-US" sz="2800" b="1" dirty="0"/>
          </a:p>
          <a:p>
            <a:endParaRPr lang="zh-CN" altLang="en-US" sz="2800" b="1" dirty="0"/>
          </a:p>
          <a:p>
            <a:r>
              <a:rPr lang="en-US" altLang="zh-CN" sz="2800" b="1" dirty="0"/>
              <a:t>2. </a:t>
            </a:r>
            <a:r>
              <a:rPr lang="en-US" altLang="zh-CN" sz="2800" b="1" dirty="0" err="1" smtClean="0"/>
              <a:t>num_threads</a:t>
            </a:r>
            <a:r>
              <a:rPr lang="zh-CN" altLang="en-US" sz="2800" b="1" dirty="0" smtClean="0"/>
              <a:t>子句的</a:t>
            </a:r>
            <a:r>
              <a:rPr lang="zh-CN" altLang="en-US" sz="2800" b="1" dirty="0"/>
              <a:t>设置</a:t>
            </a:r>
            <a:endParaRPr lang="zh-CN" altLang="en-US" sz="2800" b="1" dirty="0"/>
          </a:p>
          <a:p>
            <a:endParaRPr lang="zh-CN" altLang="en-US" sz="2800" b="1" dirty="0"/>
          </a:p>
          <a:p>
            <a:r>
              <a:rPr lang="en-US" altLang="zh-CN" sz="2800" b="1" dirty="0"/>
              <a:t>3. </a:t>
            </a:r>
            <a:r>
              <a:rPr lang="en-US" altLang="zh-CN" sz="2800" b="1" dirty="0" err="1"/>
              <a:t>omp_set_num_threads</a:t>
            </a:r>
            <a:r>
              <a:rPr lang="en-US" altLang="zh-CN" sz="2800" b="1" dirty="0"/>
              <a:t>()</a:t>
            </a:r>
            <a:r>
              <a:rPr lang="zh-CN" altLang="en-US" sz="2800" b="1" dirty="0"/>
              <a:t>库函数的设置</a:t>
            </a:r>
            <a:endParaRPr lang="zh-CN" altLang="en-US" sz="2800" b="1" dirty="0"/>
          </a:p>
          <a:p>
            <a:endParaRPr lang="zh-CN" altLang="en-US" sz="2800" b="1" dirty="0"/>
          </a:p>
          <a:p>
            <a:r>
              <a:rPr lang="en-US" altLang="zh-CN" sz="2800" b="1" dirty="0"/>
              <a:t>4. OMP_NUM_THREADS</a:t>
            </a:r>
            <a:r>
              <a:rPr lang="zh-CN" altLang="en-US" sz="2800" b="1" dirty="0"/>
              <a:t>环境变量的设置</a:t>
            </a:r>
            <a:endParaRPr lang="zh-CN" altLang="en-US" sz="2800" b="1" dirty="0"/>
          </a:p>
          <a:p>
            <a:endParaRPr lang="zh-CN" altLang="en-US" sz="2800" b="1" dirty="0"/>
          </a:p>
          <a:p>
            <a:r>
              <a:rPr lang="en-US" altLang="zh-CN" sz="2800" b="1" dirty="0"/>
              <a:t>5. </a:t>
            </a:r>
            <a:r>
              <a:rPr lang="zh-CN" altLang="en-US" sz="3200" b="1" dirty="0">
                <a:solidFill>
                  <a:srgbClr val="2D0AC2"/>
                </a:solidFill>
                <a:latin typeface="华文新魏" panose="02010800040101010101" pitchFamily="2" charset="-122"/>
                <a:ea typeface="华文新魏" panose="02010800040101010101" pitchFamily="2" charset="-122"/>
              </a:rPr>
              <a:t>编译器默认实现（一般而言，默认实现的是总线程数等于处理器的核心数）</a:t>
            </a:r>
            <a:endParaRPr lang="zh-CN" altLang="en-US" sz="3200" b="1" dirty="0">
              <a:solidFill>
                <a:srgbClr val="2D0AC2"/>
              </a:solidFill>
              <a:latin typeface="华文新魏" panose="02010800040101010101" pitchFamily="2" charset="-122"/>
              <a:ea typeface="华文新魏" panose="02010800040101010101" pitchFamily="2" charset="-122"/>
            </a:endParaRPr>
          </a:p>
        </p:txBody>
      </p:sp>
    </p:spTree>
  </p:cSld>
  <p:clrMapOvr>
    <a:masterClrMapping/>
  </p:clrMapOvr>
  <p:transition spd="med" advTm="3025">
    <p:fade/>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69429" y="567874"/>
            <a:ext cx="10583055" cy="5509200"/>
          </a:xfrm>
          <a:prstGeom prst="rect">
            <a:avLst/>
          </a:prstGeom>
        </p:spPr>
        <p:txBody>
          <a:bodyPr wrap="square">
            <a:spAutoFit/>
          </a:bodyPr>
          <a:lstStyle/>
          <a:p>
            <a:pPr algn="ctr"/>
            <a:r>
              <a:rPr lang="zh-CN" altLang="en-US" sz="3600" b="1" dirty="0">
                <a:solidFill>
                  <a:srgbClr val="C00000"/>
                </a:solidFill>
                <a:latin typeface="隶书" panose="02010509060101010101" pitchFamily="49" charset="-122"/>
                <a:ea typeface="隶书" panose="02010509060101010101" pitchFamily="49" charset="-122"/>
              </a:rPr>
              <a:t>并行</a:t>
            </a:r>
            <a:r>
              <a:rPr lang="zh-CN" altLang="en-US" sz="3600" b="1" dirty="0" smtClean="0">
                <a:solidFill>
                  <a:srgbClr val="C00000"/>
                </a:solidFill>
                <a:latin typeface="隶书" panose="02010509060101010101" pitchFamily="49" charset="-122"/>
                <a:ea typeface="隶书" panose="02010509060101010101" pitchFamily="49" charset="-122"/>
              </a:rPr>
              <a:t>区域线程数量</a:t>
            </a:r>
            <a:r>
              <a:rPr lang="zh-CN" altLang="en-US" sz="3600" b="1" dirty="0">
                <a:solidFill>
                  <a:srgbClr val="C00000"/>
                </a:solidFill>
                <a:latin typeface="隶书" panose="02010509060101010101" pitchFamily="49" charset="-122"/>
                <a:ea typeface="隶书" panose="02010509060101010101" pitchFamily="49" charset="-122"/>
              </a:rPr>
              <a:t>的</a:t>
            </a:r>
            <a:r>
              <a:rPr lang="zh-CN" altLang="en-US" sz="3600" b="1" dirty="0" smtClean="0">
                <a:solidFill>
                  <a:srgbClr val="C00000"/>
                </a:solidFill>
                <a:latin typeface="隶书" panose="02010509060101010101" pitchFamily="49" charset="-122"/>
                <a:ea typeface="隶书" panose="02010509060101010101" pitchFamily="49" charset="-122"/>
              </a:rPr>
              <a:t>确定</a:t>
            </a:r>
            <a:endParaRPr lang="en-US" altLang="zh-CN" sz="3600" b="1" dirty="0" smtClean="0">
              <a:solidFill>
                <a:srgbClr val="C00000"/>
              </a:solidFill>
              <a:latin typeface="隶书" panose="02010509060101010101" pitchFamily="49" charset="-122"/>
              <a:ea typeface="隶书" panose="02010509060101010101" pitchFamily="49" charset="-122"/>
            </a:endParaRPr>
          </a:p>
          <a:p>
            <a:r>
              <a:rPr lang="zh-CN" altLang="en-US" sz="3600" b="1" dirty="0" smtClean="0">
                <a:solidFill>
                  <a:srgbClr val="C00000"/>
                </a:solidFill>
                <a:latin typeface="隶书" panose="02010509060101010101" pitchFamily="49" charset="-122"/>
                <a:ea typeface="隶书" panose="02010509060101010101" pitchFamily="49" charset="-122"/>
              </a:rPr>
              <a:t>说明：</a:t>
            </a:r>
            <a:endParaRPr lang="en-US" altLang="zh-CN" sz="3600" b="1" dirty="0" smtClean="0">
              <a:solidFill>
                <a:srgbClr val="C00000"/>
              </a:solidFill>
              <a:latin typeface="隶书" panose="02010509060101010101" pitchFamily="49" charset="-122"/>
              <a:ea typeface="隶书" panose="02010509060101010101" pitchFamily="49" charset="-122"/>
            </a:endParaRPr>
          </a:p>
          <a:p>
            <a:pPr marL="457200" indent="-457200">
              <a:lnSpc>
                <a:spcPct val="200000"/>
              </a:lnSpc>
              <a:buFont typeface="Wingdings" panose="05000000000000000000" pitchFamily="2" charset="2"/>
              <a:buChar char="Ø"/>
            </a:pPr>
            <a:r>
              <a:rPr lang="en-US" altLang="zh-CN" sz="2800" b="1" dirty="0">
                <a:solidFill>
                  <a:srgbClr val="000000"/>
                </a:solidFill>
              </a:rPr>
              <a:t>2</a:t>
            </a:r>
            <a:r>
              <a:rPr lang="zh-CN" altLang="en-US" sz="2800" b="1" dirty="0">
                <a:solidFill>
                  <a:srgbClr val="000000"/>
                </a:solidFill>
              </a:rPr>
              <a:t>、</a:t>
            </a:r>
            <a:r>
              <a:rPr lang="en-US" altLang="zh-CN" sz="2800" b="1" dirty="0">
                <a:solidFill>
                  <a:srgbClr val="000000"/>
                </a:solidFill>
              </a:rPr>
              <a:t>3</a:t>
            </a:r>
            <a:r>
              <a:rPr lang="zh-CN" altLang="en-US" sz="2800" b="1" dirty="0">
                <a:solidFill>
                  <a:srgbClr val="000000"/>
                </a:solidFill>
              </a:rPr>
              <a:t>、</a:t>
            </a:r>
            <a:r>
              <a:rPr lang="en-US" altLang="zh-CN" sz="2800" b="1" dirty="0">
                <a:solidFill>
                  <a:srgbClr val="000000"/>
                </a:solidFill>
              </a:rPr>
              <a:t>4</a:t>
            </a:r>
            <a:r>
              <a:rPr lang="zh-CN" altLang="en-US" sz="2800" b="1" dirty="0">
                <a:solidFill>
                  <a:srgbClr val="000000"/>
                </a:solidFill>
              </a:rPr>
              <a:t>优先级依次降低的，也就是前面的设置可以覆盖后面的</a:t>
            </a:r>
            <a:r>
              <a:rPr lang="zh-CN" altLang="en-US" sz="2800" b="1" dirty="0" smtClean="0">
                <a:solidFill>
                  <a:srgbClr val="000000"/>
                </a:solidFill>
              </a:rPr>
              <a:t>设置</a:t>
            </a:r>
            <a:endParaRPr lang="en-US" altLang="zh-CN" sz="2800" b="1" dirty="0">
              <a:solidFill>
                <a:srgbClr val="000000"/>
              </a:solidFill>
            </a:endParaRPr>
          </a:p>
          <a:p>
            <a:pPr marL="457200" indent="-457200">
              <a:lnSpc>
                <a:spcPct val="200000"/>
              </a:lnSpc>
              <a:buFont typeface="Wingdings" panose="05000000000000000000" pitchFamily="2" charset="2"/>
              <a:buChar char="Ø"/>
            </a:pPr>
            <a:r>
              <a:rPr lang="en-US" altLang="zh-CN" sz="2800" b="1" dirty="0" err="1" smtClean="0">
                <a:solidFill>
                  <a:srgbClr val="000000"/>
                </a:solidFill>
              </a:rPr>
              <a:t>num_threads</a:t>
            </a:r>
            <a:r>
              <a:rPr lang="zh-CN" altLang="en-US" sz="2800" b="1" dirty="0">
                <a:solidFill>
                  <a:srgbClr val="000000"/>
                </a:solidFill>
              </a:rPr>
              <a:t>子句只会影响当前的并行</a:t>
            </a:r>
            <a:r>
              <a:rPr lang="zh-CN" altLang="en-US" sz="2800" b="1" dirty="0" smtClean="0">
                <a:solidFill>
                  <a:srgbClr val="000000"/>
                </a:solidFill>
              </a:rPr>
              <a:t>区域</a:t>
            </a:r>
            <a:endParaRPr lang="en-US" altLang="zh-CN" sz="2800" b="1" dirty="0" smtClean="0">
              <a:solidFill>
                <a:srgbClr val="000000"/>
              </a:solidFill>
            </a:endParaRPr>
          </a:p>
          <a:p>
            <a:pPr marL="457200" indent="-457200">
              <a:lnSpc>
                <a:spcPct val="200000"/>
              </a:lnSpc>
              <a:buFont typeface="Wingdings" panose="05000000000000000000" pitchFamily="2" charset="2"/>
              <a:buChar char="Ø"/>
            </a:pPr>
            <a:r>
              <a:rPr lang="en-US" altLang="zh-CN" sz="2800" b="1" dirty="0" err="1" smtClean="0">
                <a:solidFill>
                  <a:srgbClr val="000000"/>
                </a:solidFill>
              </a:rPr>
              <a:t>omp_set_num_threads</a:t>
            </a:r>
            <a:r>
              <a:rPr lang="zh-CN" altLang="en-US" sz="2800" b="1" dirty="0">
                <a:solidFill>
                  <a:srgbClr val="000000"/>
                </a:solidFill>
              </a:rPr>
              <a:t>对</a:t>
            </a:r>
            <a:r>
              <a:rPr lang="en-US" altLang="zh-CN" sz="2800" b="1" dirty="0">
                <a:solidFill>
                  <a:srgbClr val="000000"/>
                </a:solidFill>
              </a:rPr>
              <a:t>OMP_NUM_THREADS</a:t>
            </a:r>
            <a:r>
              <a:rPr lang="zh-CN" altLang="en-US" sz="2800" b="1" dirty="0">
                <a:solidFill>
                  <a:srgbClr val="000000"/>
                </a:solidFill>
              </a:rPr>
              <a:t>环境变量的覆盖是在整个程序运行期间全局的。</a:t>
            </a:r>
            <a:endParaRPr lang="zh-CN" altLang="en-US" sz="2800" b="1" dirty="0">
              <a:solidFill>
                <a:srgbClr val="000000"/>
              </a:solidFill>
            </a:endParaRPr>
          </a:p>
        </p:txBody>
      </p:sp>
    </p:spTree>
  </p:cSld>
  <p:clrMapOvr>
    <a:masterClrMapping/>
  </p:clrMapOvr>
  <p:transition spd="med" advTm="3025">
    <p:fade/>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902427" y="561095"/>
            <a:ext cx="5644494" cy="769441"/>
          </a:xfrm>
          <a:prstGeom prst="rect">
            <a:avLst/>
          </a:prstGeom>
        </p:spPr>
        <p:txBody>
          <a:bodyPr wrap="none">
            <a:spAutoFit/>
          </a:bodyPr>
          <a:lstStyle/>
          <a:p>
            <a:r>
              <a:rPr lang="zh-CN" altLang="en-US" sz="4400" b="1" dirty="0">
                <a:solidFill>
                  <a:srgbClr val="2D0AC2"/>
                </a:solidFill>
              </a:rPr>
              <a:t>常用</a:t>
            </a:r>
            <a:r>
              <a:rPr lang="zh-CN" altLang="en-US" sz="4400" b="1" dirty="0" smtClean="0">
                <a:solidFill>
                  <a:srgbClr val="2D0AC2"/>
                </a:solidFill>
              </a:rPr>
              <a:t>的</a:t>
            </a:r>
            <a:r>
              <a:rPr lang="en-US" altLang="zh-CN" sz="4400" b="1" dirty="0" smtClean="0">
                <a:solidFill>
                  <a:srgbClr val="2D0AC2"/>
                </a:solidFill>
              </a:rPr>
              <a:t>OpenMP</a:t>
            </a:r>
            <a:r>
              <a:rPr lang="zh-CN" altLang="en-US" sz="4400" b="1" dirty="0" smtClean="0">
                <a:solidFill>
                  <a:srgbClr val="2D0AC2"/>
                </a:solidFill>
              </a:rPr>
              <a:t>库函数</a:t>
            </a:r>
            <a:endParaRPr lang="en-US" sz="4400" b="1" dirty="0">
              <a:solidFill>
                <a:srgbClr val="2D0AC2"/>
              </a:solidFill>
            </a:endParaRPr>
          </a:p>
        </p:txBody>
      </p:sp>
      <p:sp>
        <p:nvSpPr>
          <p:cNvPr id="3" name="矩形 2"/>
          <p:cNvSpPr/>
          <p:nvPr/>
        </p:nvSpPr>
        <p:spPr>
          <a:xfrm>
            <a:off x="619593" y="1330536"/>
            <a:ext cx="10832892" cy="5047536"/>
          </a:xfrm>
          <a:prstGeom prst="rect">
            <a:avLst/>
          </a:prstGeom>
        </p:spPr>
        <p:txBody>
          <a:bodyPr wrap="square">
            <a:spAutoFit/>
          </a:bodyPr>
          <a:lstStyle/>
          <a:p>
            <a:r>
              <a:rPr lang="en-US" sz="2800" b="1" dirty="0" smtClean="0">
                <a:solidFill>
                  <a:srgbClr val="C00000"/>
                </a:solidFill>
              </a:rPr>
              <a:t>4. </a:t>
            </a:r>
            <a:r>
              <a:rPr lang="en-US" sz="2800" b="1" dirty="0" err="1" smtClean="0">
                <a:solidFill>
                  <a:srgbClr val="C00000"/>
                </a:solidFill>
              </a:rPr>
              <a:t>omp_get_num_procs</a:t>
            </a:r>
            <a:r>
              <a:rPr lang="zh-CN" altLang="en-US" sz="2800" b="1" dirty="0" smtClean="0">
                <a:solidFill>
                  <a:srgbClr val="C00000"/>
                </a:solidFill>
              </a:rPr>
              <a:t>（）</a:t>
            </a:r>
            <a:r>
              <a:rPr lang="en-US" sz="2800" b="1" dirty="0" smtClean="0">
                <a:solidFill>
                  <a:srgbClr val="C00000"/>
                </a:solidFill>
              </a:rPr>
              <a:t>：</a:t>
            </a:r>
            <a:endParaRPr lang="en-US" sz="2800" b="1" dirty="0" smtClean="0">
              <a:solidFill>
                <a:srgbClr val="C00000"/>
              </a:solidFill>
            </a:endParaRPr>
          </a:p>
          <a:p>
            <a:r>
              <a:rPr lang="zh-CN" altLang="en-US" sz="2800" b="1" dirty="0"/>
              <a:t>该函数将返回可用于程序的处理器</a:t>
            </a:r>
            <a:r>
              <a:rPr lang="zh-CN" altLang="en-US" sz="2800" b="1" dirty="0" smtClean="0"/>
              <a:t>数目</a:t>
            </a:r>
            <a:endParaRPr lang="en-US" altLang="zh-CN" sz="2800" b="1" dirty="0" smtClean="0"/>
          </a:p>
          <a:p>
            <a:endParaRPr lang="en-US" altLang="zh-CN" sz="2800" b="1" dirty="0"/>
          </a:p>
          <a:p>
            <a:r>
              <a:rPr lang="en-US" altLang="zh-CN" sz="2800" b="1" dirty="0">
                <a:solidFill>
                  <a:srgbClr val="C00000"/>
                </a:solidFill>
              </a:rPr>
              <a:t>5. </a:t>
            </a:r>
            <a:r>
              <a:rPr lang="en-US" altLang="zh-CN" sz="2800" b="1" dirty="0" err="1">
                <a:solidFill>
                  <a:srgbClr val="C00000"/>
                </a:solidFill>
              </a:rPr>
              <a:t>omp_get_wtime</a:t>
            </a:r>
            <a:r>
              <a:rPr lang="en-US" altLang="zh-CN" sz="2800" b="1" dirty="0" smtClean="0">
                <a:solidFill>
                  <a:srgbClr val="C00000"/>
                </a:solidFill>
              </a:rPr>
              <a:t>( )</a:t>
            </a:r>
            <a:endParaRPr lang="en-US" altLang="zh-CN" sz="2800" b="1" dirty="0">
              <a:solidFill>
                <a:srgbClr val="C00000"/>
              </a:solidFill>
            </a:endParaRPr>
          </a:p>
          <a:p>
            <a:pPr marL="457200" indent="-457200">
              <a:lnSpc>
                <a:spcPct val="150000"/>
              </a:lnSpc>
              <a:buFont typeface="Arial" panose="020B0604020202020204" pitchFamily="34" charset="0"/>
              <a:buChar char="•"/>
            </a:pPr>
            <a:r>
              <a:rPr lang="zh-CN" altLang="en-US" sz="2800" b="1" dirty="0"/>
              <a:t>该函数</a:t>
            </a:r>
            <a:r>
              <a:rPr lang="zh-CN" altLang="en-US" sz="2800" b="1" dirty="0" smtClean="0"/>
              <a:t>返回时钟</a:t>
            </a:r>
            <a:r>
              <a:rPr lang="zh-CN" altLang="en-US" sz="2800" b="1" dirty="0"/>
              <a:t>运行的时间，单位为</a:t>
            </a:r>
            <a:r>
              <a:rPr lang="en-US" altLang="zh-CN" sz="2800" b="1" dirty="0" smtClean="0"/>
              <a:t>s</a:t>
            </a:r>
            <a:endParaRPr lang="en-US" altLang="zh-CN" sz="2800" b="1" dirty="0" smtClean="0"/>
          </a:p>
          <a:p>
            <a:pPr marL="457200" indent="-457200">
              <a:lnSpc>
                <a:spcPct val="150000"/>
              </a:lnSpc>
              <a:buFont typeface="Arial" panose="020B0604020202020204" pitchFamily="34" charset="0"/>
              <a:buChar char="•"/>
            </a:pPr>
            <a:r>
              <a:rPr lang="zh-CN" altLang="en-US" sz="2800" b="1" dirty="0" smtClean="0"/>
              <a:t>如果现在的时刻</a:t>
            </a:r>
            <a:r>
              <a:rPr lang="zh-CN" altLang="en-US" sz="2800" b="1" dirty="0"/>
              <a:t>为</a:t>
            </a:r>
            <a:r>
              <a:rPr lang="en-US" altLang="zh-CN" sz="2800" b="1" dirty="0"/>
              <a:t>11:40:30.8</a:t>
            </a:r>
            <a:r>
              <a:rPr lang="zh-CN" altLang="en-US" sz="2800" b="1" dirty="0"/>
              <a:t>，则该值为</a:t>
            </a:r>
            <a:r>
              <a:rPr lang="en-US" altLang="zh-CN" sz="2800" b="1" dirty="0"/>
              <a:t>11*3600+40*60+30.8=42030.8</a:t>
            </a:r>
            <a:r>
              <a:rPr lang="zh-CN" altLang="en-US" sz="2800" b="1" dirty="0" smtClean="0"/>
              <a:t>。</a:t>
            </a:r>
            <a:endParaRPr lang="en-US" altLang="zh-CN" sz="2800" b="1" dirty="0" smtClean="0"/>
          </a:p>
          <a:p>
            <a:pPr marL="457200" indent="-457200">
              <a:lnSpc>
                <a:spcPct val="150000"/>
              </a:lnSpc>
              <a:buFont typeface="Arial" panose="020B0604020202020204" pitchFamily="34" charset="0"/>
              <a:buChar char="•"/>
            </a:pPr>
            <a:r>
              <a:rPr lang="zh-CN" altLang="en-US" sz="2800" b="1" dirty="0" smtClean="0"/>
              <a:t>在</a:t>
            </a:r>
            <a:r>
              <a:rPr lang="zh-CN" altLang="en-US" sz="2800" b="1" dirty="0"/>
              <a:t>程序运行开始和即将结束</a:t>
            </a:r>
            <a:r>
              <a:rPr lang="zh-CN" altLang="en-US" sz="2800" b="1" dirty="0" smtClean="0"/>
              <a:t>时</a:t>
            </a:r>
            <a:r>
              <a:rPr lang="zh-CN" altLang="en-US" sz="2800" b="1" dirty="0"/>
              <a:t>，</a:t>
            </a:r>
            <a:r>
              <a:rPr lang="zh-CN" altLang="en-US" sz="2800" b="1" dirty="0" smtClean="0"/>
              <a:t>调用</a:t>
            </a:r>
            <a:r>
              <a:rPr lang="zh-CN" altLang="en-US" sz="2800" b="1" dirty="0"/>
              <a:t>这个函数</a:t>
            </a:r>
            <a:r>
              <a:rPr lang="zh-CN" altLang="en-US" sz="2800" b="1" dirty="0" smtClean="0"/>
              <a:t>可以计算</a:t>
            </a:r>
            <a:r>
              <a:rPr lang="zh-CN" altLang="en-US" sz="2800" b="1" dirty="0"/>
              <a:t>程序运行的时间</a:t>
            </a:r>
            <a:r>
              <a:rPr lang="zh-CN" altLang="en-US" sz="2800" b="1" dirty="0" smtClean="0"/>
              <a:t>。</a:t>
            </a:r>
            <a:endParaRPr lang="en-US" altLang="zh-CN" sz="2800" b="1" dirty="0" smtClean="0"/>
          </a:p>
        </p:txBody>
      </p:sp>
    </p:spTree>
  </p:cSld>
  <p:clrMapOvr>
    <a:masterClrMapping/>
  </p:clrMapOvr>
  <p:transition spd="med" advTm="3025">
    <p:fade/>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1004019" y="659567"/>
            <a:ext cx="10193634" cy="5411449"/>
          </a:xfrm>
          <a:prstGeom prst="rect">
            <a:avLst/>
          </a:prstGeom>
        </p:spPr>
      </p:pic>
    </p:spTree>
  </p:cSld>
  <p:clrMapOvr>
    <a:masterClrMapping/>
  </p:clrMapOvr>
  <p:transition spd="med" advTm="3025">
    <p:fade/>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02325" y="362911"/>
            <a:ext cx="10072255" cy="6001643"/>
          </a:xfrm>
          <a:prstGeom prst="rect">
            <a:avLst/>
          </a:prstGeom>
        </p:spPr>
        <p:txBody>
          <a:bodyPr wrap="square">
            <a:spAutoFit/>
          </a:bodyPr>
          <a:lstStyle/>
          <a:p>
            <a:pPr algn="ctr"/>
            <a:r>
              <a:rPr lang="zh-CN" altLang="en-US" sz="4800" dirty="0">
                <a:solidFill>
                  <a:srgbClr val="2D0AC2"/>
                </a:solidFill>
                <a:latin typeface="隶书" panose="02010509060101010101" pitchFamily="49" charset="-122"/>
                <a:ea typeface="隶书" panose="02010509060101010101" pitchFamily="49" charset="-122"/>
              </a:rPr>
              <a:t>互斥锁</a:t>
            </a:r>
            <a:r>
              <a:rPr lang="zh-CN" altLang="en-US" sz="4800" dirty="0" smtClean="0">
                <a:solidFill>
                  <a:srgbClr val="2D0AC2"/>
                </a:solidFill>
                <a:latin typeface="隶书" panose="02010509060101010101" pitchFamily="49" charset="-122"/>
                <a:ea typeface="隶书" panose="02010509060101010101" pitchFamily="49" charset="-122"/>
              </a:rPr>
              <a:t>函数</a:t>
            </a:r>
            <a:endParaRPr lang="en-US" altLang="zh-CN" sz="4800" dirty="0" smtClean="0">
              <a:solidFill>
                <a:srgbClr val="2D0AC2"/>
              </a:solidFill>
              <a:latin typeface="隶书" panose="02010509060101010101" pitchFamily="49" charset="-122"/>
              <a:ea typeface="隶书" panose="02010509060101010101" pitchFamily="49" charset="-122"/>
            </a:endParaRPr>
          </a:p>
          <a:p>
            <a:pPr>
              <a:lnSpc>
                <a:spcPct val="150000"/>
              </a:lnSpc>
            </a:pPr>
            <a:r>
              <a:rPr lang="zh-CN" altLang="en-US" sz="2800" b="1" dirty="0" smtClean="0"/>
              <a:t>         除了</a:t>
            </a:r>
            <a:r>
              <a:rPr lang="en-US" altLang="zh-CN" sz="2800" b="1" dirty="0"/>
              <a:t>atomic</a:t>
            </a:r>
            <a:r>
              <a:rPr lang="zh-CN" altLang="en-US" sz="2800" b="1" dirty="0"/>
              <a:t>和</a:t>
            </a:r>
            <a:r>
              <a:rPr lang="en-US" altLang="zh-CN" sz="2800" b="1" dirty="0" smtClean="0"/>
              <a:t>critical</a:t>
            </a:r>
            <a:r>
              <a:rPr lang="zh-CN" altLang="en-US" sz="2800" b="1" dirty="0" smtClean="0"/>
              <a:t>指导语句，</a:t>
            </a:r>
            <a:r>
              <a:rPr lang="en-US" altLang="zh-CN" sz="2800" b="1" dirty="0"/>
              <a:t>OpenMP</a:t>
            </a:r>
            <a:r>
              <a:rPr lang="zh-CN" altLang="en-US" sz="2800" b="1" dirty="0"/>
              <a:t>还可以通过库函数支持实现互斥操作，方便用户实现特定的同步需求</a:t>
            </a:r>
            <a:r>
              <a:rPr lang="zh-CN" altLang="en-US" sz="2800" b="1" dirty="0" smtClean="0"/>
              <a:t>。</a:t>
            </a:r>
            <a:endParaRPr lang="en-US" altLang="zh-CN" sz="2800" b="1" dirty="0" smtClean="0"/>
          </a:p>
          <a:p>
            <a:pPr>
              <a:lnSpc>
                <a:spcPct val="150000"/>
              </a:lnSpc>
            </a:pPr>
            <a:r>
              <a:rPr lang="en-US" altLang="zh-CN" sz="2800" b="1" dirty="0"/>
              <a:t> </a:t>
            </a:r>
            <a:r>
              <a:rPr lang="en-US" altLang="zh-CN" sz="2800" b="1" dirty="0" smtClean="0"/>
              <a:t>        </a:t>
            </a:r>
            <a:r>
              <a:rPr lang="zh-CN" altLang="en-US" sz="2800" b="1" dirty="0" smtClean="0"/>
              <a:t>指导语句的</a:t>
            </a:r>
            <a:r>
              <a:rPr lang="zh-CN" altLang="en-US" sz="2800" b="1" dirty="0"/>
              <a:t>互斥支持只能放置在一段代码之前，作用在这段代码之上。而</a:t>
            </a:r>
            <a:r>
              <a:rPr lang="en-US" altLang="zh-CN" sz="2800" b="1" dirty="0"/>
              <a:t>OpenMP API</a:t>
            </a:r>
            <a:r>
              <a:rPr lang="zh-CN" altLang="en-US" sz="2800" b="1" dirty="0"/>
              <a:t>所提供的互斥函数可放在任意需要的位置。</a:t>
            </a:r>
            <a:r>
              <a:rPr lang="zh-CN" altLang="en-US" sz="2800" b="1" dirty="0">
                <a:solidFill>
                  <a:srgbClr val="2D0AC2"/>
                </a:solidFill>
              </a:rPr>
              <a:t>程序员必须自己保证在调用相应锁操作之后释放相应的锁，否则就可能造成多线程程序的死锁</a:t>
            </a:r>
            <a:r>
              <a:rPr lang="zh-CN" altLang="en-US" sz="2800" b="1" dirty="0" smtClean="0">
                <a:solidFill>
                  <a:srgbClr val="2D0AC2"/>
                </a:solidFill>
              </a:rPr>
              <a:t>。</a:t>
            </a:r>
            <a:endParaRPr lang="en-US" altLang="zh-CN" sz="2800" b="1" dirty="0" smtClean="0">
              <a:solidFill>
                <a:srgbClr val="2D0AC2"/>
              </a:solidFill>
            </a:endParaRPr>
          </a:p>
          <a:p>
            <a:pPr>
              <a:lnSpc>
                <a:spcPct val="150000"/>
              </a:lnSpc>
            </a:pPr>
            <a:r>
              <a:rPr lang="en-US" altLang="zh-CN" sz="2800" b="1" dirty="0">
                <a:solidFill>
                  <a:srgbClr val="2D0AC2"/>
                </a:solidFill>
              </a:rPr>
              <a:t> </a:t>
            </a:r>
            <a:r>
              <a:rPr lang="en-US" altLang="zh-CN" sz="2800" b="1" dirty="0" smtClean="0">
                <a:solidFill>
                  <a:srgbClr val="2D0AC2"/>
                </a:solidFill>
              </a:rPr>
              <a:t>         </a:t>
            </a:r>
            <a:r>
              <a:rPr lang="zh-CN" altLang="en-US" sz="2800" b="1" dirty="0" smtClean="0">
                <a:solidFill>
                  <a:srgbClr val="6A247A"/>
                </a:solidFill>
              </a:rPr>
              <a:t>互斥</a:t>
            </a:r>
            <a:r>
              <a:rPr lang="zh-CN" altLang="en-US" sz="2800" b="1" dirty="0">
                <a:solidFill>
                  <a:srgbClr val="6A247A"/>
                </a:solidFill>
              </a:rPr>
              <a:t>锁函数中只有</a:t>
            </a:r>
            <a:r>
              <a:rPr lang="en-US" altLang="zh-CN" sz="2800" b="1" dirty="0" err="1">
                <a:solidFill>
                  <a:srgbClr val="6A247A"/>
                </a:solidFill>
              </a:rPr>
              <a:t>omp_test_lock</a:t>
            </a:r>
            <a:r>
              <a:rPr lang="zh-CN" altLang="en-US" sz="2800" b="1" dirty="0">
                <a:solidFill>
                  <a:srgbClr val="6A247A"/>
                </a:solidFill>
              </a:rPr>
              <a:t>函数是带有返回值的，该函数可以看作是</a:t>
            </a:r>
            <a:r>
              <a:rPr lang="en-US" altLang="zh-CN" sz="2800" b="1" dirty="0" err="1">
                <a:solidFill>
                  <a:srgbClr val="6A247A"/>
                </a:solidFill>
              </a:rPr>
              <a:t>omp_set_lock</a:t>
            </a:r>
            <a:r>
              <a:rPr lang="zh-CN" altLang="en-US" sz="2800" b="1" dirty="0">
                <a:solidFill>
                  <a:srgbClr val="6A247A"/>
                </a:solidFill>
              </a:rPr>
              <a:t>的非阻塞版本。</a:t>
            </a:r>
            <a:endParaRPr lang="en-US" sz="2800" b="1" dirty="0">
              <a:solidFill>
                <a:srgbClr val="6A247A"/>
              </a:solidFill>
            </a:endParaRPr>
          </a:p>
        </p:txBody>
      </p:sp>
    </p:spTree>
  </p:cSld>
  <p:clrMapOvr>
    <a:masterClrMapping/>
  </p:clrMapOvr>
  <p:transition spd="med" advTm="3025">
    <p:fade/>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03563" y="792770"/>
            <a:ext cx="7439892" cy="5262979"/>
          </a:xfrm>
          <a:prstGeom prst="rect">
            <a:avLst/>
          </a:prstGeom>
        </p:spPr>
        <p:txBody>
          <a:bodyPr wrap="square">
            <a:spAutoFit/>
          </a:bodyPr>
          <a:lstStyle/>
          <a:p>
            <a:r>
              <a:rPr lang="en-US" sz="2800" b="1" dirty="0"/>
              <a:t>static </a:t>
            </a:r>
            <a:r>
              <a:rPr lang="en-US" sz="2800" b="1" dirty="0" err="1"/>
              <a:t>omp_lock_t</a:t>
            </a:r>
            <a:r>
              <a:rPr lang="en-US" sz="2800" b="1" dirty="0"/>
              <a:t> lock</a:t>
            </a:r>
            <a:r>
              <a:rPr lang="en-US" sz="2800" b="1" dirty="0" smtClean="0"/>
              <a:t>;</a:t>
            </a:r>
            <a:endParaRPr lang="en-US" sz="2800" b="1" dirty="0"/>
          </a:p>
          <a:p>
            <a:r>
              <a:rPr lang="en-US" sz="2800" b="1" dirty="0" err="1" smtClean="0"/>
              <a:t>int</a:t>
            </a:r>
            <a:r>
              <a:rPr lang="en-US" sz="2800" b="1" dirty="0" smtClean="0"/>
              <a:t> </a:t>
            </a:r>
            <a:r>
              <a:rPr lang="en-US" sz="2800" b="1" dirty="0" err="1"/>
              <a:t>i</a:t>
            </a:r>
            <a:r>
              <a:rPr lang="en-US" sz="2800" b="1" dirty="0"/>
              <a:t>;</a:t>
            </a:r>
            <a:endParaRPr lang="en-US" sz="2800" b="1" dirty="0"/>
          </a:p>
          <a:p>
            <a:endParaRPr lang="en-US" sz="2800" b="1" dirty="0"/>
          </a:p>
          <a:p>
            <a:r>
              <a:rPr lang="en-US" sz="2800" b="1" dirty="0" err="1" smtClean="0">
                <a:solidFill>
                  <a:srgbClr val="2D0AC2"/>
                </a:solidFill>
              </a:rPr>
              <a:t>omp_init_lock</a:t>
            </a:r>
            <a:r>
              <a:rPr lang="en-US" sz="2800" b="1" dirty="0">
                <a:solidFill>
                  <a:srgbClr val="2D0AC2"/>
                </a:solidFill>
              </a:rPr>
              <a:t>(&amp;lock);</a:t>
            </a:r>
            <a:endParaRPr lang="en-US" sz="2800" b="1" dirty="0">
              <a:solidFill>
                <a:srgbClr val="2D0AC2"/>
              </a:solidFill>
            </a:endParaRPr>
          </a:p>
          <a:p>
            <a:r>
              <a:rPr lang="en-US" sz="2800" b="1" dirty="0" smtClean="0"/>
              <a:t>#</a:t>
            </a:r>
            <a:r>
              <a:rPr lang="en-US" sz="2800" b="1" dirty="0"/>
              <a:t>pragma </a:t>
            </a:r>
            <a:r>
              <a:rPr lang="en-US" sz="2800" b="1" dirty="0" err="1"/>
              <a:t>omp</a:t>
            </a:r>
            <a:r>
              <a:rPr lang="en-US" sz="2800" b="1" dirty="0"/>
              <a:t> parallel for</a:t>
            </a:r>
            <a:endParaRPr lang="en-US" sz="2800" b="1" dirty="0"/>
          </a:p>
          <a:p>
            <a:r>
              <a:rPr lang="en-US" sz="2800" b="1" dirty="0" smtClean="0"/>
              <a:t>    for </a:t>
            </a:r>
            <a:r>
              <a:rPr lang="en-US" sz="2800" b="1" dirty="0"/>
              <a:t>(</a:t>
            </a:r>
            <a:r>
              <a:rPr lang="en-US" sz="2800" b="1" dirty="0" err="1"/>
              <a:t>i</a:t>
            </a:r>
            <a:r>
              <a:rPr lang="en-US" sz="2800" b="1" dirty="0"/>
              <a:t>=0; </a:t>
            </a:r>
            <a:r>
              <a:rPr lang="en-US" sz="2800" b="1" dirty="0" err="1"/>
              <a:t>i</a:t>
            </a:r>
            <a:r>
              <a:rPr lang="en-US" sz="2800" b="1" dirty="0"/>
              <a:t>&lt;5; ++</a:t>
            </a:r>
            <a:r>
              <a:rPr lang="en-US" sz="2800" b="1" dirty="0" err="1"/>
              <a:t>i</a:t>
            </a:r>
            <a:r>
              <a:rPr lang="en-US" sz="2800" b="1" dirty="0"/>
              <a:t>)</a:t>
            </a:r>
            <a:endParaRPr lang="en-US" sz="2800" b="1" dirty="0"/>
          </a:p>
          <a:p>
            <a:r>
              <a:rPr lang="en-US" sz="2800" b="1" dirty="0" smtClean="0"/>
              <a:t>      {   </a:t>
            </a:r>
            <a:r>
              <a:rPr lang="en-US" sz="2800" b="1" dirty="0" err="1" smtClean="0">
                <a:solidFill>
                  <a:srgbClr val="6A247A"/>
                </a:solidFill>
              </a:rPr>
              <a:t>omp_set_lock</a:t>
            </a:r>
            <a:r>
              <a:rPr lang="en-US" sz="2800" b="1" dirty="0">
                <a:solidFill>
                  <a:srgbClr val="6A247A"/>
                </a:solidFill>
              </a:rPr>
              <a:t>(&amp;lock);</a:t>
            </a:r>
            <a:endParaRPr lang="en-US" sz="2800" b="1" dirty="0">
              <a:solidFill>
                <a:srgbClr val="6A247A"/>
              </a:solidFill>
            </a:endParaRPr>
          </a:p>
          <a:p>
            <a:r>
              <a:rPr lang="en-US" sz="2800" b="1" dirty="0" smtClean="0"/>
              <a:t>           </a:t>
            </a:r>
            <a:r>
              <a:rPr lang="en-US" sz="2800" b="1" dirty="0" err="1" smtClean="0"/>
              <a:t>printf</a:t>
            </a:r>
            <a:r>
              <a:rPr lang="en-US" sz="2800" b="1" dirty="0"/>
              <a:t>("%d +\n", </a:t>
            </a:r>
            <a:r>
              <a:rPr lang="en-US" sz="2800" b="1" dirty="0" err="1"/>
              <a:t>omp_get_thread_num</a:t>
            </a:r>
            <a:r>
              <a:rPr lang="en-US" sz="2800" b="1" dirty="0"/>
              <a:t>());</a:t>
            </a:r>
            <a:endParaRPr lang="en-US" sz="2800" b="1" dirty="0"/>
          </a:p>
          <a:p>
            <a:r>
              <a:rPr lang="en-US" sz="2800" b="1" dirty="0" smtClean="0"/>
              <a:t>           </a:t>
            </a:r>
            <a:r>
              <a:rPr lang="en-US" sz="2800" b="1" dirty="0" err="1" smtClean="0"/>
              <a:t>printf</a:t>
            </a:r>
            <a:r>
              <a:rPr lang="en-US" sz="2800" b="1" dirty="0"/>
              <a:t>("%d </a:t>
            </a:r>
            <a:r>
              <a:rPr lang="en-US" sz="2800" b="1" dirty="0" smtClean="0"/>
              <a:t> -\</a:t>
            </a:r>
            <a:r>
              <a:rPr lang="en-US" sz="2800" b="1" dirty="0"/>
              <a:t>n", </a:t>
            </a:r>
            <a:r>
              <a:rPr lang="en-US" sz="2800" b="1" dirty="0" err="1"/>
              <a:t>omp_get_thread_num</a:t>
            </a:r>
            <a:r>
              <a:rPr lang="en-US" sz="2800" b="1" dirty="0"/>
              <a:t>());</a:t>
            </a:r>
            <a:endParaRPr lang="en-US" sz="2800" b="1" dirty="0"/>
          </a:p>
          <a:p>
            <a:r>
              <a:rPr lang="en-US" sz="2800" b="1" dirty="0" smtClean="0"/>
              <a:t>           </a:t>
            </a:r>
            <a:r>
              <a:rPr lang="en-US" sz="2800" b="1" dirty="0" err="1" smtClean="0">
                <a:solidFill>
                  <a:srgbClr val="6A247A"/>
                </a:solidFill>
              </a:rPr>
              <a:t>omp_unset_lock</a:t>
            </a:r>
            <a:r>
              <a:rPr lang="en-US" sz="2800" b="1" dirty="0">
                <a:solidFill>
                  <a:srgbClr val="6A247A"/>
                </a:solidFill>
              </a:rPr>
              <a:t>(&amp;lock);</a:t>
            </a:r>
            <a:endParaRPr lang="en-US" sz="2800" b="1" dirty="0">
              <a:solidFill>
                <a:srgbClr val="6A247A"/>
              </a:solidFill>
            </a:endParaRPr>
          </a:p>
          <a:p>
            <a:r>
              <a:rPr lang="en-US" sz="2800" b="1" dirty="0" smtClean="0"/>
              <a:t>       }</a:t>
            </a:r>
            <a:endParaRPr lang="en-US" sz="2800" b="1" dirty="0"/>
          </a:p>
          <a:p>
            <a:r>
              <a:rPr lang="en-US" sz="2800" b="1" dirty="0" err="1" smtClean="0">
                <a:solidFill>
                  <a:srgbClr val="2D0AC2"/>
                </a:solidFill>
              </a:rPr>
              <a:t>omp_destroy_lock</a:t>
            </a:r>
            <a:r>
              <a:rPr lang="en-US" sz="2800" b="1" dirty="0">
                <a:solidFill>
                  <a:srgbClr val="2D0AC2"/>
                </a:solidFill>
              </a:rPr>
              <a:t>(&amp;lock);</a:t>
            </a:r>
            <a:endParaRPr lang="en-US" sz="2800" b="1" dirty="0">
              <a:solidFill>
                <a:srgbClr val="2D0AC2"/>
              </a:solidFill>
            </a:endParaRPr>
          </a:p>
        </p:txBody>
      </p:sp>
      <p:sp>
        <p:nvSpPr>
          <p:cNvPr id="3" name="矩形 2"/>
          <p:cNvSpPr/>
          <p:nvPr/>
        </p:nvSpPr>
        <p:spPr>
          <a:xfrm>
            <a:off x="8444232" y="1461192"/>
            <a:ext cx="3427978" cy="3323987"/>
          </a:xfrm>
          <a:prstGeom prst="rect">
            <a:avLst/>
          </a:prstGeom>
          <a:blipFill>
            <a:blip r:embed="rId1"/>
            <a:tile tx="0" ty="0" sx="100000" sy="100000" flip="none" algn="tl"/>
          </a:blipFill>
        </p:spPr>
        <p:txBody>
          <a:bodyPr wrap="square">
            <a:spAutoFit/>
          </a:bodyPr>
          <a:lstStyle/>
          <a:p>
            <a:pPr>
              <a:lnSpc>
                <a:spcPct val="150000"/>
              </a:lnSpc>
            </a:pPr>
            <a:r>
              <a:rPr lang="zh-CN" altLang="en-US" sz="2800" b="1" dirty="0">
                <a:latin typeface="隶书" panose="02010509060101010101" pitchFamily="49" charset="-122"/>
                <a:ea typeface="隶书" panose="02010509060101010101" pitchFamily="49" charset="-122"/>
              </a:rPr>
              <a:t>对</a:t>
            </a:r>
            <a:r>
              <a:rPr lang="en-US" altLang="zh-CN" sz="2800" b="1" dirty="0">
                <a:latin typeface="隶书" panose="02010509060101010101" pitchFamily="49" charset="-122"/>
                <a:ea typeface="隶书" panose="02010509060101010101" pitchFamily="49" charset="-122"/>
              </a:rPr>
              <a:t>for</a:t>
            </a:r>
            <a:r>
              <a:rPr lang="zh-CN" altLang="en-US" sz="2800" b="1" dirty="0">
                <a:latin typeface="隶书" panose="02010509060101010101" pitchFamily="49" charset="-122"/>
                <a:ea typeface="隶书" panose="02010509060101010101" pitchFamily="49" charset="-122"/>
              </a:rPr>
              <a:t>循环中的所有内容进行加锁保护，同时只能有一个线程执行</a:t>
            </a:r>
            <a:r>
              <a:rPr lang="en-US" altLang="zh-CN" sz="2800" b="1" dirty="0">
                <a:latin typeface="隶书" panose="02010509060101010101" pitchFamily="49" charset="-122"/>
                <a:ea typeface="隶书" panose="02010509060101010101" pitchFamily="49" charset="-122"/>
              </a:rPr>
              <a:t>for</a:t>
            </a:r>
            <a:r>
              <a:rPr lang="zh-CN" altLang="en-US" sz="2800" b="1" dirty="0">
                <a:latin typeface="隶书" panose="02010509060101010101" pitchFamily="49" charset="-122"/>
                <a:ea typeface="隶书" panose="02010509060101010101" pitchFamily="49" charset="-122"/>
              </a:rPr>
              <a:t>循环中的内容。</a:t>
            </a:r>
            <a:endParaRPr lang="en-US" sz="2800" b="1" dirty="0">
              <a:latin typeface="隶书" panose="02010509060101010101" pitchFamily="49" charset="-122"/>
              <a:ea typeface="隶书" panose="02010509060101010101" pitchFamily="49" charset="-122"/>
            </a:endParaRPr>
          </a:p>
        </p:txBody>
      </p:sp>
    </p:spTree>
  </p:cSld>
  <p:clrMapOvr>
    <a:masterClrMapping/>
  </p:clrMapOvr>
  <p:transition spd="med" advTm="3025">
    <p:fade/>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08363" y="457200"/>
            <a:ext cx="5569528" cy="5840060"/>
          </a:xfrm>
          <a:prstGeom prst="rect">
            <a:avLst/>
          </a:prstGeom>
          <a:noFill/>
        </p:spPr>
        <p:txBody>
          <a:bodyPr wrap="square" rtlCol="0">
            <a:spAutoFit/>
          </a:bodyPr>
          <a:lstStyle/>
          <a:p>
            <a:r>
              <a:rPr lang="zh-CN" altLang="en-US" sz="3600" dirty="0" smtClean="0">
                <a:latin typeface="隶书" panose="02010509060101010101" pitchFamily="49" charset="-122"/>
                <a:ea typeface="隶书" panose="02010509060101010101" pitchFamily="49" charset="-122"/>
              </a:rPr>
              <a:t>测试锁函数举例</a:t>
            </a:r>
            <a:endParaRPr lang="en-US" altLang="zh-CN" sz="3600" dirty="0" smtClean="0">
              <a:latin typeface="隶书" panose="02010509060101010101" pitchFamily="49" charset="-122"/>
              <a:ea typeface="隶书" panose="02010509060101010101" pitchFamily="49" charset="-122"/>
            </a:endParaRPr>
          </a:p>
          <a:p>
            <a:pPr>
              <a:lnSpc>
                <a:spcPts val="4500"/>
              </a:lnSpc>
            </a:pPr>
            <a:r>
              <a:rPr lang="en-US" sz="2800" b="1" dirty="0" err="1" smtClean="0">
                <a:solidFill>
                  <a:srgbClr val="6A247A"/>
                </a:solidFill>
                <a:ea typeface="隶书" panose="02010509060101010101" pitchFamily="49" charset="-122"/>
              </a:rPr>
              <a:t>omp_init_lock</a:t>
            </a:r>
            <a:r>
              <a:rPr lang="en-US" sz="2800" b="1" dirty="0" smtClean="0">
                <a:solidFill>
                  <a:srgbClr val="6A247A"/>
                </a:solidFill>
                <a:ea typeface="隶书" panose="02010509060101010101" pitchFamily="49" charset="-122"/>
              </a:rPr>
              <a:t>(&amp;</a:t>
            </a:r>
            <a:r>
              <a:rPr lang="en-US" sz="2800" b="1" dirty="0" err="1" smtClean="0">
                <a:solidFill>
                  <a:srgbClr val="6A247A"/>
                </a:solidFill>
                <a:ea typeface="隶书" panose="02010509060101010101" pitchFamily="49" charset="-122"/>
              </a:rPr>
              <a:t>ilock</a:t>
            </a:r>
            <a:r>
              <a:rPr lang="en-US" sz="2800" b="1" dirty="0" smtClean="0">
                <a:solidFill>
                  <a:srgbClr val="6A247A"/>
                </a:solidFill>
                <a:ea typeface="隶书" panose="02010509060101010101" pitchFamily="49" charset="-122"/>
              </a:rPr>
              <a:t>);</a:t>
            </a:r>
            <a:endParaRPr lang="en-US" sz="2800" b="1" dirty="0" smtClean="0">
              <a:solidFill>
                <a:srgbClr val="6A247A"/>
              </a:solidFill>
              <a:ea typeface="隶书" panose="02010509060101010101" pitchFamily="49" charset="-122"/>
            </a:endParaRPr>
          </a:p>
          <a:p>
            <a:pPr>
              <a:lnSpc>
                <a:spcPts val="4500"/>
              </a:lnSpc>
            </a:pPr>
            <a:r>
              <a:rPr lang="en-US" sz="2800" b="1" dirty="0" smtClean="0">
                <a:ea typeface="隶书" panose="02010509060101010101" pitchFamily="49" charset="-122"/>
              </a:rPr>
              <a:t>#pragma </a:t>
            </a:r>
            <a:r>
              <a:rPr lang="en-US" sz="2800" b="1" dirty="0" err="1" smtClean="0">
                <a:ea typeface="隶书" panose="02010509060101010101" pitchFamily="49" charset="-122"/>
              </a:rPr>
              <a:t>omp</a:t>
            </a:r>
            <a:r>
              <a:rPr lang="en-US" sz="2800" b="1" dirty="0" smtClean="0">
                <a:ea typeface="隶书" panose="02010509060101010101" pitchFamily="49" charset="-122"/>
              </a:rPr>
              <a:t> parallel shared(</a:t>
            </a:r>
            <a:r>
              <a:rPr lang="en-US" sz="2800" b="1" dirty="0" err="1" smtClean="0">
                <a:ea typeface="隶书" panose="02010509060101010101" pitchFamily="49" charset="-122"/>
              </a:rPr>
              <a:t>ilock</a:t>
            </a:r>
            <a:r>
              <a:rPr lang="en-US" sz="2800" b="1" dirty="0" smtClean="0">
                <a:ea typeface="隶书" panose="02010509060101010101" pitchFamily="49" charset="-122"/>
              </a:rPr>
              <a:t>)</a:t>
            </a:r>
            <a:endParaRPr lang="en-US" sz="2800" b="1" dirty="0" smtClean="0">
              <a:ea typeface="隶书" panose="02010509060101010101" pitchFamily="49" charset="-122"/>
            </a:endParaRPr>
          </a:p>
          <a:p>
            <a:pPr>
              <a:lnSpc>
                <a:spcPts val="4500"/>
              </a:lnSpc>
            </a:pPr>
            <a:r>
              <a:rPr lang="en-US" sz="2800" b="1" dirty="0" smtClean="0">
                <a:ea typeface="隶书" panose="02010509060101010101" pitchFamily="49" charset="-122"/>
              </a:rPr>
              <a:t>{  ……</a:t>
            </a:r>
            <a:endParaRPr lang="en-US" sz="2800" b="1" dirty="0" smtClean="0">
              <a:ea typeface="隶书" panose="02010509060101010101" pitchFamily="49" charset="-122"/>
            </a:endParaRPr>
          </a:p>
          <a:p>
            <a:pPr>
              <a:lnSpc>
                <a:spcPts val="4500"/>
              </a:lnSpc>
            </a:pPr>
            <a:r>
              <a:rPr lang="en-US" sz="2800" b="1" dirty="0">
                <a:ea typeface="隶书" panose="02010509060101010101" pitchFamily="49" charset="-122"/>
              </a:rPr>
              <a:t> </a:t>
            </a:r>
            <a:r>
              <a:rPr lang="en-US" sz="2800" b="1" dirty="0" smtClean="0">
                <a:ea typeface="隶书" panose="02010509060101010101" pitchFamily="49" charset="-122"/>
              </a:rPr>
              <a:t>   </a:t>
            </a:r>
            <a:r>
              <a:rPr lang="en-US" sz="2800" b="1" dirty="0" smtClean="0">
                <a:solidFill>
                  <a:srgbClr val="6A247A"/>
                </a:solidFill>
                <a:ea typeface="隶书" panose="02010509060101010101" pitchFamily="49" charset="-122"/>
              </a:rPr>
              <a:t>while(!</a:t>
            </a:r>
            <a:r>
              <a:rPr lang="en-US" sz="2800" b="1" dirty="0" err="1" smtClean="0">
                <a:solidFill>
                  <a:srgbClr val="6A247A"/>
                </a:solidFill>
                <a:ea typeface="隶书" panose="02010509060101010101" pitchFamily="49" charset="-122"/>
              </a:rPr>
              <a:t>omp_test_lock</a:t>
            </a:r>
            <a:r>
              <a:rPr lang="en-US" sz="2800" b="1" dirty="0" smtClean="0">
                <a:solidFill>
                  <a:srgbClr val="6A247A"/>
                </a:solidFill>
                <a:ea typeface="隶书" panose="02010509060101010101" pitchFamily="49" charset="-122"/>
              </a:rPr>
              <a:t>(&amp;</a:t>
            </a:r>
            <a:r>
              <a:rPr lang="en-US" sz="2800" b="1" dirty="0" err="1" smtClean="0">
                <a:solidFill>
                  <a:srgbClr val="6A247A"/>
                </a:solidFill>
                <a:ea typeface="隶书" panose="02010509060101010101" pitchFamily="49" charset="-122"/>
              </a:rPr>
              <a:t>ilock</a:t>
            </a:r>
            <a:r>
              <a:rPr lang="en-US" sz="2800" b="1" dirty="0" smtClean="0">
                <a:solidFill>
                  <a:srgbClr val="6A247A"/>
                </a:solidFill>
                <a:ea typeface="隶书" panose="02010509060101010101" pitchFamily="49" charset="-122"/>
              </a:rPr>
              <a:t>))</a:t>
            </a:r>
            <a:endParaRPr lang="en-US" sz="2800" b="1" dirty="0" smtClean="0">
              <a:solidFill>
                <a:srgbClr val="6A247A"/>
              </a:solidFill>
              <a:ea typeface="隶书" panose="02010509060101010101" pitchFamily="49" charset="-122"/>
            </a:endParaRPr>
          </a:p>
          <a:p>
            <a:pPr>
              <a:lnSpc>
                <a:spcPts val="4500"/>
              </a:lnSpc>
            </a:pPr>
            <a:r>
              <a:rPr lang="en-US" sz="2800" b="1" dirty="0">
                <a:ea typeface="隶书" panose="02010509060101010101" pitchFamily="49" charset="-122"/>
              </a:rPr>
              <a:t> </a:t>
            </a:r>
            <a:r>
              <a:rPr lang="en-US" sz="2800" b="1" dirty="0" smtClean="0">
                <a:ea typeface="隶书" panose="02010509060101010101" pitchFamily="49" charset="-122"/>
              </a:rPr>
              <a:t>            </a:t>
            </a:r>
            <a:r>
              <a:rPr lang="en-US" sz="2800" b="1" dirty="0" err="1" smtClean="0">
                <a:ea typeface="隶书" panose="02010509060101010101" pitchFamily="49" charset="-122"/>
              </a:rPr>
              <a:t>do_something_else</a:t>
            </a:r>
            <a:r>
              <a:rPr lang="en-US" sz="2800" b="1" dirty="0" smtClean="0">
                <a:ea typeface="隶书" panose="02010509060101010101" pitchFamily="49" charset="-122"/>
              </a:rPr>
              <a:t>( );</a:t>
            </a:r>
            <a:endParaRPr lang="en-US" sz="2800" b="1" dirty="0" smtClean="0">
              <a:ea typeface="隶书" panose="02010509060101010101" pitchFamily="49" charset="-122"/>
            </a:endParaRPr>
          </a:p>
          <a:p>
            <a:pPr>
              <a:lnSpc>
                <a:spcPts val="4500"/>
              </a:lnSpc>
            </a:pPr>
            <a:r>
              <a:rPr lang="en-US" sz="2800" b="1" dirty="0">
                <a:solidFill>
                  <a:srgbClr val="2D0AC2"/>
                </a:solidFill>
                <a:ea typeface="隶书" panose="02010509060101010101" pitchFamily="49" charset="-122"/>
              </a:rPr>
              <a:t> </a:t>
            </a:r>
            <a:r>
              <a:rPr lang="en-US" sz="2800" b="1" dirty="0" smtClean="0">
                <a:solidFill>
                  <a:srgbClr val="2D0AC2"/>
                </a:solidFill>
                <a:ea typeface="隶书" panose="02010509060101010101" pitchFamily="49" charset="-122"/>
              </a:rPr>
              <a:t>    work( );</a:t>
            </a:r>
            <a:endParaRPr lang="en-US" sz="2800" b="1" dirty="0" smtClean="0">
              <a:solidFill>
                <a:srgbClr val="2D0AC2"/>
              </a:solidFill>
              <a:ea typeface="隶书" panose="02010509060101010101" pitchFamily="49" charset="-122"/>
            </a:endParaRPr>
          </a:p>
          <a:p>
            <a:pPr>
              <a:lnSpc>
                <a:spcPts val="4500"/>
              </a:lnSpc>
            </a:pPr>
            <a:r>
              <a:rPr lang="en-US" sz="2800" b="1" dirty="0">
                <a:ea typeface="隶书" panose="02010509060101010101" pitchFamily="49" charset="-122"/>
              </a:rPr>
              <a:t> </a:t>
            </a:r>
            <a:r>
              <a:rPr lang="en-US" sz="2800" b="1" dirty="0" smtClean="0">
                <a:ea typeface="隶书" panose="02010509060101010101" pitchFamily="49" charset="-122"/>
              </a:rPr>
              <a:t>   </a:t>
            </a:r>
            <a:r>
              <a:rPr lang="en-US" sz="2800" b="1" dirty="0" err="1" smtClean="0">
                <a:solidFill>
                  <a:srgbClr val="6A247A"/>
                </a:solidFill>
                <a:ea typeface="隶书" panose="02010509060101010101" pitchFamily="49" charset="-122"/>
              </a:rPr>
              <a:t>omp_unset_lock</a:t>
            </a:r>
            <a:r>
              <a:rPr lang="en-US" sz="2800" b="1" dirty="0" smtClean="0">
                <a:solidFill>
                  <a:srgbClr val="6A247A"/>
                </a:solidFill>
                <a:ea typeface="隶书" panose="02010509060101010101" pitchFamily="49" charset="-122"/>
              </a:rPr>
              <a:t>(&amp;</a:t>
            </a:r>
            <a:r>
              <a:rPr lang="en-US" sz="2800" b="1" dirty="0" err="1" smtClean="0">
                <a:solidFill>
                  <a:srgbClr val="6A247A"/>
                </a:solidFill>
                <a:ea typeface="隶书" panose="02010509060101010101" pitchFamily="49" charset="-122"/>
              </a:rPr>
              <a:t>ilock</a:t>
            </a:r>
            <a:r>
              <a:rPr lang="en-US" sz="2800" b="1" dirty="0" smtClean="0">
                <a:solidFill>
                  <a:srgbClr val="6A247A"/>
                </a:solidFill>
                <a:ea typeface="隶书" panose="02010509060101010101" pitchFamily="49" charset="-122"/>
              </a:rPr>
              <a:t>);</a:t>
            </a:r>
            <a:endParaRPr lang="en-US" sz="2800" b="1" dirty="0" smtClean="0">
              <a:solidFill>
                <a:srgbClr val="6A247A"/>
              </a:solidFill>
              <a:ea typeface="隶书" panose="02010509060101010101" pitchFamily="49" charset="-122"/>
            </a:endParaRPr>
          </a:p>
          <a:p>
            <a:pPr>
              <a:lnSpc>
                <a:spcPts val="4500"/>
              </a:lnSpc>
            </a:pPr>
            <a:r>
              <a:rPr lang="en-US" sz="2800" b="1" dirty="0">
                <a:ea typeface="隶书" panose="02010509060101010101" pitchFamily="49" charset="-122"/>
              </a:rPr>
              <a:t> </a:t>
            </a:r>
            <a:r>
              <a:rPr lang="en-US" sz="2800" b="1" dirty="0" smtClean="0">
                <a:ea typeface="隶书" panose="02010509060101010101" pitchFamily="49" charset="-122"/>
              </a:rPr>
              <a:t>   ……  }</a:t>
            </a:r>
            <a:endParaRPr lang="en-US" sz="2800" b="1" dirty="0" smtClean="0">
              <a:ea typeface="隶书" panose="02010509060101010101" pitchFamily="49" charset="-122"/>
            </a:endParaRPr>
          </a:p>
          <a:p>
            <a:pPr>
              <a:lnSpc>
                <a:spcPts val="4500"/>
              </a:lnSpc>
            </a:pPr>
            <a:r>
              <a:rPr lang="en-US" sz="2800" b="1" dirty="0" err="1" smtClean="0">
                <a:solidFill>
                  <a:srgbClr val="6A247A"/>
                </a:solidFill>
                <a:ea typeface="隶书" panose="02010509060101010101" pitchFamily="49" charset="-122"/>
              </a:rPr>
              <a:t>omp_destroy_lock</a:t>
            </a:r>
            <a:r>
              <a:rPr lang="en-US" sz="2800" b="1" dirty="0" smtClean="0">
                <a:solidFill>
                  <a:srgbClr val="6A247A"/>
                </a:solidFill>
                <a:ea typeface="隶书" panose="02010509060101010101" pitchFamily="49" charset="-122"/>
              </a:rPr>
              <a:t>(&amp;</a:t>
            </a:r>
            <a:r>
              <a:rPr lang="en-US" sz="2800" b="1" dirty="0" err="1" smtClean="0">
                <a:solidFill>
                  <a:srgbClr val="6A247A"/>
                </a:solidFill>
                <a:ea typeface="隶书" panose="02010509060101010101" pitchFamily="49" charset="-122"/>
              </a:rPr>
              <a:t>ilock</a:t>
            </a:r>
            <a:r>
              <a:rPr lang="en-US" sz="2800" b="1" dirty="0" smtClean="0">
                <a:solidFill>
                  <a:srgbClr val="6A247A"/>
                </a:solidFill>
                <a:ea typeface="隶书" panose="02010509060101010101" pitchFamily="49" charset="-122"/>
              </a:rPr>
              <a:t>);</a:t>
            </a:r>
            <a:endParaRPr lang="en-US" sz="2800" b="1" dirty="0">
              <a:solidFill>
                <a:srgbClr val="6A247A"/>
              </a:solidFill>
              <a:ea typeface="隶书" panose="02010509060101010101" pitchFamily="49" charset="-122"/>
            </a:endParaRPr>
          </a:p>
        </p:txBody>
      </p:sp>
      <p:sp>
        <p:nvSpPr>
          <p:cNvPr id="3" name="文本框 2"/>
          <p:cNvSpPr txBox="1"/>
          <p:nvPr/>
        </p:nvSpPr>
        <p:spPr>
          <a:xfrm>
            <a:off x="6677891" y="671587"/>
            <a:ext cx="4918364" cy="5201424"/>
          </a:xfrm>
          <a:prstGeom prst="rect">
            <a:avLst/>
          </a:prstGeom>
          <a:blipFill>
            <a:blip r:embed="rId1"/>
            <a:tile tx="0" ty="0" sx="100000" sy="100000" flip="none" algn="tl"/>
          </a:blipFill>
        </p:spPr>
        <p:txBody>
          <a:bodyPr wrap="square" rtlCol="0">
            <a:spAutoFit/>
          </a:bodyPr>
          <a:lstStyle/>
          <a:p>
            <a:pPr marL="457200" indent="-457200">
              <a:lnSpc>
                <a:spcPct val="150000"/>
              </a:lnSpc>
              <a:buFont typeface="Wingdings" panose="05000000000000000000" pitchFamily="2" charset="2"/>
              <a:buChar char="§"/>
            </a:pPr>
            <a:r>
              <a:rPr lang="en-US" altLang="zh-CN" sz="2800" b="1" dirty="0" smtClean="0">
                <a:latin typeface="华文新魏" panose="02010800040101010101" pitchFamily="2" charset="-122"/>
                <a:ea typeface="华文新魏" panose="02010800040101010101" pitchFamily="2" charset="-122"/>
              </a:rPr>
              <a:t>omp_test_lock</a:t>
            </a:r>
            <a:r>
              <a:rPr lang="zh-CN" altLang="en-US" sz="2800" b="1" dirty="0" smtClean="0">
                <a:latin typeface="华文新魏" panose="02010800040101010101" pitchFamily="2" charset="-122"/>
                <a:ea typeface="华文新魏" panose="02010800040101010101" pitchFamily="2" charset="-122"/>
              </a:rPr>
              <a:t>尝试去设置锁，如果已上锁状态被成功设置，返回非</a:t>
            </a:r>
            <a:r>
              <a:rPr lang="en-US" altLang="zh-CN" sz="2800" b="1" dirty="0" smtClean="0">
                <a:latin typeface="华文新魏" panose="02010800040101010101" pitchFamily="2" charset="-122"/>
                <a:ea typeface="华文新魏" panose="02010800040101010101" pitchFamily="2" charset="-122"/>
              </a:rPr>
              <a:t>0</a:t>
            </a:r>
            <a:r>
              <a:rPr lang="zh-CN" altLang="en-US" sz="2800" b="1" dirty="0" smtClean="0">
                <a:latin typeface="华文新魏" panose="02010800040101010101" pitchFamily="2" charset="-122"/>
                <a:ea typeface="华文新魏" panose="02010800040101010101" pitchFamily="2" charset="-122"/>
              </a:rPr>
              <a:t>值。反之，返回</a:t>
            </a:r>
            <a:r>
              <a:rPr lang="en-US" altLang="zh-CN" sz="2800" b="1" dirty="0" smtClean="0">
                <a:latin typeface="华文新魏" panose="02010800040101010101" pitchFamily="2" charset="-122"/>
                <a:ea typeface="华文新魏" panose="02010800040101010101" pitchFamily="2" charset="-122"/>
              </a:rPr>
              <a:t>0</a:t>
            </a:r>
            <a:r>
              <a:rPr lang="zh-CN" altLang="en-US" sz="2800" b="1" dirty="0" smtClean="0">
                <a:latin typeface="华文新魏" panose="02010800040101010101" pitchFamily="2" charset="-122"/>
                <a:ea typeface="华文新魏" panose="02010800040101010101" pitchFamily="2" charset="-122"/>
              </a:rPr>
              <a:t>。</a:t>
            </a:r>
            <a:endParaRPr lang="en-US" altLang="zh-CN" sz="2800" b="1" dirty="0" smtClean="0">
              <a:latin typeface="华文新魏" panose="02010800040101010101" pitchFamily="2" charset="-122"/>
              <a:ea typeface="华文新魏" panose="02010800040101010101" pitchFamily="2" charset="-122"/>
            </a:endParaRPr>
          </a:p>
          <a:p>
            <a:pPr marL="457200" indent="-457200">
              <a:lnSpc>
                <a:spcPct val="150000"/>
              </a:lnSpc>
              <a:buFont typeface="Wingdings" panose="05000000000000000000" pitchFamily="2" charset="2"/>
              <a:buChar char="§"/>
            </a:pPr>
            <a:r>
              <a:rPr lang="en-US" sz="2800" b="1" dirty="0" smtClean="0">
                <a:latin typeface="华文新魏" panose="02010800040101010101" pitchFamily="2" charset="-122"/>
                <a:ea typeface="华文新魏" panose="02010800040101010101" pitchFamily="2" charset="-122"/>
              </a:rPr>
              <a:t>omp_test_lock</a:t>
            </a:r>
            <a:r>
              <a:rPr lang="zh-CN" altLang="en-US" sz="2800" b="1" dirty="0" smtClean="0">
                <a:latin typeface="华文新魏" panose="02010800040101010101" pitchFamily="2" charset="-122"/>
                <a:ea typeface="华文新魏" panose="02010800040101010101" pitchFamily="2" charset="-122"/>
              </a:rPr>
              <a:t>采用非阻塞方式进行上锁，如果上锁不成功也不用忙等，而是执行</a:t>
            </a:r>
            <a:r>
              <a:rPr lang="en-US" altLang="zh-CN" sz="2800" b="1" dirty="0" err="1">
                <a:latin typeface="华文新魏" panose="02010800040101010101" pitchFamily="2" charset="-122"/>
                <a:ea typeface="华文新魏" panose="02010800040101010101" pitchFamily="2" charset="-122"/>
              </a:rPr>
              <a:t>do_something_else</a:t>
            </a:r>
            <a:r>
              <a:rPr lang="en-US" altLang="zh-CN" sz="2800" b="1" dirty="0">
                <a:latin typeface="华文新魏" panose="02010800040101010101" pitchFamily="2" charset="-122"/>
                <a:ea typeface="华文新魏" panose="02010800040101010101" pitchFamily="2" charset="-122"/>
              </a:rPr>
              <a:t>( </a:t>
            </a:r>
            <a:r>
              <a:rPr lang="en-US" altLang="zh-CN" sz="2800" b="1" dirty="0" smtClean="0">
                <a:latin typeface="华文新魏" panose="02010800040101010101" pitchFamily="2" charset="-122"/>
                <a:ea typeface="华文新魏" panose="02010800040101010101" pitchFamily="2" charset="-122"/>
              </a:rPr>
              <a:t>)</a:t>
            </a:r>
            <a:r>
              <a:rPr lang="zh-CN" altLang="en-US" sz="2800" b="1" dirty="0" smtClean="0">
                <a:latin typeface="华文新魏" panose="02010800040101010101" pitchFamily="2" charset="-122"/>
                <a:ea typeface="华文新魏" panose="02010800040101010101" pitchFamily="2" charset="-122"/>
              </a:rPr>
              <a:t>函数。</a:t>
            </a:r>
            <a:endParaRPr lang="en-US" sz="2800" b="1" dirty="0">
              <a:latin typeface="华文新魏" panose="02010800040101010101" pitchFamily="2" charset="-122"/>
              <a:ea typeface="华文新魏" panose="02010800040101010101" pitchFamily="2" charset="-122"/>
            </a:endParaRPr>
          </a:p>
        </p:txBody>
      </p:sp>
    </p:spTree>
  </p:cSld>
  <p:clrMapOvr>
    <a:masterClrMapping/>
  </p:clrMapOvr>
  <p:transition spd="med" advTm="3025">
    <p:fade/>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08363" y="457200"/>
            <a:ext cx="4142510" cy="5840060"/>
          </a:xfrm>
          <a:prstGeom prst="rect">
            <a:avLst/>
          </a:prstGeom>
          <a:noFill/>
        </p:spPr>
        <p:txBody>
          <a:bodyPr wrap="square" rtlCol="0">
            <a:spAutoFit/>
          </a:bodyPr>
          <a:lstStyle/>
          <a:p>
            <a:r>
              <a:rPr lang="zh-CN" altLang="en-US" sz="3600" dirty="0" smtClean="0">
                <a:solidFill>
                  <a:srgbClr val="000000"/>
                </a:solidFill>
                <a:latin typeface="隶书" panose="02010509060101010101" pitchFamily="49" charset="-122"/>
                <a:ea typeface="隶书" panose="02010509060101010101" pitchFamily="49" charset="-122"/>
              </a:rPr>
              <a:t>应明确锁的拥有者：</a:t>
            </a:r>
            <a:endParaRPr lang="en-US" altLang="zh-CN" sz="3600" dirty="0" smtClean="0">
              <a:solidFill>
                <a:srgbClr val="000000"/>
              </a:solidFill>
              <a:latin typeface="隶书" panose="02010509060101010101" pitchFamily="49" charset="-122"/>
              <a:ea typeface="隶书" panose="02010509060101010101" pitchFamily="49" charset="-122"/>
            </a:endParaRPr>
          </a:p>
          <a:p>
            <a:pPr>
              <a:lnSpc>
                <a:spcPts val="4500"/>
              </a:lnSpc>
            </a:pPr>
            <a:r>
              <a:rPr lang="en-US" sz="2800" b="1" dirty="0" smtClean="0">
                <a:ea typeface="隶书" panose="02010509060101010101" pitchFamily="49" charset="-122"/>
              </a:rPr>
              <a:t>#include &lt;</a:t>
            </a:r>
            <a:r>
              <a:rPr lang="en-US" sz="2800" b="1" dirty="0" err="1" smtClean="0">
                <a:ea typeface="隶书" panose="02010509060101010101" pitchFamily="49" charset="-122"/>
              </a:rPr>
              <a:t>stdlib.h</a:t>
            </a:r>
            <a:r>
              <a:rPr lang="en-US" sz="2800" b="1" dirty="0" smtClean="0">
                <a:ea typeface="隶书" panose="02010509060101010101" pitchFamily="49" charset="-122"/>
              </a:rPr>
              <a:t>&gt;</a:t>
            </a:r>
            <a:endParaRPr lang="en-US" sz="2800" b="1" dirty="0" smtClean="0">
              <a:ea typeface="隶书" panose="02010509060101010101" pitchFamily="49" charset="-122"/>
            </a:endParaRPr>
          </a:p>
          <a:p>
            <a:pPr>
              <a:lnSpc>
                <a:spcPts val="4500"/>
              </a:lnSpc>
            </a:pPr>
            <a:r>
              <a:rPr lang="en-US" sz="2800" b="1" dirty="0" smtClean="0">
                <a:ea typeface="隶书" panose="02010509060101010101" pitchFamily="49" charset="-122"/>
              </a:rPr>
              <a:t>#include &lt;</a:t>
            </a:r>
            <a:r>
              <a:rPr lang="en-US" sz="2800" b="1" dirty="0" err="1" smtClean="0">
                <a:ea typeface="隶书" panose="02010509060101010101" pitchFamily="49" charset="-122"/>
              </a:rPr>
              <a:t>stdio.h</a:t>
            </a:r>
            <a:r>
              <a:rPr lang="en-US" sz="2800" b="1" dirty="0" smtClean="0">
                <a:ea typeface="隶书" panose="02010509060101010101" pitchFamily="49" charset="-122"/>
              </a:rPr>
              <a:t>&gt;</a:t>
            </a:r>
            <a:endParaRPr lang="en-US" sz="2800" b="1" dirty="0" smtClean="0">
              <a:ea typeface="隶书" panose="02010509060101010101" pitchFamily="49" charset="-122"/>
            </a:endParaRPr>
          </a:p>
          <a:p>
            <a:pPr>
              <a:lnSpc>
                <a:spcPts val="4500"/>
              </a:lnSpc>
            </a:pPr>
            <a:r>
              <a:rPr lang="en-US" sz="2800" b="1" dirty="0" smtClean="0">
                <a:ea typeface="隶书" panose="02010509060101010101" pitchFamily="49" charset="-122"/>
              </a:rPr>
              <a:t>#include “</a:t>
            </a:r>
            <a:r>
              <a:rPr lang="en-US" sz="2800" b="1" dirty="0" err="1" smtClean="0">
                <a:ea typeface="隶书" panose="02010509060101010101" pitchFamily="49" charset="-122"/>
              </a:rPr>
              <a:t>omp.h</a:t>
            </a:r>
            <a:r>
              <a:rPr lang="en-US" sz="2800" b="1" dirty="0" smtClean="0">
                <a:ea typeface="隶书" panose="02010509060101010101" pitchFamily="49" charset="-122"/>
              </a:rPr>
              <a:t>”</a:t>
            </a:r>
            <a:endParaRPr lang="en-US" sz="2800" b="1" dirty="0" smtClean="0">
              <a:ea typeface="隶书" panose="02010509060101010101" pitchFamily="49" charset="-122"/>
            </a:endParaRPr>
          </a:p>
          <a:p>
            <a:pPr>
              <a:lnSpc>
                <a:spcPts val="4500"/>
              </a:lnSpc>
            </a:pPr>
            <a:r>
              <a:rPr lang="en-US" sz="2800" b="1" dirty="0" err="1" smtClean="0">
                <a:ea typeface="隶书" panose="02010509060101010101" pitchFamily="49" charset="-122"/>
              </a:rPr>
              <a:t>Int</a:t>
            </a:r>
            <a:r>
              <a:rPr lang="en-US" sz="2800" b="1" dirty="0" smtClean="0">
                <a:ea typeface="隶书" panose="02010509060101010101" pitchFamily="49" charset="-122"/>
              </a:rPr>
              <a:t>  main()</a:t>
            </a:r>
            <a:endParaRPr lang="en-US" sz="2800" b="1" dirty="0" smtClean="0">
              <a:ea typeface="隶书" panose="02010509060101010101" pitchFamily="49" charset="-122"/>
            </a:endParaRPr>
          </a:p>
          <a:p>
            <a:pPr>
              <a:lnSpc>
                <a:spcPts val="4500"/>
              </a:lnSpc>
            </a:pPr>
            <a:r>
              <a:rPr lang="en-US" sz="2800" b="1" dirty="0" smtClean="0">
                <a:ea typeface="隶书" panose="02010509060101010101" pitchFamily="49" charset="-122"/>
              </a:rPr>
              <a:t>{ </a:t>
            </a:r>
            <a:r>
              <a:rPr lang="en-US" sz="2800" b="1" dirty="0" err="1" smtClean="0">
                <a:ea typeface="隶书" panose="02010509060101010101" pitchFamily="49" charset="-122"/>
              </a:rPr>
              <a:t>int</a:t>
            </a:r>
            <a:r>
              <a:rPr lang="en-US" sz="2800" b="1" dirty="0" smtClean="0">
                <a:ea typeface="隶书" panose="02010509060101010101" pitchFamily="49" charset="-122"/>
              </a:rPr>
              <a:t> x;</a:t>
            </a:r>
            <a:endParaRPr lang="en-US" sz="2800" b="1" dirty="0" smtClean="0">
              <a:ea typeface="隶书" panose="02010509060101010101" pitchFamily="49" charset="-122"/>
            </a:endParaRPr>
          </a:p>
          <a:p>
            <a:pPr>
              <a:lnSpc>
                <a:spcPts val="4500"/>
              </a:lnSpc>
            </a:pPr>
            <a:r>
              <a:rPr lang="en-US" sz="2800" b="1" dirty="0">
                <a:ea typeface="隶书" panose="02010509060101010101" pitchFamily="49" charset="-122"/>
              </a:rPr>
              <a:t> </a:t>
            </a:r>
            <a:r>
              <a:rPr lang="en-US" sz="2800" b="1" dirty="0" smtClean="0">
                <a:ea typeface="隶书" panose="02010509060101010101" pitchFamily="49" charset="-122"/>
              </a:rPr>
              <a:t>  </a:t>
            </a:r>
            <a:r>
              <a:rPr lang="en-US" sz="2800" b="1" dirty="0" err="1" smtClean="0">
                <a:ea typeface="隶书" panose="02010509060101010101" pitchFamily="49" charset="-122"/>
              </a:rPr>
              <a:t>omp_lock_t</a:t>
            </a:r>
            <a:r>
              <a:rPr lang="en-US" sz="2800" b="1" dirty="0" smtClean="0">
                <a:ea typeface="隶书" panose="02010509060101010101" pitchFamily="49" charset="-122"/>
              </a:rPr>
              <a:t> </a:t>
            </a:r>
            <a:r>
              <a:rPr lang="en-US" sz="2800" b="1" dirty="0" err="1" smtClean="0">
                <a:ea typeface="隶书" panose="02010509060101010101" pitchFamily="49" charset="-122"/>
              </a:rPr>
              <a:t>lck</a:t>
            </a:r>
            <a:r>
              <a:rPr lang="en-US" sz="2800" b="1" dirty="0" smtClean="0">
                <a:ea typeface="隶书" panose="02010509060101010101" pitchFamily="49" charset="-122"/>
              </a:rPr>
              <a:t>;</a:t>
            </a:r>
            <a:endParaRPr lang="en-US" sz="2800" b="1" dirty="0" smtClean="0">
              <a:ea typeface="隶书" panose="02010509060101010101" pitchFamily="49" charset="-122"/>
            </a:endParaRPr>
          </a:p>
          <a:p>
            <a:pPr>
              <a:lnSpc>
                <a:spcPts val="4500"/>
              </a:lnSpc>
            </a:pPr>
            <a:r>
              <a:rPr lang="en-US" sz="2800" b="1" dirty="0" smtClean="0">
                <a:ea typeface="隶书" panose="02010509060101010101" pitchFamily="49" charset="-122"/>
              </a:rPr>
              <a:t>   </a:t>
            </a:r>
            <a:r>
              <a:rPr lang="en-US" sz="2800" b="1" dirty="0" smtClean="0">
                <a:solidFill>
                  <a:srgbClr val="6A247A"/>
                </a:solidFill>
                <a:ea typeface="隶书" panose="02010509060101010101" pitchFamily="49" charset="-122"/>
              </a:rPr>
              <a:t>omp_init_lock(&amp;</a:t>
            </a:r>
            <a:r>
              <a:rPr lang="en-US" sz="2800" b="1" dirty="0" err="1" smtClean="0">
                <a:solidFill>
                  <a:srgbClr val="6A247A"/>
                </a:solidFill>
                <a:ea typeface="隶书" panose="02010509060101010101" pitchFamily="49" charset="-122"/>
              </a:rPr>
              <a:t>lck</a:t>
            </a:r>
            <a:r>
              <a:rPr lang="en-US" sz="2800" b="1" dirty="0" smtClean="0">
                <a:solidFill>
                  <a:srgbClr val="6A247A"/>
                </a:solidFill>
                <a:ea typeface="隶书" panose="02010509060101010101" pitchFamily="49" charset="-122"/>
              </a:rPr>
              <a:t>);</a:t>
            </a:r>
            <a:endParaRPr lang="en-US" sz="2800" b="1" dirty="0" smtClean="0">
              <a:solidFill>
                <a:srgbClr val="6A247A"/>
              </a:solidFill>
              <a:ea typeface="隶书" panose="02010509060101010101" pitchFamily="49" charset="-122"/>
            </a:endParaRPr>
          </a:p>
          <a:p>
            <a:pPr>
              <a:lnSpc>
                <a:spcPts val="4500"/>
              </a:lnSpc>
            </a:pPr>
            <a:r>
              <a:rPr lang="en-US" sz="2800" b="1" dirty="0" smtClean="0">
                <a:solidFill>
                  <a:srgbClr val="6A247A"/>
                </a:solidFill>
                <a:ea typeface="隶书" panose="02010509060101010101" pitchFamily="49" charset="-122"/>
              </a:rPr>
              <a:t>   </a:t>
            </a:r>
            <a:r>
              <a:rPr lang="en-US" sz="2800" b="1" dirty="0" err="1" smtClean="0">
                <a:solidFill>
                  <a:srgbClr val="6A247A"/>
                </a:solidFill>
                <a:ea typeface="隶书" panose="02010509060101010101" pitchFamily="49" charset="-122"/>
              </a:rPr>
              <a:t>omp_set_lock</a:t>
            </a:r>
            <a:r>
              <a:rPr lang="en-US" sz="2800" b="1" dirty="0">
                <a:solidFill>
                  <a:srgbClr val="6A247A"/>
                </a:solidFill>
                <a:ea typeface="隶书" panose="02010509060101010101" pitchFamily="49" charset="-122"/>
              </a:rPr>
              <a:t>(&amp;</a:t>
            </a:r>
            <a:r>
              <a:rPr lang="en-US" sz="2800" b="1" dirty="0" err="1">
                <a:solidFill>
                  <a:srgbClr val="6A247A"/>
                </a:solidFill>
                <a:ea typeface="隶书" panose="02010509060101010101" pitchFamily="49" charset="-122"/>
              </a:rPr>
              <a:t>lck</a:t>
            </a:r>
            <a:r>
              <a:rPr lang="en-US" sz="2800" b="1" dirty="0" smtClean="0">
                <a:solidFill>
                  <a:srgbClr val="6A247A"/>
                </a:solidFill>
                <a:ea typeface="隶书" panose="02010509060101010101" pitchFamily="49" charset="-122"/>
              </a:rPr>
              <a:t>);</a:t>
            </a:r>
            <a:endParaRPr lang="en-US" sz="2800" b="1" dirty="0" smtClean="0">
              <a:solidFill>
                <a:srgbClr val="6A247A"/>
              </a:solidFill>
              <a:ea typeface="隶书" panose="02010509060101010101" pitchFamily="49" charset="-122"/>
            </a:endParaRPr>
          </a:p>
          <a:p>
            <a:pPr>
              <a:lnSpc>
                <a:spcPts val="4500"/>
              </a:lnSpc>
            </a:pPr>
            <a:r>
              <a:rPr lang="en-US" sz="2800" b="1" dirty="0">
                <a:ea typeface="隶书" panose="02010509060101010101" pitchFamily="49" charset="-122"/>
              </a:rPr>
              <a:t> </a:t>
            </a:r>
            <a:r>
              <a:rPr lang="en-US" sz="2800" b="1" dirty="0" smtClean="0">
                <a:ea typeface="隶书" panose="02010509060101010101" pitchFamily="49" charset="-122"/>
              </a:rPr>
              <a:t>   x=0;</a:t>
            </a:r>
            <a:endParaRPr lang="en-US" sz="2800" b="1" dirty="0">
              <a:ea typeface="隶书" panose="02010509060101010101" pitchFamily="49" charset="-122"/>
            </a:endParaRPr>
          </a:p>
        </p:txBody>
      </p:sp>
      <p:sp>
        <p:nvSpPr>
          <p:cNvPr id="5" name="矩形 4"/>
          <p:cNvSpPr/>
          <p:nvPr/>
        </p:nvSpPr>
        <p:spPr>
          <a:xfrm>
            <a:off x="5698573" y="1034281"/>
            <a:ext cx="5385063" cy="5262979"/>
          </a:xfrm>
          <a:prstGeom prst="rect">
            <a:avLst/>
          </a:prstGeom>
        </p:spPr>
        <p:txBody>
          <a:bodyPr wrap="square">
            <a:spAutoFit/>
          </a:bodyPr>
          <a:lstStyle/>
          <a:p>
            <a:r>
              <a:rPr lang="en-US" sz="2800" b="1" dirty="0"/>
              <a:t>#pragma </a:t>
            </a:r>
            <a:r>
              <a:rPr lang="en-US" sz="2800" b="1" dirty="0" err="1"/>
              <a:t>omp</a:t>
            </a:r>
            <a:r>
              <a:rPr lang="en-US" sz="2800" b="1" dirty="0"/>
              <a:t> </a:t>
            </a:r>
            <a:r>
              <a:rPr lang="en-US" sz="2800" b="1" dirty="0" smtClean="0"/>
              <a:t>parallel  shared(x)</a:t>
            </a:r>
            <a:endParaRPr lang="en-US" sz="2800" b="1" dirty="0" smtClean="0"/>
          </a:p>
          <a:p>
            <a:r>
              <a:rPr lang="en-US" sz="2800" b="1" dirty="0" smtClean="0"/>
              <a:t>{   #</a:t>
            </a:r>
            <a:r>
              <a:rPr lang="en-US" sz="2800" b="1" dirty="0"/>
              <a:t>pragma </a:t>
            </a:r>
            <a:r>
              <a:rPr lang="en-US" sz="2800" b="1" dirty="0" err="1"/>
              <a:t>omp</a:t>
            </a:r>
            <a:r>
              <a:rPr lang="en-US" sz="2800" b="1" dirty="0"/>
              <a:t> </a:t>
            </a:r>
            <a:r>
              <a:rPr lang="en-US" sz="2800" b="1" dirty="0" smtClean="0"/>
              <a:t>master</a:t>
            </a:r>
            <a:endParaRPr lang="en-US" sz="2800" b="1" dirty="0" smtClean="0"/>
          </a:p>
          <a:p>
            <a:r>
              <a:rPr lang="en-US" sz="2800" b="1" dirty="0"/>
              <a:t> </a:t>
            </a:r>
            <a:r>
              <a:rPr lang="en-US" sz="2800" b="1" dirty="0" smtClean="0"/>
              <a:t>    { …</a:t>
            </a:r>
            <a:endParaRPr lang="en-US" sz="2800" b="1" dirty="0" smtClean="0"/>
          </a:p>
          <a:p>
            <a:r>
              <a:rPr lang="en-US" sz="2800" b="1" dirty="0"/>
              <a:t> </a:t>
            </a:r>
            <a:r>
              <a:rPr lang="en-US" sz="2800" b="1" dirty="0" smtClean="0"/>
              <a:t>       x=x+1;</a:t>
            </a:r>
            <a:endParaRPr lang="en-US" sz="2800" b="1" dirty="0" smtClean="0"/>
          </a:p>
          <a:p>
            <a:r>
              <a:rPr lang="en-US" sz="2800" b="1" dirty="0"/>
              <a:t> </a:t>
            </a:r>
            <a:r>
              <a:rPr lang="en-US" sz="2800" b="1" dirty="0" smtClean="0"/>
              <a:t>       </a:t>
            </a:r>
            <a:r>
              <a:rPr lang="en-US" sz="2800" b="1" dirty="0" smtClean="0">
                <a:solidFill>
                  <a:srgbClr val="6A247A"/>
                </a:solidFill>
              </a:rPr>
              <a:t>omp_unset_lock(&amp;</a:t>
            </a:r>
            <a:r>
              <a:rPr lang="en-US" sz="2800" b="1" dirty="0" err="1" smtClean="0">
                <a:solidFill>
                  <a:srgbClr val="6A247A"/>
                </a:solidFill>
              </a:rPr>
              <a:t>lck</a:t>
            </a:r>
            <a:r>
              <a:rPr lang="en-US" sz="2800" b="1" dirty="0" smtClean="0">
                <a:solidFill>
                  <a:srgbClr val="6A247A"/>
                </a:solidFill>
              </a:rPr>
              <a:t>);</a:t>
            </a:r>
            <a:endParaRPr lang="en-US" sz="2800" b="1" dirty="0" smtClean="0">
              <a:solidFill>
                <a:srgbClr val="6A247A"/>
              </a:solidFill>
            </a:endParaRPr>
          </a:p>
          <a:p>
            <a:r>
              <a:rPr lang="en-US" sz="2800" b="1" dirty="0"/>
              <a:t> </a:t>
            </a:r>
            <a:r>
              <a:rPr lang="en-US" sz="2800" b="1" dirty="0" smtClean="0"/>
              <a:t>     }</a:t>
            </a:r>
            <a:endParaRPr lang="en-US" sz="2800" b="1" dirty="0" smtClean="0"/>
          </a:p>
          <a:p>
            <a:r>
              <a:rPr lang="en-US" sz="2800" b="1" dirty="0" smtClean="0"/>
              <a:t>   ……</a:t>
            </a:r>
            <a:endParaRPr lang="en-US" sz="2800" b="1" dirty="0" smtClean="0"/>
          </a:p>
          <a:p>
            <a:r>
              <a:rPr lang="en-US" sz="2800" b="1" dirty="0" smtClean="0"/>
              <a:t>  }</a:t>
            </a:r>
            <a:endParaRPr lang="en-US" sz="2800" b="1" dirty="0"/>
          </a:p>
          <a:p>
            <a:r>
              <a:rPr lang="en-US" sz="2800" b="1" dirty="0" err="1">
                <a:solidFill>
                  <a:srgbClr val="6A247A"/>
                </a:solidFill>
              </a:rPr>
              <a:t>omp_destroy_lock</a:t>
            </a:r>
            <a:r>
              <a:rPr lang="en-US" sz="2800" b="1" dirty="0" smtClean="0">
                <a:solidFill>
                  <a:srgbClr val="6A247A"/>
                </a:solidFill>
              </a:rPr>
              <a:t>(&amp;</a:t>
            </a:r>
            <a:r>
              <a:rPr lang="en-US" sz="2800" b="1" dirty="0" err="1" smtClean="0">
                <a:solidFill>
                  <a:srgbClr val="6A247A"/>
                </a:solidFill>
              </a:rPr>
              <a:t>lck</a:t>
            </a:r>
            <a:r>
              <a:rPr lang="en-US" sz="2800" b="1" dirty="0" smtClean="0">
                <a:solidFill>
                  <a:srgbClr val="6A247A"/>
                </a:solidFill>
              </a:rPr>
              <a:t>);</a:t>
            </a:r>
            <a:endParaRPr lang="en-US" sz="2800" b="1" dirty="0" smtClean="0">
              <a:solidFill>
                <a:srgbClr val="6A247A"/>
              </a:solidFill>
            </a:endParaRPr>
          </a:p>
          <a:p>
            <a:r>
              <a:rPr lang="en-US" sz="2800" b="1" dirty="0"/>
              <a:t>r</a:t>
            </a:r>
            <a:r>
              <a:rPr lang="en-US" sz="2800" b="1" dirty="0" smtClean="0"/>
              <a:t>eturn 0;</a:t>
            </a:r>
            <a:endParaRPr lang="en-US" sz="2800" b="1" dirty="0" smtClean="0"/>
          </a:p>
          <a:p>
            <a:r>
              <a:rPr lang="en-US" sz="2800" b="1" dirty="0"/>
              <a:t>}</a:t>
            </a:r>
            <a:endParaRPr lang="en-US" sz="2800" b="1" dirty="0"/>
          </a:p>
          <a:p>
            <a:endParaRPr lang="en-US" sz="2800" b="1" dirty="0"/>
          </a:p>
        </p:txBody>
      </p:sp>
      <p:cxnSp>
        <p:nvCxnSpPr>
          <p:cNvPr id="7" name="直接连接符 6"/>
          <p:cNvCxnSpPr/>
          <p:nvPr/>
        </p:nvCxnSpPr>
        <p:spPr bwMode="auto">
          <a:xfrm>
            <a:off x="5001491" y="1246909"/>
            <a:ext cx="55418" cy="4876800"/>
          </a:xfrm>
          <a:prstGeom prst="line">
            <a:avLst/>
          </a:prstGeom>
          <a:solidFill>
            <a:schemeClr val="accent1"/>
          </a:solidFill>
          <a:ln w="9525" cap="flat" cmpd="sng" algn="ctr">
            <a:solidFill>
              <a:schemeClr val="tx1"/>
            </a:solidFill>
            <a:prstDash val="solid"/>
            <a:round/>
            <a:headEnd type="none" w="med" len="med"/>
            <a:tailEnd type="none" w="med" len="med"/>
          </a:ln>
        </p:spPr>
      </p:cxnSp>
      <p:sp>
        <p:nvSpPr>
          <p:cNvPr id="8" name="横卷形 7"/>
          <p:cNvSpPr/>
          <p:nvPr/>
        </p:nvSpPr>
        <p:spPr bwMode="auto">
          <a:xfrm>
            <a:off x="9850582" y="4722036"/>
            <a:ext cx="2092036" cy="1122218"/>
          </a:xfrm>
          <a:prstGeom prst="horizontalScroll">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smtClean="0">
              <a:ln>
                <a:noFill/>
              </a:ln>
              <a:solidFill>
                <a:schemeClr val="tx1"/>
              </a:solidFill>
              <a:effectLst/>
              <a:latin typeface="Arial" panose="020B0604020202020204" pitchFamily="34" charset="0"/>
              <a:ea typeface="隶书" panose="02010509060101010101" pitchFamily="49" charset="-122"/>
            </a:endParaRPr>
          </a:p>
        </p:txBody>
      </p:sp>
      <p:sp>
        <p:nvSpPr>
          <p:cNvPr id="9" name="文本框 8"/>
          <p:cNvSpPr txBox="1"/>
          <p:nvPr/>
        </p:nvSpPr>
        <p:spPr>
          <a:xfrm>
            <a:off x="9982200" y="4990757"/>
            <a:ext cx="1828800" cy="584775"/>
          </a:xfrm>
          <a:prstGeom prst="rect">
            <a:avLst/>
          </a:prstGeom>
          <a:noFill/>
        </p:spPr>
        <p:txBody>
          <a:bodyPr wrap="square" rtlCol="0">
            <a:spAutoFit/>
          </a:bodyPr>
          <a:lstStyle/>
          <a:p>
            <a:r>
              <a:rPr lang="zh-CN" altLang="en-US" sz="3200" b="1" dirty="0" smtClean="0">
                <a:solidFill>
                  <a:schemeClr val="bg1"/>
                </a:solidFill>
                <a:latin typeface="华文行楷" panose="02010800040101010101" pitchFamily="2" charset="-122"/>
                <a:ea typeface="华文行楷" panose="02010800040101010101" pitchFamily="2" charset="-122"/>
              </a:rPr>
              <a:t>有问题吗？</a:t>
            </a:r>
            <a:endParaRPr lang="en-US" sz="3200" b="1" dirty="0">
              <a:solidFill>
                <a:schemeClr val="bg1"/>
              </a:solidFill>
              <a:latin typeface="华文行楷" panose="02010800040101010101" pitchFamily="2" charset="-122"/>
              <a:ea typeface="华文行楷" panose="02010800040101010101" pitchFamily="2" charset="-122"/>
            </a:endParaRPr>
          </a:p>
        </p:txBody>
      </p:sp>
    </p:spTree>
  </p:cSld>
  <p:clrMapOvr>
    <a:masterClrMapping/>
  </p:clrMapOvr>
  <p:transition spd="med" advTm="3025">
    <p:fade/>
  </p:transition>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86691" y="969818"/>
            <a:ext cx="10210800" cy="4755148"/>
          </a:xfrm>
          <a:prstGeom prst="rect">
            <a:avLst/>
          </a:prstGeom>
          <a:noFill/>
        </p:spPr>
        <p:txBody>
          <a:bodyPr wrap="square" rtlCol="0">
            <a:spAutoFit/>
          </a:bodyPr>
          <a:lstStyle/>
          <a:p>
            <a:pPr>
              <a:lnSpc>
                <a:spcPct val="150000"/>
              </a:lnSpc>
            </a:pPr>
            <a:r>
              <a:rPr lang="zh-CN" altLang="en-US" sz="3200" b="1" dirty="0" smtClean="0"/>
              <a:t>初始线程对锁变量</a:t>
            </a:r>
            <a:r>
              <a:rPr lang="en-US" altLang="zh-CN" sz="3200" b="1" dirty="0" err="1" smtClean="0"/>
              <a:t>lck</a:t>
            </a:r>
            <a:r>
              <a:rPr lang="zh-CN" altLang="en-US" sz="3200" b="1" dirty="0" smtClean="0"/>
              <a:t>进行上锁操作</a:t>
            </a:r>
            <a:endParaRPr lang="en-US" altLang="zh-CN" sz="3200" b="1" dirty="0" smtClean="0"/>
          </a:p>
          <a:p>
            <a:pPr>
              <a:lnSpc>
                <a:spcPct val="150000"/>
              </a:lnSpc>
            </a:pPr>
            <a:r>
              <a:rPr lang="zh-CN" altLang="en-US" sz="3200" b="1" dirty="0" smtClean="0"/>
              <a:t>在并行区中的主线程</a:t>
            </a:r>
            <a:r>
              <a:rPr lang="en-US" altLang="zh-CN" sz="3200" b="1" dirty="0" smtClean="0"/>
              <a:t>master</a:t>
            </a:r>
            <a:r>
              <a:rPr lang="zh-CN" altLang="en-US" sz="3200" b="1" dirty="0" smtClean="0"/>
              <a:t>对锁变量</a:t>
            </a:r>
            <a:r>
              <a:rPr lang="en-US" altLang="zh-CN" sz="3200" b="1" dirty="0" err="1" smtClean="0"/>
              <a:t>lck</a:t>
            </a:r>
            <a:r>
              <a:rPr lang="zh-CN" altLang="en-US" sz="3200" b="1" dirty="0" smtClean="0"/>
              <a:t>进行解锁操作</a:t>
            </a:r>
            <a:endParaRPr lang="en-US" altLang="zh-CN" sz="3200" b="1" dirty="0" smtClean="0"/>
          </a:p>
          <a:p>
            <a:pPr>
              <a:lnSpc>
                <a:spcPct val="150000"/>
              </a:lnSpc>
            </a:pPr>
            <a:r>
              <a:rPr lang="zh-CN" altLang="en-US" sz="3200" b="1" dirty="0" smtClean="0"/>
              <a:t>初始线程和</a:t>
            </a:r>
            <a:r>
              <a:rPr lang="en-US" altLang="zh-CN" sz="3200" b="1" dirty="0" smtClean="0"/>
              <a:t>master</a:t>
            </a:r>
            <a:r>
              <a:rPr lang="zh-CN" altLang="en-US" sz="3200" b="1" dirty="0" smtClean="0"/>
              <a:t>是相同的线程，符合</a:t>
            </a:r>
            <a:r>
              <a:rPr lang="en-US" altLang="zh-CN" sz="3200" b="1" dirty="0" smtClean="0"/>
              <a:t>OpenMP 2.5</a:t>
            </a:r>
            <a:r>
              <a:rPr lang="zh-CN" altLang="en-US" sz="3200" b="1" dirty="0" smtClean="0"/>
              <a:t>规范</a:t>
            </a:r>
            <a:endParaRPr lang="en-US" altLang="zh-CN" sz="3200" b="1" dirty="0" smtClean="0"/>
          </a:p>
          <a:p>
            <a:pPr>
              <a:lnSpc>
                <a:spcPct val="150000"/>
              </a:lnSpc>
            </a:pPr>
            <a:endParaRPr lang="en-US" altLang="zh-CN" sz="1000" dirty="0" smtClean="0"/>
          </a:p>
          <a:p>
            <a:pPr>
              <a:lnSpc>
                <a:spcPct val="150000"/>
              </a:lnSpc>
            </a:pPr>
            <a:r>
              <a:rPr lang="zh-CN" altLang="en-US" sz="3200" b="1" dirty="0" smtClean="0">
                <a:solidFill>
                  <a:srgbClr val="2D0AC2"/>
                </a:solidFill>
              </a:rPr>
              <a:t>但是，不符合</a:t>
            </a:r>
            <a:r>
              <a:rPr lang="en-US" altLang="zh-CN" sz="3200" b="1" dirty="0" smtClean="0">
                <a:solidFill>
                  <a:srgbClr val="2D0AC2"/>
                </a:solidFill>
              </a:rPr>
              <a:t>OpenMP 3.0</a:t>
            </a:r>
            <a:r>
              <a:rPr lang="zh-CN" altLang="en-US" sz="3200" b="1" dirty="0" smtClean="0">
                <a:solidFill>
                  <a:srgbClr val="2D0AC2"/>
                </a:solidFill>
              </a:rPr>
              <a:t>及以上规范！</a:t>
            </a:r>
            <a:endParaRPr lang="en-US" altLang="zh-CN" sz="3200" b="1" dirty="0" smtClean="0">
              <a:solidFill>
                <a:srgbClr val="2D0AC2"/>
              </a:solidFill>
            </a:endParaRPr>
          </a:p>
          <a:p>
            <a:pPr>
              <a:lnSpc>
                <a:spcPct val="150000"/>
              </a:lnSpc>
            </a:pPr>
            <a:r>
              <a:rPr lang="zh-CN" altLang="en-US" sz="3200" b="1" dirty="0" smtClean="0">
                <a:solidFill>
                  <a:srgbClr val="2D0AC2"/>
                </a:solidFill>
              </a:rPr>
              <a:t>包含上锁操作的任务区与包含解锁操作的任务区不相同</a:t>
            </a:r>
            <a:endParaRPr lang="en-US" altLang="zh-CN" sz="3200" b="1" dirty="0" smtClean="0">
              <a:solidFill>
                <a:srgbClr val="2D0AC2"/>
              </a:solidFill>
            </a:endParaRPr>
          </a:p>
          <a:p>
            <a:pPr>
              <a:lnSpc>
                <a:spcPct val="150000"/>
              </a:lnSpc>
            </a:pPr>
            <a:r>
              <a:rPr lang="zh-CN" altLang="en-US" sz="3200" b="1" dirty="0" smtClean="0">
                <a:solidFill>
                  <a:srgbClr val="2D0AC2"/>
                </a:solidFill>
              </a:rPr>
              <a:t>具体与</a:t>
            </a:r>
            <a:r>
              <a:rPr lang="en-US" altLang="zh-CN" sz="3200" b="1" dirty="0" smtClean="0">
                <a:solidFill>
                  <a:srgbClr val="2D0AC2"/>
                </a:solidFill>
              </a:rPr>
              <a:t>OpenMP</a:t>
            </a:r>
            <a:r>
              <a:rPr lang="zh-CN" altLang="en-US" sz="3200" b="1" dirty="0" smtClean="0">
                <a:solidFill>
                  <a:srgbClr val="2D0AC2"/>
                </a:solidFill>
              </a:rPr>
              <a:t>编译器实现有关</a:t>
            </a:r>
            <a:endParaRPr lang="en-US" sz="3200" b="1" dirty="0">
              <a:solidFill>
                <a:srgbClr val="2D0AC2"/>
              </a:solidFill>
            </a:endParaRPr>
          </a:p>
        </p:txBody>
      </p:sp>
    </p:spTree>
  </p:cSld>
  <p:clrMapOvr>
    <a:masterClrMapping/>
  </p:clrMapOvr>
  <p:transition spd="med" advTm="3025">
    <p:fade/>
  </p:transition>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71055" y="408710"/>
            <a:ext cx="10972800" cy="5811981"/>
          </a:xfrm>
        </p:spPr>
        <p:txBody>
          <a:bodyPr/>
          <a:lstStyle/>
          <a:p>
            <a:pPr marL="0" indent="0" algn="ctr">
              <a:buNone/>
            </a:pPr>
            <a:r>
              <a:rPr lang="en-US" sz="4800" b="1" dirty="0" smtClean="0">
                <a:solidFill>
                  <a:srgbClr val="2D0AC2"/>
                </a:solidFill>
                <a:latin typeface="+mj-lt"/>
                <a:ea typeface="隶书" panose="02010509060101010101" pitchFamily="49" charset="-122"/>
              </a:rPr>
              <a:t>OpenMP</a:t>
            </a:r>
            <a:r>
              <a:rPr lang="zh-CN" altLang="en-US" sz="4800" b="1" dirty="0" smtClean="0">
                <a:solidFill>
                  <a:srgbClr val="2D0AC2"/>
                </a:solidFill>
                <a:latin typeface="+mj-lt"/>
                <a:ea typeface="隶书" panose="02010509060101010101" pitchFamily="49" charset="-122"/>
              </a:rPr>
              <a:t>运行时函数库</a:t>
            </a:r>
            <a:endParaRPr lang="en-US" altLang="zh-CN" sz="4800" b="1" dirty="0" smtClean="0">
              <a:solidFill>
                <a:srgbClr val="2D0AC2"/>
              </a:solidFill>
              <a:latin typeface="+mj-lt"/>
              <a:ea typeface="隶书" panose="02010509060101010101" pitchFamily="49" charset="-122"/>
            </a:endParaRPr>
          </a:p>
          <a:p>
            <a:pPr marL="0" indent="0">
              <a:buNone/>
            </a:pPr>
            <a:r>
              <a:rPr lang="zh-CN" altLang="en-US" b="1" dirty="0">
                <a:solidFill>
                  <a:srgbClr val="2D0AC2"/>
                </a:solidFill>
                <a:latin typeface="+mj-lt"/>
                <a:ea typeface="隶书" panose="02010509060101010101" pitchFamily="49" charset="-122"/>
              </a:rPr>
              <a:t>时间</a:t>
            </a:r>
            <a:r>
              <a:rPr lang="zh-CN" altLang="en-US" b="1" dirty="0" smtClean="0">
                <a:solidFill>
                  <a:srgbClr val="2D0AC2"/>
                </a:solidFill>
                <a:latin typeface="+mj-lt"/>
                <a:ea typeface="隶书" panose="02010509060101010101" pitchFamily="49" charset="-122"/>
              </a:rPr>
              <a:t>函数</a:t>
            </a:r>
            <a:endParaRPr lang="en-US" altLang="zh-CN" b="1" dirty="0" smtClean="0">
              <a:solidFill>
                <a:srgbClr val="2D0AC2"/>
              </a:solidFill>
              <a:latin typeface="+mj-lt"/>
              <a:ea typeface="隶书" panose="02010509060101010101" pitchFamily="49" charset="-122"/>
            </a:endParaRPr>
          </a:p>
          <a:p>
            <a:pPr>
              <a:buFont typeface="Wingdings" panose="05000000000000000000" pitchFamily="2" charset="2"/>
              <a:buChar char="v"/>
            </a:pPr>
            <a:r>
              <a:rPr lang="en-US" altLang="zh-CN" b="1" dirty="0" err="1" smtClean="0">
                <a:latin typeface="+mj-lt"/>
                <a:ea typeface="隶书" panose="02010509060101010101" pitchFamily="49" charset="-122"/>
              </a:rPr>
              <a:t>omp_get_wtime</a:t>
            </a:r>
            <a:r>
              <a:rPr lang="en-US" altLang="zh-CN" b="1" dirty="0" smtClean="0">
                <a:latin typeface="+mj-lt"/>
                <a:ea typeface="隶书" panose="02010509060101010101" pitchFamily="49" charset="-122"/>
              </a:rPr>
              <a:t>():  </a:t>
            </a:r>
            <a:r>
              <a:rPr lang="zh-CN" altLang="en-US" b="1" dirty="0" smtClean="0">
                <a:latin typeface="+mj-lt"/>
                <a:ea typeface="隶书" panose="02010509060101010101" pitchFamily="49" charset="-122"/>
              </a:rPr>
              <a:t>返回从某个时间点开始的时间</a:t>
            </a:r>
            <a:endParaRPr lang="en-US" altLang="zh-CN" b="1" dirty="0" smtClean="0">
              <a:latin typeface="+mj-lt"/>
              <a:ea typeface="隶书" panose="02010509060101010101" pitchFamily="49" charset="-122"/>
            </a:endParaRPr>
          </a:p>
          <a:p>
            <a:pPr marL="0" indent="0">
              <a:buNone/>
            </a:pPr>
            <a:r>
              <a:rPr lang="en-US" altLang="zh-CN" sz="2800" b="1" dirty="0">
                <a:solidFill>
                  <a:srgbClr val="6A247A"/>
                </a:solidFill>
                <a:latin typeface="+mj-lt"/>
                <a:ea typeface="隶书" panose="02010509060101010101" pitchFamily="49" charset="-122"/>
              </a:rPr>
              <a:t>d</a:t>
            </a:r>
            <a:r>
              <a:rPr lang="en-US" altLang="zh-CN" sz="2800" b="1" dirty="0" smtClean="0">
                <a:solidFill>
                  <a:srgbClr val="6A247A"/>
                </a:solidFill>
                <a:latin typeface="+mj-lt"/>
                <a:ea typeface="隶书" panose="02010509060101010101" pitchFamily="49" charset="-122"/>
              </a:rPr>
              <a:t>ouble  </a:t>
            </a:r>
            <a:r>
              <a:rPr lang="en-US" altLang="zh-CN" sz="2800" b="1" dirty="0" err="1" smtClean="0">
                <a:solidFill>
                  <a:srgbClr val="6A247A"/>
                </a:solidFill>
                <a:latin typeface="+mj-lt"/>
                <a:ea typeface="隶书" panose="02010509060101010101" pitchFamily="49" charset="-122"/>
              </a:rPr>
              <a:t>start,end</a:t>
            </a:r>
            <a:r>
              <a:rPr lang="en-US" altLang="zh-CN" sz="2800" b="1" dirty="0" smtClean="0">
                <a:solidFill>
                  <a:srgbClr val="6A247A"/>
                </a:solidFill>
                <a:latin typeface="+mj-lt"/>
                <a:ea typeface="隶书" panose="02010509060101010101" pitchFamily="49" charset="-122"/>
              </a:rPr>
              <a:t>;</a:t>
            </a:r>
            <a:endParaRPr lang="en-US" altLang="zh-CN" sz="2800" b="1" dirty="0" smtClean="0">
              <a:solidFill>
                <a:srgbClr val="6A247A"/>
              </a:solidFill>
              <a:latin typeface="+mj-lt"/>
              <a:ea typeface="隶书" panose="02010509060101010101" pitchFamily="49" charset="-122"/>
            </a:endParaRPr>
          </a:p>
          <a:p>
            <a:pPr marL="0" indent="0">
              <a:buNone/>
            </a:pPr>
            <a:r>
              <a:rPr lang="en-US" altLang="zh-CN" sz="2800" b="1" dirty="0" smtClean="0">
                <a:solidFill>
                  <a:srgbClr val="6A247A"/>
                </a:solidFill>
                <a:latin typeface="+mj-lt"/>
                <a:ea typeface="隶书" panose="02010509060101010101" pitchFamily="49" charset="-122"/>
              </a:rPr>
              <a:t>start=</a:t>
            </a:r>
            <a:r>
              <a:rPr lang="en-US" altLang="zh-CN" sz="2800" b="1" dirty="0" err="1" smtClean="0">
                <a:solidFill>
                  <a:srgbClr val="6A247A"/>
                </a:solidFill>
                <a:latin typeface="+mj-lt"/>
                <a:ea typeface="隶书" panose="02010509060101010101" pitchFamily="49" charset="-122"/>
              </a:rPr>
              <a:t>omp_get_wtime</a:t>
            </a:r>
            <a:r>
              <a:rPr lang="en-US" altLang="zh-CN" sz="2800" b="1" dirty="0" smtClean="0">
                <a:solidFill>
                  <a:srgbClr val="6A247A"/>
                </a:solidFill>
                <a:latin typeface="+mj-lt"/>
                <a:ea typeface="隶书" panose="02010509060101010101" pitchFamily="49" charset="-122"/>
              </a:rPr>
              <a:t>();</a:t>
            </a:r>
            <a:endParaRPr lang="en-US" altLang="zh-CN" sz="2800" b="1" dirty="0" smtClean="0">
              <a:solidFill>
                <a:srgbClr val="6A247A"/>
              </a:solidFill>
              <a:latin typeface="+mj-lt"/>
              <a:ea typeface="隶书" panose="02010509060101010101" pitchFamily="49" charset="-122"/>
            </a:endParaRPr>
          </a:p>
          <a:p>
            <a:pPr marL="0" indent="0">
              <a:buNone/>
            </a:pPr>
            <a:r>
              <a:rPr lang="en-US" altLang="zh-CN" sz="2800" b="1" dirty="0" smtClean="0">
                <a:solidFill>
                  <a:srgbClr val="6A247A"/>
                </a:solidFill>
                <a:latin typeface="+mj-lt"/>
                <a:ea typeface="隶书" panose="02010509060101010101" pitchFamily="49" charset="-122"/>
              </a:rPr>
              <a:t>……</a:t>
            </a:r>
            <a:endParaRPr lang="en-US" altLang="zh-CN" sz="2800" b="1" dirty="0" smtClean="0">
              <a:solidFill>
                <a:srgbClr val="6A247A"/>
              </a:solidFill>
              <a:latin typeface="+mj-lt"/>
              <a:ea typeface="隶书" panose="02010509060101010101" pitchFamily="49" charset="-122"/>
            </a:endParaRPr>
          </a:p>
          <a:p>
            <a:pPr marL="0" indent="0">
              <a:buNone/>
            </a:pPr>
            <a:r>
              <a:rPr lang="en-US" altLang="zh-CN" sz="2800" b="1" dirty="0">
                <a:solidFill>
                  <a:srgbClr val="6A247A"/>
                </a:solidFill>
                <a:latin typeface="+mj-lt"/>
                <a:ea typeface="隶书" panose="02010509060101010101" pitchFamily="49" charset="-122"/>
              </a:rPr>
              <a:t>e</a:t>
            </a:r>
            <a:r>
              <a:rPr lang="en-US" altLang="zh-CN" sz="2800" b="1" dirty="0" smtClean="0">
                <a:solidFill>
                  <a:srgbClr val="6A247A"/>
                </a:solidFill>
                <a:latin typeface="+mj-lt"/>
                <a:ea typeface="隶书" panose="02010509060101010101" pitchFamily="49" charset="-122"/>
              </a:rPr>
              <a:t>nd=</a:t>
            </a:r>
            <a:r>
              <a:rPr lang="en-US" altLang="zh-CN" sz="2800" b="1" dirty="0" err="1" smtClean="0">
                <a:solidFill>
                  <a:srgbClr val="6A247A"/>
                </a:solidFill>
                <a:latin typeface="+mj-lt"/>
                <a:ea typeface="隶书" panose="02010509060101010101" pitchFamily="49" charset="-122"/>
              </a:rPr>
              <a:t>omp_get_wtime</a:t>
            </a:r>
            <a:r>
              <a:rPr lang="en-US" altLang="zh-CN" sz="2800" b="1" dirty="0" smtClean="0">
                <a:solidFill>
                  <a:srgbClr val="6A247A"/>
                </a:solidFill>
                <a:latin typeface="+mj-lt"/>
                <a:ea typeface="隶书" panose="02010509060101010101" pitchFamily="49" charset="-122"/>
              </a:rPr>
              <a:t>();</a:t>
            </a:r>
            <a:endParaRPr lang="en-US" altLang="zh-CN" sz="2800" b="1" dirty="0" smtClean="0">
              <a:solidFill>
                <a:srgbClr val="6A247A"/>
              </a:solidFill>
              <a:latin typeface="+mj-lt"/>
              <a:ea typeface="隶书" panose="02010509060101010101" pitchFamily="49" charset="-122"/>
            </a:endParaRPr>
          </a:p>
          <a:p>
            <a:pPr marL="0" indent="0">
              <a:buNone/>
            </a:pPr>
            <a:r>
              <a:rPr lang="en-US" altLang="zh-CN" sz="2800" b="1" dirty="0" err="1">
                <a:solidFill>
                  <a:srgbClr val="6A247A"/>
                </a:solidFill>
                <a:latin typeface="+mj-lt"/>
                <a:ea typeface="隶书" panose="02010509060101010101" pitchFamily="49" charset="-122"/>
              </a:rPr>
              <a:t>p</a:t>
            </a:r>
            <a:r>
              <a:rPr lang="en-US" altLang="zh-CN" sz="2800" b="1" dirty="0" err="1" smtClean="0">
                <a:solidFill>
                  <a:srgbClr val="6A247A"/>
                </a:solidFill>
                <a:latin typeface="+mj-lt"/>
                <a:ea typeface="隶书" panose="02010509060101010101" pitchFamily="49" charset="-122"/>
              </a:rPr>
              <a:t>rintf</a:t>
            </a:r>
            <a:r>
              <a:rPr lang="en-US" altLang="zh-CN" sz="2800" b="1" dirty="0" smtClean="0">
                <a:solidFill>
                  <a:srgbClr val="6A247A"/>
                </a:solidFill>
                <a:latin typeface="+mj-lt"/>
                <a:ea typeface="隶书" panose="02010509060101010101" pitchFamily="49" charset="-122"/>
              </a:rPr>
              <a:t>(“Work took %f seconds\</a:t>
            </a:r>
            <a:r>
              <a:rPr lang="en-US" altLang="zh-CN" sz="2800" b="1" dirty="0" err="1" smtClean="0">
                <a:solidFill>
                  <a:srgbClr val="6A247A"/>
                </a:solidFill>
                <a:latin typeface="+mj-lt"/>
                <a:ea typeface="隶书" panose="02010509060101010101" pitchFamily="49" charset="-122"/>
              </a:rPr>
              <a:t>n”,end</a:t>
            </a:r>
            <a:r>
              <a:rPr lang="en-US" altLang="zh-CN" sz="2800" b="1" dirty="0" smtClean="0">
                <a:solidFill>
                  <a:srgbClr val="6A247A"/>
                </a:solidFill>
                <a:latin typeface="+mj-lt"/>
                <a:ea typeface="隶书" panose="02010509060101010101" pitchFamily="49" charset="-122"/>
              </a:rPr>
              <a:t>-start);</a:t>
            </a:r>
            <a:endParaRPr lang="en-US" altLang="zh-CN" sz="2800" b="1" dirty="0" smtClean="0">
              <a:solidFill>
                <a:srgbClr val="6A247A"/>
              </a:solidFill>
              <a:latin typeface="+mj-lt"/>
              <a:ea typeface="隶书" panose="02010509060101010101" pitchFamily="49" charset="-122"/>
            </a:endParaRPr>
          </a:p>
          <a:p>
            <a:pPr marL="0" indent="0">
              <a:buNone/>
            </a:pPr>
            <a:endParaRPr lang="en-US" altLang="zh-CN" sz="1100" b="1" dirty="0" smtClean="0">
              <a:solidFill>
                <a:srgbClr val="6A247A"/>
              </a:solidFill>
              <a:latin typeface="+mj-lt"/>
              <a:ea typeface="隶书" panose="02010509060101010101" pitchFamily="49" charset="-122"/>
            </a:endParaRPr>
          </a:p>
          <a:p>
            <a:pPr>
              <a:buFont typeface="Wingdings" panose="05000000000000000000" pitchFamily="2" charset="2"/>
              <a:buChar char="v"/>
            </a:pPr>
            <a:r>
              <a:rPr lang="en-US" altLang="zh-CN" b="1" dirty="0" err="1" smtClean="0">
                <a:latin typeface="+mj-lt"/>
                <a:ea typeface="隶书" panose="02010509060101010101" pitchFamily="49" charset="-122"/>
              </a:rPr>
              <a:t>omp_get_wtick</a:t>
            </a:r>
            <a:r>
              <a:rPr lang="en-US" altLang="zh-CN" b="1" dirty="0" smtClean="0">
                <a:latin typeface="+mj-lt"/>
                <a:ea typeface="隶书" panose="02010509060101010101" pitchFamily="49" charset="-122"/>
              </a:rPr>
              <a:t>( ):  </a:t>
            </a:r>
            <a:r>
              <a:rPr lang="zh-CN" altLang="en-US" b="1" dirty="0" smtClean="0">
                <a:latin typeface="+mj-lt"/>
                <a:ea typeface="隶书" panose="02010509060101010101" pitchFamily="49" charset="-122"/>
              </a:rPr>
              <a:t>获得时钟计数器的精度</a:t>
            </a:r>
            <a:endParaRPr lang="en-US" altLang="zh-CN" b="1" dirty="0" smtClean="0">
              <a:latin typeface="+mj-lt"/>
              <a:ea typeface="隶书" panose="02010509060101010101" pitchFamily="49" charset="-122"/>
            </a:endParaRPr>
          </a:p>
          <a:p>
            <a:pPr marL="0" indent="0">
              <a:buNone/>
            </a:pPr>
            <a:endParaRPr lang="en-US" altLang="zh-CN" b="1" dirty="0" smtClean="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zh-CN" altLang="en-US" b="1" dirty="0">
              <a:latin typeface="+mj-lt"/>
              <a:ea typeface="隶书" panose="02010509060101010101" pitchFamily="49" charset="-122"/>
            </a:endParaRPr>
          </a:p>
          <a:p>
            <a:pPr marL="0" indent="0">
              <a:buNone/>
            </a:pPr>
            <a:endParaRPr lang="en-US" altLang="zh-CN" b="1" dirty="0" smtClean="0">
              <a:latin typeface="+mj-lt"/>
              <a:ea typeface="隶书" panose="02010509060101010101" pitchFamily="49" charset="-122"/>
            </a:endParaRPr>
          </a:p>
          <a:p>
            <a:pPr marL="0" indent="0">
              <a:buNone/>
            </a:pPr>
            <a:endParaRPr lang="en-US" altLang="zh-CN" b="1" dirty="0" smtClean="0">
              <a:solidFill>
                <a:srgbClr val="2D0AC2"/>
              </a:solidFill>
              <a:latin typeface="+mj-lt"/>
              <a:ea typeface="隶书" panose="02010509060101010101" pitchFamily="49" charset="-122"/>
            </a:endParaRPr>
          </a:p>
        </p:txBody>
      </p:sp>
    </p:spTree>
  </p:cSld>
  <p:clrMapOvr>
    <a:masterClrMapping/>
  </p:clrMapOvr>
  <p:transition spd="med" advTm="3025">
    <p:fade/>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03564" y="207818"/>
            <a:ext cx="10571018" cy="6155531"/>
          </a:xfrm>
          <a:prstGeom prst="rect">
            <a:avLst/>
          </a:prstGeom>
          <a:noFill/>
        </p:spPr>
        <p:txBody>
          <a:bodyPr wrap="square" rtlCol="0">
            <a:spAutoFit/>
          </a:bodyPr>
          <a:lstStyle/>
          <a:p>
            <a:pPr algn="ctr">
              <a:lnSpc>
                <a:spcPct val="150000"/>
              </a:lnSpc>
            </a:pPr>
            <a:r>
              <a:rPr lang="en-US" sz="4800" b="1" dirty="0" smtClean="0">
                <a:solidFill>
                  <a:srgbClr val="2D0AC2"/>
                </a:solidFill>
                <a:ea typeface="隶书" panose="02010509060101010101" pitchFamily="49" charset="-122"/>
              </a:rPr>
              <a:t>OpenMP</a:t>
            </a:r>
            <a:r>
              <a:rPr lang="zh-CN" altLang="en-US" sz="4800" b="1" dirty="0" smtClean="0">
                <a:solidFill>
                  <a:srgbClr val="2D0AC2"/>
                </a:solidFill>
                <a:ea typeface="隶书" panose="02010509060101010101" pitchFamily="49" charset="-122"/>
              </a:rPr>
              <a:t>环境变量</a:t>
            </a:r>
            <a:endParaRPr lang="en-US" altLang="zh-CN" sz="4800" b="1" dirty="0" smtClean="0">
              <a:solidFill>
                <a:srgbClr val="2D0AC2"/>
              </a:solidFill>
              <a:ea typeface="隶书" panose="02010509060101010101" pitchFamily="49" charset="-122"/>
            </a:endParaRPr>
          </a:p>
          <a:p>
            <a:pPr marL="457200" indent="-457200">
              <a:lnSpc>
                <a:spcPct val="150000"/>
              </a:lnSpc>
              <a:buFont typeface="Wingdings" panose="05000000000000000000" pitchFamily="2" charset="2"/>
              <a:buChar char="q"/>
            </a:pPr>
            <a:r>
              <a:rPr lang="en-US" sz="2800" b="1" dirty="0" smtClean="0"/>
              <a:t>OpenMP</a:t>
            </a:r>
            <a:r>
              <a:rPr lang="zh-CN" altLang="en-US" sz="2800" b="1" dirty="0" smtClean="0"/>
              <a:t>提供环境变量用来控制并行代码的执行</a:t>
            </a:r>
            <a:endParaRPr lang="en-US" altLang="zh-CN" sz="2800" b="1" dirty="0" smtClean="0"/>
          </a:p>
          <a:p>
            <a:pPr marL="457200" indent="-457200">
              <a:lnSpc>
                <a:spcPct val="150000"/>
              </a:lnSpc>
              <a:buFont typeface="Wingdings" panose="05000000000000000000" pitchFamily="2" charset="2"/>
              <a:buChar char="q"/>
            </a:pPr>
            <a:r>
              <a:rPr lang="zh-CN" altLang="en-US" sz="2800" b="1" dirty="0" smtClean="0"/>
              <a:t>所有的环境变量都是大写的</a:t>
            </a:r>
            <a:endParaRPr lang="en-US" altLang="zh-CN" sz="2800" b="1" dirty="0" smtClean="0"/>
          </a:p>
          <a:p>
            <a:pPr marL="457200" indent="-457200">
              <a:lnSpc>
                <a:spcPct val="150000"/>
              </a:lnSpc>
              <a:buFont typeface="Wingdings" panose="05000000000000000000" pitchFamily="2" charset="2"/>
              <a:buChar char="q"/>
            </a:pPr>
            <a:r>
              <a:rPr lang="zh-CN" altLang="en-US" sz="2800" b="1" dirty="0" smtClean="0"/>
              <a:t>不同的机器环境会有不同的环境变量导出方式</a:t>
            </a:r>
            <a:endParaRPr lang="en-US" altLang="zh-CN" sz="2800" b="1" dirty="0" smtClean="0"/>
          </a:p>
          <a:p>
            <a:pPr marL="457200" indent="-457200">
              <a:lnSpc>
                <a:spcPct val="150000"/>
              </a:lnSpc>
              <a:buFont typeface="Wingdings" panose="05000000000000000000" pitchFamily="2" charset="2"/>
              <a:buChar char="Ø"/>
            </a:pPr>
            <a:r>
              <a:rPr lang="zh-CN" altLang="en-US" sz="2800" b="1" dirty="0" smtClean="0">
                <a:solidFill>
                  <a:srgbClr val="6A247A"/>
                </a:solidFill>
              </a:rPr>
              <a:t>环境变量</a:t>
            </a:r>
            <a:r>
              <a:rPr lang="en-US" altLang="zh-CN" sz="2800" b="1" dirty="0" smtClean="0">
                <a:solidFill>
                  <a:srgbClr val="6A247A"/>
                </a:solidFill>
              </a:rPr>
              <a:t>OMP_SCHEDULE</a:t>
            </a:r>
            <a:endParaRPr lang="en-US" altLang="zh-CN" sz="2800" b="1" dirty="0" smtClean="0">
              <a:solidFill>
                <a:srgbClr val="6A247A"/>
              </a:solidFill>
            </a:endParaRPr>
          </a:p>
          <a:p>
            <a:pPr>
              <a:lnSpc>
                <a:spcPct val="150000"/>
              </a:lnSpc>
            </a:pPr>
            <a:r>
              <a:rPr lang="en-US" altLang="zh-CN" sz="2800" b="1" dirty="0" smtClean="0"/>
              <a:t>——</a:t>
            </a:r>
            <a:r>
              <a:rPr lang="zh-CN" altLang="en-US" sz="2800" b="1" dirty="0" smtClean="0"/>
              <a:t>用于在程序执行时控制循环的调度类型和分块大小</a:t>
            </a:r>
            <a:endParaRPr lang="en-US" altLang="zh-CN" sz="2800" b="1" dirty="0" smtClean="0"/>
          </a:p>
          <a:p>
            <a:pPr>
              <a:lnSpc>
                <a:spcPct val="150000"/>
              </a:lnSpc>
            </a:pPr>
            <a:r>
              <a:rPr lang="zh-CN" altLang="en-US" sz="2800" b="1" dirty="0" smtClean="0">
                <a:solidFill>
                  <a:srgbClr val="C00000"/>
                </a:solidFill>
              </a:rPr>
              <a:t>需要将</a:t>
            </a:r>
            <a:r>
              <a:rPr lang="en-US" altLang="zh-CN" sz="2800" b="1" dirty="0" smtClean="0">
                <a:solidFill>
                  <a:srgbClr val="C00000"/>
                </a:solidFill>
              </a:rPr>
              <a:t>for/Do</a:t>
            </a:r>
            <a:r>
              <a:rPr lang="zh-CN" altLang="en-US" sz="2800" b="1" dirty="0" smtClean="0">
                <a:solidFill>
                  <a:srgbClr val="C00000"/>
                </a:solidFill>
              </a:rPr>
              <a:t>指导语句后</a:t>
            </a:r>
            <a:r>
              <a:rPr lang="en-US" altLang="zh-CN" sz="2800" b="1" dirty="0" smtClean="0">
                <a:solidFill>
                  <a:srgbClr val="C00000"/>
                </a:solidFill>
              </a:rPr>
              <a:t>schedule</a:t>
            </a:r>
            <a:r>
              <a:rPr lang="zh-CN" altLang="en-US" sz="2800" b="1" dirty="0" smtClean="0">
                <a:solidFill>
                  <a:srgbClr val="C00000"/>
                </a:solidFill>
              </a:rPr>
              <a:t>子句设置成</a:t>
            </a:r>
            <a:r>
              <a:rPr lang="en-US" altLang="zh-CN" sz="2800" b="1" dirty="0" smtClean="0">
                <a:solidFill>
                  <a:srgbClr val="C00000"/>
                </a:solidFill>
              </a:rPr>
              <a:t>RUNTIME</a:t>
            </a:r>
            <a:endParaRPr lang="en-US" altLang="zh-CN" sz="2800" b="1" dirty="0" smtClean="0">
              <a:solidFill>
                <a:srgbClr val="C00000"/>
              </a:solidFill>
            </a:endParaRPr>
          </a:p>
          <a:p>
            <a:pPr>
              <a:lnSpc>
                <a:spcPct val="150000"/>
              </a:lnSpc>
            </a:pPr>
            <a:r>
              <a:rPr lang="en-US" altLang="zh-CN" sz="2800" b="1" dirty="0" err="1"/>
              <a:t>s</a:t>
            </a:r>
            <a:r>
              <a:rPr lang="en-US" altLang="zh-CN" sz="2800" b="1" dirty="0" err="1" smtClean="0"/>
              <a:t>etenv</a:t>
            </a:r>
            <a:r>
              <a:rPr lang="en-US" altLang="zh-CN" sz="2800" b="1" dirty="0" smtClean="0"/>
              <a:t>   OMP_SCHEDULE  static</a:t>
            </a:r>
            <a:endParaRPr lang="zh-CN" altLang="en-US" sz="2800" b="1" dirty="0"/>
          </a:p>
          <a:p>
            <a:r>
              <a:rPr lang="en-US" sz="2800" b="1" dirty="0"/>
              <a:t>export </a:t>
            </a:r>
            <a:r>
              <a:rPr lang="en-US" sz="2800" b="1" dirty="0" smtClean="0"/>
              <a:t>  OMP_SCHEDULE =“static”</a:t>
            </a:r>
            <a:endParaRPr lang="en-US" sz="2800" b="1" dirty="0"/>
          </a:p>
        </p:txBody>
      </p:sp>
    </p:spTree>
  </p:cSld>
  <p:clrMapOvr>
    <a:masterClrMapping/>
  </p:clrMapOvr>
  <p:transition spd="med" advTm="3025">
    <p:fade/>
  </p:transition>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03564" y="138545"/>
            <a:ext cx="10571018" cy="6155531"/>
          </a:xfrm>
          <a:prstGeom prst="rect">
            <a:avLst/>
          </a:prstGeom>
          <a:noFill/>
        </p:spPr>
        <p:txBody>
          <a:bodyPr wrap="square" rtlCol="0">
            <a:spAutoFit/>
          </a:bodyPr>
          <a:lstStyle/>
          <a:p>
            <a:pPr algn="ctr">
              <a:lnSpc>
                <a:spcPct val="150000"/>
              </a:lnSpc>
            </a:pPr>
            <a:r>
              <a:rPr lang="en-US" sz="4800" b="1" dirty="0" smtClean="0">
                <a:solidFill>
                  <a:srgbClr val="2D0AC2"/>
                </a:solidFill>
                <a:ea typeface="隶书" panose="02010509060101010101" pitchFamily="49" charset="-122"/>
              </a:rPr>
              <a:t>OpenMP</a:t>
            </a:r>
            <a:r>
              <a:rPr lang="zh-CN" altLang="en-US" sz="4800" b="1" dirty="0" smtClean="0">
                <a:solidFill>
                  <a:srgbClr val="2D0AC2"/>
                </a:solidFill>
                <a:ea typeface="隶书" panose="02010509060101010101" pitchFamily="49" charset="-122"/>
              </a:rPr>
              <a:t>环境变量</a:t>
            </a:r>
            <a:endParaRPr lang="en-US" altLang="zh-CN" sz="4800" b="1" dirty="0" smtClean="0">
              <a:solidFill>
                <a:srgbClr val="2D0AC2"/>
              </a:solidFill>
              <a:ea typeface="隶书" panose="02010509060101010101" pitchFamily="49" charset="-122"/>
            </a:endParaRPr>
          </a:p>
          <a:p>
            <a:pPr marL="457200" indent="-457200">
              <a:lnSpc>
                <a:spcPct val="150000"/>
              </a:lnSpc>
              <a:buFont typeface="Wingdings" panose="05000000000000000000" pitchFamily="2" charset="2"/>
              <a:buChar char="Ø"/>
            </a:pPr>
            <a:r>
              <a:rPr lang="zh-CN" altLang="en-US" sz="2800" b="1" dirty="0" smtClean="0">
                <a:solidFill>
                  <a:srgbClr val="6A247A"/>
                </a:solidFill>
              </a:rPr>
              <a:t>环境变量</a:t>
            </a:r>
            <a:r>
              <a:rPr lang="en-US" altLang="zh-CN" sz="2800" b="1" dirty="0" smtClean="0">
                <a:solidFill>
                  <a:srgbClr val="6A247A"/>
                </a:solidFill>
              </a:rPr>
              <a:t>OMP_NUM_THREADS</a:t>
            </a:r>
            <a:endParaRPr lang="en-US" altLang="zh-CN" sz="2800" b="1" dirty="0" smtClean="0">
              <a:solidFill>
                <a:srgbClr val="6A247A"/>
              </a:solidFill>
            </a:endParaRPr>
          </a:p>
          <a:p>
            <a:pPr>
              <a:lnSpc>
                <a:spcPct val="150000"/>
              </a:lnSpc>
            </a:pPr>
            <a:r>
              <a:rPr lang="en-US" altLang="zh-CN" sz="2800" b="1" dirty="0" smtClean="0">
                <a:solidFill>
                  <a:srgbClr val="000000"/>
                </a:solidFill>
              </a:rPr>
              <a:t>——</a:t>
            </a:r>
            <a:r>
              <a:rPr lang="zh-CN" altLang="en-US" sz="2800" b="1" dirty="0" smtClean="0">
                <a:solidFill>
                  <a:srgbClr val="000000"/>
                </a:solidFill>
              </a:rPr>
              <a:t>用于设定执行期间使用的最大线程数</a:t>
            </a:r>
            <a:endParaRPr lang="en-US" altLang="zh-CN" sz="2800" b="1" dirty="0" smtClean="0">
              <a:solidFill>
                <a:srgbClr val="000000"/>
              </a:solidFill>
            </a:endParaRPr>
          </a:p>
          <a:p>
            <a:r>
              <a:rPr lang="en-US" sz="2800" b="1" dirty="0" smtClean="0">
                <a:solidFill>
                  <a:srgbClr val="000000"/>
                </a:solidFill>
              </a:rPr>
              <a:t>export   OMP_NUM_THREADS=4</a:t>
            </a:r>
            <a:endParaRPr lang="en-US" sz="2800" b="1" dirty="0">
              <a:solidFill>
                <a:srgbClr val="000000"/>
              </a:solidFill>
            </a:endParaRPr>
          </a:p>
          <a:p>
            <a:pPr marL="457200" lvl="0" indent="-457200">
              <a:lnSpc>
                <a:spcPct val="150000"/>
              </a:lnSpc>
              <a:buFont typeface="Wingdings" panose="05000000000000000000" pitchFamily="2" charset="2"/>
              <a:buChar char="Ø"/>
            </a:pPr>
            <a:r>
              <a:rPr lang="zh-CN" altLang="en-US" sz="2800" b="1" dirty="0">
                <a:solidFill>
                  <a:srgbClr val="6A247A"/>
                </a:solidFill>
              </a:rPr>
              <a:t>环境变量</a:t>
            </a:r>
            <a:r>
              <a:rPr lang="en-US" altLang="zh-CN" sz="2800" b="1" dirty="0" smtClean="0">
                <a:solidFill>
                  <a:srgbClr val="6A247A"/>
                </a:solidFill>
              </a:rPr>
              <a:t>OMP_DYNAMIC</a:t>
            </a:r>
            <a:endParaRPr lang="en-US" altLang="zh-CN" sz="2800" b="1" dirty="0" smtClean="0">
              <a:solidFill>
                <a:srgbClr val="6A247A"/>
              </a:solidFill>
            </a:endParaRPr>
          </a:p>
          <a:p>
            <a:pPr lvl="0">
              <a:lnSpc>
                <a:spcPct val="150000"/>
              </a:lnSpc>
            </a:pPr>
            <a:r>
              <a:rPr lang="en-US" altLang="zh-CN" sz="2800" b="1" dirty="0">
                <a:solidFill>
                  <a:srgbClr val="000000"/>
                </a:solidFill>
              </a:rPr>
              <a:t>——</a:t>
            </a:r>
            <a:r>
              <a:rPr lang="zh-CN" altLang="en-US" sz="2800" b="1" dirty="0" smtClean="0">
                <a:solidFill>
                  <a:srgbClr val="000000"/>
                </a:solidFill>
              </a:rPr>
              <a:t>用于控制是否开启运行时的动态线程数调节</a:t>
            </a:r>
            <a:endParaRPr lang="en-US" altLang="zh-CN" sz="2800" b="1" dirty="0" smtClean="0">
              <a:solidFill>
                <a:srgbClr val="000000"/>
              </a:solidFill>
            </a:endParaRPr>
          </a:p>
          <a:p>
            <a:pPr lvl="0">
              <a:lnSpc>
                <a:spcPct val="150000"/>
              </a:lnSpc>
            </a:pPr>
            <a:r>
              <a:rPr lang="en-US" sz="2800" b="1" dirty="0">
                <a:solidFill>
                  <a:srgbClr val="000000"/>
                </a:solidFill>
              </a:rPr>
              <a:t>export   </a:t>
            </a:r>
            <a:r>
              <a:rPr lang="en-US" sz="2800" b="1" dirty="0" smtClean="0">
                <a:solidFill>
                  <a:srgbClr val="000000"/>
                </a:solidFill>
              </a:rPr>
              <a:t>OMP_DYNAMIC=true/false</a:t>
            </a:r>
            <a:endParaRPr lang="en-US" sz="2800" b="1" dirty="0" smtClean="0">
              <a:solidFill>
                <a:srgbClr val="000000"/>
              </a:solidFill>
            </a:endParaRPr>
          </a:p>
          <a:p>
            <a:pPr lvl="0">
              <a:lnSpc>
                <a:spcPct val="150000"/>
              </a:lnSpc>
            </a:pPr>
            <a:r>
              <a:rPr lang="zh-CN" altLang="en-US" sz="2800" b="1" dirty="0" smtClean="0">
                <a:solidFill>
                  <a:srgbClr val="000000"/>
                </a:solidFill>
              </a:rPr>
              <a:t>设置为</a:t>
            </a:r>
            <a:r>
              <a:rPr lang="en-US" altLang="zh-CN" sz="2800" b="1" dirty="0" smtClean="0">
                <a:solidFill>
                  <a:srgbClr val="000000"/>
                </a:solidFill>
              </a:rPr>
              <a:t>true:  </a:t>
            </a:r>
            <a:r>
              <a:rPr lang="zh-CN" altLang="en-US" sz="2800" b="1" dirty="0" smtClean="0">
                <a:solidFill>
                  <a:srgbClr val="000000"/>
                </a:solidFill>
              </a:rPr>
              <a:t>将根据系统资源来动态调节线程数</a:t>
            </a:r>
            <a:endParaRPr lang="en-US" altLang="zh-CN" sz="2800" b="1" dirty="0" smtClean="0">
              <a:solidFill>
                <a:srgbClr val="000000"/>
              </a:solidFill>
            </a:endParaRPr>
          </a:p>
          <a:p>
            <a:pPr lvl="0">
              <a:lnSpc>
                <a:spcPct val="150000"/>
              </a:lnSpc>
            </a:pPr>
            <a:r>
              <a:rPr lang="zh-CN" altLang="en-US" sz="2800" b="1" dirty="0" smtClean="0"/>
              <a:t>设置为</a:t>
            </a:r>
            <a:r>
              <a:rPr lang="en-US" altLang="zh-CN" sz="2800" b="1" dirty="0" smtClean="0"/>
              <a:t>false:  </a:t>
            </a:r>
            <a:r>
              <a:rPr lang="zh-CN" altLang="en-US" sz="2800" b="1" dirty="0" smtClean="0"/>
              <a:t>线程数的动态调节将关闭</a:t>
            </a:r>
            <a:endParaRPr lang="en-US" altLang="zh-CN" sz="2800" b="1" dirty="0"/>
          </a:p>
        </p:txBody>
      </p:sp>
    </p:spTree>
  </p:cSld>
  <p:clrMapOvr>
    <a:masterClrMapping/>
  </p:clrMapOvr>
  <p:transition spd="med" advTm="3025">
    <p:fade/>
  </p:transition>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03564" y="138545"/>
            <a:ext cx="10571018" cy="6155531"/>
          </a:xfrm>
          <a:prstGeom prst="rect">
            <a:avLst/>
          </a:prstGeom>
          <a:noFill/>
        </p:spPr>
        <p:txBody>
          <a:bodyPr wrap="square" rtlCol="0">
            <a:spAutoFit/>
          </a:bodyPr>
          <a:lstStyle/>
          <a:p>
            <a:pPr algn="ctr">
              <a:lnSpc>
                <a:spcPct val="150000"/>
              </a:lnSpc>
            </a:pPr>
            <a:r>
              <a:rPr lang="en-US" sz="4800" b="1" dirty="0" smtClean="0">
                <a:solidFill>
                  <a:srgbClr val="2D0AC2"/>
                </a:solidFill>
                <a:ea typeface="隶书" panose="02010509060101010101" pitchFamily="49" charset="-122"/>
              </a:rPr>
              <a:t>OpenMP</a:t>
            </a:r>
            <a:r>
              <a:rPr lang="zh-CN" altLang="en-US" sz="4800" b="1" dirty="0" smtClean="0">
                <a:solidFill>
                  <a:srgbClr val="2D0AC2"/>
                </a:solidFill>
                <a:ea typeface="隶书" panose="02010509060101010101" pitchFamily="49" charset="-122"/>
              </a:rPr>
              <a:t>环境变量</a:t>
            </a:r>
            <a:endParaRPr lang="en-US" altLang="zh-CN" sz="4800" b="1" dirty="0" smtClean="0">
              <a:solidFill>
                <a:srgbClr val="2D0AC2"/>
              </a:solidFill>
              <a:ea typeface="隶书" panose="02010509060101010101" pitchFamily="49" charset="-122"/>
            </a:endParaRPr>
          </a:p>
          <a:p>
            <a:pPr marL="457200" indent="-457200">
              <a:lnSpc>
                <a:spcPct val="150000"/>
              </a:lnSpc>
              <a:buFont typeface="Wingdings" panose="05000000000000000000" pitchFamily="2" charset="2"/>
              <a:buChar char="Ø"/>
            </a:pPr>
            <a:r>
              <a:rPr lang="zh-CN" altLang="en-US" sz="2800" b="1" dirty="0" smtClean="0">
                <a:solidFill>
                  <a:srgbClr val="6A247A"/>
                </a:solidFill>
              </a:rPr>
              <a:t>环境变量</a:t>
            </a:r>
            <a:r>
              <a:rPr lang="en-US" altLang="zh-CN" sz="2800" b="1" dirty="0" smtClean="0">
                <a:solidFill>
                  <a:srgbClr val="6A247A"/>
                </a:solidFill>
              </a:rPr>
              <a:t>OMP_PROC_BIND</a:t>
            </a:r>
            <a:endParaRPr lang="en-US" altLang="zh-CN" sz="2800" b="1" dirty="0" smtClean="0">
              <a:solidFill>
                <a:srgbClr val="6A247A"/>
              </a:solidFill>
            </a:endParaRPr>
          </a:p>
          <a:p>
            <a:pPr>
              <a:lnSpc>
                <a:spcPct val="150000"/>
              </a:lnSpc>
            </a:pPr>
            <a:r>
              <a:rPr lang="en-US" altLang="zh-CN" sz="2800" b="1" dirty="0" smtClean="0">
                <a:solidFill>
                  <a:srgbClr val="000000"/>
                </a:solidFill>
              </a:rPr>
              <a:t>——</a:t>
            </a:r>
            <a:r>
              <a:rPr lang="zh-CN" altLang="en-US" sz="2800" b="1" dirty="0" smtClean="0">
                <a:solidFill>
                  <a:srgbClr val="000000"/>
                </a:solidFill>
              </a:rPr>
              <a:t>用于控制线程是否和处理器绑定</a:t>
            </a:r>
            <a:endParaRPr lang="en-US" altLang="zh-CN" sz="2800" b="1" dirty="0" smtClean="0">
              <a:solidFill>
                <a:srgbClr val="000000"/>
              </a:solidFill>
            </a:endParaRPr>
          </a:p>
          <a:p>
            <a:r>
              <a:rPr lang="en-US" sz="2800" b="1" dirty="0" smtClean="0">
                <a:solidFill>
                  <a:srgbClr val="000000"/>
                </a:solidFill>
              </a:rPr>
              <a:t>export   OMP_PROC_BIND=true/false</a:t>
            </a:r>
            <a:endParaRPr lang="en-US" sz="2800" b="1" dirty="0" smtClean="0">
              <a:solidFill>
                <a:srgbClr val="000000"/>
              </a:solidFill>
            </a:endParaRPr>
          </a:p>
          <a:p>
            <a:pPr marL="457200" indent="-457200">
              <a:lnSpc>
                <a:spcPct val="150000"/>
              </a:lnSpc>
              <a:buFont typeface="Wingdings" panose="05000000000000000000" pitchFamily="2" charset="2"/>
              <a:buChar char="Ø"/>
            </a:pPr>
            <a:r>
              <a:rPr lang="zh-CN" altLang="en-US" sz="2800" b="1" dirty="0" smtClean="0">
                <a:solidFill>
                  <a:srgbClr val="6A247A"/>
                </a:solidFill>
              </a:rPr>
              <a:t>环境</a:t>
            </a:r>
            <a:r>
              <a:rPr lang="zh-CN" altLang="en-US" sz="2800" b="1" dirty="0">
                <a:solidFill>
                  <a:srgbClr val="6A247A"/>
                </a:solidFill>
              </a:rPr>
              <a:t>变量</a:t>
            </a:r>
            <a:r>
              <a:rPr lang="en-US" altLang="zh-CN" sz="2800" b="1" dirty="0" smtClean="0">
                <a:solidFill>
                  <a:srgbClr val="6A247A"/>
                </a:solidFill>
              </a:rPr>
              <a:t>OMP_NESTED</a:t>
            </a:r>
            <a:endParaRPr lang="en-US" altLang="zh-CN" sz="2800" b="1" dirty="0" smtClean="0">
              <a:solidFill>
                <a:srgbClr val="6A247A"/>
              </a:solidFill>
            </a:endParaRPr>
          </a:p>
          <a:p>
            <a:pPr>
              <a:lnSpc>
                <a:spcPct val="150000"/>
              </a:lnSpc>
            </a:pPr>
            <a:r>
              <a:rPr lang="en-US" altLang="zh-CN" sz="2800" b="1" dirty="0">
                <a:solidFill>
                  <a:srgbClr val="000000"/>
                </a:solidFill>
              </a:rPr>
              <a:t>——</a:t>
            </a:r>
            <a:r>
              <a:rPr lang="zh-CN" altLang="en-US" sz="2800" b="1" dirty="0" smtClean="0">
                <a:solidFill>
                  <a:srgbClr val="000000"/>
                </a:solidFill>
              </a:rPr>
              <a:t>用于控制是否支持嵌套并行</a:t>
            </a:r>
            <a:endParaRPr lang="en-US" altLang="zh-CN" sz="2800" b="1" dirty="0" smtClean="0">
              <a:solidFill>
                <a:srgbClr val="000000"/>
              </a:solidFill>
            </a:endParaRPr>
          </a:p>
          <a:p>
            <a:pPr>
              <a:lnSpc>
                <a:spcPct val="150000"/>
              </a:lnSpc>
            </a:pPr>
            <a:r>
              <a:rPr lang="en-US" sz="2800" b="1" dirty="0">
                <a:solidFill>
                  <a:srgbClr val="000000"/>
                </a:solidFill>
              </a:rPr>
              <a:t>export   </a:t>
            </a:r>
            <a:r>
              <a:rPr lang="en-US" sz="2800" b="1" dirty="0" smtClean="0">
                <a:solidFill>
                  <a:srgbClr val="000000"/>
                </a:solidFill>
              </a:rPr>
              <a:t>OMP_NESTED=true/false</a:t>
            </a:r>
            <a:endParaRPr lang="en-US" sz="2800" b="1" dirty="0" smtClean="0">
              <a:solidFill>
                <a:srgbClr val="000000"/>
              </a:solidFill>
            </a:endParaRPr>
          </a:p>
          <a:p>
            <a:pPr>
              <a:lnSpc>
                <a:spcPct val="150000"/>
              </a:lnSpc>
            </a:pPr>
            <a:r>
              <a:rPr lang="zh-CN" altLang="en-US" sz="2800" b="1" dirty="0" smtClean="0">
                <a:solidFill>
                  <a:srgbClr val="000000"/>
                </a:solidFill>
              </a:rPr>
              <a:t>设置为</a:t>
            </a:r>
            <a:r>
              <a:rPr lang="en-US" altLang="zh-CN" sz="2800" b="1" dirty="0" smtClean="0">
                <a:solidFill>
                  <a:srgbClr val="000000"/>
                </a:solidFill>
              </a:rPr>
              <a:t>true:  </a:t>
            </a:r>
            <a:r>
              <a:rPr lang="zh-CN" altLang="en-US" sz="2800" b="1" dirty="0" smtClean="0">
                <a:solidFill>
                  <a:srgbClr val="000000"/>
                </a:solidFill>
              </a:rPr>
              <a:t>嵌套并行开启</a:t>
            </a:r>
            <a:endParaRPr lang="en-US" altLang="zh-CN" sz="2800" b="1" dirty="0" smtClean="0">
              <a:solidFill>
                <a:srgbClr val="000000"/>
              </a:solidFill>
            </a:endParaRPr>
          </a:p>
          <a:p>
            <a:pPr>
              <a:lnSpc>
                <a:spcPct val="150000"/>
              </a:lnSpc>
            </a:pPr>
            <a:r>
              <a:rPr lang="zh-CN" altLang="en-US" sz="2800" b="1" dirty="0" smtClean="0">
                <a:solidFill>
                  <a:srgbClr val="000000"/>
                </a:solidFill>
              </a:rPr>
              <a:t>设置为</a:t>
            </a:r>
            <a:r>
              <a:rPr lang="en-US" altLang="zh-CN" sz="2800" b="1" dirty="0" smtClean="0">
                <a:solidFill>
                  <a:srgbClr val="000000"/>
                </a:solidFill>
              </a:rPr>
              <a:t>false:  </a:t>
            </a:r>
            <a:r>
              <a:rPr lang="zh-CN" altLang="en-US" sz="2800" b="1" dirty="0" smtClean="0">
                <a:solidFill>
                  <a:srgbClr val="000000"/>
                </a:solidFill>
              </a:rPr>
              <a:t>嵌套并行关闭，由单个线程串行执行</a:t>
            </a:r>
            <a:endParaRPr lang="en-US" altLang="zh-CN" sz="2800" b="1" dirty="0">
              <a:solidFill>
                <a:srgbClr val="000000"/>
              </a:solidFill>
            </a:endParaRPr>
          </a:p>
        </p:txBody>
      </p:sp>
    </p:spTree>
  </p:cSld>
  <p:clrMapOvr>
    <a:masterClrMapping/>
  </p:clrMapOvr>
  <p:transition spd="med" advTm="3025">
    <p:fade/>
  </p:transition>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03564" y="138545"/>
            <a:ext cx="10931236" cy="6278642"/>
          </a:xfrm>
          <a:prstGeom prst="rect">
            <a:avLst/>
          </a:prstGeom>
          <a:noFill/>
        </p:spPr>
        <p:txBody>
          <a:bodyPr wrap="square" rtlCol="0">
            <a:spAutoFit/>
          </a:bodyPr>
          <a:lstStyle/>
          <a:p>
            <a:pPr algn="ctr">
              <a:lnSpc>
                <a:spcPct val="150000"/>
              </a:lnSpc>
            </a:pPr>
            <a:r>
              <a:rPr lang="en-US" sz="4800" b="1" dirty="0" smtClean="0">
                <a:solidFill>
                  <a:srgbClr val="2D0AC2"/>
                </a:solidFill>
                <a:ea typeface="隶书" panose="02010509060101010101" pitchFamily="49" charset="-122"/>
              </a:rPr>
              <a:t>OpenMP</a:t>
            </a:r>
            <a:r>
              <a:rPr lang="zh-CN" altLang="en-US" sz="4800" b="1" dirty="0" smtClean="0">
                <a:solidFill>
                  <a:srgbClr val="2D0AC2"/>
                </a:solidFill>
                <a:ea typeface="隶书" panose="02010509060101010101" pitchFamily="49" charset="-122"/>
              </a:rPr>
              <a:t>环境变量</a:t>
            </a:r>
            <a:endParaRPr lang="en-US" altLang="zh-CN" sz="4800" b="1" dirty="0" smtClean="0">
              <a:solidFill>
                <a:srgbClr val="2D0AC2"/>
              </a:solidFill>
              <a:ea typeface="隶书" panose="02010509060101010101" pitchFamily="49" charset="-122"/>
            </a:endParaRPr>
          </a:p>
          <a:p>
            <a:pPr marL="457200" indent="-457200">
              <a:lnSpc>
                <a:spcPct val="150000"/>
              </a:lnSpc>
              <a:buFont typeface="Wingdings" panose="05000000000000000000" pitchFamily="2" charset="2"/>
              <a:buChar char="Ø"/>
            </a:pPr>
            <a:r>
              <a:rPr lang="zh-CN" altLang="en-US" sz="2800" b="1" dirty="0" smtClean="0">
                <a:solidFill>
                  <a:srgbClr val="6A247A"/>
                </a:solidFill>
              </a:rPr>
              <a:t>环境变量</a:t>
            </a:r>
            <a:r>
              <a:rPr lang="en-US" altLang="zh-CN" sz="2800" b="1" dirty="0" smtClean="0">
                <a:solidFill>
                  <a:srgbClr val="6A247A"/>
                </a:solidFill>
              </a:rPr>
              <a:t>OMP_STACKSIZE</a:t>
            </a:r>
            <a:endParaRPr lang="en-US" altLang="zh-CN" sz="2800" b="1" dirty="0" smtClean="0">
              <a:solidFill>
                <a:srgbClr val="6A247A"/>
              </a:solidFill>
            </a:endParaRPr>
          </a:p>
          <a:p>
            <a:pPr>
              <a:lnSpc>
                <a:spcPct val="150000"/>
              </a:lnSpc>
            </a:pPr>
            <a:r>
              <a:rPr lang="en-US" altLang="zh-CN" sz="2800" b="1" dirty="0" smtClean="0">
                <a:solidFill>
                  <a:srgbClr val="000000"/>
                </a:solidFill>
              </a:rPr>
              <a:t>——</a:t>
            </a:r>
            <a:r>
              <a:rPr lang="zh-CN" altLang="en-US" sz="2800" b="1" dirty="0" smtClean="0">
                <a:solidFill>
                  <a:srgbClr val="000000"/>
                </a:solidFill>
              </a:rPr>
              <a:t>用于设置线程栈的大小</a:t>
            </a:r>
            <a:endParaRPr lang="en-US" altLang="zh-CN" sz="2800" b="1" dirty="0" smtClean="0">
              <a:solidFill>
                <a:srgbClr val="000000"/>
              </a:solidFill>
            </a:endParaRPr>
          </a:p>
          <a:p>
            <a:r>
              <a:rPr lang="en-US" sz="2800" b="1" dirty="0" smtClean="0">
                <a:solidFill>
                  <a:srgbClr val="000000"/>
                </a:solidFill>
              </a:rPr>
              <a:t>export   OMP_STACKSIZE=</a:t>
            </a:r>
            <a:r>
              <a:rPr lang="en-US" sz="3600" b="1" dirty="0" smtClean="0">
                <a:solidFill>
                  <a:srgbClr val="2D0AC2"/>
                </a:solidFill>
                <a:latin typeface="Freestyle Script" panose="030804020302050B0404" pitchFamily="66" charset="0"/>
              </a:rPr>
              <a:t>size</a:t>
            </a:r>
            <a:r>
              <a:rPr lang="en-US" sz="3600" b="1" dirty="0" smtClean="0">
                <a:solidFill>
                  <a:srgbClr val="000000"/>
                </a:solidFill>
                <a:latin typeface="Freestyle Script" panose="030804020302050B0404" pitchFamily="66" charset="0"/>
              </a:rPr>
              <a:t> </a:t>
            </a:r>
            <a:r>
              <a:rPr lang="en-US" sz="2800" b="1" dirty="0" smtClean="0">
                <a:solidFill>
                  <a:srgbClr val="000000"/>
                </a:solidFill>
              </a:rPr>
              <a:t>B|K|M|G</a:t>
            </a:r>
            <a:endParaRPr lang="en-US" sz="3600" b="1" dirty="0" smtClean="0">
              <a:solidFill>
                <a:srgbClr val="000000"/>
              </a:solidFill>
              <a:latin typeface="Freestyle Script" panose="030804020302050B0404" pitchFamily="66" charset="0"/>
            </a:endParaRPr>
          </a:p>
          <a:p>
            <a:pPr marL="457200" indent="-457200">
              <a:lnSpc>
                <a:spcPct val="150000"/>
              </a:lnSpc>
              <a:buFont typeface="Wingdings" panose="05000000000000000000" pitchFamily="2" charset="2"/>
              <a:buChar char="Ø"/>
            </a:pPr>
            <a:r>
              <a:rPr lang="zh-CN" altLang="en-US" sz="2800" b="1" dirty="0" smtClean="0">
                <a:solidFill>
                  <a:srgbClr val="6A247A"/>
                </a:solidFill>
              </a:rPr>
              <a:t>环境</a:t>
            </a:r>
            <a:r>
              <a:rPr lang="zh-CN" altLang="en-US" sz="2800" b="1" dirty="0">
                <a:solidFill>
                  <a:srgbClr val="6A247A"/>
                </a:solidFill>
              </a:rPr>
              <a:t>变量</a:t>
            </a:r>
            <a:r>
              <a:rPr lang="en-US" altLang="zh-CN" sz="2800" b="1" dirty="0" smtClean="0">
                <a:solidFill>
                  <a:srgbClr val="6A247A"/>
                </a:solidFill>
              </a:rPr>
              <a:t>OMP_WAIT_POLICY</a:t>
            </a:r>
            <a:r>
              <a:rPr lang="en-US" altLang="zh-CN" sz="2800" b="1" dirty="0">
                <a:solidFill>
                  <a:srgbClr val="6A247A"/>
                </a:solidFill>
              </a:rPr>
              <a:t> </a:t>
            </a:r>
            <a:r>
              <a:rPr lang="en-US" altLang="zh-CN" sz="2800" b="1" dirty="0" smtClean="0">
                <a:solidFill>
                  <a:srgbClr val="6A247A"/>
                </a:solidFill>
              </a:rPr>
              <a:t>              </a:t>
            </a:r>
            <a:r>
              <a:rPr lang="en-US" altLang="zh-CN" sz="2800" b="1" dirty="0" smtClean="0">
                <a:solidFill>
                  <a:srgbClr val="000000"/>
                </a:solidFill>
              </a:rPr>
              <a:t>——</a:t>
            </a:r>
            <a:r>
              <a:rPr lang="zh-CN" altLang="en-US" sz="2800" b="1" dirty="0" smtClean="0">
                <a:solidFill>
                  <a:srgbClr val="000000"/>
                </a:solidFill>
              </a:rPr>
              <a:t> 跟具体实现有关</a:t>
            </a:r>
            <a:endParaRPr lang="en-US" altLang="zh-CN" sz="2800" b="1" dirty="0" smtClean="0">
              <a:solidFill>
                <a:srgbClr val="000000"/>
              </a:solidFill>
            </a:endParaRPr>
          </a:p>
          <a:p>
            <a:pPr>
              <a:lnSpc>
                <a:spcPct val="150000"/>
              </a:lnSpc>
            </a:pPr>
            <a:r>
              <a:rPr lang="en-US" sz="2800" b="1" dirty="0">
                <a:solidFill>
                  <a:srgbClr val="000000"/>
                </a:solidFill>
              </a:rPr>
              <a:t>export   </a:t>
            </a:r>
            <a:r>
              <a:rPr lang="en-US" sz="2800" b="1" dirty="0" smtClean="0">
                <a:solidFill>
                  <a:srgbClr val="000000"/>
                </a:solidFill>
              </a:rPr>
              <a:t>OMP_WAIT_POLICY=</a:t>
            </a:r>
            <a:r>
              <a:rPr lang="en-US" sz="2800" b="1" dirty="0" smtClean="0">
                <a:solidFill>
                  <a:srgbClr val="2D0AC2"/>
                </a:solidFill>
              </a:rPr>
              <a:t>ACTIVE/PASSIVE</a:t>
            </a:r>
            <a:endParaRPr lang="en-US" sz="2800" b="1" dirty="0" smtClean="0">
              <a:solidFill>
                <a:srgbClr val="2D0AC2"/>
              </a:solidFill>
            </a:endParaRPr>
          </a:p>
          <a:p>
            <a:pPr>
              <a:lnSpc>
                <a:spcPct val="150000"/>
              </a:lnSpc>
            </a:pPr>
            <a:r>
              <a:rPr lang="zh-CN" altLang="en-US" sz="2800" b="1" dirty="0" smtClean="0">
                <a:solidFill>
                  <a:srgbClr val="000000"/>
                </a:solidFill>
              </a:rPr>
              <a:t>设置为</a:t>
            </a:r>
            <a:r>
              <a:rPr lang="en-US" altLang="zh-CN" sz="2800" b="1" dirty="0" smtClean="0">
                <a:solidFill>
                  <a:srgbClr val="000000"/>
                </a:solidFill>
              </a:rPr>
              <a:t>ACTIVE:  </a:t>
            </a:r>
            <a:r>
              <a:rPr lang="zh-CN" altLang="en-US" sz="2800" b="1" dirty="0" smtClean="0">
                <a:solidFill>
                  <a:srgbClr val="000000"/>
                </a:solidFill>
              </a:rPr>
              <a:t>指定等待线程被激活，忙等期间消耗处理器时钟周期</a:t>
            </a:r>
            <a:endParaRPr lang="en-US" altLang="zh-CN" sz="2800" b="1" dirty="0" smtClean="0">
              <a:solidFill>
                <a:srgbClr val="000000"/>
              </a:solidFill>
            </a:endParaRPr>
          </a:p>
          <a:p>
            <a:pPr>
              <a:lnSpc>
                <a:spcPct val="150000"/>
              </a:lnSpc>
            </a:pPr>
            <a:r>
              <a:rPr lang="zh-CN" altLang="en-US" sz="2800" b="1" dirty="0" smtClean="0">
                <a:solidFill>
                  <a:srgbClr val="000000"/>
                </a:solidFill>
              </a:rPr>
              <a:t>设置为</a:t>
            </a:r>
            <a:r>
              <a:rPr lang="en-US" altLang="zh-CN" sz="2800" b="1" dirty="0" smtClean="0">
                <a:solidFill>
                  <a:srgbClr val="000000"/>
                </a:solidFill>
              </a:rPr>
              <a:t>PASSIVE:  </a:t>
            </a:r>
            <a:r>
              <a:rPr lang="zh-CN" altLang="en-US" sz="2800" b="1" dirty="0" smtClean="0">
                <a:solidFill>
                  <a:srgbClr val="000000"/>
                </a:solidFill>
              </a:rPr>
              <a:t>等待线程不消耗处理器时钟周期，可以让出处理器给其它线程，而自身进入休眠状态</a:t>
            </a:r>
            <a:endParaRPr lang="en-US" altLang="zh-CN" sz="2800" b="1" dirty="0">
              <a:solidFill>
                <a:srgbClr val="000000"/>
              </a:solidFill>
            </a:endParaRPr>
          </a:p>
        </p:txBody>
      </p:sp>
    </p:spTree>
  </p:cSld>
  <p:clrMapOvr>
    <a:masterClrMapping/>
  </p:clrMapOvr>
  <p:transition spd="med" advTm="3025">
    <p:fade/>
  </p:transition>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03564" y="138545"/>
            <a:ext cx="10571018" cy="5724644"/>
          </a:xfrm>
          <a:prstGeom prst="rect">
            <a:avLst/>
          </a:prstGeom>
          <a:noFill/>
        </p:spPr>
        <p:txBody>
          <a:bodyPr wrap="square" rtlCol="0">
            <a:spAutoFit/>
          </a:bodyPr>
          <a:lstStyle/>
          <a:p>
            <a:pPr algn="ctr">
              <a:lnSpc>
                <a:spcPct val="150000"/>
              </a:lnSpc>
            </a:pPr>
            <a:r>
              <a:rPr lang="en-US" sz="4800" b="1" dirty="0" smtClean="0">
                <a:solidFill>
                  <a:srgbClr val="2D0AC2"/>
                </a:solidFill>
                <a:ea typeface="隶书" panose="02010509060101010101" pitchFamily="49" charset="-122"/>
              </a:rPr>
              <a:t>OpenMP</a:t>
            </a:r>
            <a:r>
              <a:rPr lang="zh-CN" altLang="en-US" sz="4800" b="1" dirty="0" smtClean="0">
                <a:solidFill>
                  <a:srgbClr val="2D0AC2"/>
                </a:solidFill>
                <a:ea typeface="隶书" panose="02010509060101010101" pitchFamily="49" charset="-122"/>
              </a:rPr>
              <a:t>环境变量</a:t>
            </a:r>
            <a:endParaRPr lang="en-US" altLang="zh-CN" sz="4800" b="1" dirty="0" smtClean="0">
              <a:solidFill>
                <a:srgbClr val="2D0AC2"/>
              </a:solidFill>
              <a:ea typeface="隶书" panose="02010509060101010101" pitchFamily="49" charset="-122"/>
            </a:endParaRPr>
          </a:p>
          <a:p>
            <a:pPr marL="457200" indent="-457200">
              <a:lnSpc>
                <a:spcPct val="150000"/>
              </a:lnSpc>
              <a:buFont typeface="Wingdings" panose="05000000000000000000" pitchFamily="2" charset="2"/>
              <a:buChar char="Ø"/>
            </a:pPr>
            <a:r>
              <a:rPr lang="zh-CN" altLang="en-US" sz="2800" b="1" dirty="0" smtClean="0">
                <a:solidFill>
                  <a:srgbClr val="6A247A"/>
                </a:solidFill>
              </a:rPr>
              <a:t>环境变量</a:t>
            </a:r>
            <a:r>
              <a:rPr lang="en-US" altLang="zh-CN" sz="2800" b="1" dirty="0" smtClean="0">
                <a:solidFill>
                  <a:srgbClr val="6A247A"/>
                </a:solidFill>
              </a:rPr>
              <a:t>OMP_MAX_ACTIVE_LEVELS</a:t>
            </a:r>
            <a:endParaRPr lang="en-US" altLang="zh-CN" sz="2800" b="1" dirty="0" smtClean="0">
              <a:solidFill>
                <a:srgbClr val="6A247A"/>
              </a:solidFill>
            </a:endParaRPr>
          </a:p>
          <a:p>
            <a:pPr>
              <a:lnSpc>
                <a:spcPct val="150000"/>
              </a:lnSpc>
            </a:pPr>
            <a:r>
              <a:rPr lang="en-US" altLang="zh-CN" sz="2800" b="1" dirty="0" smtClean="0">
                <a:solidFill>
                  <a:srgbClr val="000000"/>
                </a:solidFill>
              </a:rPr>
              <a:t>——</a:t>
            </a:r>
            <a:r>
              <a:rPr lang="zh-CN" altLang="en-US" sz="2800" b="1" dirty="0" smtClean="0">
                <a:solidFill>
                  <a:srgbClr val="000000"/>
                </a:solidFill>
              </a:rPr>
              <a:t>用于控制嵌套并行区的最大层数</a:t>
            </a:r>
            <a:endParaRPr lang="en-US" altLang="zh-CN" sz="2800" b="1" dirty="0" smtClean="0">
              <a:solidFill>
                <a:srgbClr val="000000"/>
              </a:solidFill>
            </a:endParaRPr>
          </a:p>
          <a:p>
            <a:pPr>
              <a:lnSpc>
                <a:spcPct val="150000"/>
              </a:lnSpc>
            </a:pPr>
            <a:r>
              <a:rPr lang="en-US" sz="2800" b="1" dirty="0" smtClean="0">
                <a:solidFill>
                  <a:srgbClr val="000000"/>
                </a:solidFill>
              </a:rPr>
              <a:t>export   OMP_MAX_ACTIVE_LEVELS=3</a:t>
            </a:r>
            <a:endParaRPr lang="en-US" sz="2800" b="1" dirty="0" smtClean="0">
              <a:solidFill>
                <a:srgbClr val="000000"/>
              </a:solidFill>
            </a:endParaRPr>
          </a:p>
          <a:p>
            <a:pPr>
              <a:lnSpc>
                <a:spcPct val="150000"/>
              </a:lnSpc>
            </a:pPr>
            <a:endParaRPr lang="en-US" sz="2800" b="1" dirty="0" smtClean="0">
              <a:solidFill>
                <a:srgbClr val="000000"/>
              </a:solidFill>
            </a:endParaRPr>
          </a:p>
          <a:p>
            <a:pPr marL="457200" indent="-457200">
              <a:lnSpc>
                <a:spcPct val="150000"/>
              </a:lnSpc>
              <a:buFont typeface="Wingdings" panose="05000000000000000000" pitchFamily="2" charset="2"/>
              <a:buChar char="Ø"/>
            </a:pPr>
            <a:r>
              <a:rPr lang="zh-CN" altLang="en-US" sz="2800" b="1" dirty="0" smtClean="0">
                <a:solidFill>
                  <a:srgbClr val="6A247A"/>
                </a:solidFill>
              </a:rPr>
              <a:t>环境</a:t>
            </a:r>
            <a:r>
              <a:rPr lang="zh-CN" altLang="en-US" sz="2800" b="1" dirty="0">
                <a:solidFill>
                  <a:srgbClr val="6A247A"/>
                </a:solidFill>
              </a:rPr>
              <a:t>变量</a:t>
            </a:r>
            <a:r>
              <a:rPr lang="en-US" altLang="zh-CN" sz="2800" b="1" dirty="0" smtClean="0">
                <a:solidFill>
                  <a:srgbClr val="6A247A"/>
                </a:solidFill>
              </a:rPr>
              <a:t>OMP_THREAD_LIMIT</a:t>
            </a:r>
            <a:endParaRPr lang="en-US" altLang="zh-CN" sz="2800" b="1" dirty="0" smtClean="0">
              <a:solidFill>
                <a:srgbClr val="6A247A"/>
              </a:solidFill>
            </a:endParaRPr>
          </a:p>
          <a:p>
            <a:pPr>
              <a:lnSpc>
                <a:spcPct val="150000"/>
              </a:lnSpc>
            </a:pPr>
            <a:r>
              <a:rPr lang="en-US" altLang="zh-CN" sz="2800" b="1" dirty="0" smtClean="0">
                <a:solidFill>
                  <a:srgbClr val="000000"/>
                </a:solidFill>
              </a:rPr>
              <a:t>——</a:t>
            </a:r>
            <a:r>
              <a:rPr lang="zh-CN" altLang="en-US" sz="2800" b="1" dirty="0" smtClean="0">
                <a:solidFill>
                  <a:srgbClr val="000000"/>
                </a:solidFill>
              </a:rPr>
              <a:t>设置整个程序中能够使用的最大线程数</a:t>
            </a:r>
            <a:endParaRPr lang="en-US" altLang="zh-CN" sz="2800" b="1" dirty="0" smtClean="0">
              <a:solidFill>
                <a:srgbClr val="000000"/>
              </a:solidFill>
            </a:endParaRPr>
          </a:p>
          <a:p>
            <a:pPr>
              <a:lnSpc>
                <a:spcPct val="150000"/>
              </a:lnSpc>
            </a:pPr>
            <a:r>
              <a:rPr lang="en-US" sz="2800" b="1" dirty="0">
                <a:solidFill>
                  <a:srgbClr val="000000"/>
                </a:solidFill>
              </a:rPr>
              <a:t>export   </a:t>
            </a:r>
            <a:r>
              <a:rPr lang="en-US" sz="2800" b="1" dirty="0" smtClean="0">
                <a:solidFill>
                  <a:srgbClr val="000000"/>
                </a:solidFill>
              </a:rPr>
              <a:t>OMP_THREAD_LIMIT=8</a:t>
            </a:r>
            <a:endParaRPr lang="en-US" sz="2800" b="1" dirty="0" smtClean="0">
              <a:solidFill>
                <a:srgbClr val="000000"/>
              </a:solidFill>
            </a:endParaRPr>
          </a:p>
        </p:txBody>
      </p:sp>
    </p:spTree>
  </p:cSld>
  <p:clrMapOvr>
    <a:masterClrMapping/>
  </p:clrMapOvr>
  <p:transition spd="med" advTm="3025">
    <p:fade/>
  </p:transition>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00544" y="554182"/>
            <a:ext cx="10681855" cy="5509200"/>
          </a:xfrm>
          <a:prstGeom prst="rect">
            <a:avLst/>
          </a:prstGeom>
          <a:noFill/>
        </p:spPr>
        <p:txBody>
          <a:bodyPr wrap="square" rtlCol="0">
            <a:spAutoFit/>
          </a:bodyPr>
          <a:lstStyle/>
          <a:p>
            <a:r>
              <a:rPr lang="en-US" sz="2800" b="1" dirty="0" smtClean="0"/>
              <a:t>#include &lt;</a:t>
            </a:r>
            <a:r>
              <a:rPr lang="en-US" sz="2800" b="1" dirty="0" err="1" smtClean="0"/>
              <a:t>stdio.h</a:t>
            </a:r>
            <a:r>
              <a:rPr lang="en-US" sz="2800" b="1" dirty="0" smtClean="0"/>
              <a:t>&gt;</a:t>
            </a:r>
            <a:endParaRPr lang="en-US" sz="2800" b="1" dirty="0" smtClean="0"/>
          </a:p>
          <a:p>
            <a:r>
              <a:rPr lang="en-US" sz="2800" b="1" dirty="0" smtClean="0"/>
              <a:t>#include “</a:t>
            </a:r>
            <a:r>
              <a:rPr lang="en-US" sz="2800" b="1" dirty="0" err="1" smtClean="0"/>
              <a:t>omp.h</a:t>
            </a:r>
            <a:r>
              <a:rPr lang="en-US" sz="2800" b="1" dirty="0" smtClean="0"/>
              <a:t>”</a:t>
            </a:r>
            <a:endParaRPr lang="en-US" sz="2800" b="1" dirty="0" smtClean="0"/>
          </a:p>
          <a:p>
            <a:r>
              <a:rPr lang="en-US" sz="2800" b="1" dirty="0"/>
              <a:t>m</a:t>
            </a:r>
            <a:r>
              <a:rPr lang="en-US" sz="2800" b="1" dirty="0" smtClean="0"/>
              <a:t>ain( )</a:t>
            </a:r>
            <a:endParaRPr lang="en-US" sz="2800" b="1" dirty="0" smtClean="0"/>
          </a:p>
          <a:p>
            <a:pPr>
              <a:lnSpc>
                <a:spcPct val="150000"/>
              </a:lnSpc>
            </a:pPr>
            <a:r>
              <a:rPr lang="en-US" sz="2800" b="1" dirty="0" smtClean="0"/>
              <a:t>{ </a:t>
            </a:r>
            <a:r>
              <a:rPr lang="en-US" sz="2800" b="1" dirty="0" smtClean="0">
                <a:solidFill>
                  <a:srgbClr val="6A247A"/>
                </a:solidFill>
              </a:rPr>
              <a:t>omp_set_num_threads(4);                                       </a:t>
            </a:r>
            <a:r>
              <a:rPr lang="en-US" sz="2800" b="1" dirty="0" smtClean="0">
                <a:solidFill>
                  <a:srgbClr val="00B050"/>
                </a:solidFill>
              </a:rPr>
              <a:t>//</a:t>
            </a:r>
            <a:r>
              <a:rPr lang="zh-CN" altLang="en-US" sz="2800" b="1" dirty="0" smtClean="0">
                <a:solidFill>
                  <a:srgbClr val="00B050"/>
                </a:solidFill>
              </a:rPr>
              <a:t>库函数设置</a:t>
            </a:r>
            <a:endParaRPr lang="en-US" sz="2800" b="1" dirty="0" smtClean="0">
              <a:solidFill>
                <a:srgbClr val="00B050"/>
              </a:solidFill>
            </a:endParaRPr>
          </a:p>
          <a:p>
            <a:pPr>
              <a:lnSpc>
                <a:spcPct val="150000"/>
              </a:lnSpc>
            </a:pPr>
            <a:r>
              <a:rPr lang="en-US" sz="2800" b="1" dirty="0">
                <a:solidFill>
                  <a:srgbClr val="FF0000"/>
                </a:solidFill>
              </a:rPr>
              <a:t> </a:t>
            </a:r>
            <a:r>
              <a:rPr lang="en-US" sz="2800" b="1" dirty="0" smtClean="0">
                <a:solidFill>
                  <a:srgbClr val="FF0000"/>
                </a:solidFill>
              </a:rPr>
              <a:t>  #pragma </a:t>
            </a:r>
            <a:r>
              <a:rPr lang="en-US" sz="2800" b="1" dirty="0" err="1" smtClean="0">
                <a:solidFill>
                  <a:srgbClr val="FF0000"/>
                </a:solidFill>
              </a:rPr>
              <a:t>omp</a:t>
            </a:r>
            <a:r>
              <a:rPr lang="en-US" sz="2800" b="1" dirty="0" smtClean="0">
                <a:solidFill>
                  <a:srgbClr val="FF0000"/>
                </a:solidFill>
              </a:rPr>
              <a:t> parallel </a:t>
            </a:r>
            <a:r>
              <a:rPr lang="en-US" sz="2800" b="1" dirty="0" err="1" smtClean="0">
                <a:solidFill>
                  <a:srgbClr val="FF0000"/>
                </a:solidFill>
              </a:rPr>
              <a:t>num_threads</a:t>
            </a:r>
            <a:r>
              <a:rPr lang="en-US" sz="2800" b="1" dirty="0" smtClean="0">
                <a:solidFill>
                  <a:srgbClr val="FF0000"/>
                </a:solidFill>
              </a:rPr>
              <a:t>(2)               </a:t>
            </a:r>
            <a:r>
              <a:rPr lang="zh-CN" altLang="en-US" sz="2800" b="1" dirty="0" smtClean="0">
                <a:solidFill>
                  <a:srgbClr val="FF0000"/>
                </a:solidFill>
              </a:rPr>
              <a:t> </a:t>
            </a:r>
            <a:r>
              <a:rPr lang="en-US" altLang="zh-CN" sz="2800" b="1" dirty="0" smtClean="0">
                <a:solidFill>
                  <a:srgbClr val="00B050"/>
                </a:solidFill>
              </a:rPr>
              <a:t>//</a:t>
            </a:r>
            <a:r>
              <a:rPr lang="zh-CN" altLang="en-US" sz="2800" b="1" dirty="0" smtClean="0">
                <a:solidFill>
                  <a:srgbClr val="00B050"/>
                </a:solidFill>
              </a:rPr>
              <a:t>指令子句设置</a:t>
            </a:r>
            <a:endParaRPr lang="en-US" sz="2800" b="1" dirty="0" smtClean="0">
              <a:solidFill>
                <a:srgbClr val="00B050"/>
              </a:solidFill>
            </a:endParaRPr>
          </a:p>
          <a:p>
            <a:pPr>
              <a:lnSpc>
                <a:spcPct val="150000"/>
              </a:lnSpc>
            </a:pPr>
            <a:r>
              <a:rPr lang="en-US" sz="2800" b="1" dirty="0"/>
              <a:t> </a:t>
            </a:r>
            <a:r>
              <a:rPr lang="en-US" sz="2800" b="1" dirty="0" smtClean="0"/>
              <a:t>  </a:t>
            </a:r>
            <a:r>
              <a:rPr lang="en-US" sz="2800" b="1" dirty="0" err="1" smtClean="0"/>
              <a:t>printf</a:t>
            </a:r>
            <a:r>
              <a:rPr lang="en-US" sz="2800" b="1" dirty="0" smtClean="0"/>
              <a:t>(“my threads number is %d\n”,  </a:t>
            </a:r>
            <a:r>
              <a:rPr lang="en-US" sz="2800" b="1" dirty="0" err="1" smtClean="0">
                <a:solidFill>
                  <a:srgbClr val="2D0AC2"/>
                </a:solidFill>
              </a:rPr>
              <a:t>omp_get_thread_num</a:t>
            </a:r>
            <a:r>
              <a:rPr lang="en-US" sz="2800" b="1" dirty="0" smtClean="0">
                <a:solidFill>
                  <a:srgbClr val="2D0AC2"/>
                </a:solidFill>
              </a:rPr>
              <a:t>() </a:t>
            </a:r>
            <a:r>
              <a:rPr lang="en-US" sz="2800" b="1" dirty="0" smtClean="0"/>
              <a:t>);</a:t>
            </a:r>
            <a:endParaRPr lang="en-US" sz="2800" b="1" dirty="0" smtClean="0"/>
          </a:p>
          <a:p>
            <a:r>
              <a:rPr lang="en-US" sz="2800" b="1" dirty="0" smtClean="0"/>
              <a:t>}</a:t>
            </a:r>
            <a:endParaRPr lang="en-US" sz="2800" b="1" dirty="0"/>
          </a:p>
          <a:p>
            <a:pPr>
              <a:lnSpc>
                <a:spcPct val="150000"/>
              </a:lnSpc>
            </a:pPr>
            <a:r>
              <a:rPr lang="zh-CN" altLang="en-US" sz="4000" b="1" dirty="0" smtClean="0">
                <a:latin typeface="华文行楷" panose="02010800040101010101" pitchFamily="2" charset="-122"/>
                <a:ea typeface="华文行楷" panose="02010800040101010101" pitchFamily="2" charset="-122"/>
              </a:rPr>
              <a:t>         </a:t>
            </a:r>
            <a:r>
              <a:rPr lang="zh-CN" altLang="en-US" sz="3600" b="1" dirty="0" smtClean="0">
                <a:solidFill>
                  <a:srgbClr val="C00000"/>
                </a:solidFill>
                <a:latin typeface="华文行楷" panose="02010800040101010101" pitchFamily="2" charset="-122"/>
                <a:ea typeface="华文行楷" panose="02010800040101010101" pitchFamily="2" charset="-122"/>
              </a:rPr>
              <a:t>运行时函数的优先级要高于环境变量的优先级，而指令子句的优先级要高于运行时函数的优先级。</a:t>
            </a:r>
            <a:endParaRPr lang="en-US" sz="3600" b="1" dirty="0">
              <a:solidFill>
                <a:srgbClr val="C00000"/>
              </a:solidFill>
              <a:latin typeface="华文行楷" panose="02010800040101010101" pitchFamily="2" charset="-122"/>
              <a:ea typeface="华文行楷" panose="02010800040101010101" pitchFamily="2" charset="-122"/>
            </a:endParaRPr>
          </a:p>
        </p:txBody>
      </p:sp>
    </p:spTree>
  </p:cSld>
  <p:clrMapOvr>
    <a:masterClrMapping/>
  </p:clrMapOvr>
  <p:transition spd="med" advTm="3025">
    <p:fade/>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24458" y="463942"/>
            <a:ext cx="10747947" cy="5539978"/>
          </a:xfrm>
          <a:prstGeom prst="rect">
            <a:avLst/>
          </a:prstGeom>
        </p:spPr>
        <p:txBody>
          <a:bodyPr wrap="square">
            <a:spAutoFit/>
          </a:bodyPr>
          <a:lstStyle/>
          <a:p>
            <a:pPr algn="ctr"/>
            <a:r>
              <a:rPr lang="en-US" altLang="zh-CN" sz="4400" b="1" dirty="0" smtClean="0">
                <a:solidFill>
                  <a:srgbClr val="2D0AC2"/>
                </a:solidFill>
              </a:rPr>
              <a:t>OpenMP</a:t>
            </a:r>
            <a:r>
              <a:rPr lang="zh-CN" altLang="en-US" sz="4400" b="1" dirty="0" smtClean="0">
                <a:solidFill>
                  <a:srgbClr val="2D0AC2"/>
                </a:solidFill>
              </a:rPr>
              <a:t>程序设计</a:t>
            </a:r>
            <a:r>
              <a:rPr lang="zh-CN" altLang="en-US" sz="4400" b="1" dirty="0">
                <a:solidFill>
                  <a:srgbClr val="2D0AC2"/>
                </a:solidFill>
              </a:rPr>
              <a:t>技巧</a:t>
            </a:r>
            <a:r>
              <a:rPr lang="zh-CN" altLang="en-US" sz="4400" b="1" dirty="0" smtClean="0">
                <a:solidFill>
                  <a:srgbClr val="2D0AC2"/>
                </a:solidFill>
              </a:rPr>
              <a:t>总结</a:t>
            </a:r>
            <a:endParaRPr lang="en-US" altLang="zh-CN" sz="4400" b="1" dirty="0" smtClean="0">
              <a:solidFill>
                <a:srgbClr val="2D0AC2"/>
              </a:solidFill>
            </a:endParaRPr>
          </a:p>
          <a:p>
            <a:pPr algn="ctr"/>
            <a:endParaRPr lang="zh-CN" altLang="en-US" sz="1000" b="1" dirty="0">
              <a:solidFill>
                <a:srgbClr val="2D0AC2"/>
              </a:solidFill>
            </a:endParaRPr>
          </a:p>
          <a:p>
            <a:pPr>
              <a:lnSpc>
                <a:spcPts val="4500"/>
              </a:lnSpc>
            </a:pPr>
            <a:r>
              <a:rPr lang="en-US" altLang="zh-CN" sz="2800" b="1" dirty="0" smtClean="0">
                <a:solidFill>
                  <a:srgbClr val="000000"/>
                </a:solidFill>
              </a:rPr>
              <a:t>1</a:t>
            </a:r>
            <a:r>
              <a:rPr lang="en-US" altLang="zh-CN" sz="2800" b="1" dirty="0">
                <a:solidFill>
                  <a:srgbClr val="000000"/>
                </a:solidFill>
              </a:rPr>
              <a:t>.</a:t>
            </a:r>
            <a:r>
              <a:rPr lang="zh-CN" altLang="en-US" sz="2800" b="1" dirty="0">
                <a:solidFill>
                  <a:srgbClr val="000000"/>
                </a:solidFill>
              </a:rPr>
              <a:t>当循环次数较少时，如果分成过多的线程来执行的话，可能会使得总的运行时间高于较少线程或一个线程的执行</a:t>
            </a:r>
            <a:r>
              <a:rPr lang="zh-CN" altLang="en-US" sz="2800" b="1" dirty="0" smtClean="0">
                <a:solidFill>
                  <a:srgbClr val="000000"/>
                </a:solidFill>
              </a:rPr>
              <a:t>情况</a:t>
            </a:r>
            <a:r>
              <a:rPr lang="zh-CN" altLang="en-US" sz="2800" b="1" dirty="0">
                <a:solidFill>
                  <a:srgbClr val="000000"/>
                </a:solidFill>
              </a:rPr>
              <a:t>。</a:t>
            </a:r>
            <a:endParaRPr lang="zh-CN" altLang="en-US" sz="2800" b="1" dirty="0">
              <a:solidFill>
                <a:srgbClr val="000000"/>
              </a:solidFill>
            </a:endParaRPr>
          </a:p>
          <a:p>
            <a:pPr>
              <a:lnSpc>
                <a:spcPts val="4500"/>
              </a:lnSpc>
            </a:pPr>
            <a:r>
              <a:rPr lang="en-US" altLang="zh-CN" sz="2800" b="1" dirty="0">
                <a:solidFill>
                  <a:srgbClr val="000000"/>
                </a:solidFill>
              </a:rPr>
              <a:t>2.</a:t>
            </a:r>
            <a:r>
              <a:rPr lang="zh-CN" altLang="en-US" sz="2800" b="1" dirty="0">
                <a:solidFill>
                  <a:srgbClr val="000000"/>
                </a:solidFill>
              </a:rPr>
              <a:t>如果设置的线程数量远大于</a:t>
            </a:r>
            <a:r>
              <a:rPr lang="en-US" altLang="zh-CN" sz="2800" b="1" dirty="0">
                <a:solidFill>
                  <a:srgbClr val="000000"/>
                </a:solidFill>
              </a:rPr>
              <a:t>CPU</a:t>
            </a:r>
            <a:r>
              <a:rPr lang="zh-CN" altLang="en-US" sz="2800" b="1" dirty="0">
                <a:solidFill>
                  <a:srgbClr val="000000"/>
                </a:solidFill>
              </a:rPr>
              <a:t>的核数的话，那么存在着大量的任务切换和调度的开销，也会降低整体的效率</a:t>
            </a:r>
            <a:r>
              <a:rPr lang="zh-CN" altLang="en-US" sz="2800" b="1" dirty="0" smtClean="0">
                <a:solidFill>
                  <a:srgbClr val="000000"/>
                </a:solidFill>
              </a:rPr>
              <a:t>。</a:t>
            </a:r>
            <a:endParaRPr lang="zh-CN" altLang="en-US" sz="2800" b="1" dirty="0">
              <a:solidFill>
                <a:srgbClr val="000000"/>
              </a:solidFill>
            </a:endParaRPr>
          </a:p>
          <a:p>
            <a:pPr>
              <a:lnSpc>
                <a:spcPts val="4500"/>
              </a:lnSpc>
            </a:pPr>
            <a:r>
              <a:rPr lang="en-US" altLang="zh-CN" sz="2800" b="1" dirty="0">
                <a:solidFill>
                  <a:srgbClr val="000000"/>
                </a:solidFill>
              </a:rPr>
              <a:t>3.</a:t>
            </a:r>
            <a:r>
              <a:rPr lang="zh-CN" altLang="en-US" sz="2800" b="1" dirty="0">
                <a:solidFill>
                  <a:srgbClr val="000000"/>
                </a:solidFill>
              </a:rPr>
              <a:t>在嵌套循环中，如果外层循环迭代次数较少时</a:t>
            </a:r>
            <a:r>
              <a:rPr lang="zh-CN" altLang="en-US" sz="2800" b="1" dirty="0" smtClean="0">
                <a:solidFill>
                  <a:srgbClr val="000000"/>
                </a:solidFill>
              </a:rPr>
              <a:t>，</a:t>
            </a:r>
            <a:r>
              <a:rPr lang="zh-CN" altLang="en-US" sz="2800" b="1" dirty="0">
                <a:solidFill>
                  <a:srgbClr val="000000"/>
                </a:solidFill>
              </a:rPr>
              <a:t>若</a:t>
            </a:r>
            <a:r>
              <a:rPr lang="zh-CN" altLang="en-US" sz="2800" b="1" dirty="0" smtClean="0">
                <a:solidFill>
                  <a:srgbClr val="000000"/>
                </a:solidFill>
              </a:rPr>
              <a:t>将来</a:t>
            </a:r>
            <a:r>
              <a:rPr lang="en-US" altLang="zh-CN" sz="2800" b="1" dirty="0">
                <a:solidFill>
                  <a:srgbClr val="000000"/>
                </a:solidFill>
              </a:rPr>
              <a:t>CPU</a:t>
            </a:r>
            <a:r>
              <a:rPr lang="zh-CN" altLang="en-US" sz="2800" b="1" dirty="0">
                <a:solidFill>
                  <a:srgbClr val="000000"/>
                </a:solidFill>
              </a:rPr>
              <a:t>核数增加到一定程度时，创建的线程数将可能小于</a:t>
            </a:r>
            <a:r>
              <a:rPr lang="en-US" altLang="zh-CN" sz="2800" b="1" dirty="0">
                <a:solidFill>
                  <a:srgbClr val="000000"/>
                </a:solidFill>
              </a:rPr>
              <a:t>CPU</a:t>
            </a:r>
            <a:r>
              <a:rPr lang="zh-CN" altLang="en-US" sz="2800" b="1" dirty="0">
                <a:solidFill>
                  <a:srgbClr val="000000"/>
                </a:solidFill>
              </a:rPr>
              <a:t>核数。另外如果内层循环存在负载平衡的情况下，很难调度外层循环使之达到负载平衡。</a:t>
            </a:r>
            <a:endParaRPr lang="zh-CN" altLang="en-US" sz="2800" b="1" dirty="0">
              <a:solidFill>
                <a:srgbClr val="000000"/>
              </a:solidFill>
            </a:endParaRPr>
          </a:p>
        </p:txBody>
      </p:sp>
    </p:spTree>
  </p:cSld>
  <p:clrMapOvr>
    <a:masterClrMapping/>
  </p:clrMapOvr>
  <p:transition spd="med" advTm="3025">
    <p:fade/>
  </p:transition>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69818" y="623454"/>
            <a:ext cx="10169237" cy="7417415"/>
          </a:xfrm>
          <a:prstGeom prst="rect">
            <a:avLst/>
          </a:prstGeom>
          <a:noFill/>
        </p:spPr>
        <p:txBody>
          <a:bodyPr wrap="square" rtlCol="0">
            <a:spAutoFit/>
          </a:bodyPr>
          <a:lstStyle/>
          <a:p>
            <a:pPr algn="ctr"/>
            <a:r>
              <a:rPr lang="en-US" sz="4400" dirty="0" err="1">
                <a:solidFill>
                  <a:srgbClr val="2D0AC2"/>
                </a:solidFill>
                <a:latin typeface="+mj-lt"/>
                <a:ea typeface="华文行楷" panose="02010800040101010101" pitchFamily="2" charset="-122"/>
              </a:rPr>
              <a:t>OpenMP</a:t>
            </a:r>
            <a:r>
              <a:rPr lang="zh-CN" altLang="en-US" sz="4400" dirty="0">
                <a:solidFill>
                  <a:srgbClr val="2D0AC2"/>
                </a:solidFill>
                <a:latin typeface="+mj-lt"/>
                <a:ea typeface="华文行楷" panose="02010800040101010101" pitchFamily="2" charset="-122"/>
              </a:rPr>
              <a:t>并行程序比串行程序</a:t>
            </a:r>
            <a:r>
              <a:rPr lang="zh-CN" altLang="en-US" sz="4400" dirty="0" smtClean="0">
                <a:solidFill>
                  <a:srgbClr val="2D0AC2"/>
                </a:solidFill>
                <a:latin typeface="+mj-lt"/>
                <a:ea typeface="华文行楷" panose="02010800040101010101" pitchFamily="2" charset="-122"/>
              </a:rPr>
              <a:t>慢的原因</a:t>
            </a:r>
            <a:endParaRPr lang="en-US" altLang="zh-CN" sz="4400" dirty="0" smtClean="0">
              <a:solidFill>
                <a:srgbClr val="2D0AC2"/>
              </a:solidFill>
              <a:latin typeface="+mj-lt"/>
              <a:ea typeface="华文行楷" panose="02010800040101010101" pitchFamily="2" charset="-122"/>
            </a:endParaRPr>
          </a:p>
          <a:p>
            <a:pPr marL="457200" indent="-457200">
              <a:lnSpc>
                <a:spcPct val="150000"/>
              </a:lnSpc>
              <a:buFont typeface="Arial" panose="020B0604020202020204" pitchFamily="34" charset="0"/>
              <a:buChar char="•"/>
            </a:pPr>
            <a:r>
              <a:rPr lang="zh-CN" altLang="en-US" sz="3200" dirty="0" smtClean="0">
                <a:latin typeface="+mj-lt"/>
                <a:ea typeface="华文行楷" panose="02010800040101010101" pitchFamily="2" charset="-122"/>
              </a:rPr>
              <a:t>程序算法涉及大量的逻辑判断，不具备很好的并发性</a:t>
            </a:r>
            <a:endParaRPr lang="en-US" altLang="zh-CN" sz="3200" dirty="0" smtClean="0">
              <a:latin typeface="+mj-lt"/>
              <a:ea typeface="华文行楷" panose="02010800040101010101" pitchFamily="2" charset="-122"/>
            </a:endParaRPr>
          </a:p>
          <a:p>
            <a:pPr marL="457200" indent="-457200">
              <a:lnSpc>
                <a:spcPct val="150000"/>
              </a:lnSpc>
              <a:buFont typeface="Arial" panose="020B0604020202020204" pitchFamily="34" charset="0"/>
              <a:buChar char="•"/>
            </a:pPr>
            <a:r>
              <a:rPr lang="zh-CN" altLang="en-US" sz="3200" dirty="0" smtClean="0">
                <a:latin typeface="+mj-lt"/>
                <a:ea typeface="华文行楷" panose="02010800040101010101" pitchFamily="2" charset="-122"/>
              </a:rPr>
              <a:t>程序算法涉及的数据不独立，相互依赖</a:t>
            </a:r>
            <a:endParaRPr lang="en-US" altLang="zh-CN" sz="3200" dirty="0" smtClean="0">
              <a:latin typeface="+mj-lt"/>
              <a:ea typeface="华文行楷" panose="02010800040101010101" pitchFamily="2" charset="-122"/>
            </a:endParaRPr>
          </a:p>
          <a:p>
            <a:pPr marL="457200" indent="-457200">
              <a:lnSpc>
                <a:spcPct val="150000"/>
              </a:lnSpc>
              <a:buFont typeface="Arial" panose="020B0604020202020204" pitchFamily="34" charset="0"/>
              <a:buChar char="•"/>
            </a:pPr>
            <a:r>
              <a:rPr lang="zh-CN" altLang="en-US" sz="3200" dirty="0" smtClean="0">
                <a:latin typeface="+mj-lt"/>
                <a:ea typeface="华文行楷" panose="02010800040101010101" pitchFamily="2" charset="-122"/>
              </a:rPr>
              <a:t>并行域内的变量没有进行私有化</a:t>
            </a:r>
            <a:endParaRPr lang="en-US" altLang="zh-CN" sz="3200" dirty="0" smtClean="0">
              <a:latin typeface="+mj-lt"/>
              <a:ea typeface="华文行楷" panose="02010800040101010101" pitchFamily="2" charset="-122"/>
            </a:endParaRPr>
          </a:p>
          <a:p>
            <a:pPr marL="457200" indent="-457200">
              <a:lnSpc>
                <a:spcPct val="150000"/>
              </a:lnSpc>
              <a:buFont typeface="Arial" panose="020B0604020202020204" pitchFamily="34" charset="0"/>
              <a:buChar char="•"/>
            </a:pPr>
            <a:r>
              <a:rPr lang="zh-CN" altLang="en-US" sz="3200" dirty="0" smtClean="0">
                <a:latin typeface="+mj-lt"/>
                <a:ea typeface="华文行楷" panose="02010800040101010101" pitchFamily="2" charset="-122"/>
              </a:rPr>
              <a:t>子函数运行时间很短，仍然坚持并行化</a:t>
            </a:r>
            <a:endParaRPr lang="en-US" altLang="zh-CN" sz="3200" dirty="0" smtClean="0">
              <a:latin typeface="+mj-lt"/>
              <a:ea typeface="华文行楷" panose="02010800040101010101" pitchFamily="2" charset="-122"/>
            </a:endParaRPr>
          </a:p>
          <a:p>
            <a:pPr marL="457200" indent="-457200">
              <a:lnSpc>
                <a:spcPct val="150000"/>
              </a:lnSpc>
              <a:buFont typeface="Arial" panose="020B0604020202020204" pitchFamily="34" charset="0"/>
              <a:buChar char="•"/>
            </a:pPr>
            <a:r>
              <a:rPr lang="zh-CN" altLang="en-US" sz="3200" dirty="0" smtClean="0">
                <a:latin typeface="+mj-lt"/>
                <a:ea typeface="华文行楷" panose="02010800040101010101" pitchFamily="2" charset="-122"/>
              </a:rPr>
              <a:t>循环次数</a:t>
            </a:r>
            <a:r>
              <a:rPr lang="en-US" altLang="zh-CN" sz="3200" dirty="0" smtClean="0">
                <a:latin typeface="+mj-lt"/>
                <a:ea typeface="华文行楷" panose="02010800040101010101" pitchFamily="2" charset="-122"/>
              </a:rPr>
              <a:t>N&lt;10*</a:t>
            </a:r>
            <a:r>
              <a:rPr lang="zh-CN" altLang="en-US" sz="3200" dirty="0" smtClean="0">
                <a:latin typeface="+mj-lt"/>
                <a:ea typeface="华文行楷" panose="02010800040101010101" pitchFamily="2" charset="-122"/>
              </a:rPr>
              <a:t>线程数，仍然坚持并行化</a:t>
            </a:r>
            <a:endParaRPr lang="en-US" altLang="zh-CN" sz="3200" dirty="0" smtClean="0">
              <a:latin typeface="+mj-lt"/>
              <a:ea typeface="华文行楷" panose="02010800040101010101" pitchFamily="2" charset="-122"/>
            </a:endParaRPr>
          </a:p>
          <a:p>
            <a:pPr marL="457200" indent="-457200">
              <a:lnSpc>
                <a:spcPct val="150000"/>
              </a:lnSpc>
              <a:buFont typeface="Arial" panose="020B0604020202020204" pitchFamily="34" charset="0"/>
              <a:buChar char="•"/>
            </a:pPr>
            <a:r>
              <a:rPr lang="zh-CN" altLang="en-US" sz="3200" dirty="0" smtClean="0">
                <a:latin typeface="+mj-lt"/>
                <a:ea typeface="华文行楷" panose="02010800040101010101" pitchFamily="2" charset="-122"/>
              </a:rPr>
              <a:t>创建线程的开销时间大于优化缩短的时间</a:t>
            </a:r>
            <a:endParaRPr lang="en-US" altLang="zh-CN" sz="3200" dirty="0" smtClean="0">
              <a:latin typeface="+mj-lt"/>
              <a:ea typeface="华文行楷" panose="02010800040101010101" pitchFamily="2" charset="-122"/>
            </a:endParaRPr>
          </a:p>
          <a:p>
            <a:pPr marL="457200" indent="-457200">
              <a:lnSpc>
                <a:spcPct val="150000"/>
              </a:lnSpc>
              <a:buFont typeface="Arial" panose="020B0604020202020204" pitchFamily="34" charset="0"/>
              <a:buChar char="•"/>
            </a:pPr>
            <a:r>
              <a:rPr lang="zh-CN" altLang="en-US" sz="3200" dirty="0" smtClean="0">
                <a:latin typeface="+mj-lt"/>
                <a:ea typeface="华文行楷" panose="02010800040101010101" pitchFamily="2" charset="-122"/>
              </a:rPr>
              <a:t>并行部分涉及</a:t>
            </a:r>
            <a:r>
              <a:rPr lang="en-US" altLang="zh-CN" sz="3200" dirty="0" smtClean="0">
                <a:latin typeface="+mj-lt"/>
                <a:ea typeface="华文行楷" panose="02010800040101010101" pitchFamily="2" charset="-122"/>
              </a:rPr>
              <a:t>I/O</a:t>
            </a:r>
            <a:r>
              <a:rPr lang="zh-CN" altLang="en-US" sz="3200" dirty="0" smtClean="0">
                <a:latin typeface="+mj-lt"/>
                <a:ea typeface="华文行楷" panose="02010800040101010101" pitchFamily="2" charset="-122"/>
              </a:rPr>
              <a:t>交换</a:t>
            </a:r>
            <a:endParaRPr lang="en-US" altLang="zh-CN" sz="3200" dirty="0" smtClean="0">
              <a:latin typeface="+mj-lt"/>
              <a:ea typeface="华文行楷" panose="02010800040101010101" pitchFamily="2" charset="-122"/>
            </a:endParaRPr>
          </a:p>
          <a:p>
            <a:pPr marL="457200" indent="-457200">
              <a:buFont typeface="Arial" panose="020B0604020202020204" pitchFamily="34" charset="0"/>
              <a:buChar char="•"/>
            </a:pPr>
            <a:endParaRPr lang="en-US" altLang="zh-CN" sz="3200" dirty="0" smtClean="0">
              <a:latin typeface="+mj-lt"/>
              <a:ea typeface="华文行楷" panose="02010800040101010101" pitchFamily="2" charset="-122"/>
            </a:endParaRPr>
          </a:p>
          <a:p>
            <a:pPr marL="457200" indent="-457200">
              <a:buFont typeface="Arial" panose="020B0604020202020204" pitchFamily="34" charset="0"/>
              <a:buChar char="•"/>
            </a:pPr>
            <a:endParaRPr lang="en-US" altLang="zh-CN" sz="3200" dirty="0" smtClean="0">
              <a:latin typeface="+mj-lt"/>
              <a:ea typeface="华文行楷" panose="02010800040101010101" pitchFamily="2" charset="-122"/>
            </a:endParaRPr>
          </a:p>
          <a:p>
            <a:endParaRPr lang="en-US" sz="3200" dirty="0">
              <a:latin typeface="+mj-lt"/>
              <a:ea typeface="华文行楷" panose="02010800040101010101" pitchFamily="2" charset="-122"/>
            </a:endParaRPr>
          </a:p>
        </p:txBody>
      </p:sp>
    </p:spTree>
  </p:cSld>
  <p:clrMapOvr>
    <a:masterClrMapping/>
  </p:clrMapOvr>
  <p:transition spd="med" advTm="3025">
    <p:fade/>
  </p:transition>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69818" y="623454"/>
            <a:ext cx="10169237" cy="5616922"/>
          </a:xfrm>
          <a:prstGeom prst="rect">
            <a:avLst/>
          </a:prstGeom>
          <a:noFill/>
        </p:spPr>
        <p:txBody>
          <a:bodyPr wrap="square" rtlCol="0">
            <a:spAutoFit/>
          </a:bodyPr>
          <a:lstStyle/>
          <a:p>
            <a:pPr algn="ctr"/>
            <a:r>
              <a:rPr lang="en-US" sz="4400" dirty="0" err="1" smtClean="0">
                <a:solidFill>
                  <a:srgbClr val="2D0AC2"/>
                </a:solidFill>
                <a:ea typeface="华文行楷" panose="02010800040101010101" pitchFamily="2" charset="-122"/>
              </a:rPr>
              <a:t>OpenMP</a:t>
            </a:r>
            <a:r>
              <a:rPr lang="zh-CN" altLang="en-US" sz="4400" dirty="0" smtClean="0">
                <a:solidFill>
                  <a:srgbClr val="2D0AC2"/>
                </a:solidFill>
                <a:ea typeface="华文行楷" panose="02010800040101010101" pitchFamily="2" charset="-122"/>
              </a:rPr>
              <a:t>与</a:t>
            </a:r>
            <a:r>
              <a:rPr lang="en-US" altLang="zh-CN" sz="4400" dirty="0" smtClean="0">
                <a:solidFill>
                  <a:srgbClr val="2D0AC2"/>
                </a:solidFill>
                <a:ea typeface="华文行楷" panose="02010800040101010101" pitchFamily="2" charset="-122"/>
              </a:rPr>
              <a:t>MPI</a:t>
            </a:r>
            <a:r>
              <a:rPr lang="zh-CN" altLang="en-US" sz="4400" dirty="0" smtClean="0">
                <a:solidFill>
                  <a:srgbClr val="2D0AC2"/>
                </a:solidFill>
                <a:ea typeface="华文行楷" panose="02010800040101010101" pitchFamily="2" charset="-122"/>
              </a:rPr>
              <a:t>的对比</a:t>
            </a:r>
            <a:endParaRPr lang="en-US" altLang="zh-CN" sz="4400" dirty="0" smtClean="0">
              <a:solidFill>
                <a:srgbClr val="2D0AC2"/>
              </a:solidFill>
              <a:ea typeface="华文行楷" panose="02010800040101010101" pitchFamily="2" charset="-122"/>
            </a:endParaRPr>
          </a:p>
          <a:p>
            <a:pPr algn="ctr"/>
            <a:endParaRPr lang="en-US" altLang="zh-CN" sz="1100" dirty="0" smtClean="0">
              <a:solidFill>
                <a:srgbClr val="2D0AC2"/>
              </a:solidFill>
              <a:ea typeface="华文行楷" panose="02010800040101010101" pitchFamily="2" charset="-122"/>
            </a:endParaRPr>
          </a:p>
          <a:p>
            <a:pPr>
              <a:lnSpc>
                <a:spcPct val="150000"/>
              </a:lnSpc>
            </a:pPr>
            <a:r>
              <a:rPr lang="en-US" altLang="zh-CN" sz="3200" dirty="0" err="1">
                <a:solidFill>
                  <a:srgbClr val="C00000"/>
                </a:solidFill>
                <a:ea typeface="华文行楷" panose="02010800040101010101" pitchFamily="2" charset="-122"/>
              </a:rPr>
              <a:t>OpenMP</a:t>
            </a:r>
            <a:r>
              <a:rPr lang="zh-CN" altLang="en-US" sz="3200" dirty="0">
                <a:solidFill>
                  <a:srgbClr val="C00000"/>
                </a:solidFill>
                <a:ea typeface="华文行楷" panose="02010800040101010101" pitchFamily="2" charset="-122"/>
              </a:rPr>
              <a:t>的优点： </a:t>
            </a:r>
            <a:endParaRPr lang="zh-CN" altLang="en-US" sz="3200" dirty="0">
              <a:solidFill>
                <a:srgbClr val="C00000"/>
              </a:solidFill>
              <a:ea typeface="华文行楷" panose="02010800040101010101" pitchFamily="2" charset="-122"/>
            </a:endParaRPr>
          </a:p>
          <a:p>
            <a:pPr>
              <a:lnSpc>
                <a:spcPct val="150000"/>
              </a:lnSpc>
            </a:pPr>
            <a:r>
              <a:rPr lang="en-US" altLang="zh-CN" sz="3200" dirty="0">
                <a:solidFill>
                  <a:srgbClr val="000000"/>
                </a:solidFill>
                <a:ea typeface="华文行楷" panose="02010800040101010101" pitchFamily="2" charset="-122"/>
              </a:rPr>
              <a:t>- </a:t>
            </a:r>
            <a:r>
              <a:rPr lang="en-US" altLang="zh-CN" sz="3200" dirty="0" err="1">
                <a:solidFill>
                  <a:srgbClr val="000000"/>
                </a:solidFill>
                <a:ea typeface="华文行楷" panose="02010800040101010101" pitchFamily="2" charset="-122"/>
              </a:rPr>
              <a:t>OpenMP</a:t>
            </a:r>
            <a:r>
              <a:rPr lang="zh-CN" altLang="en-US" sz="3200" dirty="0">
                <a:solidFill>
                  <a:srgbClr val="000000"/>
                </a:solidFill>
                <a:ea typeface="华文行楷" panose="02010800040101010101" pitchFamily="2" charset="-122"/>
              </a:rPr>
              <a:t>相对于</a:t>
            </a:r>
            <a:r>
              <a:rPr lang="en-US" altLang="zh-CN" sz="3200" dirty="0">
                <a:solidFill>
                  <a:srgbClr val="000000"/>
                </a:solidFill>
                <a:ea typeface="华文行楷" panose="02010800040101010101" pitchFamily="2" charset="-122"/>
              </a:rPr>
              <a:t>MPI</a:t>
            </a:r>
            <a:r>
              <a:rPr lang="zh-CN" altLang="en-US" sz="3200" dirty="0">
                <a:solidFill>
                  <a:srgbClr val="000000"/>
                </a:solidFill>
                <a:ea typeface="华文行楷" panose="02010800040101010101" pitchFamily="2" charset="-122"/>
              </a:rPr>
              <a:t>而言更</a:t>
            </a:r>
            <a:r>
              <a:rPr lang="zh-CN" altLang="en-US" sz="3200" dirty="0" smtClean="0">
                <a:solidFill>
                  <a:srgbClr val="000000"/>
                </a:solidFill>
                <a:ea typeface="华文行楷" panose="02010800040101010101" pitchFamily="2" charset="-122"/>
              </a:rPr>
              <a:t>容易进行编程</a:t>
            </a:r>
            <a:endParaRPr lang="zh-CN" altLang="en-US" sz="3200" dirty="0">
              <a:solidFill>
                <a:srgbClr val="000000"/>
              </a:solidFill>
              <a:ea typeface="华文行楷" panose="02010800040101010101" pitchFamily="2" charset="-122"/>
            </a:endParaRPr>
          </a:p>
          <a:p>
            <a:pPr>
              <a:lnSpc>
                <a:spcPct val="150000"/>
              </a:lnSpc>
            </a:pPr>
            <a:r>
              <a:rPr lang="en-US" altLang="zh-CN" sz="3200" dirty="0">
                <a:solidFill>
                  <a:srgbClr val="000000"/>
                </a:solidFill>
                <a:ea typeface="华文行楷" panose="02010800040101010101" pitchFamily="2" charset="-122"/>
              </a:rPr>
              <a:t>- </a:t>
            </a:r>
            <a:r>
              <a:rPr lang="en-US" altLang="zh-CN" sz="3200" dirty="0" err="1">
                <a:solidFill>
                  <a:srgbClr val="000000"/>
                </a:solidFill>
                <a:ea typeface="华文行楷" panose="02010800040101010101" pitchFamily="2" charset="-122"/>
              </a:rPr>
              <a:t>OpenMp</a:t>
            </a:r>
            <a:r>
              <a:rPr lang="zh-CN" altLang="en-US" sz="3200" dirty="0">
                <a:solidFill>
                  <a:srgbClr val="000000"/>
                </a:solidFill>
                <a:ea typeface="华文行楷" panose="02010800040101010101" pitchFamily="2" charset="-122"/>
              </a:rPr>
              <a:t>对原串行代码改动较小，</a:t>
            </a:r>
            <a:r>
              <a:rPr lang="zh-CN" altLang="en-US" sz="3200" dirty="0" smtClean="0">
                <a:solidFill>
                  <a:srgbClr val="000000"/>
                </a:solidFill>
                <a:ea typeface="华文行楷" panose="02010800040101010101" pitchFamily="2" charset="-122"/>
              </a:rPr>
              <a:t>可以利用很多源代码 </a:t>
            </a:r>
            <a:endParaRPr lang="zh-CN" altLang="en-US" sz="3200" dirty="0">
              <a:solidFill>
                <a:srgbClr val="000000"/>
              </a:solidFill>
              <a:ea typeface="华文行楷" panose="02010800040101010101" pitchFamily="2" charset="-122"/>
            </a:endParaRPr>
          </a:p>
          <a:p>
            <a:pPr>
              <a:lnSpc>
                <a:spcPct val="150000"/>
              </a:lnSpc>
            </a:pPr>
            <a:r>
              <a:rPr lang="en-US" altLang="zh-CN" sz="3200" dirty="0">
                <a:solidFill>
                  <a:srgbClr val="000000"/>
                </a:solidFill>
                <a:ea typeface="华文行楷" panose="02010800040101010101" pitchFamily="2" charset="-122"/>
              </a:rPr>
              <a:t>- </a:t>
            </a:r>
            <a:r>
              <a:rPr lang="zh-CN" altLang="en-US" sz="3200" dirty="0">
                <a:solidFill>
                  <a:srgbClr val="000000"/>
                </a:solidFill>
                <a:ea typeface="华文行楷" panose="02010800040101010101" pitchFamily="2" charset="-122"/>
              </a:rPr>
              <a:t>代码更容易理解和维护 </a:t>
            </a:r>
            <a:endParaRPr lang="zh-CN" altLang="en-US" sz="3200" dirty="0">
              <a:solidFill>
                <a:srgbClr val="000000"/>
              </a:solidFill>
              <a:ea typeface="华文行楷" panose="02010800040101010101" pitchFamily="2" charset="-122"/>
            </a:endParaRPr>
          </a:p>
          <a:p>
            <a:pPr>
              <a:lnSpc>
                <a:spcPct val="150000"/>
              </a:lnSpc>
            </a:pPr>
            <a:r>
              <a:rPr lang="en-US" altLang="zh-CN" sz="3200" dirty="0">
                <a:solidFill>
                  <a:srgbClr val="000000"/>
                </a:solidFill>
                <a:ea typeface="华文行楷" panose="02010800040101010101" pitchFamily="2" charset="-122"/>
              </a:rPr>
              <a:t>- </a:t>
            </a:r>
            <a:r>
              <a:rPr lang="zh-CN" altLang="en-US" sz="3200" dirty="0">
                <a:solidFill>
                  <a:srgbClr val="000000"/>
                </a:solidFill>
                <a:ea typeface="华文行楷" panose="02010800040101010101" pitchFamily="2" charset="-122"/>
              </a:rPr>
              <a:t>允许渐进式并行化</a:t>
            </a:r>
            <a:endParaRPr lang="en-US" altLang="zh-CN" sz="3200" dirty="0" smtClean="0">
              <a:solidFill>
                <a:srgbClr val="000000"/>
              </a:solidFill>
              <a:ea typeface="华文行楷" panose="02010800040101010101" pitchFamily="2" charset="-122"/>
            </a:endParaRPr>
          </a:p>
          <a:p>
            <a:pPr marL="457200" indent="-457200">
              <a:buFont typeface="Arial" panose="020B0604020202020204" pitchFamily="34" charset="0"/>
              <a:buChar char="•"/>
            </a:pPr>
            <a:endParaRPr lang="en-US" altLang="zh-CN" sz="3200" dirty="0" smtClean="0">
              <a:solidFill>
                <a:srgbClr val="000000"/>
              </a:solidFill>
              <a:ea typeface="华文行楷" panose="02010800040101010101" pitchFamily="2" charset="-122"/>
            </a:endParaRPr>
          </a:p>
          <a:p>
            <a:endParaRPr lang="en-US" sz="3200" dirty="0">
              <a:solidFill>
                <a:srgbClr val="000000"/>
              </a:solidFill>
              <a:ea typeface="华文行楷" panose="02010800040101010101" pitchFamily="2" charset="-122"/>
            </a:endParaRPr>
          </a:p>
        </p:txBody>
      </p:sp>
    </p:spTree>
  </p:cSld>
  <p:clrMapOvr>
    <a:masterClrMapping/>
  </p:clrMapOvr>
  <p:transition spd="med" advTm="3025">
    <p:fade/>
  </p:transition>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69818" y="623454"/>
            <a:ext cx="10169237" cy="5124480"/>
          </a:xfrm>
          <a:prstGeom prst="rect">
            <a:avLst/>
          </a:prstGeom>
          <a:noFill/>
        </p:spPr>
        <p:txBody>
          <a:bodyPr wrap="square" rtlCol="0">
            <a:spAutoFit/>
          </a:bodyPr>
          <a:lstStyle/>
          <a:p>
            <a:pPr algn="ctr"/>
            <a:r>
              <a:rPr lang="en-US" sz="4400" dirty="0" err="1" smtClean="0">
                <a:solidFill>
                  <a:srgbClr val="2D0AC2"/>
                </a:solidFill>
                <a:ea typeface="华文行楷" panose="02010800040101010101" pitchFamily="2" charset="-122"/>
              </a:rPr>
              <a:t>OpenMP</a:t>
            </a:r>
            <a:r>
              <a:rPr lang="zh-CN" altLang="en-US" sz="4400" dirty="0" smtClean="0">
                <a:solidFill>
                  <a:srgbClr val="2D0AC2"/>
                </a:solidFill>
                <a:ea typeface="华文行楷" panose="02010800040101010101" pitchFamily="2" charset="-122"/>
              </a:rPr>
              <a:t>与</a:t>
            </a:r>
            <a:r>
              <a:rPr lang="en-US" altLang="zh-CN" sz="4400" dirty="0" smtClean="0">
                <a:solidFill>
                  <a:srgbClr val="2D0AC2"/>
                </a:solidFill>
                <a:ea typeface="华文行楷" panose="02010800040101010101" pitchFamily="2" charset="-122"/>
              </a:rPr>
              <a:t>MPI</a:t>
            </a:r>
            <a:r>
              <a:rPr lang="zh-CN" altLang="en-US" sz="4400" dirty="0" smtClean="0">
                <a:solidFill>
                  <a:srgbClr val="2D0AC2"/>
                </a:solidFill>
                <a:ea typeface="华文行楷" panose="02010800040101010101" pitchFamily="2" charset="-122"/>
              </a:rPr>
              <a:t>的对比</a:t>
            </a:r>
            <a:endParaRPr lang="en-US" altLang="zh-CN" sz="4400" dirty="0" smtClean="0">
              <a:solidFill>
                <a:srgbClr val="2D0AC2"/>
              </a:solidFill>
              <a:ea typeface="华文行楷" panose="02010800040101010101" pitchFamily="2" charset="-122"/>
            </a:endParaRPr>
          </a:p>
          <a:p>
            <a:pPr algn="ctr"/>
            <a:endParaRPr lang="en-US" altLang="zh-CN" sz="1100" dirty="0" smtClean="0">
              <a:solidFill>
                <a:srgbClr val="2D0AC2"/>
              </a:solidFill>
              <a:ea typeface="华文行楷" panose="02010800040101010101" pitchFamily="2" charset="-122"/>
            </a:endParaRPr>
          </a:p>
          <a:p>
            <a:pPr>
              <a:lnSpc>
                <a:spcPct val="150000"/>
              </a:lnSpc>
            </a:pPr>
            <a:r>
              <a:rPr lang="en-US" altLang="zh-CN" sz="3200" dirty="0" err="1">
                <a:solidFill>
                  <a:srgbClr val="00B050"/>
                </a:solidFill>
                <a:ea typeface="华文行楷" panose="02010800040101010101" pitchFamily="2" charset="-122"/>
              </a:rPr>
              <a:t>OpenMP</a:t>
            </a:r>
            <a:r>
              <a:rPr lang="zh-CN" altLang="en-US" sz="3200" dirty="0" smtClean="0">
                <a:solidFill>
                  <a:srgbClr val="00B050"/>
                </a:solidFill>
                <a:ea typeface="华文行楷" panose="02010800040101010101" pitchFamily="2" charset="-122"/>
              </a:rPr>
              <a:t>的缺点</a:t>
            </a:r>
            <a:r>
              <a:rPr lang="zh-CN" altLang="en-US" sz="3200" dirty="0">
                <a:solidFill>
                  <a:srgbClr val="00B050"/>
                </a:solidFill>
                <a:ea typeface="华文行楷" panose="02010800040101010101" pitchFamily="2" charset="-122"/>
              </a:rPr>
              <a:t>： </a:t>
            </a:r>
            <a:endParaRPr lang="zh-CN" altLang="en-US" sz="3200" dirty="0">
              <a:solidFill>
                <a:srgbClr val="00B050"/>
              </a:solidFill>
              <a:ea typeface="华文行楷" panose="02010800040101010101" pitchFamily="2" charset="-122"/>
            </a:endParaRPr>
          </a:p>
          <a:p>
            <a:pPr>
              <a:lnSpc>
                <a:spcPct val="150000"/>
              </a:lnSpc>
            </a:pPr>
            <a:r>
              <a:rPr lang="en-US" altLang="zh-CN" sz="3200" dirty="0">
                <a:solidFill>
                  <a:srgbClr val="000000"/>
                </a:solidFill>
                <a:ea typeface="华文行楷" panose="02010800040101010101" pitchFamily="2" charset="-122"/>
              </a:rPr>
              <a:t>- </a:t>
            </a:r>
            <a:r>
              <a:rPr lang="zh-CN" altLang="en-US" sz="3200" dirty="0">
                <a:solidFill>
                  <a:srgbClr val="000000"/>
                </a:solidFill>
                <a:ea typeface="华文行楷" panose="02010800040101010101" pitchFamily="2" charset="-122"/>
              </a:rPr>
              <a:t>所有线程共享内存空间，硬件制约较大 </a:t>
            </a:r>
            <a:endParaRPr lang="zh-CN" altLang="en-US" sz="3200" dirty="0">
              <a:solidFill>
                <a:srgbClr val="000000"/>
              </a:solidFill>
              <a:ea typeface="华文行楷" panose="02010800040101010101" pitchFamily="2" charset="-122"/>
            </a:endParaRPr>
          </a:p>
          <a:p>
            <a:pPr>
              <a:lnSpc>
                <a:spcPct val="150000"/>
              </a:lnSpc>
            </a:pPr>
            <a:r>
              <a:rPr lang="en-US" altLang="zh-CN" sz="3200" dirty="0" smtClean="0">
                <a:solidFill>
                  <a:srgbClr val="000000"/>
                </a:solidFill>
                <a:ea typeface="华文行楷" panose="02010800040101010101" pitchFamily="2" charset="-122"/>
              </a:rPr>
              <a:t>- </a:t>
            </a:r>
            <a:r>
              <a:rPr lang="zh-CN" altLang="en-US" sz="3200" dirty="0" smtClean="0">
                <a:solidFill>
                  <a:srgbClr val="000000"/>
                </a:solidFill>
                <a:ea typeface="华文行楷" panose="02010800040101010101" pitchFamily="2" charset="-122"/>
              </a:rPr>
              <a:t>目前</a:t>
            </a:r>
            <a:r>
              <a:rPr lang="zh-CN" altLang="en-US" sz="3200" dirty="0">
                <a:solidFill>
                  <a:srgbClr val="000000"/>
                </a:solidFill>
                <a:ea typeface="华文行楷" panose="02010800040101010101" pitchFamily="2" charset="-122"/>
              </a:rPr>
              <a:t>主要针对循环</a:t>
            </a:r>
            <a:r>
              <a:rPr lang="zh-CN" altLang="en-US" sz="3200" dirty="0" smtClean="0">
                <a:solidFill>
                  <a:srgbClr val="000000"/>
                </a:solidFill>
                <a:ea typeface="华文行楷" panose="02010800040101010101" pitchFamily="2" charset="-122"/>
              </a:rPr>
              <a:t>并行化</a:t>
            </a:r>
            <a:endParaRPr lang="en-US" altLang="zh-CN" sz="3200" dirty="0" smtClean="0">
              <a:solidFill>
                <a:srgbClr val="000000"/>
              </a:solidFill>
              <a:ea typeface="华文行楷" panose="02010800040101010101" pitchFamily="2" charset="-122"/>
            </a:endParaRPr>
          </a:p>
          <a:p>
            <a:pPr>
              <a:lnSpc>
                <a:spcPct val="150000"/>
              </a:lnSpc>
            </a:pPr>
            <a:r>
              <a:rPr lang="en-US" altLang="zh-CN" sz="3200" dirty="0" smtClean="0">
                <a:solidFill>
                  <a:srgbClr val="000000"/>
                </a:solidFill>
                <a:ea typeface="华文行楷" panose="02010800040101010101" pitchFamily="2" charset="-122"/>
              </a:rPr>
              <a:t>- </a:t>
            </a:r>
            <a:r>
              <a:rPr lang="zh-CN" altLang="en-US" sz="3200" dirty="0" smtClean="0">
                <a:solidFill>
                  <a:srgbClr val="000000"/>
                </a:solidFill>
                <a:ea typeface="华文行楷" panose="02010800040101010101" pitchFamily="2" charset="-122"/>
              </a:rPr>
              <a:t>目前主要用于</a:t>
            </a:r>
            <a:r>
              <a:rPr lang="en-US" altLang="zh-CN" sz="3200" dirty="0" smtClean="0">
                <a:solidFill>
                  <a:srgbClr val="000000"/>
                </a:solidFill>
                <a:ea typeface="华文行楷" panose="02010800040101010101" pitchFamily="2" charset="-122"/>
              </a:rPr>
              <a:t>CPU</a:t>
            </a:r>
            <a:r>
              <a:rPr lang="zh-CN" altLang="en-US" sz="3200" dirty="0" smtClean="0">
                <a:solidFill>
                  <a:srgbClr val="000000"/>
                </a:solidFill>
                <a:ea typeface="华文行楷" panose="02010800040101010101" pitchFamily="2" charset="-122"/>
              </a:rPr>
              <a:t>的多核并行计算</a:t>
            </a:r>
            <a:endParaRPr lang="en-US" altLang="zh-CN" sz="3200" dirty="0" smtClean="0">
              <a:solidFill>
                <a:srgbClr val="000000"/>
              </a:solidFill>
              <a:ea typeface="华文行楷" panose="02010800040101010101" pitchFamily="2" charset="-122"/>
            </a:endParaRPr>
          </a:p>
          <a:p>
            <a:pPr>
              <a:lnSpc>
                <a:spcPct val="150000"/>
              </a:lnSpc>
            </a:pPr>
            <a:r>
              <a:rPr lang="en-US" altLang="zh-CN" sz="3200" dirty="0" smtClean="0">
                <a:solidFill>
                  <a:srgbClr val="000000"/>
                </a:solidFill>
                <a:ea typeface="华文行楷" panose="02010800040101010101" pitchFamily="2" charset="-122"/>
              </a:rPr>
              <a:t>- </a:t>
            </a:r>
            <a:r>
              <a:rPr lang="zh-CN" altLang="en-US" sz="3200" dirty="0" smtClean="0">
                <a:solidFill>
                  <a:srgbClr val="000000"/>
                </a:solidFill>
                <a:ea typeface="华文行楷" panose="02010800040101010101" pitchFamily="2" charset="-122"/>
              </a:rPr>
              <a:t>由于处理器核数限制，并行程序性能的提高比较有限</a:t>
            </a:r>
            <a:endParaRPr lang="en-US" altLang="zh-CN" sz="3200" dirty="0" smtClean="0">
              <a:solidFill>
                <a:srgbClr val="000000"/>
              </a:solidFill>
              <a:ea typeface="华文行楷" panose="02010800040101010101" pitchFamily="2" charset="-122"/>
            </a:endParaRPr>
          </a:p>
          <a:p>
            <a:endParaRPr lang="en-US" sz="3200" dirty="0">
              <a:solidFill>
                <a:srgbClr val="000000"/>
              </a:solidFill>
              <a:ea typeface="华文行楷" panose="02010800040101010101" pitchFamily="2" charset="-122"/>
            </a:endParaRPr>
          </a:p>
        </p:txBody>
      </p:sp>
    </p:spTree>
  </p:cSld>
  <p:clrMapOvr>
    <a:masterClrMapping/>
  </p:clrMapOvr>
  <p:transition spd="med" advTm="3025">
    <p:fade/>
  </p:transition>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97528" y="401781"/>
            <a:ext cx="10169237" cy="6109365"/>
          </a:xfrm>
          <a:prstGeom prst="rect">
            <a:avLst/>
          </a:prstGeom>
          <a:noFill/>
        </p:spPr>
        <p:txBody>
          <a:bodyPr wrap="square" rtlCol="0">
            <a:spAutoFit/>
          </a:bodyPr>
          <a:lstStyle/>
          <a:p>
            <a:pPr algn="ctr"/>
            <a:r>
              <a:rPr lang="en-US" sz="4400" dirty="0" err="1" smtClean="0">
                <a:solidFill>
                  <a:srgbClr val="2D0AC2"/>
                </a:solidFill>
                <a:ea typeface="华文行楷" panose="02010800040101010101" pitchFamily="2" charset="-122"/>
              </a:rPr>
              <a:t>OpenMP</a:t>
            </a:r>
            <a:r>
              <a:rPr lang="zh-CN" altLang="en-US" sz="4400" dirty="0" smtClean="0">
                <a:solidFill>
                  <a:srgbClr val="2D0AC2"/>
                </a:solidFill>
                <a:ea typeface="华文行楷" panose="02010800040101010101" pitchFamily="2" charset="-122"/>
              </a:rPr>
              <a:t>与</a:t>
            </a:r>
            <a:r>
              <a:rPr lang="en-US" altLang="zh-CN" sz="4400" dirty="0" smtClean="0">
                <a:solidFill>
                  <a:srgbClr val="2D0AC2"/>
                </a:solidFill>
                <a:ea typeface="华文行楷" panose="02010800040101010101" pitchFamily="2" charset="-122"/>
              </a:rPr>
              <a:t>MPI</a:t>
            </a:r>
            <a:r>
              <a:rPr lang="zh-CN" altLang="en-US" sz="4400" dirty="0" smtClean="0">
                <a:solidFill>
                  <a:srgbClr val="2D0AC2"/>
                </a:solidFill>
                <a:ea typeface="华文行楷" panose="02010800040101010101" pitchFamily="2" charset="-122"/>
              </a:rPr>
              <a:t>的对比</a:t>
            </a:r>
            <a:endParaRPr lang="en-US" altLang="zh-CN" sz="4400" dirty="0" smtClean="0">
              <a:solidFill>
                <a:srgbClr val="2D0AC2"/>
              </a:solidFill>
              <a:ea typeface="华文行楷" panose="02010800040101010101" pitchFamily="2" charset="-122"/>
            </a:endParaRPr>
          </a:p>
          <a:p>
            <a:pPr algn="ctr"/>
            <a:endParaRPr lang="en-US" altLang="zh-CN" sz="1100" dirty="0" smtClean="0">
              <a:solidFill>
                <a:srgbClr val="2D0AC2"/>
              </a:solidFill>
              <a:ea typeface="华文行楷" panose="02010800040101010101" pitchFamily="2" charset="-122"/>
            </a:endParaRPr>
          </a:p>
          <a:p>
            <a:pPr>
              <a:lnSpc>
                <a:spcPct val="150000"/>
              </a:lnSpc>
            </a:pPr>
            <a:r>
              <a:rPr lang="en-US" altLang="zh-CN" sz="3200" dirty="0" smtClean="0">
                <a:solidFill>
                  <a:srgbClr val="C00000"/>
                </a:solidFill>
                <a:ea typeface="华文行楷" panose="02010800040101010101" pitchFamily="2" charset="-122"/>
              </a:rPr>
              <a:t>MPI</a:t>
            </a:r>
            <a:r>
              <a:rPr lang="zh-CN" altLang="en-US" sz="3200" dirty="0" smtClean="0">
                <a:solidFill>
                  <a:srgbClr val="C00000"/>
                </a:solidFill>
                <a:ea typeface="华文行楷" panose="02010800040101010101" pitchFamily="2" charset="-122"/>
              </a:rPr>
              <a:t>的</a:t>
            </a:r>
            <a:r>
              <a:rPr lang="zh-CN" altLang="en-US" sz="3200" dirty="0">
                <a:solidFill>
                  <a:srgbClr val="C00000"/>
                </a:solidFill>
                <a:ea typeface="华文行楷" panose="02010800040101010101" pitchFamily="2" charset="-122"/>
              </a:rPr>
              <a:t>优点： </a:t>
            </a:r>
            <a:endParaRPr lang="en-US" altLang="zh-CN" sz="3200" dirty="0" smtClean="0">
              <a:solidFill>
                <a:srgbClr val="C00000"/>
              </a:solidFill>
              <a:ea typeface="华文行楷" panose="02010800040101010101" pitchFamily="2" charset="-122"/>
            </a:endParaRPr>
          </a:p>
          <a:p>
            <a:pPr>
              <a:lnSpc>
                <a:spcPct val="150000"/>
              </a:lnSpc>
            </a:pPr>
            <a:r>
              <a:rPr lang="en-US" altLang="zh-CN" sz="3200" dirty="0" smtClean="0">
                <a:solidFill>
                  <a:srgbClr val="6A247A"/>
                </a:solidFill>
                <a:ea typeface="华文行楷" panose="02010800040101010101" pitchFamily="2" charset="-122"/>
              </a:rPr>
              <a:t>-</a:t>
            </a:r>
            <a:r>
              <a:rPr lang="zh-CN" altLang="en-US" sz="3200" dirty="0" smtClean="0">
                <a:solidFill>
                  <a:srgbClr val="6A247A"/>
                </a:solidFill>
                <a:ea typeface="华文行楷" panose="02010800040101010101" pitchFamily="2" charset="-122"/>
              </a:rPr>
              <a:t>适用于分布式存储体系的并行计算机系统</a:t>
            </a:r>
            <a:endParaRPr lang="zh-CN" altLang="en-US" sz="3200" dirty="0">
              <a:solidFill>
                <a:srgbClr val="6A247A"/>
              </a:solidFill>
              <a:ea typeface="华文行楷" panose="02010800040101010101" pitchFamily="2" charset="-122"/>
            </a:endParaRPr>
          </a:p>
          <a:p>
            <a:pPr marL="457200" indent="-457200">
              <a:lnSpc>
                <a:spcPct val="150000"/>
              </a:lnSpc>
              <a:buFontTx/>
              <a:buChar char="-"/>
            </a:pPr>
            <a:r>
              <a:rPr lang="zh-CN" altLang="en-US" sz="3200" dirty="0" smtClean="0">
                <a:solidFill>
                  <a:srgbClr val="000000"/>
                </a:solidFill>
                <a:ea typeface="华文行楷" panose="02010800040101010101" pitchFamily="2" charset="-122"/>
              </a:rPr>
              <a:t>无论</a:t>
            </a:r>
            <a:r>
              <a:rPr lang="zh-CN" altLang="en-US" sz="3200" dirty="0">
                <a:solidFill>
                  <a:srgbClr val="000000"/>
                </a:solidFill>
                <a:ea typeface="华文行楷" panose="02010800040101010101" pitchFamily="2" charset="-122"/>
              </a:rPr>
              <a:t>硬件是否共享内存空间，都可以使用</a:t>
            </a:r>
            <a:r>
              <a:rPr lang="zh-CN" altLang="en-US" sz="3200" dirty="0" smtClean="0">
                <a:solidFill>
                  <a:srgbClr val="000000"/>
                </a:solidFill>
                <a:ea typeface="华文行楷" panose="02010800040101010101" pitchFamily="2" charset="-122"/>
              </a:rPr>
              <a:t>。</a:t>
            </a:r>
            <a:endParaRPr lang="en-US" altLang="zh-CN" sz="3200" dirty="0" smtClean="0">
              <a:solidFill>
                <a:srgbClr val="000000"/>
              </a:solidFill>
              <a:ea typeface="华文行楷" panose="02010800040101010101" pitchFamily="2" charset="-122"/>
            </a:endParaRPr>
          </a:p>
          <a:p>
            <a:pPr>
              <a:lnSpc>
                <a:spcPct val="150000"/>
              </a:lnSpc>
            </a:pPr>
            <a:r>
              <a:rPr lang="en-US" altLang="zh-CN" sz="3200" dirty="0">
                <a:solidFill>
                  <a:srgbClr val="000000"/>
                </a:solidFill>
                <a:ea typeface="华文行楷" panose="02010800040101010101" pitchFamily="2" charset="-122"/>
              </a:rPr>
              <a:t> </a:t>
            </a:r>
            <a:r>
              <a:rPr lang="en-US" altLang="zh-CN" sz="3200" dirty="0" smtClean="0">
                <a:solidFill>
                  <a:srgbClr val="000000"/>
                </a:solidFill>
                <a:ea typeface="华文行楷" panose="02010800040101010101" pitchFamily="2" charset="-122"/>
              </a:rPr>
              <a:t>              </a:t>
            </a:r>
            <a:r>
              <a:rPr lang="zh-CN" altLang="en-US" sz="3200" dirty="0" smtClean="0">
                <a:solidFill>
                  <a:srgbClr val="000000"/>
                </a:solidFill>
                <a:ea typeface="华文行楷" panose="02010800040101010101" pitchFamily="2" charset="-122"/>
              </a:rPr>
              <a:t>（</a:t>
            </a:r>
            <a:r>
              <a:rPr lang="zh-CN" altLang="en-US" sz="3200" dirty="0">
                <a:solidFill>
                  <a:srgbClr val="000000"/>
                </a:solidFill>
                <a:ea typeface="华文行楷" panose="02010800040101010101" pitchFamily="2" charset="-122"/>
              </a:rPr>
              <a:t>但是线程间不共享内存空间） </a:t>
            </a:r>
            <a:endParaRPr lang="zh-CN" altLang="en-US" sz="3200" dirty="0">
              <a:solidFill>
                <a:srgbClr val="000000"/>
              </a:solidFill>
              <a:ea typeface="华文行楷" panose="02010800040101010101" pitchFamily="2" charset="-122"/>
            </a:endParaRPr>
          </a:p>
          <a:p>
            <a:pPr>
              <a:lnSpc>
                <a:spcPct val="150000"/>
              </a:lnSpc>
            </a:pPr>
            <a:r>
              <a:rPr lang="en-US" altLang="zh-CN" sz="3200" dirty="0">
                <a:solidFill>
                  <a:srgbClr val="000000"/>
                </a:solidFill>
                <a:ea typeface="华文行楷" panose="02010800040101010101" pitchFamily="2" charset="-122"/>
              </a:rPr>
              <a:t>- </a:t>
            </a:r>
            <a:r>
              <a:rPr lang="zh-CN" altLang="en-US" sz="3200" dirty="0">
                <a:solidFill>
                  <a:srgbClr val="000000"/>
                </a:solidFill>
                <a:ea typeface="华文行楷" panose="02010800040101010101" pitchFamily="2" charset="-122"/>
              </a:rPr>
              <a:t>与</a:t>
            </a:r>
            <a:r>
              <a:rPr lang="en-US" altLang="zh-CN" sz="3200" dirty="0" err="1">
                <a:solidFill>
                  <a:srgbClr val="000000"/>
                </a:solidFill>
                <a:ea typeface="华文行楷" panose="02010800040101010101" pitchFamily="2" charset="-122"/>
              </a:rPr>
              <a:t>OpenMP</a:t>
            </a:r>
            <a:r>
              <a:rPr lang="zh-CN" altLang="en-US" sz="3200" dirty="0">
                <a:solidFill>
                  <a:srgbClr val="000000"/>
                </a:solidFill>
                <a:ea typeface="华文行楷" panose="02010800040101010101" pitchFamily="2" charset="-122"/>
              </a:rPr>
              <a:t>相比，可以处理规模更大的问题 </a:t>
            </a:r>
            <a:endParaRPr lang="zh-CN" altLang="en-US" sz="3200" dirty="0">
              <a:solidFill>
                <a:srgbClr val="000000"/>
              </a:solidFill>
              <a:ea typeface="华文行楷" panose="02010800040101010101" pitchFamily="2" charset="-122"/>
            </a:endParaRPr>
          </a:p>
          <a:p>
            <a:pPr>
              <a:lnSpc>
                <a:spcPct val="150000"/>
              </a:lnSpc>
            </a:pPr>
            <a:r>
              <a:rPr lang="en-US" altLang="zh-CN" sz="3200" dirty="0">
                <a:solidFill>
                  <a:srgbClr val="000000"/>
                </a:solidFill>
                <a:ea typeface="华文行楷" panose="02010800040101010101" pitchFamily="2" charset="-122"/>
              </a:rPr>
              <a:t>- </a:t>
            </a:r>
            <a:r>
              <a:rPr lang="zh-CN" altLang="en-US" sz="3200" dirty="0">
                <a:solidFill>
                  <a:srgbClr val="000000"/>
                </a:solidFill>
                <a:ea typeface="华文行楷" panose="02010800040101010101" pitchFamily="2" charset="-122"/>
              </a:rPr>
              <a:t>每个线程有自己的内存和变量，这样不用担心冲突问题（在</a:t>
            </a:r>
            <a:r>
              <a:rPr lang="en-US" altLang="zh-CN" sz="3200" dirty="0" err="1">
                <a:solidFill>
                  <a:srgbClr val="000000"/>
                </a:solidFill>
                <a:ea typeface="华文行楷" panose="02010800040101010101" pitchFamily="2" charset="-122"/>
              </a:rPr>
              <a:t>OpenMP</a:t>
            </a:r>
            <a:r>
              <a:rPr lang="zh-CN" altLang="en-US" sz="3200" dirty="0">
                <a:solidFill>
                  <a:srgbClr val="000000"/>
                </a:solidFill>
                <a:ea typeface="华文行楷" panose="02010800040101010101" pitchFamily="2" charset="-122"/>
              </a:rPr>
              <a:t>中要使用</a:t>
            </a:r>
            <a:r>
              <a:rPr lang="en-US" altLang="zh-CN" sz="3200" dirty="0" smtClean="0">
                <a:solidFill>
                  <a:srgbClr val="000000"/>
                </a:solidFill>
                <a:ea typeface="华文行楷" panose="02010800040101010101" pitchFamily="2" charset="-122"/>
              </a:rPr>
              <a:t>critical</a:t>
            </a:r>
            <a:r>
              <a:rPr lang="zh-CN" altLang="en-US" sz="3200" dirty="0" smtClean="0">
                <a:solidFill>
                  <a:srgbClr val="000000"/>
                </a:solidFill>
                <a:ea typeface="华文行楷" panose="02010800040101010101" pitchFamily="2" charset="-122"/>
              </a:rPr>
              <a:t>、锁等</a:t>
            </a:r>
            <a:r>
              <a:rPr lang="zh-CN" altLang="en-US" sz="3200" dirty="0">
                <a:solidFill>
                  <a:srgbClr val="000000"/>
                </a:solidFill>
                <a:ea typeface="华文行楷" panose="02010800040101010101" pitchFamily="2" charset="-122"/>
              </a:rPr>
              <a:t>处理</a:t>
            </a:r>
            <a:r>
              <a:rPr lang="zh-CN" altLang="en-US" sz="3200" dirty="0" smtClean="0">
                <a:solidFill>
                  <a:srgbClr val="000000"/>
                </a:solidFill>
                <a:ea typeface="华文行楷" panose="02010800040101010101" pitchFamily="2" charset="-122"/>
              </a:rPr>
              <a:t>）</a:t>
            </a:r>
            <a:endParaRPr lang="en-US" altLang="zh-CN" sz="3200" dirty="0" smtClean="0">
              <a:solidFill>
                <a:srgbClr val="000000"/>
              </a:solidFill>
              <a:ea typeface="华文行楷" panose="02010800040101010101" pitchFamily="2" charset="-122"/>
            </a:endParaRPr>
          </a:p>
        </p:txBody>
      </p:sp>
    </p:spTree>
  </p:cSld>
  <p:clrMapOvr>
    <a:masterClrMapping/>
  </p:clrMapOvr>
  <p:transition spd="med" advTm="3025">
    <p:fade/>
  </p:transition>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69818" y="623454"/>
            <a:ext cx="10169237" cy="3893374"/>
          </a:xfrm>
          <a:prstGeom prst="rect">
            <a:avLst/>
          </a:prstGeom>
          <a:noFill/>
        </p:spPr>
        <p:txBody>
          <a:bodyPr wrap="square" rtlCol="0">
            <a:spAutoFit/>
          </a:bodyPr>
          <a:lstStyle/>
          <a:p>
            <a:pPr algn="ctr"/>
            <a:r>
              <a:rPr lang="en-US" sz="4400" dirty="0" err="1" smtClean="0">
                <a:solidFill>
                  <a:srgbClr val="2D0AC2"/>
                </a:solidFill>
                <a:ea typeface="华文行楷" panose="02010800040101010101" pitchFamily="2" charset="-122"/>
              </a:rPr>
              <a:t>OpenMP</a:t>
            </a:r>
            <a:r>
              <a:rPr lang="zh-CN" altLang="en-US" sz="4400" dirty="0" smtClean="0">
                <a:solidFill>
                  <a:srgbClr val="2D0AC2"/>
                </a:solidFill>
                <a:ea typeface="华文行楷" panose="02010800040101010101" pitchFamily="2" charset="-122"/>
              </a:rPr>
              <a:t>与</a:t>
            </a:r>
            <a:r>
              <a:rPr lang="en-US" altLang="zh-CN" sz="4400" dirty="0" smtClean="0">
                <a:solidFill>
                  <a:srgbClr val="2D0AC2"/>
                </a:solidFill>
                <a:ea typeface="华文行楷" panose="02010800040101010101" pitchFamily="2" charset="-122"/>
              </a:rPr>
              <a:t>MPI</a:t>
            </a:r>
            <a:r>
              <a:rPr lang="zh-CN" altLang="en-US" sz="4400" dirty="0" smtClean="0">
                <a:solidFill>
                  <a:srgbClr val="2D0AC2"/>
                </a:solidFill>
                <a:ea typeface="华文行楷" panose="02010800040101010101" pitchFamily="2" charset="-122"/>
              </a:rPr>
              <a:t>的对比</a:t>
            </a:r>
            <a:endParaRPr lang="en-US" altLang="zh-CN" sz="4400" dirty="0" smtClean="0">
              <a:solidFill>
                <a:srgbClr val="2D0AC2"/>
              </a:solidFill>
              <a:ea typeface="华文行楷" panose="02010800040101010101" pitchFamily="2" charset="-122"/>
            </a:endParaRPr>
          </a:p>
          <a:p>
            <a:pPr algn="ctr"/>
            <a:endParaRPr lang="en-US" altLang="zh-CN" sz="1100" dirty="0" smtClean="0">
              <a:solidFill>
                <a:srgbClr val="2D0AC2"/>
              </a:solidFill>
              <a:ea typeface="华文行楷" panose="02010800040101010101" pitchFamily="2" charset="-122"/>
            </a:endParaRPr>
          </a:p>
          <a:p>
            <a:pPr>
              <a:lnSpc>
                <a:spcPct val="150000"/>
              </a:lnSpc>
            </a:pPr>
            <a:r>
              <a:rPr lang="en-US" altLang="zh-CN" sz="3200" dirty="0" smtClean="0">
                <a:solidFill>
                  <a:srgbClr val="00B050"/>
                </a:solidFill>
                <a:ea typeface="华文行楷" panose="02010800040101010101" pitchFamily="2" charset="-122"/>
              </a:rPr>
              <a:t>MPI</a:t>
            </a:r>
            <a:r>
              <a:rPr lang="zh-CN" altLang="en-US" sz="3200" dirty="0" smtClean="0">
                <a:solidFill>
                  <a:srgbClr val="00B050"/>
                </a:solidFill>
                <a:ea typeface="华文行楷" panose="02010800040101010101" pitchFamily="2" charset="-122"/>
              </a:rPr>
              <a:t>的缺点</a:t>
            </a:r>
            <a:r>
              <a:rPr lang="zh-CN" altLang="en-US" sz="3200" dirty="0">
                <a:solidFill>
                  <a:srgbClr val="00B050"/>
                </a:solidFill>
                <a:ea typeface="华文行楷" panose="02010800040101010101" pitchFamily="2" charset="-122"/>
              </a:rPr>
              <a:t>： </a:t>
            </a:r>
            <a:endParaRPr lang="zh-CN" altLang="en-US" sz="3200" dirty="0">
              <a:solidFill>
                <a:srgbClr val="00B050"/>
              </a:solidFill>
              <a:ea typeface="华文行楷" panose="02010800040101010101" pitchFamily="2" charset="-122"/>
            </a:endParaRPr>
          </a:p>
          <a:p>
            <a:pPr>
              <a:lnSpc>
                <a:spcPct val="150000"/>
              </a:lnSpc>
            </a:pPr>
            <a:r>
              <a:rPr lang="en-US" altLang="zh-CN" sz="3200" dirty="0" smtClean="0">
                <a:solidFill>
                  <a:srgbClr val="000000"/>
                </a:solidFill>
                <a:ea typeface="华文行楷" panose="02010800040101010101" pitchFamily="2" charset="-122"/>
              </a:rPr>
              <a:t>- </a:t>
            </a:r>
            <a:r>
              <a:rPr lang="zh-CN" altLang="en-US" sz="3200" dirty="0" smtClean="0">
                <a:solidFill>
                  <a:srgbClr val="000000"/>
                </a:solidFill>
                <a:ea typeface="华文行楷" panose="02010800040101010101" pitchFamily="2" charset="-122"/>
              </a:rPr>
              <a:t>算法一般要重新设计 </a:t>
            </a:r>
            <a:endParaRPr lang="zh-CN" altLang="en-US" sz="3200" dirty="0">
              <a:solidFill>
                <a:srgbClr val="000000"/>
              </a:solidFill>
              <a:ea typeface="华文行楷" panose="02010800040101010101" pitchFamily="2" charset="-122"/>
            </a:endParaRPr>
          </a:p>
          <a:p>
            <a:pPr>
              <a:lnSpc>
                <a:spcPct val="150000"/>
              </a:lnSpc>
            </a:pPr>
            <a:r>
              <a:rPr lang="en-US" altLang="zh-CN" sz="3200" dirty="0">
                <a:solidFill>
                  <a:srgbClr val="000000"/>
                </a:solidFill>
                <a:ea typeface="华文行楷" panose="02010800040101010101" pitchFamily="2" charset="-122"/>
              </a:rPr>
              <a:t>- </a:t>
            </a:r>
            <a:r>
              <a:rPr lang="zh-CN" altLang="en-US" sz="3200" dirty="0" smtClean="0">
                <a:solidFill>
                  <a:srgbClr val="000000"/>
                </a:solidFill>
                <a:ea typeface="华文行楷" panose="02010800040101010101" pitchFamily="2" charset="-122"/>
              </a:rPr>
              <a:t>编程调试难度 较大</a:t>
            </a:r>
            <a:endParaRPr lang="zh-CN" altLang="en-US" sz="3200" dirty="0">
              <a:solidFill>
                <a:srgbClr val="000000"/>
              </a:solidFill>
              <a:ea typeface="华文行楷" panose="02010800040101010101" pitchFamily="2" charset="-122"/>
            </a:endParaRPr>
          </a:p>
          <a:p>
            <a:pPr>
              <a:lnSpc>
                <a:spcPct val="150000"/>
              </a:lnSpc>
            </a:pPr>
            <a:r>
              <a:rPr lang="en-US" altLang="zh-CN" sz="3200" dirty="0">
                <a:solidFill>
                  <a:srgbClr val="000000"/>
                </a:solidFill>
                <a:ea typeface="华文行楷" panose="02010800040101010101" pitchFamily="2" charset="-122"/>
              </a:rPr>
              <a:t>- </a:t>
            </a:r>
            <a:r>
              <a:rPr lang="zh-CN" altLang="en-US" sz="3200" dirty="0">
                <a:solidFill>
                  <a:srgbClr val="000000"/>
                </a:solidFill>
                <a:ea typeface="华文行楷" panose="02010800040101010101" pitchFamily="2" charset="-122"/>
              </a:rPr>
              <a:t>性能上会受到通信网络的影响</a:t>
            </a:r>
            <a:endParaRPr lang="en-US" sz="3200" dirty="0">
              <a:solidFill>
                <a:srgbClr val="000000"/>
              </a:solidFill>
              <a:ea typeface="华文行楷" panose="02010800040101010101" pitchFamily="2" charset="-122"/>
            </a:endParaRPr>
          </a:p>
        </p:txBody>
      </p:sp>
    </p:spTree>
  </p:cSld>
  <p:clrMapOvr>
    <a:masterClrMapping/>
  </p:clrMapOvr>
  <p:transition spd="med" advTm="3025">
    <p:fade/>
  </p:transition>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219220"/>
            <a:ext cx="10972800" cy="1143000"/>
          </a:xfrm>
        </p:spPr>
        <p:txBody>
          <a:bodyPr/>
          <a:lstStyle/>
          <a:p>
            <a:r>
              <a:rPr lang="zh-CN" altLang="en-US" b="1" dirty="0" smtClean="0">
                <a:solidFill>
                  <a:srgbClr val="2D0AC2"/>
                </a:solidFill>
                <a:latin typeface="华文行楷" panose="02010800040101010101" pitchFamily="2" charset="-122"/>
                <a:ea typeface="华文行楷" panose="02010800040101010101" pitchFamily="2" charset="-122"/>
              </a:rPr>
              <a:t>矩阵乘法</a:t>
            </a:r>
            <a:endParaRPr lang="en-US" b="1" dirty="0">
              <a:solidFill>
                <a:srgbClr val="2D0AC2"/>
              </a:solidFill>
              <a:latin typeface="华文行楷" panose="02010800040101010101" pitchFamily="2" charset="-122"/>
              <a:ea typeface="华文行楷" panose="02010800040101010101" pitchFamily="2" charset="-122"/>
            </a:endParaRPr>
          </a:p>
        </p:txBody>
      </p:sp>
      <p:sp>
        <p:nvSpPr>
          <p:cNvPr id="3" name="内容占位符 2"/>
          <p:cNvSpPr>
            <a:spLocks noGrp="1"/>
          </p:cNvSpPr>
          <p:nvPr>
            <p:ph idx="1"/>
          </p:nvPr>
        </p:nvSpPr>
        <p:spPr>
          <a:xfrm>
            <a:off x="609600" y="1073728"/>
            <a:ext cx="10972800" cy="4525963"/>
          </a:xfrm>
        </p:spPr>
        <p:txBody>
          <a:bodyPr/>
          <a:lstStyle/>
          <a:p>
            <a:pPr marL="0" indent="0">
              <a:buNone/>
            </a:pPr>
            <a:r>
              <a:rPr lang="en-US" sz="2800" b="1" dirty="0"/>
              <a:t>#include &lt;</a:t>
            </a:r>
            <a:r>
              <a:rPr lang="en-US" sz="2800" b="1" dirty="0" err="1"/>
              <a:t>omp.h</a:t>
            </a:r>
            <a:r>
              <a:rPr lang="en-US" sz="2800" b="1" dirty="0"/>
              <a:t>&gt;</a:t>
            </a:r>
            <a:endParaRPr lang="en-US" sz="2800" b="1" dirty="0"/>
          </a:p>
          <a:p>
            <a:pPr marL="0" indent="0">
              <a:buNone/>
            </a:pPr>
            <a:r>
              <a:rPr lang="en-US" sz="2800" b="1" dirty="0"/>
              <a:t>#include &lt;</a:t>
            </a:r>
            <a:r>
              <a:rPr lang="en-US" sz="2800" b="1" dirty="0" err="1"/>
              <a:t>stdio.h</a:t>
            </a:r>
            <a:r>
              <a:rPr lang="en-US" sz="2800" b="1" dirty="0"/>
              <a:t>&gt;</a:t>
            </a:r>
            <a:endParaRPr lang="en-US" sz="2800" b="1" dirty="0"/>
          </a:p>
          <a:p>
            <a:pPr marL="0" indent="0">
              <a:buNone/>
            </a:pPr>
            <a:r>
              <a:rPr lang="en-US" sz="2800" b="1" dirty="0"/>
              <a:t>#include &lt;</a:t>
            </a:r>
            <a:r>
              <a:rPr lang="en-US" sz="2800" b="1" dirty="0" err="1"/>
              <a:t>time.h</a:t>
            </a:r>
            <a:r>
              <a:rPr lang="en-US" sz="2800" b="1" dirty="0"/>
              <a:t>&gt;</a:t>
            </a:r>
            <a:endParaRPr lang="en-US" sz="2800" b="1" dirty="0"/>
          </a:p>
          <a:p>
            <a:pPr marL="0" indent="0">
              <a:buNone/>
            </a:pPr>
            <a:r>
              <a:rPr lang="en-US" sz="2800" b="1" dirty="0"/>
              <a:t>#define </a:t>
            </a:r>
            <a:r>
              <a:rPr lang="en-US" sz="2800" b="1" dirty="0" smtClean="0"/>
              <a:t>N 2000</a:t>
            </a:r>
            <a:endParaRPr lang="en-US" sz="2800" b="1" dirty="0" smtClean="0"/>
          </a:p>
          <a:p>
            <a:pPr marL="0" indent="0">
              <a:buNone/>
            </a:pPr>
            <a:endParaRPr lang="en-US" sz="2800" b="1" dirty="0"/>
          </a:p>
          <a:p>
            <a:pPr marL="0" indent="0">
              <a:buNone/>
            </a:pPr>
            <a:r>
              <a:rPr lang="en-US" sz="2800" b="1" dirty="0" err="1"/>
              <a:t>i</a:t>
            </a:r>
            <a:r>
              <a:rPr lang="en-US" sz="2800" b="1" dirty="0" err="1" smtClean="0"/>
              <a:t>nt</a:t>
            </a:r>
            <a:r>
              <a:rPr lang="en-US" sz="2800" b="1" dirty="0" smtClean="0"/>
              <a:t> main( )</a:t>
            </a:r>
            <a:endParaRPr lang="en-US" sz="2800" b="1" dirty="0"/>
          </a:p>
          <a:p>
            <a:pPr marL="0" indent="0">
              <a:buNone/>
            </a:pPr>
            <a:r>
              <a:rPr lang="en-US" sz="2800" b="1" dirty="0" smtClean="0"/>
              <a:t>{ </a:t>
            </a:r>
            <a:r>
              <a:rPr lang="en-US" sz="2800" b="1" dirty="0" err="1" smtClean="0"/>
              <a:t>int</a:t>
            </a:r>
            <a:r>
              <a:rPr lang="en-US" sz="2800" b="1" dirty="0" smtClean="0"/>
              <a:t> </a:t>
            </a:r>
            <a:r>
              <a:rPr lang="en-US" sz="2800" b="1" dirty="0" err="1"/>
              <a:t>i</a:t>
            </a:r>
            <a:r>
              <a:rPr lang="en-US" sz="2800" b="1" dirty="0"/>
              <a:t>, j, </a:t>
            </a:r>
            <a:r>
              <a:rPr lang="en-US" sz="2800" b="1" dirty="0" err="1" smtClean="0"/>
              <a:t>k,t</a:t>
            </a:r>
            <a:r>
              <a:rPr lang="en-US" sz="2800" b="1" dirty="0" smtClean="0"/>
              <a:t>, </a:t>
            </a:r>
            <a:r>
              <a:rPr lang="en-US" sz="2800" b="1" dirty="0" err="1" smtClean="0"/>
              <a:t>paralleltime,serialtime</a:t>
            </a:r>
            <a:r>
              <a:rPr lang="en-US" sz="2800" b="1" dirty="0"/>
              <a:t>, a[N][N], b[N][N</a:t>
            </a:r>
            <a:r>
              <a:rPr lang="en-US" sz="2800" b="1" dirty="0" smtClean="0"/>
              <a:t>];</a:t>
            </a:r>
            <a:endParaRPr lang="en-US" sz="2800" b="1" dirty="0" smtClean="0"/>
          </a:p>
          <a:p>
            <a:pPr marL="0" indent="0">
              <a:buNone/>
            </a:pPr>
            <a:r>
              <a:rPr lang="en-US" sz="2800" b="1" dirty="0" smtClean="0"/>
              <a:t>   long  </a:t>
            </a:r>
            <a:r>
              <a:rPr lang="en-US" sz="2800" b="1" dirty="0" err="1" smtClean="0"/>
              <a:t>long</a:t>
            </a:r>
            <a:r>
              <a:rPr lang="en-US" sz="2800" b="1" dirty="0" smtClean="0"/>
              <a:t>  c[N</a:t>
            </a:r>
            <a:r>
              <a:rPr lang="en-US" sz="2800" b="1" dirty="0"/>
              <a:t>][N</a:t>
            </a:r>
            <a:r>
              <a:rPr lang="en-US" sz="2800" b="1" dirty="0" smtClean="0"/>
              <a:t>],  sum;</a:t>
            </a:r>
            <a:endParaRPr lang="en-US" sz="2800" b="1" dirty="0" smtClean="0"/>
          </a:p>
          <a:p>
            <a:pPr marL="0" indent="0">
              <a:buNone/>
            </a:pPr>
            <a:r>
              <a:rPr lang="en-US" sz="2800" b="1" dirty="0"/>
              <a:t> </a:t>
            </a:r>
            <a:r>
              <a:rPr lang="en-US" sz="2800" b="1" dirty="0" smtClean="0"/>
              <a:t>  </a:t>
            </a:r>
            <a:r>
              <a:rPr lang="en-US" sz="2800" b="1" dirty="0" err="1" smtClean="0"/>
              <a:t>clock_t</a:t>
            </a:r>
            <a:r>
              <a:rPr lang="en-US" sz="2800" b="1" dirty="0" smtClean="0"/>
              <a:t> </a:t>
            </a:r>
            <a:r>
              <a:rPr lang="en-US" sz="2800" b="1" dirty="0"/>
              <a:t>startTime, </a:t>
            </a:r>
            <a:r>
              <a:rPr lang="en-US" sz="2800" b="1" dirty="0" err="1"/>
              <a:t>endTime</a:t>
            </a:r>
            <a:r>
              <a:rPr lang="en-US" sz="2800" b="1" dirty="0"/>
              <a:t>;</a:t>
            </a:r>
            <a:endParaRPr lang="en-US" sz="2800" b="1" dirty="0"/>
          </a:p>
          <a:p>
            <a:pPr marL="0" indent="0">
              <a:buNone/>
            </a:pPr>
            <a:r>
              <a:rPr lang="en-US" sz="2800" b="1" dirty="0"/>
              <a:t>	</a:t>
            </a:r>
            <a:endParaRPr lang="en-US" dirty="0"/>
          </a:p>
        </p:txBody>
      </p:sp>
    </p:spTree>
  </p:cSld>
  <p:clrMapOvr>
    <a:masterClrMapping/>
  </p:clrMapOvr>
  <p:transition spd="med" advTm="3025">
    <p:fade/>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219220"/>
            <a:ext cx="10972800" cy="1143000"/>
          </a:xfrm>
        </p:spPr>
        <p:txBody>
          <a:bodyPr/>
          <a:lstStyle/>
          <a:p>
            <a:r>
              <a:rPr lang="zh-CN" altLang="en-US" b="1" dirty="0" smtClean="0">
                <a:solidFill>
                  <a:srgbClr val="2D0AC2"/>
                </a:solidFill>
                <a:latin typeface="华文行楷" panose="02010800040101010101" pitchFamily="2" charset="-122"/>
                <a:ea typeface="华文行楷" panose="02010800040101010101" pitchFamily="2" charset="-122"/>
              </a:rPr>
              <a:t>矩阵乘法</a:t>
            </a:r>
            <a:endParaRPr lang="en-US" b="1" dirty="0">
              <a:solidFill>
                <a:srgbClr val="2D0AC2"/>
              </a:solidFill>
              <a:latin typeface="华文行楷" panose="02010800040101010101" pitchFamily="2" charset="-122"/>
              <a:ea typeface="华文行楷" panose="02010800040101010101" pitchFamily="2" charset="-122"/>
            </a:endParaRPr>
          </a:p>
        </p:txBody>
      </p:sp>
      <p:sp>
        <p:nvSpPr>
          <p:cNvPr id="3" name="内容占位符 2"/>
          <p:cNvSpPr>
            <a:spLocks noGrp="1"/>
          </p:cNvSpPr>
          <p:nvPr>
            <p:ph idx="1"/>
          </p:nvPr>
        </p:nvSpPr>
        <p:spPr>
          <a:xfrm>
            <a:off x="1108364" y="1032164"/>
            <a:ext cx="9656618" cy="5340927"/>
          </a:xfrm>
        </p:spPr>
        <p:txBody>
          <a:bodyPr/>
          <a:lstStyle/>
          <a:p>
            <a:pPr marL="0" indent="0">
              <a:buNone/>
            </a:pPr>
            <a:r>
              <a:rPr lang="en-US" sz="2800" b="1" dirty="0" smtClean="0"/>
              <a:t>         </a:t>
            </a:r>
            <a:r>
              <a:rPr lang="en-US" sz="2800" b="1" dirty="0" err="1" smtClean="0">
                <a:solidFill>
                  <a:srgbClr val="C00000"/>
                </a:solidFill>
              </a:rPr>
              <a:t>omp_set_num_threads</a:t>
            </a:r>
            <a:r>
              <a:rPr lang="en-US" sz="2800" b="1" dirty="0" smtClean="0">
                <a:solidFill>
                  <a:srgbClr val="C00000"/>
                </a:solidFill>
              </a:rPr>
              <a:t>(4);                </a:t>
            </a:r>
            <a:r>
              <a:rPr lang="en-US" sz="2800" b="1" dirty="0" smtClean="0">
                <a:solidFill>
                  <a:srgbClr val="6A247A"/>
                </a:solidFill>
              </a:rPr>
              <a:t>//4</a:t>
            </a:r>
            <a:r>
              <a:rPr lang="zh-CN" altLang="en-US" sz="2800" b="1" dirty="0" smtClean="0">
                <a:solidFill>
                  <a:srgbClr val="6A247A"/>
                </a:solidFill>
              </a:rPr>
              <a:t>核的</a:t>
            </a:r>
            <a:r>
              <a:rPr lang="en-US" altLang="zh-CN" sz="2800" b="1" dirty="0" smtClean="0">
                <a:solidFill>
                  <a:srgbClr val="6A247A"/>
                </a:solidFill>
              </a:rPr>
              <a:t>CPU</a:t>
            </a:r>
            <a:endParaRPr lang="en-US" sz="2800" b="1" dirty="0">
              <a:solidFill>
                <a:srgbClr val="6A247A"/>
              </a:solidFill>
            </a:endParaRPr>
          </a:p>
          <a:p>
            <a:pPr marL="0" indent="0">
              <a:buNone/>
            </a:pPr>
            <a:r>
              <a:rPr lang="en-US" sz="2800" b="1" dirty="0" smtClean="0">
                <a:solidFill>
                  <a:srgbClr val="00B0F0"/>
                </a:solidFill>
              </a:rPr>
              <a:t>    //--------------</a:t>
            </a:r>
            <a:r>
              <a:rPr lang="zh-CN" altLang="en-US" sz="2800" b="1" dirty="0">
                <a:solidFill>
                  <a:srgbClr val="00B0F0"/>
                </a:solidFill>
              </a:rPr>
              <a:t>对矩阵</a:t>
            </a:r>
            <a:r>
              <a:rPr lang="en-US" sz="2800" b="1" dirty="0">
                <a:solidFill>
                  <a:srgbClr val="00B0F0"/>
                </a:solidFill>
              </a:rPr>
              <a:t>A</a:t>
            </a:r>
            <a:r>
              <a:rPr lang="zh-CN" altLang="en-US" sz="2800" b="1" dirty="0">
                <a:solidFill>
                  <a:srgbClr val="00B0F0"/>
                </a:solidFill>
              </a:rPr>
              <a:t>和矩阵</a:t>
            </a:r>
            <a:r>
              <a:rPr lang="en-US" sz="2800" b="1" dirty="0">
                <a:solidFill>
                  <a:srgbClr val="00B0F0"/>
                </a:solidFill>
              </a:rPr>
              <a:t>B</a:t>
            </a:r>
            <a:r>
              <a:rPr lang="zh-CN" altLang="en-US" sz="2800" b="1" dirty="0">
                <a:solidFill>
                  <a:srgbClr val="00B0F0"/>
                </a:solidFill>
              </a:rPr>
              <a:t>进行初始化</a:t>
            </a:r>
            <a:r>
              <a:rPr lang="en-US" altLang="zh-CN" sz="2800" b="1" dirty="0">
                <a:solidFill>
                  <a:srgbClr val="00B0F0"/>
                </a:solidFill>
              </a:rPr>
              <a:t>-------------</a:t>
            </a:r>
            <a:endParaRPr lang="en-US" altLang="zh-CN" sz="2800" b="1" dirty="0">
              <a:solidFill>
                <a:srgbClr val="00B0F0"/>
              </a:solidFill>
            </a:endParaRPr>
          </a:p>
          <a:p>
            <a:pPr marL="0" indent="0">
              <a:buNone/>
            </a:pPr>
            <a:r>
              <a:rPr lang="en-US" altLang="zh-CN" sz="2800" b="1" dirty="0"/>
              <a:t>	</a:t>
            </a:r>
            <a:r>
              <a:rPr lang="en-US" sz="2800" b="1" dirty="0" smtClean="0"/>
              <a:t>for(</a:t>
            </a:r>
            <a:r>
              <a:rPr lang="en-US" sz="2800" b="1" dirty="0" err="1" smtClean="0"/>
              <a:t>i</a:t>
            </a:r>
            <a:r>
              <a:rPr lang="en-US" sz="2800" b="1" dirty="0" smtClean="0"/>
              <a:t>=0;i&lt;</a:t>
            </a:r>
            <a:r>
              <a:rPr lang="en-US" sz="2800" b="1" dirty="0" err="1"/>
              <a:t>N</a:t>
            </a:r>
            <a:r>
              <a:rPr lang="en-US" sz="2800" b="1" dirty="0" err="1" smtClean="0"/>
              <a:t>;i</a:t>
            </a:r>
            <a:r>
              <a:rPr lang="en-US" sz="2800" b="1" dirty="0"/>
              <a:t>++)   </a:t>
            </a:r>
            <a:endParaRPr lang="en-US" sz="2800" b="1" dirty="0"/>
          </a:p>
          <a:p>
            <a:pPr marL="0" indent="0">
              <a:buNone/>
            </a:pPr>
            <a:r>
              <a:rPr lang="en-US" sz="2800" b="1" dirty="0"/>
              <a:t>	</a:t>
            </a:r>
            <a:r>
              <a:rPr lang="en-US" sz="2800" b="1" dirty="0" smtClean="0"/>
              <a:t>{    t=i+1</a:t>
            </a:r>
            <a:r>
              <a:rPr lang="en-US" sz="2800" b="1" dirty="0"/>
              <a:t>;</a:t>
            </a:r>
            <a:endParaRPr lang="en-US" sz="2800" b="1" dirty="0"/>
          </a:p>
          <a:p>
            <a:pPr marL="0" indent="0">
              <a:buNone/>
            </a:pPr>
            <a:r>
              <a:rPr lang="en-US" sz="2800" b="1" dirty="0"/>
              <a:t>	</a:t>
            </a:r>
            <a:r>
              <a:rPr lang="en-US" sz="2800" b="1" dirty="0" smtClean="0"/>
              <a:t>     </a:t>
            </a:r>
            <a:r>
              <a:rPr lang="en-US" sz="2800" b="1" dirty="0" smtClean="0"/>
              <a:t>for(j=0;j&lt;</a:t>
            </a:r>
            <a:r>
              <a:rPr lang="en-US" sz="2800" b="1" dirty="0" err="1"/>
              <a:t>N</a:t>
            </a:r>
            <a:r>
              <a:rPr lang="en-US" sz="2800" b="1" dirty="0" err="1" smtClean="0"/>
              <a:t>;j</a:t>
            </a:r>
            <a:r>
              <a:rPr lang="en-US" sz="2800" b="1" dirty="0"/>
              <a:t>++)</a:t>
            </a:r>
            <a:endParaRPr lang="en-US" sz="2800" b="1" dirty="0"/>
          </a:p>
          <a:p>
            <a:pPr marL="0" indent="0">
              <a:buNone/>
            </a:pPr>
            <a:r>
              <a:rPr lang="en-US" sz="2800" b="1" dirty="0"/>
              <a:t>		</a:t>
            </a:r>
            <a:r>
              <a:rPr lang="en-US" sz="2800" b="1" dirty="0" smtClean="0"/>
              <a:t>{   a[</a:t>
            </a:r>
            <a:r>
              <a:rPr lang="en-US" sz="2800" b="1" dirty="0" err="1" smtClean="0"/>
              <a:t>i</a:t>
            </a:r>
            <a:r>
              <a:rPr lang="en-US" sz="2800" b="1" dirty="0"/>
              <a:t>][j]=t++;</a:t>
            </a:r>
            <a:endParaRPr lang="en-US" sz="2800" b="1" dirty="0"/>
          </a:p>
          <a:p>
            <a:pPr marL="0" indent="0">
              <a:buNone/>
            </a:pPr>
            <a:r>
              <a:rPr lang="en-US" sz="2800" b="1" dirty="0"/>
              <a:t>		</a:t>
            </a:r>
            <a:r>
              <a:rPr lang="en-US" sz="2800" b="1" dirty="0" smtClean="0"/>
              <a:t>     b[</a:t>
            </a:r>
            <a:r>
              <a:rPr lang="en-US" sz="2800" b="1" dirty="0" err="1" smtClean="0"/>
              <a:t>i</a:t>
            </a:r>
            <a:r>
              <a:rPr lang="en-US" sz="2800" b="1" dirty="0"/>
              <a:t>][j]=1</a:t>
            </a:r>
            <a:r>
              <a:rPr lang="en-US" sz="2800" b="1" dirty="0" smtClean="0"/>
              <a:t>;  }</a:t>
            </a:r>
            <a:endParaRPr lang="en-US" sz="2800" b="1" dirty="0"/>
          </a:p>
          <a:p>
            <a:pPr marL="0" indent="0">
              <a:buNone/>
            </a:pPr>
            <a:r>
              <a:rPr lang="en-US" sz="2800" b="1" dirty="0"/>
              <a:t>	</a:t>
            </a:r>
            <a:r>
              <a:rPr lang="en-US" sz="2800" b="1" dirty="0" smtClean="0"/>
              <a:t>}</a:t>
            </a:r>
            <a:endParaRPr lang="en-US" sz="2800" b="1" dirty="0" smtClean="0"/>
          </a:p>
          <a:p>
            <a:pPr marL="0" indent="0">
              <a:buNone/>
            </a:pPr>
            <a:r>
              <a:rPr lang="en-US" sz="2800" b="1" dirty="0" smtClean="0"/>
              <a:t>           startTime=clock</a:t>
            </a:r>
            <a:r>
              <a:rPr lang="en-US" sz="2800" b="1" dirty="0"/>
              <a:t>();</a:t>
            </a:r>
            <a:endParaRPr lang="en-US" sz="2800" b="1" dirty="0"/>
          </a:p>
          <a:p>
            <a:pPr marL="0" indent="0">
              <a:buNone/>
            </a:pPr>
            <a:r>
              <a:rPr lang="en-US" sz="2800" b="1" dirty="0"/>
              <a:t>	sum=0;</a:t>
            </a:r>
            <a:endParaRPr lang="en-US" sz="2800" b="1" dirty="0"/>
          </a:p>
          <a:p>
            <a:pPr marL="0" indent="0">
              <a:buNone/>
            </a:pPr>
            <a:endParaRPr lang="en-US" sz="2800" b="1" dirty="0"/>
          </a:p>
          <a:p>
            <a:pPr marL="0" indent="0">
              <a:buNone/>
            </a:pPr>
            <a:endParaRPr lang="en-US" dirty="0"/>
          </a:p>
        </p:txBody>
      </p:sp>
    </p:spTree>
  </p:cSld>
  <p:clrMapOvr>
    <a:masterClrMapping/>
  </p:clrMapOvr>
  <p:transition spd="med" advTm="3025">
    <p:fade/>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13164" y="671946"/>
            <a:ext cx="9906000" cy="5230091"/>
          </a:xfrm>
        </p:spPr>
        <p:txBody>
          <a:bodyPr/>
          <a:lstStyle/>
          <a:p>
            <a:pPr marL="0" indent="0">
              <a:buNone/>
            </a:pPr>
            <a:r>
              <a:rPr lang="en-US" altLang="zh-CN" sz="2400" b="1" dirty="0">
                <a:solidFill>
                  <a:srgbClr val="00B0F0"/>
                </a:solidFill>
              </a:rPr>
              <a:t>//----------------</a:t>
            </a:r>
            <a:r>
              <a:rPr lang="zh-CN" altLang="en-US" sz="2400" b="1" dirty="0">
                <a:solidFill>
                  <a:srgbClr val="00B0F0"/>
                </a:solidFill>
              </a:rPr>
              <a:t>矩阵乘法并行算法</a:t>
            </a:r>
            <a:r>
              <a:rPr lang="en-US" altLang="zh-CN" sz="2400" b="1" dirty="0" smtClean="0">
                <a:solidFill>
                  <a:srgbClr val="00B0F0"/>
                </a:solidFill>
              </a:rPr>
              <a:t>------------------</a:t>
            </a:r>
            <a:endParaRPr lang="en-US" altLang="zh-CN" sz="2400" b="1" dirty="0" smtClean="0">
              <a:solidFill>
                <a:srgbClr val="00B0F0"/>
              </a:solidFill>
            </a:endParaRPr>
          </a:p>
          <a:p>
            <a:pPr marL="0" indent="0">
              <a:buNone/>
            </a:pPr>
            <a:r>
              <a:rPr lang="en-US" sz="2800" b="1" dirty="0" smtClean="0">
                <a:solidFill>
                  <a:srgbClr val="C00000"/>
                </a:solidFill>
              </a:rPr>
              <a:t>#</a:t>
            </a:r>
            <a:r>
              <a:rPr lang="en-US" sz="2800" b="1" dirty="0">
                <a:solidFill>
                  <a:srgbClr val="C00000"/>
                </a:solidFill>
              </a:rPr>
              <a:t>pragma </a:t>
            </a:r>
            <a:r>
              <a:rPr lang="en-US" sz="2800" b="1" dirty="0" err="1">
                <a:solidFill>
                  <a:srgbClr val="C00000"/>
                </a:solidFill>
              </a:rPr>
              <a:t>omp</a:t>
            </a:r>
            <a:r>
              <a:rPr lang="en-US" sz="2800" b="1" dirty="0">
                <a:solidFill>
                  <a:srgbClr val="C00000"/>
                </a:solidFill>
              </a:rPr>
              <a:t> parallel </a:t>
            </a:r>
            <a:r>
              <a:rPr lang="en-US" sz="2800" b="1" dirty="0" smtClean="0">
                <a:solidFill>
                  <a:srgbClr val="C00000"/>
                </a:solidFill>
              </a:rPr>
              <a:t>shared(</a:t>
            </a:r>
            <a:r>
              <a:rPr lang="en-US" sz="2800" b="1" dirty="0" err="1" smtClean="0">
                <a:solidFill>
                  <a:srgbClr val="C00000"/>
                </a:solidFill>
              </a:rPr>
              <a:t>a,b,c</a:t>
            </a:r>
            <a:r>
              <a:rPr lang="en-US" sz="2800" b="1" dirty="0" smtClean="0">
                <a:solidFill>
                  <a:srgbClr val="C00000"/>
                </a:solidFill>
              </a:rPr>
              <a:t>) </a:t>
            </a:r>
            <a:r>
              <a:rPr lang="en-US" sz="2800" b="1" dirty="0">
                <a:solidFill>
                  <a:srgbClr val="C00000"/>
                </a:solidFill>
              </a:rPr>
              <a:t>private(</a:t>
            </a:r>
            <a:r>
              <a:rPr lang="en-US" sz="2800" b="1" dirty="0" err="1">
                <a:solidFill>
                  <a:srgbClr val="C00000"/>
                </a:solidFill>
              </a:rPr>
              <a:t>i,j,k</a:t>
            </a:r>
            <a:r>
              <a:rPr lang="en-US" sz="2800" b="1" dirty="0">
                <a:solidFill>
                  <a:srgbClr val="C00000"/>
                </a:solidFill>
              </a:rPr>
              <a:t>)</a:t>
            </a:r>
            <a:endParaRPr lang="en-US" sz="2800" b="1" dirty="0">
              <a:solidFill>
                <a:srgbClr val="C00000"/>
              </a:solidFill>
            </a:endParaRPr>
          </a:p>
          <a:p>
            <a:pPr marL="0" indent="0">
              <a:buNone/>
            </a:pPr>
            <a:r>
              <a:rPr lang="en-US" sz="2800" b="1" dirty="0" smtClean="0"/>
              <a:t>{  </a:t>
            </a:r>
            <a:r>
              <a:rPr lang="en-US" sz="2800" b="1" dirty="0">
                <a:solidFill>
                  <a:srgbClr val="C00000"/>
                </a:solidFill>
              </a:rPr>
              <a:t>#pragma </a:t>
            </a:r>
            <a:r>
              <a:rPr lang="en-US" sz="2800" b="1" dirty="0" err="1">
                <a:solidFill>
                  <a:srgbClr val="C00000"/>
                </a:solidFill>
              </a:rPr>
              <a:t>omp</a:t>
            </a:r>
            <a:r>
              <a:rPr lang="en-US" sz="2800" b="1" dirty="0">
                <a:solidFill>
                  <a:srgbClr val="C00000"/>
                </a:solidFill>
              </a:rPr>
              <a:t> for schedule(dynamic)</a:t>
            </a:r>
            <a:endParaRPr lang="en-US" sz="2800" b="1" dirty="0">
              <a:solidFill>
                <a:srgbClr val="C00000"/>
              </a:solidFill>
            </a:endParaRPr>
          </a:p>
          <a:p>
            <a:pPr marL="0" indent="0">
              <a:buNone/>
            </a:pPr>
            <a:r>
              <a:rPr lang="en-US" sz="2800" b="1" dirty="0"/>
              <a:t>	</a:t>
            </a:r>
            <a:r>
              <a:rPr lang="en-US" sz="2800" b="1" dirty="0" smtClean="0"/>
              <a:t>for(</a:t>
            </a:r>
            <a:r>
              <a:rPr lang="en-US" sz="2800" b="1" dirty="0" err="1" smtClean="0"/>
              <a:t>i</a:t>
            </a:r>
            <a:r>
              <a:rPr lang="en-US" sz="2800" b="1" dirty="0" smtClean="0"/>
              <a:t>=0;i&lt;</a:t>
            </a:r>
            <a:r>
              <a:rPr lang="en-US" sz="2800" b="1" dirty="0" err="1"/>
              <a:t>N</a:t>
            </a:r>
            <a:r>
              <a:rPr lang="en-US" sz="2800" b="1" dirty="0" err="1" smtClean="0"/>
              <a:t>;i</a:t>
            </a:r>
            <a:r>
              <a:rPr lang="en-US" sz="2800" b="1" dirty="0"/>
              <a:t>++)</a:t>
            </a:r>
            <a:endParaRPr lang="en-US" sz="2800" b="1" dirty="0"/>
          </a:p>
          <a:p>
            <a:pPr marL="0" indent="0">
              <a:buNone/>
            </a:pPr>
            <a:r>
              <a:rPr lang="en-US" sz="2800" b="1" dirty="0"/>
              <a:t>	</a:t>
            </a:r>
            <a:r>
              <a:rPr lang="en-US" sz="2800" b="1" dirty="0" smtClean="0"/>
              <a:t>{    </a:t>
            </a:r>
            <a:r>
              <a:rPr lang="en-US" sz="2800" b="1" dirty="0" smtClean="0"/>
              <a:t>for(j=0;j&lt;</a:t>
            </a:r>
            <a:r>
              <a:rPr lang="en-US" sz="2800" b="1" dirty="0" err="1"/>
              <a:t>N</a:t>
            </a:r>
            <a:r>
              <a:rPr lang="en-US" sz="2800" b="1" dirty="0" err="1" smtClean="0"/>
              <a:t>;j</a:t>
            </a:r>
            <a:r>
              <a:rPr lang="en-US" sz="2800" b="1" dirty="0"/>
              <a:t>++)</a:t>
            </a:r>
            <a:endParaRPr lang="en-US" sz="2800" b="1" dirty="0"/>
          </a:p>
          <a:p>
            <a:pPr marL="0" indent="0">
              <a:buNone/>
            </a:pPr>
            <a:r>
              <a:rPr lang="en-US" sz="2800" b="1" dirty="0"/>
              <a:t>		</a:t>
            </a:r>
            <a:r>
              <a:rPr lang="en-US" sz="2800" b="1" dirty="0" smtClean="0"/>
              <a:t>{c[</a:t>
            </a:r>
            <a:r>
              <a:rPr lang="en-US" sz="2800" b="1" dirty="0" err="1" smtClean="0"/>
              <a:t>i</a:t>
            </a:r>
            <a:r>
              <a:rPr lang="en-US" sz="2800" b="1" dirty="0"/>
              <a:t>][j]=0;</a:t>
            </a:r>
            <a:endParaRPr lang="en-US" sz="2800" b="1" dirty="0"/>
          </a:p>
          <a:p>
            <a:pPr marL="0" indent="0">
              <a:buNone/>
            </a:pPr>
            <a:r>
              <a:rPr lang="en-US" sz="2800" b="1" dirty="0"/>
              <a:t>		</a:t>
            </a:r>
            <a:r>
              <a:rPr lang="en-US" sz="2800" b="1" dirty="0" smtClean="0"/>
              <a:t>  </a:t>
            </a:r>
            <a:r>
              <a:rPr lang="en-US" sz="2800" b="1" dirty="0" smtClean="0"/>
              <a:t>for(k=0;k&lt;</a:t>
            </a:r>
            <a:r>
              <a:rPr lang="en-US" sz="2800" b="1" dirty="0" err="1"/>
              <a:t>N</a:t>
            </a:r>
            <a:r>
              <a:rPr lang="en-US" sz="2800" b="1" dirty="0" err="1" smtClean="0"/>
              <a:t>;k</a:t>
            </a:r>
            <a:r>
              <a:rPr lang="en-US" sz="2800" b="1" dirty="0" smtClean="0"/>
              <a:t>++)      </a:t>
            </a:r>
            <a:endParaRPr lang="en-US" sz="2800" b="1" dirty="0" smtClean="0"/>
          </a:p>
          <a:p>
            <a:pPr marL="0" indent="0">
              <a:buNone/>
            </a:pPr>
            <a:r>
              <a:rPr lang="en-US" sz="2800" b="1" dirty="0"/>
              <a:t> </a:t>
            </a:r>
            <a:r>
              <a:rPr lang="en-US" sz="2800" b="1" dirty="0" smtClean="0"/>
              <a:t>                                     c[</a:t>
            </a:r>
            <a:r>
              <a:rPr lang="en-US" sz="2800" b="1" dirty="0" err="1" smtClean="0"/>
              <a:t>i</a:t>
            </a:r>
            <a:r>
              <a:rPr lang="en-US" sz="2800" b="1" dirty="0"/>
              <a:t>][j</a:t>
            </a:r>
            <a:r>
              <a:rPr lang="en-US" sz="2800" b="1" dirty="0" smtClean="0"/>
              <a:t>]+=a[</a:t>
            </a:r>
            <a:r>
              <a:rPr lang="en-US" sz="2800" b="1" dirty="0" err="1" smtClean="0"/>
              <a:t>i</a:t>
            </a:r>
            <a:r>
              <a:rPr lang="en-US" sz="2800" b="1" dirty="0"/>
              <a:t>][k</a:t>
            </a:r>
            <a:r>
              <a:rPr lang="en-US" sz="2800" b="1" dirty="0" smtClean="0"/>
              <a:t>]*b[k</a:t>
            </a:r>
            <a:r>
              <a:rPr lang="en-US" sz="2800" b="1" dirty="0"/>
              <a:t>][j</a:t>
            </a:r>
            <a:r>
              <a:rPr lang="en-US" sz="2800" b="1" dirty="0" smtClean="0"/>
              <a:t>];     }</a:t>
            </a:r>
            <a:endParaRPr lang="en-US" sz="2800" b="1" dirty="0"/>
          </a:p>
          <a:p>
            <a:pPr marL="0" indent="0">
              <a:buNone/>
            </a:pPr>
            <a:r>
              <a:rPr lang="en-US" sz="2800" b="1" dirty="0"/>
              <a:t>	</a:t>
            </a:r>
            <a:r>
              <a:rPr lang="en-US" sz="2800" b="1" dirty="0" smtClean="0"/>
              <a:t>}</a:t>
            </a:r>
            <a:endParaRPr lang="en-US" sz="2800" b="1" dirty="0"/>
          </a:p>
          <a:p>
            <a:pPr marL="0" indent="0">
              <a:buNone/>
            </a:pPr>
            <a:r>
              <a:rPr lang="en-US" sz="2800" b="1" dirty="0" smtClean="0"/>
              <a:t>}</a:t>
            </a:r>
            <a:endParaRPr lang="en-US" sz="2800" b="1" dirty="0"/>
          </a:p>
          <a:p>
            <a:pPr marL="0" indent="0">
              <a:buNone/>
            </a:pPr>
            <a:endParaRPr lang="en-US" b="1" dirty="0"/>
          </a:p>
        </p:txBody>
      </p:sp>
    </p:spTree>
  </p:cSld>
  <p:clrMapOvr>
    <a:masterClrMapping/>
  </p:clrMapOvr>
  <p:transition spd="med" advTm="3025">
    <p:fade/>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357746" y="658093"/>
            <a:ext cx="9019309" cy="5271654"/>
          </a:xfrm>
        </p:spPr>
        <p:txBody>
          <a:bodyPr/>
          <a:lstStyle/>
          <a:p>
            <a:pPr marL="0" indent="0">
              <a:lnSpc>
                <a:spcPct val="150000"/>
              </a:lnSpc>
              <a:buNone/>
            </a:pPr>
            <a:r>
              <a:rPr lang="en-US" sz="2800" b="1" dirty="0" smtClean="0"/>
              <a:t>for(</a:t>
            </a:r>
            <a:r>
              <a:rPr lang="en-US" sz="2800" b="1" dirty="0" err="1" smtClean="0"/>
              <a:t>i</a:t>
            </a:r>
            <a:r>
              <a:rPr lang="en-US" sz="2800" b="1" dirty="0" smtClean="0"/>
              <a:t>=0;i&lt;</a:t>
            </a:r>
            <a:r>
              <a:rPr lang="en-US" sz="2800" b="1" dirty="0" err="1"/>
              <a:t>N</a:t>
            </a:r>
            <a:r>
              <a:rPr lang="en-US" sz="2800" b="1" dirty="0" err="1" smtClean="0"/>
              <a:t>;i</a:t>
            </a:r>
            <a:r>
              <a:rPr lang="en-US" sz="2800" b="1" dirty="0"/>
              <a:t>++)</a:t>
            </a:r>
            <a:endParaRPr lang="en-US" sz="2800" b="1" dirty="0"/>
          </a:p>
          <a:p>
            <a:pPr marL="0" indent="0">
              <a:lnSpc>
                <a:spcPct val="150000"/>
              </a:lnSpc>
              <a:buNone/>
            </a:pPr>
            <a:r>
              <a:rPr lang="en-US" sz="2800" b="1" dirty="0" smtClean="0"/>
              <a:t>        </a:t>
            </a:r>
            <a:r>
              <a:rPr lang="en-US" sz="2800" b="1" dirty="0" smtClean="0"/>
              <a:t>for(j=0;j&lt;</a:t>
            </a:r>
            <a:r>
              <a:rPr lang="en-US" sz="2800" b="1" dirty="0" err="1"/>
              <a:t>N</a:t>
            </a:r>
            <a:r>
              <a:rPr lang="en-US" sz="2800" b="1" dirty="0" err="1" smtClean="0"/>
              <a:t>;j</a:t>
            </a:r>
            <a:r>
              <a:rPr lang="en-US" sz="2800" b="1" dirty="0"/>
              <a:t>++) </a:t>
            </a:r>
            <a:r>
              <a:rPr lang="en-US" sz="2800" b="1" dirty="0" smtClean="0"/>
              <a:t>   </a:t>
            </a:r>
            <a:endParaRPr lang="en-US" sz="2800" b="1" dirty="0" smtClean="0"/>
          </a:p>
          <a:p>
            <a:pPr marL="0" indent="0">
              <a:lnSpc>
                <a:spcPct val="150000"/>
              </a:lnSpc>
              <a:buNone/>
            </a:pPr>
            <a:r>
              <a:rPr lang="en-US" sz="2800" b="1" dirty="0"/>
              <a:t> </a:t>
            </a:r>
            <a:r>
              <a:rPr lang="en-US" sz="2800" b="1" dirty="0" smtClean="0"/>
              <a:t>                     sum+=c[</a:t>
            </a:r>
            <a:r>
              <a:rPr lang="en-US" sz="2800" b="1" dirty="0" err="1" smtClean="0"/>
              <a:t>i</a:t>
            </a:r>
            <a:r>
              <a:rPr lang="en-US" sz="2800" b="1" dirty="0"/>
              <a:t>][j</a:t>
            </a:r>
            <a:r>
              <a:rPr lang="en-US" sz="2800" b="1" dirty="0" smtClean="0"/>
              <a:t>];</a:t>
            </a:r>
            <a:endParaRPr lang="en-US" sz="2800" b="1" dirty="0"/>
          </a:p>
          <a:p>
            <a:pPr marL="0" indent="0">
              <a:lnSpc>
                <a:spcPct val="150000"/>
              </a:lnSpc>
              <a:buNone/>
            </a:pPr>
            <a:r>
              <a:rPr lang="en-US" sz="2800" b="1" dirty="0" err="1" smtClean="0"/>
              <a:t>endTime</a:t>
            </a:r>
            <a:r>
              <a:rPr lang="en-US" sz="2800" b="1" dirty="0" smtClean="0"/>
              <a:t>=clock</a:t>
            </a:r>
            <a:r>
              <a:rPr lang="en-US" sz="2800" b="1" dirty="0"/>
              <a:t>();</a:t>
            </a:r>
            <a:endParaRPr lang="en-US" sz="2800" b="1" dirty="0"/>
          </a:p>
          <a:p>
            <a:pPr marL="0" indent="0">
              <a:lnSpc>
                <a:spcPct val="150000"/>
              </a:lnSpc>
              <a:buNone/>
            </a:pPr>
            <a:r>
              <a:rPr lang="en-US" sz="2800" b="1" dirty="0" err="1" smtClean="0"/>
              <a:t>paralleltime</a:t>
            </a:r>
            <a:r>
              <a:rPr lang="en-US" sz="2800" b="1" dirty="0" smtClean="0"/>
              <a:t>=</a:t>
            </a:r>
            <a:r>
              <a:rPr lang="en-US" sz="2800" b="1" dirty="0" err="1" smtClean="0"/>
              <a:t>endTime</a:t>
            </a:r>
            <a:r>
              <a:rPr lang="en-US" sz="2800" b="1" dirty="0" smtClean="0"/>
              <a:t>-startTime</a:t>
            </a:r>
            <a:r>
              <a:rPr lang="en-US" sz="2800" b="1" dirty="0"/>
              <a:t>;</a:t>
            </a:r>
            <a:endParaRPr lang="en-US" sz="2800" b="1" dirty="0"/>
          </a:p>
          <a:p>
            <a:pPr marL="0" indent="0">
              <a:lnSpc>
                <a:spcPct val="150000"/>
              </a:lnSpc>
              <a:buNone/>
            </a:pPr>
            <a:r>
              <a:rPr lang="en-US" sz="2800" b="1" dirty="0" err="1" smtClean="0"/>
              <a:t>printf</a:t>
            </a:r>
            <a:r>
              <a:rPr lang="en-US" sz="2800" b="1" dirty="0" smtClean="0"/>
              <a:t>(“</a:t>
            </a:r>
            <a:r>
              <a:rPr lang="zh-CN" altLang="en-US" sz="2800" b="1" dirty="0" smtClean="0"/>
              <a:t>矩阵</a:t>
            </a:r>
            <a:r>
              <a:rPr lang="en-US" sz="2800" b="1" dirty="0" smtClean="0"/>
              <a:t>C</a:t>
            </a:r>
            <a:r>
              <a:rPr lang="zh-CN" altLang="en-US" sz="2800" b="1" dirty="0" smtClean="0"/>
              <a:t>的所有</a:t>
            </a:r>
            <a:r>
              <a:rPr lang="zh-CN" altLang="en-US" sz="2800" b="1" dirty="0"/>
              <a:t>元素和为</a:t>
            </a:r>
            <a:r>
              <a:rPr lang="en-US" sz="2800" b="1" dirty="0"/>
              <a:t>sum=%</a:t>
            </a:r>
            <a:r>
              <a:rPr lang="en-US" sz="2800" b="1" dirty="0" err="1"/>
              <a:t>lld</a:t>
            </a:r>
            <a:r>
              <a:rPr lang="en-US" sz="2800" b="1" dirty="0"/>
              <a:t> </a:t>
            </a:r>
            <a:r>
              <a:rPr lang="en-US" sz="2800" b="1" dirty="0" smtClean="0"/>
              <a:t>\n,</a:t>
            </a:r>
            <a:endParaRPr lang="en-US" sz="2800" b="1" dirty="0" smtClean="0"/>
          </a:p>
          <a:p>
            <a:pPr marL="0" indent="0">
              <a:lnSpc>
                <a:spcPct val="150000"/>
              </a:lnSpc>
              <a:buNone/>
            </a:pPr>
            <a:r>
              <a:rPr lang="en-US" altLang="zh-CN" sz="2800" b="1" dirty="0"/>
              <a:t> </a:t>
            </a:r>
            <a:r>
              <a:rPr lang="en-US" altLang="zh-CN" sz="2800" b="1" dirty="0" smtClean="0"/>
              <a:t>             </a:t>
            </a:r>
            <a:r>
              <a:rPr lang="zh-CN" altLang="en-US" sz="2800" b="1" dirty="0" smtClean="0"/>
              <a:t>并行计算</a:t>
            </a:r>
            <a:r>
              <a:rPr lang="zh-CN" altLang="en-US" sz="2800" b="1" dirty="0"/>
              <a:t>时间</a:t>
            </a:r>
            <a:r>
              <a:rPr lang="en-US" sz="2800" b="1" dirty="0"/>
              <a:t>time=%</a:t>
            </a:r>
            <a:r>
              <a:rPr lang="en-US" sz="2800" b="1" dirty="0" err="1"/>
              <a:t>dms</a:t>
            </a:r>
            <a:r>
              <a:rPr lang="en-US" sz="2800" b="1" dirty="0"/>
              <a:t>\n</a:t>
            </a:r>
            <a:r>
              <a:rPr lang="en-US" sz="2800" b="1" dirty="0" smtClean="0"/>
              <a:t>", sum , </a:t>
            </a:r>
            <a:r>
              <a:rPr lang="en-US" sz="2800" b="1" dirty="0" err="1" smtClean="0"/>
              <a:t>paralleltime</a:t>
            </a:r>
            <a:r>
              <a:rPr lang="en-US" sz="2800" b="1" dirty="0"/>
              <a:t>);</a:t>
            </a:r>
            <a:endParaRPr lang="en-US" sz="2800" b="1" dirty="0"/>
          </a:p>
          <a:p>
            <a:pPr marL="0" indent="0">
              <a:buNone/>
            </a:pPr>
            <a:endParaRPr lang="en-US" sz="2800" dirty="0"/>
          </a:p>
        </p:txBody>
      </p:sp>
    </p:spTree>
  </p:cSld>
  <p:clrMapOvr>
    <a:masterClrMapping/>
  </p:clrMapOvr>
  <p:transition spd="med" advTm="3025">
    <p:fade/>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73382" y="422563"/>
            <a:ext cx="8825346" cy="5895109"/>
          </a:xfrm>
        </p:spPr>
        <p:txBody>
          <a:bodyPr/>
          <a:lstStyle/>
          <a:p>
            <a:pPr marL="0" indent="0">
              <a:lnSpc>
                <a:spcPts val="4600"/>
              </a:lnSpc>
              <a:buNone/>
            </a:pPr>
            <a:r>
              <a:rPr lang="en-US" altLang="zh-CN" sz="2800" b="1" dirty="0">
                <a:solidFill>
                  <a:srgbClr val="00B0F0"/>
                </a:solidFill>
              </a:rPr>
              <a:t>//----------------</a:t>
            </a:r>
            <a:r>
              <a:rPr lang="zh-CN" altLang="en-US" sz="2800" b="1" dirty="0">
                <a:solidFill>
                  <a:srgbClr val="00B0F0"/>
                </a:solidFill>
              </a:rPr>
              <a:t>矩阵</a:t>
            </a:r>
            <a:r>
              <a:rPr lang="zh-CN" altLang="en-US" sz="2800" b="1" dirty="0" smtClean="0">
                <a:solidFill>
                  <a:srgbClr val="00B0F0"/>
                </a:solidFill>
              </a:rPr>
              <a:t>乘法串行</a:t>
            </a:r>
            <a:r>
              <a:rPr lang="zh-CN" altLang="en-US" sz="2800" b="1" dirty="0">
                <a:solidFill>
                  <a:srgbClr val="00B0F0"/>
                </a:solidFill>
              </a:rPr>
              <a:t>算法</a:t>
            </a:r>
            <a:r>
              <a:rPr lang="en-US" altLang="zh-CN" sz="2800" b="1" dirty="0" smtClean="0">
                <a:solidFill>
                  <a:srgbClr val="00B0F0"/>
                </a:solidFill>
              </a:rPr>
              <a:t>------------------</a:t>
            </a:r>
            <a:endParaRPr lang="en-US" sz="2800" b="1" dirty="0" smtClean="0">
              <a:solidFill>
                <a:srgbClr val="00B0F0"/>
              </a:solidFill>
            </a:endParaRPr>
          </a:p>
          <a:p>
            <a:pPr marL="0" indent="0">
              <a:lnSpc>
                <a:spcPts val="4600"/>
              </a:lnSpc>
              <a:buNone/>
            </a:pPr>
            <a:r>
              <a:rPr lang="en-US" sz="2800" b="1" dirty="0" smtClean="0"/>
              <a:t>startTime </a:t>
            </a:r>
            <a:r>
              <a:rPr lang="en-US" sz="2800" b="1" dirty="0"/>
              <a:t>= clock();</a:t>
            </a:r>
            <a:endParaRPr lang="en-US" sz="2800" b="1" dirty="0"/>
          </a:p>
          <a:p>
            <a:pPr marL="0" indent="0">
              <a:lnSpc>
                <a:spcPts val="4600"/>
              </a:lnSpc>
              <a:buNone/>
            </a:pPr>
            <a:r>
              <a:rPr lang="en-US" sz="2800" b="1" dirty="0" smtClean="0"/>
              <a:t>sum </a:t>
            </a:r>
            <a:r>
              <a:rPr lang="en-US" sz="2800" b="1" dirty="0"/>
              <a:t>= 0;</a:t>
            </a:r>
            <a:endParaRPr lang="en-US" sz="2800" b="1" dirty="0"/>
          </a:p>
          <a:p>
            <a:pPr marL="0" indent="0">
              <a:lnSpc>
                <a:spcPts val="4600"/>
              </a:lnSpc>
              <a:buNone/>
            </a:pPr>
            <a:r>
              <a:rPr lang="en-US" sz="2800" b="1" dirty="0" smtClean="0"/>
              <a:t>for(</a:t>
            </a:r>
            <a:r>
              <a:rPr lang="en-US" sz="2800" b="1" dirty="0" err="1" smtClean="0"/>
              <a:t>i</a:t>
            </a:r>
            <a:r>
              <a:rPr lang="en-US" sz="2800" b="1" dirty="0" smtClean="0"/>
              <a:t>=0;i&lt;</a:t>
            </a:r>
            <a:r>
              <a:rPr lang="en-US" sz="2800" b="1" dirty="0" err="1"/>
              <a:t>N</a:t>
            </a:r>
            <a:r>
              <a:rPr lang="en-US" sz="2800" b="1" dirty="0" err="1" smtClean="0"/>
              <a:t>;i</a:t>
            </a:r>
            <a:r>
              <a:rPr lang="en-US" sz="2800" b="1" dirty="0"/>
              <a:t>++)</a:t>
            </a:r>
            <a:endParaRPr lang="en-US" sz="2800" b="1" dirty="0"/>
          </a:p>
          <a:p>
            <a:pPr marL="0" indent="0">
              <a:lnSpc>
                <a:spcPts val="4600"/>
              </a:lnSpc>
              <a:buNone/>
            </a:pPr>
            <a:r>
              <a:rPr lang="en-US" sz="2800" b="1" dirty="0" smtClean="0"/>
              <a:t>      {  </a:t>
            </a:r>
            <a:r>
              <a:rPr lang="en-US" sz="2800" b="1" dirty="0" smtClean="0"/>
              <a:t>for(j=0;j&lt;</a:t>
            </a:r>
            <a:r>
              <a:rPr lang="en-US" sz="2800" b="1" dirty="0" err="1"/>
              <a:t>N</a:t>
            </a:r>
            <a:r>
              <a:rPr lang="en-US" sz="2800" b="1" dirty="0" err="1" smtClean="0"/>
              <a:t>;j</a:t>
            </a:r>
            <a:r>
              <a:rPr lang="en-US" sz="2800" b="1" dirty="0"/>
              <a:t>++)</a:t>
            </a:r>
            <a:endParaRPr lang="en-US" sz="2800" b="1" dirty="0"/>
          </a:p>
          <a:p>
            <a:pPr marL="0" indent="0">
              <a:lnSpc>
                <a:spcPts val="4600"/>
              </a:lnSpc>
              <a:buNone/>
            </a:pPr>
            <a:r>
              <a:rPr lang="en-US" sz="2800" b="1" dirty="0"/>
              <a:t>	</a:t>
            </a:r>
            <a:r>
              <a:rPr lang="en-US" sz="2800" b="1" dirty="0" smtClean="0"/>
              <a:t>{ </a:t>
            </a:r>
            <a:r>
              <a:rPr lang="en-US" sz="2800" b="1" dirty="0"/>
              <a:t>c</a:t>
            </a:r>
            <a:r>
              <a:rPr lang="en-US" sz="2800" b="1" dirty="0" smtClean="0"/>
              <a:t>[</a:t>
            </a:r>
            <a:r>
              <a:rPr lang="en-US" sz="2800" b="1" dirty="0" err="1" smtClean="0"/>
              <a:t>i</a:t>
            </a:r>
            <a:r>
              <a:rPr lang="en-US" sz="2800" b="1" dirty="0"/>
              <a:t>][j]=0;</a:t>
            </a:r>
            <a:endParaRPr lang="en-US" sz="2800" b="1" dirty="0"/>
          </a:p>
          <a:p>
            <a:pPr marL="0" indent="0">
              <a:lnSpc>
                <a:spcPts val="4600"/>
              </a:lnSpc>
              <a:buNone/>
            </a:pPr>
            <a:r>
              <a:rPr lang="en-US" sz="2800" b="1" dirty="0"/>
              <a:t>	</a:t>
            </a:r>
            <a:r>
              <a:rPr lang="en-US" sz="2800" b="1" dirty="0" smtClean="0"/>
              <a:t>   </a:t>
            </a:r>
            <a:r>
              <a:rPr lang="en-US" sz="2800" b="1" dirty="0" smtClean="0"/>
              <a:t>for(k=0;k&lt;</a:t>
            </a:r>
            <a:r>
              <a:rPr lang="en-US" sz="2800" b="1" dirty="0" err="1"/>
              <a:t>N</a:t>
            </a:r>
            <a:r>
              <a:rPr lang="en-US" sz="2800" b="1" dirty="0" err="1" smtClean="0"/>
              <a:t>;k</a:t>
            </a:r>
            <a:r>
              <a:rPr lang="en-US" sz="2800" b="1" dirty="0"/>
              <a:t>++)</a:t>
            </a:r>
            <a:endParaRPr lang="en-US" sz="2800" b="1" dirty="0"/>
          </a:p>
          <a:p>
            <a:pPr marL="0" indent="0">
              <a:lnSpc>
                <a:spcPts val="4600"/>
              </a:lnSpc>
              <a:buNone/>
            </a:pPr>
            <a:r>
              <a:rPr lang="en-US" sz="2800" b="1" dirty="0"/>
              <a:t>	</a:t>
            </a:r>
            <a:r>
              <a:rPr lang="en-US" sz="2800" b="1" dirty="0" smtClean="0"/>
              <a:t>          c[</a:t>
            </a:r>
            <a:r>
              <a:rPr lang="en-US" sz="2800" b="1" dirty="0" err="1" smtClean="0"/>
              <a:t>i</a:t>
            </a:r>
            <a:r>
              <a:rPr lang="en-US" sz="2800" b="1" dirty="0"/>
              <a:t>][j</a:t>
            </a:r>
            <a:r>
              <a:rPr lang="en-US" sz="2800" b="1" dirty="0" smtClean="0"/>
              <a:t>]+=a[</a:t>
            </a:r>
            <a:r>
              <a:rPr lang="en-US" sz="2800" b="1" dirty="0" err="1" smtClean="0"/>
              <a:t>i</a:t>
            </a:r>
            <a:r>
              <a:rPr lang="en-US" sz="2800" b="1" dirty="0"/>
              <a:t>][k</a:t>
            </a:r>
            <a:r>
              <a:rPr lang="en-US" sz="2800" b="1" dirty="0" smtClean="0"/>
              <a:t>]*b[k</a:t>
            </a:r>
            <a:r>
              <a:rPr lang="en-US" sz="2800" b="1" dirty="0"/>
              <a:t>][j</a:t>
            </a:r>
            <a:r>
              <a:rPr lang="en-US" sz="2800" b="1" dirty="0" smtClean="0"/>
              <a:t>];        }</a:t>
            </a:r>
            <a:endParaRPr lang="en-US" sz="2800" b="1" dirty="0"/>
          </a:p>
          <a:p>
            <a:pPr marL="0" indent="0">
              <a:lnSpc>
                <a:spcPts val="4600"/>
              </a:lnSpc>
              <a:buNone/>
            </a:pPr>
            <a:r>
              <a:rPr lang="en-US" sz="2800" b="1" dirty="0" smtClean="0"/>
              <a:t>       }</a:t>
            </a:r>
            <a:endParaRPr lang="en-US" sz="2800" b="1" dirty="0"/>
          </a:p>
          <a:p>
            <a:pPr marL="0" indent="0">
              <a:buNone/>
            </a:pPr>
            <a:endParaRPr lang="en-US" dirty="0"/>
          </a:p>
        </p:txBody>
      </p:sp>
    </p:spTree>
  </p:cSld>
  <p:clrMapOvr>
    <a:masterClrMapping/>
  </p:clrMapOvr>
  <p:transition spd="med" advTm="3025">
    <p:fade/>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22218" y="644237"/>
            <a:ext cx="10141528" cy="5701146"/>
          </a:xfrm>
        </p:spPr>
        <p:txBody>
          <a:bodyPr/>
          <a:lstStyle/>
          <a:p>
            <a:pPr marL="0" indent="0">
              <a:buNone/>
            </a:pPr>
            <a:r>
              <a:rPr lang="en-US" sz="2800" b="1" dirty="0" smtClean="0"/>
              <a:t>for(</a:t>
            </a:r>
            <a:r>
              <a:rPr lang="en-US" sz="2800" b="1" dirty="0" err="1" smtClean="0"/>
              <a:t>i</a:t>
            </a:r>
            <a:r>
              <a:rPr lang="en-US" sz="2800" b="1" dirty="0" smtClean="0"/>
              <a:t>=0;i&lt;</a:t>
            </a:r>
            <a:r>
              <a:rPr lang="en-US" sz="2800" b="1" dirty="0" err="1"/>
              <a:t>N</a:t>
            </a:r>
            <a:r>
              <a:rPr lang="en-US" sz="2800" b="1" dirty="0" err="1" smtClean="0"/>
              <a:t>;i</a:t>
            </a:r>
            <a:r>
              <a:rPr lang="en-US" sz="2800" b="1" dirty="0"/>
              <a:t>++)</a:t>
            </a:r>
            <a:endParaRPr lang="en-US" sz="2800" b="1" dirty="0"/>
          </a:p>
          <a:p>
            <a:pPr marL="0" indent="0">
              <a:buNone/>
            </a:pPr>
            <a:r>
              <a:rPr lang="en-US" sz="2800" b="1" dirty="0" smtClean="0"/>
              <a:t>           </a:t>
            </a:r>
            <a:r>
              <a:rPr lang="en-US" sz="2800" b="1" dirty="0" smtClean="0"/>
              <a:t>for(j=0;j&lt;</a:t>
            </a:r>
            <a:r>
              <a:rPr lang="en-US" sz="2800" b="1" dirty="0" err="1"/>
              <a:t>N</a:t>
            </a:r>
            <a:r>
              <a:rPr lang="en-US" sz="2800" b="1" dirty="0" err="1" smtClean="0"/>
              <a:t>;j</a:t>
            </a:r>
            <a:r>
              <a:rPr lang="en-US" sz="2800" b="1" dirty="0"/>
              <a:t>++) </a:t>
            </a:r>
            <a:endParaRPr lang="en-US" sz="2800" b="1" dirty="0"/>
          </a:p>
          <a:p>
            <a:pPr marL="0" indent="0">
              <a:buNone/>
            </a:pPr>
            <a:r>
              <a:rPr lang="en-US" sz="2800" b="1" dirty="0"/>
              <a:t>		</a:t>
            </a:r>
            <a:r>
              <a:rPr lang="en-US" sz="2800" b="1" dirty="0" smtClean="0"/>
              <a:t>sum+=c[</a:t>
            </a:r>
            <a:r>
              <a:rPr lang="en-US" sz="2800" b="1" dirty="0" err="1" smtClean="0"/>
              <a:t>i</a:t>
            </a:r>
            <a:r>
              <a:rPr lang="en-US" sz="2800" b="1" dirty="0"/>
              <a:t>][j];</a:t>
            </a:r>
            <a:endParaRPr lang="en-US" sz="2800" b="1" dirty="0"/>
          </a:p>
          <a:p>
            <a:pPr marL="0" indent="0">
              <a:buNone/>
            </a:pPr>
            <a:r>
              <a:rPr lang="en-US" sz="2800" b="1" dirty="0" err="1" smtClean="0"/>
              <a:t>endTime</a:t>
            </a:r>
            <a:r>
              <a:rPr lang="en-US" sz="2800" b="1" dirty="0" smtClean="0"/>
              <a:t> </a:t>
            </a:r>
            <a:r>
              <a:rPr lang="en-US" sz="2800" b="1" dirty="0"/>
              <a:t>= clock();</a:t>
            </a:r>
            <a:endParaRPr lang="en-US" sz="2800" b="1" dirty="0"/>
          </a:p>
          <a:p>
            <a:pPr marL="0" indent="0">
              <a:buNone/>
            </a:pPr>
            <a:r>
              <a:rPr lang="en-US" sz="2800" b="1" dirty="0" err="1" smtClean="0"/>
              <a:t>serialtime</a:t>
            </a:r>
            <a:r>
              <a:rPr lang="en-US" sz="2800" b="1" dirty="0" smtClean="0"/>
              <a:t>=</a:t>
            </a:r>
            <a:r>
              <a:rPr lang="en-US" sz="2800" b="1" dirty="0" err="1" smtClean="0"/>
              <a:t>endTime</a:t>
            </a:r>
            <a:r>
              <a:rPr lang="en-US" sz="2800" b="1" dirty="0" smtClean="0"/>
              <a:t>-startTime</a:t>
            </a:r>
            <a:r>
              <a:rPr lang="en-US" sz="2800" b="1" dirty="0"/>
              <a:t>;</a:t>
            </a:r>
            <a:endParaRPr lang="en-US" sz="2800" b="1" dirty="0"/>
          </a:p>
          <a:p>
            <a:pPr marL="0" indent="0">
              <a:buNone/>
            </a:pPr>
            <a:r>
              <a:rPr lang="en-US" sz="2800" b="1" dirty="0" err="1" smtClean="0"/>
              <a:t>printf</a:t>
            </a:r>
            <a:r>
              <a:rPr lang="en-US" sz="2800" b="1" dirty="0" smtClean="0"/>
              <a:t>(“</a:t>
            </a:r>
            <a:r>
              <a:rPr lang="zh-CN" altLang="en-US" sz="2800" b="1" dirty="0" smtClean="0"/>
              <a:t>矩阵</a:t>
            </a:r>
            <a:r>
              <a:rPr lang="en-US" sz="2800" b="1" dirty="0" smtClean="0"/>
              <a:t>C</a:t>
            </a:r>
            <a:r>
              <a:rPr lang="zh-CN" altLang="en-US" sz="2800" b="1" dirty="0" smtClean="0"/>
              <a:t>的所有</a:t>
            </a:r>
            <a:r>
              <a:rPr lang="zh-CN" altLang="en-US" sz="2800" b="1" dirty="0"/>
              <a:t>元素和为</a:t>
            </a:r>
            <a:r>
              <a:rPr lang="en-US" sz="2800" b="1" dirty="0"/>
              <a:t>sum=%</a:t>
            </a:r>
            <a:r>
              <a:rPr lang="en-US" sz="2800" b="1" dirty="0" err="1"/>
              <a:t>lld</a:t>
            </a:r>
            <a:r>
              <a:rPr lang="en-US" sz="2800" b="1" dirty="0"/>
              <a:t> </a:t>
            </a:r>
            <a:r>
              <a:rPr lang="en-US" sz="2800" b="1" dirty="0" smtClean="0"/>
              <a:t>  \n</a:t>
            </a:r>
            <a:endParaRPr lang="en-US" sz="2800" b="1" dirty="0" smtClean="0"/>
          </a:p>
          <a:p>
            <a:pPr marL="0" indent="0">
              <a:buNone/>
            </a:pPr>
            <a:r>
              <a:rPr lang="en-US" altLang="zh-CN" sz="2800" b="1" dirty="0"/>
              <a:t> </a:t>
            </a:r>
            <a:r>
              <a:rPr lang="en-US" altLang="zh-CN" sz="2800" b="1" dirty="0" smtClean="0"/>
              <a:t>            </a:t>
            </a:r>
            <a:r>
              <a:rPr lang="zh-CN" altLang="en-US" sz="2800" b="1" dirty="0" smtClean="0"/>
              <a:t>串行</a:t>
            </a:r>
            <a:r>
              <a:rPr lang="zh-CN" altLang="en-US" sz="2800" b="1" dirty="0"/>
              <a:t>计算时间</a:t>
            </a:r>
            <a:r>
              <a:rPr lang="en-US" sz="2800" b="1" dirty="0"/>
              <a:t>time=%</a:t>
            </a:r>
            <a:r>
              <a:rPr lang="en-US" sz="2800" b="1" dirty="0" err="1"/>
              <a:t>dms</a:t>
            </a:r>
            <a:r>
              <a:rPr lang="en-US" sz="2800" b="1" dirty="0"/>
              <a:t>\n</a:t>
            </a:r>
            <a:r>
              <a:rPr lang="en-US" sz="2800" b="1" dirty="0" smtClean="0"/>
              <a:t>",  sum,   </a:t>
            </a:r>
            <a:r>
              <a:rPr lang="en-US" sz="2800" b="1" dirty="0" err="1" smtClean="0"/>
              <a:t>serialtime</a:t>
            </a:r>
            <a:r>
              <a:rPr lang="en-US" sz="2800" b="1" dirty="0"/>
              <a:t>);</a:t>
            </a:r>
            <a:endParaRPr lang="en-US" sz="2800" b="1" dirty="0"/>
          </a:p>
          <a:p>
            <a:pPr marL="0" indent="0">
              <a:buNone/>
            </a:pPr>
            <a:r>
              <a:rPr lang="en-US" sz="2800" b="1" dirty="0" err="1" smtClean="0"/>
              <a:t>printf</a:t>
            </a:r>
            <a:r>
              <a:rPr lang="en-US" sz="2800" b="1" dirty="0" smtClean="0"/>
              <a:t>("</a:t>
            </a:r>
            <a:r>
              <a:rPr lang="zh-CN" altLang="en-US" sz="2800" b="1" dirty="0" smtClean="0"/>
              <a:t>加速比</a:t>
            </a:r>
            <a:r>
              <a:rPr lang="zh-CN" altLang="en-US" sz="2800" b="1" dirty="0"/>
              <a:t>为</a:t>
            </a:r>
            <a:r>
              <a:rPr lang="zh-CN" altLang="en-US" sz="2800" b="1" dirty="0" smtClean="0"/>
              <a:t>：</a:t>
            </a:r>
            <a:r>
              <a:rPr lang="en-US" altLang="zh-CN" sz="2800" b="1" dirty="0" smtClean="0"/>
              <a:t>%</a:t>
            </a:r>
            <a:r>
              <a:rPr lang="en-US" sz="2800" b="1" dirty="0"/>
              <a:t>d/%</a:t>
            </a:r>
            <a:r>
              <a:rPr lang="en-US" sz="2800" b="1" dirty="0" smtClean="0"/>
              <a:t>d=%f \n",</a:t>
            </a:r>
            <a:endParaRPr lang="en-US" sz="2800" b="1" dirty="0" smtClean="0"/>
          </a:p>
          <a:p>
            <a:pPr marL="0" indent="0">
              <a:buNone/>
            </a:pPr>
            <a:r>
              <a:rPr lang="en-US" sz="2800" b="1" dirty="0"/>
              <a:t> </a:t>
            </a:r>
            <a:r>
              <a:rPr lang="en-US" sz="2800" b="1" dirty="0" smtClean="0"/>
              <a:t>  </a:t>
            </a:r>
            <a:r>
              <a:rPr lang="en-US" sz="2800" b="1" dirty="0" err="1" smtClean="0"/>
              <a:t>serialtime,paralleltime</a:t>
            </a:r>
            <a:r>
              <a:rPr lang="en-US" sz="2800" b="1" dirty="0" smtClean="0"/>
              <a:t>,  (float)(</a:t>
            </a:r>
            <a:r>
              <a:rPr lang="en-US" sz="2800" b="1" dirty="0" err="1" smtClean="0"/>
              <a:t>serialtime</a:t>
            </a:r>
            <a:r>
              <a:rPr lang="en-US" sz="2800" b="1" dirty="0" smtClean="0"/>
              <a:t>)/</a:t>
            </a:r>
            <a:r>
              <a:rPr lang="en-US" sz="2800" b="1" dirty="0" err="1" smtClean="0"/>
              <a:t>paralleltime</a:t>
            </a:r>
            <a:r>
              <a:rPr lang="en-US" sz="2800" b="1" dirty="0" smtClean="0"/>
              <a:t>) ;</a:t>
            </a:r>
            <a:endParaRPr lang="en-US" sz="2800" b="1" dirty="0"/>
          </a:p>
          <a:p>
            <a:pPr marL="0" indent="0">
              <a:buNone/>
            </a:pPr>
            <a:r>
              <a:rPr lang="en-US" sz="2800" b="1" dirty="0"/>
              <a:t>r</a:t>
            </a:r>
            <a:r>
              <a:rPr lang="en-US" sz="2800" b="1" dirty="0" smtClean="0"/>
              <a:t>eturn 0;</a:t>
            </a:r>
            <a:endParaRPr lang="en-US" sz="2800" b="1" dirty="0"/>
          </a:p>
          <a:p>
            <a:pPr marL="0" indent="0">
              <a:buNone/>
            </a:pPr>
            <a:r>
              <a:rPr lang="en-US" sz="2800" b="1" dirty="0"/>
              <a:t>}</a:t>
            </a:r>
            <a:endParaRPr lang="en-US" sz="2800" b="1" dirty="0"/>
          </a:p>
          <a:p>
            <a:pPr marL="0" indent="0">
              <a:buNone/>
            </a:pPr>
            <a:endParaRPr lang="en-US" dirty="0"/>
          </a:p>
        </p:txBody>
      </p:sp>
    </p:spTree>
  </p:cSld>
  <p:clrMapOvr>
    <a:masterClrMapping/>
  </p:clrMapOvr>
  <p:transition spd="med" advTm="3025">
    <p:fade/>
  </p:transition>
</p:sld>
</file>

<file path=ppt/theme/theme1.xml><?xml version="1.0" encoding="utf-8"?>
<a:theme xmlns:a="http://schemas.openxmlformats.org/drawingml/2006/main" name="1_Office 主题">
  <a:themeElements>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altLang="en-US" sz="1800" b="0" i="0" u="none" strike="noStrike" cap="none" normalizeH="0" baseline="0" smtClean="0">
            <a:ln>
              <a:noFill/>
            </a:ln>
            <a:solidFill>
              <a:schemeClr val="tx1"/>
            </a:solidFill>
            <a:effectLst/>
            <a:latin typeface="Arial" panose="020B0604020202020204" pitchFamily="34" charset="0"/>
            <a:ea typeface="隶书" panose="02010509060101010101"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altLang="en-US" sz="1800" b="0" i="0" u="none" strike="noStrike" cap="none" normalizeH="0" baseline="0" smtClean="0">
            <a:ln>
              <a:noFill/>
            </a:ln>
            <a:solidFill>
              <a:schemeClr val="tx1"/>
            </a:solidFill>
            <a:effectLst/>
            <a:latin typeface="Arial" panose="020B0604020202020204" pitchFamily="34" charset="0"/>
            <a:ea typeface="隶书" panose="02010509060101010101" pitchFamily="49" charset="-122"/>
          </a:defRPr>
        </a:defPPr>
      </a:lstStyle>
    </a:lnDef>
  </a:objectDefaults>
  <a:extraClrSchemeLst>
    <a:extraClrScheme>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33325</Words>
  <Application>WPS 演示</Application>
  <PresentationFormat>宽屏</PresentationFormat>
  <Paragraphs>1809</Paragraphs>
  <Slides>151</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151</vt:i4>
      </vt:variant>
    </vt:vector>
  </HeadingPairs>
  <TitlesOfParts>
    <vt:vector size="168" baseType="lpstr">
      <vt:lpstr>Arial</vt:lpstr>
      <vt:lpstr>宋体</vt:lpstr>
      <vt:lpstr>Wingdings</vt:lpstr>
      <vt:lpstr>隶书</vt:lpstr>
      <vt:lpstr>Calibri</vt:lpstr>
      <vt:lpstr>仿宋_GB2312</vt:lpstr>
      <vt:lpstr>幼圆</vt:lpstr>
      <vt:lpstr>华文行楷</vt:lpstr>
      <vt:lpstr>MV Boli</vt:lpstr>
      <vt:lpstr>华文新魏</vt:lpstr>
      <vt:lpstr>黑体</vt:lpstr>
      <vt:lpstr>华文隶书</vt:lpstr>
      <vt:lpstr>微软雅黑</vt:lpstr>
      <vt:lpstr>Arial Unicode MS</vt:lpstr>
      <vt:lpstr>Courier New</vt:lpstr>
      <vt:lpstr>Freestyle Script</vt:lpstr>
      <vt:lpstr>1_Office 主题</vt:lpstr>
      <vt:lpstr> </vt:lpstr>
      <vt:lpstr> </vt:lpstr>
      <vt:lpstr>PowerPoint 演示文稿</vt:lpstr>
      <vt:lpstr> </vt:lpstr>
      <vt:lpstr>PowerPoint 演示文稿</vt:lpstr>
      <vt:lpstr>OpenMP环境配置——Visual Studio</vt:lpstr>
      <vt:lpstr> </vt:lpstr>
      <vt:lpstr>PowerPoint 演示文稿</vt:lpstr>
      <vt:lpstr> </vt:lpstr>
      <vt:lpstr> </vt:lpstr>
      <vt:lpstr> </vt:lpstr>
      <vt:lpstr> </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矩阵乘法</vt:lpstr>
      <vt:lpstr>矩阵乘法</vt:lpstr>
      <vt:lpstr>PowerPoint 演示文稿</vt:lpstr>
      <vt:lpstr>PowerPoint 演示文稿</vt:lpstr>
      <vt:lpstr>PowerPoint 演示文稿</vt:lpstr>
      <vt:lpstr>PowerPoint 演示文稿</vt:lpstr>
    </vt:vector>
  </TitlesOfParts>
  <Company>USTC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李斌</dc:creator>
  <cp:lastModifiedBy>超级小煊</cp:lastModifiedBy>
  <cp:revision>208</cp:revision>
  <dcterms:created xsi:type="dcterms:W3CDTF">2019-03-18T09:40:00Z</dcterms:created>
  <dcterms:modified xsi:type="dcterms:W3CDTF">2025-10-22T02:29:06Z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75468807D41E4B63B6ED919919BFB4ED_12</vt:lpwstr>
  </property>
  <property fmtid="{D5CDD505-2E9C-101B-9397-08002B2CF9AE}" pid="3" name="KSOProductBuildVer">
    <vt:lpwstr>2052-12.1.0.23125</vt:lpwstr>
  </property>
</Properties>
</file>